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5.jpg" ContentType="image/jpeg"/>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6.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7.xml" ContentType="application/vnd.openxmlformats-officedocument.presentationml.notesSlid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5"/>
  </p:notesMasterIdLst>
  <p:handoutMasterIdLst>
    <p:handoutMasterId r:id="rId56"/>
  </p:handoutMasterIdLst>
  <p:sldIdLst>
    <p:sldId id="755" r:id="rId2"/>
    <p:sldId id="831" r:id="rId3"/>
    <p:sldId id="261" r:id="rId4"/>
    <p:sldId id="264" r:id="rId5"/>
    <p:sldId id="266" r:id="rId6"/>
    <p:sldId id="270" r:id="rId7"/>
    <p:sldId id="756" r:id="rId8"/>
    <p:sldId id="725" r:id="rId9"/>
    <p:sldId id="807" r:id="rId10"/>
    <p:sldId id="808" r:id="rId11"/>
    <p:sldId id="809" r:id="rId12"/>
    <p:sldId id="810" r:id="rId13"/>
    <p:sldId id="811" r:id="rId14"/>
    <p:sldId id="812" r:id="rId15"/>
    <p:sldId id="813" r:id="rId16"/>
    <p:sldId id="815" r:id="rId17"/>
    <p:sldId id="772" r:id="rId18"/>
    <p:sldId id="817" r:id="rId19"/>
    <p:sldId id="818" r:id="rId20"/>
    <p:sldId id="819" r:id="rId21"/>
    <p:sldId id="820" r:id="rId22"/>
    <p:sldId id="821" r:id="rId23"/>
    <p:sldId id="806" r:id="rId24"/>
    <p:sldId id="794" r:id="rId25"/>
    <p:sldId id="787" r:id="rId26"/>
    <p:sldId id="805" r:id="rId27"/>
    <p:sldId id="822" r:id="rId28"/>
    <p:sldId id="829" r:id="rId29"/>
    <p:sldId id="830" r:id="rId30"/>
    <p:sldId id="795" r:id="rId31"/>
    <p:sldId id="749" r:id="rId32"/>
    <p:sldId id="736" r:id="rId33"/>
    <p:sldId id="737" r:id="rId34"/>
    <p:sldId id="738" r:id="rId35"/>
    <p:sldId id="739" r:id="rId36"/>
    <p:sldId id="740" r:id="rId37"/>
    <p:sldId id="741" r:id="rId38"/>
    <p:sldId id="742" r:id="rId39"/>
    <p:sldId id="758" r:id="rId40"/>
    <p:sldId id="824" r:id="rId41"/>
    <p:sldId id="825" r:id="rId42"/>
    <p:sldId id="828" r:id="rId43"/>
    <p:sldId id="744" r:id="rId44"/>
    <p:sldId id="746" r:id="rId45"/>
    <p:sldId id="757" r:id="rId46"/>
    <p:sldId id="748" r:id="rId47"/>
    <p:sldId id="750" r:id="rId48"/>
    <p:sldId id="751" r:id="rId49"/>
    <p:sldId id="759" r:id="rId50"/>
    <p:sldId id="752" r:id="rId51"/>
    <p:sldId id="753" r:id="rId52"/>
    <p:sldId id="754" r:id="rId53"/>
    <p:sldId id="298" r:id="rId54"/>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01BD99-A10F-EA65-05BB-2401D9F5CB8D}" name="asim juneja" initials="aj" userId="5fca84f525abdc93" providerId="Windows Live"/>
  <p188:author id="{FB3272B1-AA83-B2AE-3B6E-2D893A3A3DFE}" name="Fathima Althaf" initials="FA" userId="9dcd4385b56d335b" providerId="Windows Live"/>
  <p188:author id="{D33E94B6-4207-B899-1453-87CF6D85797D}" name="TTC -1" initials="T-" userId="S::ttc-1@ttcglocal.com::04c4fc77-6bc2-44b9-999c-9f4d3b8e5f7a" providerId="AD"/>
  <p188:author id="{430622F1-2A62-BC65-5DE4-76C7358003E5}" name="Achala Yareseeme" initials="AY" userId="431b819bf974373e" providerId="Windows Live"/>
  <p188:author id="{8701BDF6-BF2E-EF5C-ACA1-716FCEC72A88}" name="Bhuvaneswari Balasubramanian" initials="BB" userId="S::bbalasubramanian@gainhealth.org::b2c490ea-ffde-4f50-be53-3c9e8849928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CE1"/>
    <a:srgbClr val="E8A33D"/>
    <a:srgbClr val="9C3237"/>
    <a:srgbClr val="0B6E78"/>
    <a:srgbClr val="2A5C2E"/>
    <a:srgbClr val="14342B"/>
    <a:srgbClr val="F7F4EC"/>
    <a:srgbClr val="D4EDDA"/>
    <a:srgbClr val="B7E3D6"/>
    <a:srgbClr val="FFF3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20" autoAdjust="0"/>
    <p:restoredTop sz="93457" autoAdjust="0"/>
  </p:normalViewPr>
  <p:slideViewPr>
    <p:cSldViewPr>
      <p:cViewPr>
        <p:scale>
          <a:sx n="60" d="100"/>
          <a:sy n="60" d="100"/>
        </p:scale>
        <p:origin x="1028" y="-16"/>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8850"/>
    </p:cViewPr>
  </p:sorterViewPr>
  <p:notesViewPr>
    <p:cSldViewPr>
      <p:cViewPr varScale="1">
        <p:scale>
          <a:sx n="80" d="100"/>
          <a:sy n="80" d="100"/>
        </p:scale>
        <p:origin x="1411"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8/10/relationships/authors" Targe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file:///D:\TAPMI\TTC%20Internship\Presentation\graph.xlsx" TargetMode="External"/><Relationship Id="rId2" Type="http://schemas.microsoft.com/office/2011/relationships/chartColorStyle" Target="colors21.xml"/><Relationship Id="rId1" Type="http://schemas.microsoft.com/office/2011/relationships/chartStyle" Target="style2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Gerogia"/>
                <a:ea typeface="+mn-ea"/>
                <a:cs typeface="+mn-cs"/>
              </a:defRPr>
            </a:pPr>
            <a:r>
              <a:rPr lang="en-US" sz="1200" dirty="0">
                <a:latin typeface="Georgia" panose="02040502050405020303" pitchFamily="18" charset="0"/>
              </a:rPr>
              <a:t>Production (in MT)</a:t>
            </a:r>
          </a:p>
        </c:rich>
      </c:tx>
      <c:layout>
        <c:manualLayout>
          <c:xMode val="edge"/>
          <c:yMode val="edge"/>
          <c:x val="0.35500781515586832"/>
          <c:y val="8.9293404171285146E-2"/>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Gerogia"/>
              <a:ea typeface="+mn-ea"/>
              <a:cs typeface="+mn-cs"/>
            </a:defRPr>
          </a:pPr>
          <a:endParaRPr lang="en-US"/>
        </a:p>
      </c:txPr>
    </c:title>
    <c:autoTitleDeleted val="0"/>
    <c:plotArea>
      <c:layout>
        <c:manualLayout>
          <c:layoutTarget val="inner"/>
          <c:xMode val="edge"/>
          <c:yMode val="edge"/>
          <c:x val="0.18266707030176457"/>
          <c:y val="0.25928758915379868"/>
          <c:w val="0.69030656607766772"/>
          <c:h val="0.63392660938356227"/>
        </c:manualLayout>
      </c:layout>
      <c:barChart>
        <c:barDir val="bar"/>
        <c:grouping val="clustered"/>
        <c:varyColors val="0"/>
        <c:ser>
          <c:idx val="0"/>
          <c:order val="0"/>
          <c:tx>
            <c:strRef>
              <c:f>Sheet4!$C$1</c:f>
              <c:strCache>
                <c:ptCount val="1"/>
                <c:pt idx="0">
                  <c:v> Production (in MT) </c:v>
                </c:pt>
              </c:strCache>
            </c:strRef>
          </c:tx>
          <c:spPr>
            <a:solidFill>
              <a:srgbClr val="44546A"/>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Sheet4!$A$2:$A$7</c:f>
              <c:strCache>
                <c:ptCount val="6"/>
                <c:pt idx="0">
                  <c:v> Onion </c:v>
                </c:pt>
                <c:pt idx="1">
                  <c:v> Grape </c:v>
                </c:pt>
                <c:pt idx="2">
                  <c:v> Pomegranate </c:v>
                </c:pt>
                <c:pt idx="3">
                  <c:v> Banana </c:v>
                </c:pt>
                <c:pt idx="4">
                  <c:v> Tomato </c:v>
                </c:pt>
                <c:pt idx="5">
                  <c:v> Mango </c:v>
                </c:pt>
              </c:strCache>
            </c:strRef>
          </c:cat>
          <c:val>
            <c:numRef>
              <c:f>Sheet4!$C$2:$C$7</c:f>
              <c:numCache>
                <c:formatCode>_(* #,##0_);_(* \(#,##0\);_(* "-"??_);_(@_)</c:formatCode>
                <c:ptCount val="6"/>
                <c:pt idx="0">
                  <c:v>1695170</c:v>
                </c:pt>
                <c:pt idx="1">
                  <c:v>1082422</c:v>
                </c:pt>
                <c:pt idx="2">
                  <c:v>64551</c:v>
                </c:pt>
                <c:pt idx="3">
                  <c:v>73333</c:v>
                </c:pt>
                <c:pt idx="4">
                  <c:v>142310</c:v>
                </c:pt>
                <c:pt idx="5">
                  <c:v>75429</c:v>
                </c:pt>
              </c:numCache>
            </c:numRef>
          </c:val>
          <c:extLst>
            <c:ext xmlns:c16="http://schemas.microsoft.com/office/drawing/2014/chart" uri="{C3380CC4-5D6E-409C-BE32-E72D297353CC}">
              <c16:uniqueId val="{00000000-C29F-4701-8B51-C5A759EB1410}"/>
            </c:ext>
          </c:extLst>
        </c:ser>
        <c:dLbls>
          <c:dLblPos val="outEnd"/>
          <c:showLegendKey val="0"/>
          <c:showVal val="1"/>
          <c:showCatName val="0"/>
          <c:showSerName val="0"/>
          <c:showPercent val="0"/>
          <c:showBubbleSize val="0"/>
        </c:dLbls>
        <c:gapWidth val="219"/>
        <c:axId val="559053231"/>
        <c:axId val="559051311"/>
      </c:barChart>
      <c:catAx>
        <c:axId val="559053231"/>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Georgia" panose="02040502050405020303" pitchFamily="18" charset="0"/>
                <a:ea typeface="+mn-ea"/>
                <a:cs typeface="+mn-cs"/>
              </a:defRPr>
            </a:pPr>
            <a:endParaRPr lang="en-US"/>
          </a:p>
        </c:txPr>
        <c:crossAx val="559051311"/>
        <c:crosses val="autoZero"/>
        <c:auto val="1"/>
        <c:lblAlgn val="ctr"/>
        <c:lblOffset val="100"/>
        <c:noMultiLvlLbl val="0"/>
      </c:catAx>
      <c:valAx>
        <c:axId val="559051311"/>
        <c:scaling>
          <c:orientation val="minMax"/>
        </c:scaling>
        <c:delete val="1"/>
        <c:axPos val="t"/>
        <c:numFmt formatCode="_(* #,##0_);_(* \(#,##0\);_(* &quot;-&quot;??_);_(@_)" sourceLinked="1"/>
        <c:majorTickMark val="none"/>
        <c:minorTickMark val="none"/>
        <c:tickLblPos val="nextTo"/>
        <c:crossAx val="559053231"/>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latin typeface="Gerogia"/>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Georgia" panose="02040502050405020303" pitchFamily="18" charset="0"/>
                <a:ea typeface="+mn-ea"/>
                <a:cs typeface="+mn-cs"/>
              </a:defRPr>
            </a:pPr>
            <a:r>
              <a:rPr lang="en-IN" sz="1200"/>
              <a:t>Production (in MT)</a:t>
            </a:r>
          </a:p>
        </c:rich>
      </c:tx>
      <c:layout>
        <c:manualLayout>
          <c:xMode val="edge"/>
          <c:yMode val="edge"/>
          <c:x val="0.25731233595800523"/>
          <c:y val="0.1069441263254335"/>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Georgia" panose="02040502050405020303" pitchFamily="18" charset="0"/>
              <a:ea typeface="+mn-ea"/>
              <a:cs typeface="+mn-cs"/>
            </a:defRPr>
          </a:pPr>
          <a:endParaRPr lang="en-IN"/>
        </a:p>
      </c:txPr>
    </c:title>
    <c:autoTitleDeleted val="0"/>
    <c:plotArea>
      <c:layout/>
      <c:barChart>
        <c:barDir val="bar"/>
        <c:grouping val="clustered"/>
        <c:varyColors val="0"/>
        <c:ser>
          <c:idx val="0"/>
          <c:order val="0"/>
          <c:spPr>
            <a:solidFill>
              <a:srgbClr val="9C3237"/>
            </a:solidFill>
            <a:ln>
              <a:noFill/>
            </a:ln>
            <a:effectLst/>
          </c:spPr>
          <c:invertIfNegative val="0"/>
          <c:dLbls>
            <c:dLbl>
              <c:idx val="0"/>
              <c:layout>
                <c:manualLayout>
                  <c:x val="0"/>
                  <c:y val="8.555530106034679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A22-401D-95EA-475114FFC6AE}"/>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Sheet1!$A$8:$A$11</c:f>
              <c:strCache>
                <c:ptCount val="4"/>
                <c:pt idx="0">
                  <c:v>Onion</c:v>
                </c:pt>
                <c:pt idx="1">
                  <c:v>Tomato</c:v>
                </c:pt>
                <c:pt idx="2">
                  <c:v>Pomegranate</c:v>
                </c:pt>
                <c:pt idx="3">
                  <c:v>Banana</c:v>
                </c:pt>
              </c:strCache>
            </c:strRef>
          </c:cat>
          <c:val>
            <c:numRef>
              <c:f>Sheet1!$B$8:$B$11</c:f>
              <c:numCache>
                <c:formatCode>_(* #,##0_);_(* \(#,##0\);_(* "-"??_);_(@_)</c:formatCode>
                <c:ptCount val="4"/>
                <c:pt idx="0">
                  <c:v>812347</c:v>
                </c:pt>
                <c:pt idx="1">
                  <c:v>296684</c:v>
                </c:pt>
                <c:pt idx="2">
                  <c:v>99315</c:v>
                </c:pt>
                <c:pt idx="3">
                  <c:v>116975</c:v>
                </c:pt>
              </c:numCache>
            </c:numRef>
          </c:val>
          <c:extLst>
            <c:ext xmlns:c16="http://schemas.microsoft.com/office/drawing/2014/chart" uri="{C3380CC4-5D6E-409C-BE32-E72D297353CC}">
              <c16:uniqueId val="{00000001-4A22-401D-95EA-475114FFC6AE}"/>
            </c:ext>
          </c:extLst>
        </c:ser>
        <c:dLbls>
          <c:dLblPos val="outEnd"/>
          <c:showLegendKey val="0"/>
          <c:showVal val="1"/>
          <c:showCatName val="0"/>
          <c:showSerName val="0"/>
          <c:showPercent val="0"/>
          <c:showBubbleSize val="0"/>
        </c:dLbls>
        <c:gapWidth val="182"/>
        <c:axId val="1388372655"/>
        <c:axId val="1388373135"/>
      </c:barChart>
      <c:catAx>
        <c:axId val="1388372655"/>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Georgia" panose="02040502050405020303" pitchFamily="18" charset="0"/>
                <a:ea typeface="+mn-ea"/>
                <a:cs typeface="+mn-cs"/>
              </a:defRPr>
            </a:pPr>
            <a:endParaRPr lang="en-US"/>
          </a:p>
        </c:txPr>
        <c:crossAx val="1388373135"/>
        <c:crosses val="autoZero"/>
        <c:auto val="1"/>
        <c:lblAlgn val="ctr"/>
        <c:lblOffset val="100"/>
        <c:noMultiLvlLbl val="0"/>
      </c:catAx>
      <c:valAx>
        <c:axId val="1388373135"/>
        <c:scaling>
          <c:orientation val="minMax"/>
        </c:scaling>
        <c:delete val="1"/>
        <c:axPos val="t"/>
        <c:numFmt formatCode="_(* #,##0_);_(* \(#,##0\);_(* &quot;-&quot;??_);_(@_)" sourceLinked="1"/>
        <c:majorTickMark val="none"/>
        <c:minorTickMark val="none"/>
        <c:tickLblPos val="nextTo"/>
        <c:crossAx val="1388372655"/>
        <c:crosses val="autoZero"/>
        <c:crossBetween val="between"/>
        <c:majorUnit val="300000"/>
      </c:valAx>
      <c:spPr>
        <a:noFill/>
        <a:ln>
          <a:noFill/>
        </a:ln>
        <a:effectLst/>
      </c:spPr>
    </c:plotArea>
    <c:plotVisOnly val="1"/>
    <c:dispBlanksAs val="gap"/>
    <c:showDLblsOverMax val="0"/>
  </c:chart>
  <c:spPr>
    <a:noFill/>
    <a:ln>
      <a:noFill/>
    </a:ln>
    <a:effectLst/>
  </c:spPr>
  <c:txPr>
    <a:bodyPr/>
    <a:lstStyle/>
    <a:p>
      <a:pPr>
        <a:defRPr>
          <a:solidFill>
            <a:schemeClr val="tx1"/>
          </a:solidFill>
          <a:latin typeface="Georgia" panose="02040502050405020303" pitchFamily="18"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Georgia" panose="02040502050405020303" pitchFamily="18" charset="0"/>
                <a:ea typeface="+mn-ea"/>
                <a:cs typeface="+mn-cs"/>
              </a:defRPr>
            </a:pPr>
            <a:r>
              <a:rPr lang="en-IN" sz="1200"/>
              <a:t>Production (in MT)</a:t>
            </a:r>
          </a:p>
        </c:rich>
      </c:tx>
      <c:layout>
        <c:manualLayout>
          <c:xMode val="edge"/>
          <c:yMode val="edge"/>
          <c:x val="0.28615257190586424"/>
          <c:y val="0.2256251882985803"/>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Georgia" panose="02040502050405020303" pitchFamily="18" charset="0"/>
              <a:ea typeface="+mn-ea"/>
              <a:cs typeface="+mn-cs"/>
            </a:defRPr>
          </a:pPr>
          <a:endParaRPr lang="en-US"/>
        </a:p>
      </c:txPr>
    </c:title>
    <c:autoTitleDeleted val="0"/>
    <c:plotArea>
      <c:layout>
        <c:manualLayout>
          <c:layoutTarget val="inner"/>
          <c:xMode val="edge"/>
          <c:yMode val="edge"/>
          <c:x val="0.13043048229997126"/>
          <c:y val="0.36827017882106083"/>
          <c:w val="0.65657456846266016"/>
          <c:h val="0.59024822471913441"/>
        </c:manualLayout>
      </c:layout>
      <c:barChart>
        <c:barDir val="bar"/>
        <c:grouping val="clustered"/>
        <c:varyColors val="0"/>
        <c:ser>
          <c:idx val="0"/>
          <c:order val="0"/>
          <c:spPr>
            <a:solidFill>
              <a:srgbClr val="E8A33D"/>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Sheet1!$A$13:$A$17</c:f>
              <c:strCache>
                <c:ptCount val="5"/>
                <c:pt idx="0">
                  <c:v>Tomato</c:v>
                </c:pt>
                <c:pt idx="1">
                  <c:v>Onion</c:v>
                </c:pt>
                <c:pt idx="2">
                  <c:v>Banana</c:v>
                </c:pt>
                <c:pt idx="3">
                  <c:v>Mango</c:v>
                </c:pt>
                <c:pt idx="4">
                  <c:v>Pomegranate</c:v>
                </c:pt>
              </c:strCache>
            </c:strRef>
          </c:cat>
          <c:val>
            <c:numRef>
              <c:f>Sheet1!$B$13:$B$17</c:f>
              <c:numCache>
                <c:formatCode>_(* #,##0_);_(* \(#,##0\);_(* "-"??_);_(@_)</c:formatCode>
                <c:ptCount val="5"/>
                <c:pt idx="0">
                  <c:v>124424</c:v>
                </c:pt>
                <c:pt idx="1">
                  <c:v>123132</c:v>
                </c:pt>
                <c:pt idx="2">
                  <c:v>33203</c:v>
                </c:pt>
                <c:pt idx="3">
                  <c:v>31399</c:v>
                </c:pt>
                <c:pt idx="4">
                  <c:v>20992</c:v>
                </c:pt>
              </c:numCache>
            </c:numRef>
          </c:val>
          <c:extLst>
            <c:ext xmlns:c16="http://schemas.microsoft.com/office/drawing/2014/chart" uri="{C3380CC4-5D6E-409C-BE32-E72D297353CC}">
              <c16:uniqueId val="{00000000-55E2-479E-96EC-82DD3AEA3000}"/>
            </c:ext>
          </c:extLst>
        </c:ser>
        <c:dLbls>
          <c:dLblPos val="outEnd"/>
          <c:showLegendKey val="0"/>
          <c:showVal val="1"/>
          <c:showCatName val="0"/>
          <c:showSerName val="0"/>
          <c:showPercent val="0"/>
          <c:showBubbleSize val="0"/>
        </c:dLbls>
        <c:gapWidth val="182"/>
        <c:axId val="1388212655"/>
        <c:axId val="1388213135"/>
      </c:barChart>
      <c:catAx>
        <c:axId val="1388212655"/>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Georgia" panose="02040502050405020303" pitchFamily="18" charset="0"/>
                <a:ea typeface="+mn-ea"/>
                <a:cs typeface="+mn-cs"/>
              </a:defRPr>
            </a:pPr>
            <a:endParaRPr lang="en-US"/>
          </a:p>
        </c:txPr>
        <c:crossAx val="1388213135"/>
        <c:crosses val="autoZero"/>
        <c:auto val="1"/>
        <c:lblAlgn val="ctr"/>
        <c:lblOffset val="100"/>
        <c:noMultiLvlLbl val="0"/>
      </c:catAx>
      <c:valAx>
        <c:axId val="1388213135"/>
        <c:scaling>
          <c:orientation val="minMax"/>
          <c:max val="130000"/>
        </c:scaling>
        <c:delete val="1"/>
        <c:axPos val="t"/>
        <c:numFmt formatCode="_(* #,##0_);_(* \(#,##0\);_(* &quot;-&quot;??_);_(@_)" sourceLinked="1"/>
        <c:majorTickMark val="out"/>
        <c:minorTickMark val="none"/>
        <c:tickLblPos val="nextTo"/>
        <c:crossAx val="1388212655"/>
        <c:crosses val="autoZero"/>
        <c:crossBetween val="between"/>
        <c:majorUnit val="30000"/>
      </c:valAx>
      <c:spPr>
        <a:noFill/>
        <a:ln>
          <a:noFill/>
        </a:ln>
        <a:effectLst/>
      </c:spPr>
    </c:plotArea>
    <c:plotVisOnly val="1"/>
    <c:dispBlanksAs val="gap"/>
    <c:showDLblsOverMax val="0"/>
  </c:chart>
  <c:spPr>
    <a:noFill/>
    <a:ln>
      <a:noFill/>
    </a:ln>
    <a:effectLst/>
  </c:spPr>
  <c:txPr>
    <a:bodyPr/>
    <a:lstStyle/>
    <a:p>
      <a:pPr>
        <a:defRPr>
          <a:solidFill>
            <a:schemeClr val="tx1"/>
          </a:solidFill>
          <a:latin typeface="Georgia" panose="02040502050405020303" pitchFamily="18"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Georgia" panose="02040502050405020303" pitchFamily="18" charset="0"/>
                <a:ea typeface="+mn-ea"/>
                <a:cs typeface="+mn-cs"/>
              </a:defRPr>
            </a:pPr>
            <a:r>
              <a:rPr lang="en-IN" sz="1200" b="0"/>
              <a:t>Production (in MT)</a:t>
            </a:r>
          </a:p>
        </c:rich>
      </c:tx>
      <c:layout>
        <c:manualLayout>
          <c:xMode val="edge"/>
          <c:yMode val="edge"/>
          <c:x val="0.22120122484689417"/>
          <c:y val="0.11838491452473583"/>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Georgia" panose="02040502050405020303" pitchFamily="18" charset="0"/>
              <a:ea typeface="+mn-ea"/>
              <a:cs typeface="+mn-cs"/>
            </a:defRPr>
          </a:pPr>
          <a:endParaRPr lang="en-US"/>
        </a:p>
      </c:txPr>
    </c:title>
    <c:autoTitleDeleted val="0"/>
    <c:plotArea>
      <c:layout>
        <c:manualLayout>
          <c:layoutTarget val="inner"/>
          <c:xMode val="edge"/>
          <c:yMode val="edge"/>
          <c:x val="0.11359995625546807"/>
          <c:y val="0.32771096793438237"/>
          <c:w val="0.67528893263342082"/>
          <c:h val="0.55390411754088176"/>
        </c:manualLayout>
      </c:layout>
      <c:barChart>
        <c:barDir val="bar"/>
        <c:grouping val="clustered"/>
        <c:varyColors val="0"/>
        <c:ser>
          <c:idx val="0"/>
          <c:order val="0"/>
          <c:spPr>
            <a:solidFill>
              <a:srgbClr val="0B6E78"/>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Sheet1!$A$20:$A$23</c:f>
              <c:strCache>
                <c:ptCount val="4"/>
                <c:pt idx="0">
                  <c:v>Banana</c:v>
                </c:pt>
                <c:pt idx="1">
                  <c:v>Tomato</c:v>
                </c:pt>
                <c:pt idx="2">
                  <c:v>Mango</c:v>
                </c:pt>
                <c:pt idx="3">
                  <c:v>Onion</c:v>
                </c:pt>
              </c:strCache>
            </c:strRef>
          </c:cat>
          <c:val>
            <c:numRef>
              <c:f>Sheet1!$B$20:$B$23</c:f>
              <c:numCache>
                <c:formatCode>_(* #,##0_);_(* \(#,##0\);_(* "-"??_);_(@_)</c:formatCode>
                <c:ptCount val="4"/>
                <c:pt idx="0">
                  <c:v>787394</c:v>
                </c:pt>
                <c:pt idx="1">
                  <c:v>586930</c:v>
                </c:pt>
                <c:pt idx="2">
                  <c:v>311227</c:v>
                </c:pt>
                <c:pt idx="3">
                  <c:v>108602</c:v>
                </c:pt>
              </c:numCache>
            </c:numRef>
          </c:val>
          <c:extLst>
            <c:ext xmlns:c16="http://schemas.microsoft.com/office/drawing/2014/chart" uri="{C3380CC4-5D6E-409C-BE32-E72D297353CC}">
              <c16:uniqueId val="{00000000-807F-4964-9403-C36FCDEF1B8C}"/>
            </c:ext>
          </c:extLst>
        </c:ser>
        <c:dLbls>
          <c:dLblPos val="outEnd"/>
          <c:showLegendKey val="0"/>
          <c:showVal val="1"/>
          <c:showCatName val="0"/>
          <c:showSerName val="0"/>
          <c:showPercent val="0"/>
          <c:showBubbleSize val="0"/>
        </c:dLbls>
        <c:gapWidth val="182"/>
        <c:axId val="1388369727"/>
        <c:axId val="1388365407"/>
      </c:barChart>
      <c:catAx>
        <c:axId val="1388369727"/>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Georgia" panose="02040502050405020303" pitchFamily="18" charset="0"/>
                <a:ea typeface="+mn-ea"/>
                <a:cs typeface="+mn-cs"/>
              </a:defRPr>
            </a:pPr>
            <a:endParaRPr lang="en-US"/>
          </a:p>
        </c:txPr>
        <c:crossAx val="1388365407"/>
        <c:crosses val="autoZero"/>
        <c:auto val="1"/>
        <c:lblAlgn val="ctr"/>
        <c:lblOffset val="100"/>
        <c:noMultiLvlLbl val="0"/>
      </c:catAx>
      <c:valAx>
        <c:axId val="1388365407"/>
        <c:scaling>
          <c:orientation val="minMax"/>
        </c:scaling>
        <c:delete val="1"/>
        <c:axPos val="t"/>
        <c:numFmt formatCode="_(* #,##0_);_(* \(#,##0\);_(* &quot;-&quot;??_);_(@_)" sourceLinked="1"/>
        <c:majorTickMark val="none"/>
        <c:minorTickMark val="none"/>
        <c:tickLblPos val="nextTo"/>
        <c:crossAx val="1388369727"/>
        <c:crosses val="autoZero"/>
        <c:crossBetween val="between"/>
        <c:majorUnit val="300000"/>
      </c:valAx>
      <c:spPr>
        <a:noFill/>
        <a:ln>
          <a:noFill/>
        </a:ln>
        <a:effectLst/>
      </c:spPr>
    </c:plotArea>
    <c:plotVisOnly val="1"/>
    <c:dispBlanksAs val="gap"/>
    <c:showDLblsOverMax val="0"/>
  </c:chart>
  <c:spPr>
    <a:noFill/>
    <a:ln>
      <a:noFill/>
    </a:ln>
    <a:effectLst/>
  </c:spPr>
  <c:txPr>
    <a:bodyPr/>
    <a:lstStyle/>
    <a:p>
      <a:pPr>
        <a:defRPr>
          <a:solidFill>
            <a:schemeClr val="tx1"/>
          </a:solidFill>
          <a:latin typeface="Georgia" panose="02040502050405020303" pitchFamily="18"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Georgia" panose="02040502050405020303" pitchFamily="18" charset="0"/>
                <a:ea typeface="+mn-ea"/>
                <a:cs typeface="+mn-cs"/>
              </a:defRPr>
            </a:pPr>
            <a:r>
              <a:rPr lang="en-IN" sz="1200"/>
              <a:t>Production (in MT)</a:t>
            </a:r>
          </a:p>
        </c:rich>
      </c:tx>
      <c:layout>
        <c:manualLayout>
          <c:xMode val="edge"/>
          <c:yMode val="edge"/>
          <c:x val="0.23231233595800524"/>
          <c:y val="0.15885313043077184"/>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Georgia" panose="02040502050405020303" pitchFamily="18" charset="0"/>
              <a:ea typeface="+mn-ea"/>
              <a:cs typeface="+mn-cs"/>
            </a:defRPr>
          </a:pPr>
          <a:endParaRPr lang="en-US"/>
        </a:p>
      </c:txPr>
    </c:title>
    <c:autoTitleDeleted val="0"/>
    <c:plotArea>
      <c:layout>
        <c:manualLayout>
          <c:layoutTarget val="inner"/>
          <c:xMode val="edge"/>
          <c:yMode val="edge"/>
          <c:x val="0.21849593996062991"/>
          <c:y val="0.30231736385106267"/>
          <c:w val="0.72253772965879259"/>
          <c:h val="0.58847110897778165"/>
        </c:manualLayout>
      </c:layout>
      <c:barChart>
        <c:barDir val="bar"/>
        <c:grouping val="clustered"/>
        <c:varyColors val="0"/>
        <c:ser>
          <c:idx val="0"/>
          <c:order val="0"/>
          <c:spPr>
            <a:solidFill>
              <a:srgbClr val="E8A33D"/>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Sheet1!$A$25:$A$28</c:f>
              <c:strCache>
                <c:ptCount val="4"/>
                <c:pt idx="0">
                  <c:v>Tomato</c:v>
                </c:pt>
                <c:pt idx="1">
                  <c:v>Mango</c:v>
                </c:pt>
                <c:pt idx="2">
                  <c:v>Grape</c:v>
                </c:pt>
                <c:pt idx="3">
                  <c:v>Pomegranate</c:v>
                </c:pt>
              </c:strCache>
            </c:strRef>
          </c:cat>
          <c:val>
            <c:numRef>
              <c:f>Sheet1!$B$25:$B$28</c:f>
              <c:numCache>
                <c:formatCode>_(* #,##0_);_(* \(#,##0\);_(* "-"??_);_(@_)</c:formatCode>
                <c:ptCount val="4"/>
                <c:pt idx="0">
                  <c:v>1301993</c:v>
                </c:pt>
                <c:pt idx="1">
                  <c:v>723743</c:v>
                </c:pt>
                <c:pt idx="2">
                  <c:v>132115</c:v>
                </c:pt>
                <c:pt idx="3">
                  <c:v>48345</c:v>
                </c:pt>
              </c:numCache>
            </c:numRef>
          </c:val>
          <c:extLst>
            <c:ext xmlns:c16="http://schemas.microsoft.com/office/drawing/2014/chart" uri="{C3380CC4-5D6E-409C-BE32-E72D297353CC}">
              <c16:uniqueId val="{00000000-4126-49DB-8A84-0FE51C05A37A}"/>
            </c:ext>
          </c:extLst>
        </c:ser>
        <c:dLbls>
          <c:dLblPos val="outEnd"/>
          <c:showLegendKey val="0"/>
          <c:showVal val="1"/>
          <c:showCatName val="0"/>
          <c:showSerName val="0"/>
          <c:showPercent val="0"/>
          <c:showBubbleSize val="0"/>
        </c:dLbls>
        <c:gapWidth val="182"/>
        <c:axId val="1022482399"/>
        <c:axId val="1022485279"/>
      </c:barChart>
      <c:catAx>
        <c:axId val="1022482399"/>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Georgia" panose="02040502050405020303" pitchFamily="18" charset="0"/>
                <a:ea typeface="+mn-ea"/>
                <a:cs typeface="+mn-cs"/>
              </a:defRPr>
            </a:pPr>
            <a:endParaRPr lang="en-US"/>
          </a:p>
        </c:txPr>
        <c:crossAx val="1022485279"/>
        <c:crosses val="autoZero"/>
        <c:auto val="1"/>
        <c:lblAlgn val="ctr"/>
        <c:lblOffset val="100"/>
        <c:noMultiLvlLbl val="0"/>
      </c:catAx>
      <c:valAx>
        <c:axId val="1022485279"/>
        <c:scaling>
          <c:orientation val="minMax"/>
        </c:scaling>
        <c:delete val="1"/>
        <c:axPos val="t"/>
        <c:numFmt formatCode="_(* #,##0_);_(* \(#,##0\);_(* &quot;-&quot;??_);_(@_)" sourceLinked="1"/>
        <c:majorTickMark val="none"/>
        <c:minorTickMark val="none"/>
        <c:tickLblPos val="nextTo"/>
        <c:crossAx val="1022482399"/>
        <c:crosses val="autoZero"/>
        <c:crossBetween val="between"/>
        <c:majorUnit val="400000"/>
      </c:valAx>
      <c:spPr>
        <a:noFill/>
        <a:ln>
          <a:noFill/>
        </a:ln>
        <a:effectLst/>
      </c:spPr>
    </c:plotArea>
    <c:plotVisOnly val="1"/>
    <c:dispBlanksAs val="gap"/>
    <c:showDLblsOverMax val="0"/>
  </c:chart>
  <c:spPr>
    <a:noFill/>
    <a:ln>
      <a:noFill/>
    </a:ln>
    <a:effectLst/>
  </c:spPr>
  <c:txPr>
    <a:bodyPr/>
    <a:lstStyle/>
    <a:p>
      <a:pPr>
        <a:defRPr>
          <a:solidFill>
            <a:schemeClr val="tx1"/>
          </a:solidFill>
          <a:latin typeface="Georgia" panose="02040502050405020303" pitchFamily="18"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Georgia" panose="02040502050405020303" pitchFamily="18" charset="0"/>
                <a:ea typeface="+mn-ea"/>
                <a:cs typeface="+mn-cs"/>
              </a:defRPr>
            </a:pPr>
            <a:r>
              <a:rPr lang="en-IN" sz="1200"/>
              <a:t>Production (in MT)</a:t>
            </a:r>
          </a:p>
        </c:rich>
      </c:tx>
      <c:layout>
        <c:manualLayout>
          <c:xMode val="edge"/>
          <c:yMode val="edge"/>
          <c:x val="0.2378678915135608"/>
          <c:y val="0.14973700228289977"/>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Georgia" panose="02040502050405020303" pitchFamily="18" charset="0"/>
              <a:ea typeface="+mn-ea"/>
              <a:cs typeface="+mn-cs"/>
            </a:defRPr>
          </a:pPr>
          <a:endParaRPr lang="en-US"/>
        </a:p>
      </c:txPr>
    </c:title>
    <c:autoTitleDeleted val="0"/>
    <c:plotArea>
      <c:layout>
        <c:manualLayout>
          <c:layoutTarget val="inner"/>
          <c:xMode val="edge"/>
          <c:yMode val="edge"/>
          <c:x val="0.1780187653292328"/>
          <c:y val="0.29432679511232485"/>
          <c:w val="0.53899715660542424"/>
          <c:h val="0.5933704531755003"/>
        </c:manualLayout>
      </c:layout>
      <c:barChart>
        <c:barDir val="bar"/>
        <c:grouping val="clustered"/>
        <c:varyColors val="0"/>
        <c:ser>
          <c:idx val="0"/>
          <c:order val="0"/>
          <c:spPr>
            <a:solidFill>
              <a:srgbClr val="0B6E78"/>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Sheet1!$A$30:$A$34</c:f>
              <c:strCache>
                <c:ptCount val="5"/>
                <c:pt idx="0">
                  <c:v>Mango</c:v>
                </c:pt>
                <c:pt idx="1">
                  <c:v>Onion</c:v>
                </c:pt>
                <c:pt idx="2">
                  <c:v>Banana</c:v>
                </c:pt>
                <c:pt idx="3">
                  <c:v>Tomato</c:v>
                </c:pt>
                <c:pt idx="4">
                  <c:v>Pineapple</c:v>
                </c:pt>
              </c:strCache>
            </c:strRef>
          </c:cat>
          <c:val>
            <c:numRef>
              <c:f>Sheet1!$B$30:$B$34</c:f>
              <c:numCache>
                <c:formatCode>_(* #,##0_);_(* \(#,##0\);_(* "-"??_);_(@_)</c:formatCode>
                <c:ptCount val="5"/>
                <c:pt idx="0">
                  <c:v>194862</c:v>
                </c:pt>
                <c:pt idx="1">
                  <c:v>98580</c:v>
                </c:pt>
                <c:pt idx="2">
                  <c:v>75294</c:v>
                </c:pt>
                <c:pt idx="3">
                  <c:v>79134</c:v>
                </c:pt>
                <c:pt idx="4">
                  <c:v>9172</c:v>
                </c:pt>
              </c:numCache>
            </c:numRef>
          </c:val>
          <c:extLst>
            <c:ext xmlns:c16="http://schemas.microsoft.com/office/drawing/2014/chart" uri="{C3380CC4-5D6E-409C-BE32-E72D297353CC}">
              <c16:uniqueId val="{00000000-59AA-45A9-8DED-E83C5980F5DD}"/>
            </c:ext>
          </c:extLst>
        </c:ser>
        <c:dLbls>
          <c:dLblPos val="outEnd"/>
          <c:showLegendKey val="0"/>
          <c:showVal val="1"/>
          <c:showCatName val="0"/>
          <c:showSerName val="0"/>
          <c:showPercent val="0"/>
          <c:showBubbleSize val="0"/>
        </c:dLbls>
        <c:gapWidth val="182"/>
        <c:axId val="1433418175"/>
        <c:axId val="1433415775"/>
      </c:barChart>
      <c:catAx>
        <c:axId val="1433418175"/>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Georgia" panose="02040502050405020303" pitchFamily="18" charset="0"/>
                <a:ea typeface="+mn-ea"/>
                <a:cs typeface="+mn-cs"/>
              </a:defRPr>
            </a:pPr>
            <a:endParaRPr lang="en-US"/>
          </a:p>
        </c:txPr>
        <c:crossAx val="1433415775"/>
        <c:crosses val="autoZero"/>
        <c:auto val="1"/>
        <c:lblAlgn val="ctr"/>
        <c:lblOffset val="100"/>
        <c:noMultiLvlLbl val="0"/>
      </c:catAx>
      <c:valAx>
        <c:axId val="1433415775"/>
        <c:scaling>
          <c:orientation val="minMax"/>
          <c:max val="200000"/>
        </c:scaling>
        <c:delete val="1"/>
        <c:axPos val="t"/>
        <c:numFmt formatCode="_(* #,##0_);_(* \(#,##0\);_(* &quot;-&quot;??_);_(@_)" sourceLinked="1"/>
        <c:majorTickMark val="none"/>
        <c:minorTickMark val="none"/>
        <c:tickLblPos val="nextTo"/>
        <c:crossAx val="1433418175"/>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latin typeface="Georgia" panose="02040502050405020303" pitchFamily="18"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Georgia" panose="02040502050405020303" pitchFamily="18" charset="0"/>
                <a:ea typeface="+mn-ea"/>
                <a:cs typeface="+mn-cs"/>
              </a:defRPr>
            </a:pPr>
            <a:r>
              <a:rPr lang="en-IN" sz="1200" dirty="0">
                <a:solidFill>
                  <a:schemeClr val="tx1"/>
                </a:solidFill>
              </a:rPr>
              <a:t>Production (in MT)</a:t>
            </a:r>
          </a:p>
        </c:rich>
      </c:tx>
      <c:layout>
        <c:manualLayout>
          <c:xMode val="edge"/>
          <c:yMode val="edge"/>
          <c:x val="0.24064566929133857"/>
          <c:y val="7.235177449034319E-2"/>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Georgia" panose="02040502050405020303" pitchFamily="18" charset="0"/>
              <a:ea typeface="+mn-ea"/>
              <a:cs typeface="+mn-cs"/>
            </a:defRPr>
          </a:pPr>
          <a:endParaRPr lang="en-US"/>
        </a:p>
      </c:txPr>
    </c:title>
    <c:autoTitleDeleted val="0"/>
    <c:plotArea>
      <c:layout>
        <c:manualLayout>
          <c:layoutTarget val="inner"/>
          <c:xMode val="edge"/>
          <c:yMode val="edge"/>
          <c:x val="0.22034296169614145"/>
          <c:y val="0.23840691146294776"/>
          <c:w val="0.74708005225420582"/>
          <c:h val="0.60655340362925247"/>
        </c:manualLayout>
      </c:layout>
      <c:barChart>
        <c:barDir val="bar"/>
        <c:grouping val="clustered"/>
        <c:varyColors val="0"/>
        <c:ser>
          <c:idx val="0"/>
          <c:order val="0"/>
          <c:spPr>
            <a:solidFill>
              <a:srgbClr val="9C3237"/>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Sheet1!$A$36:$A$39</c:f>
              <c:strCache>
                <c:ptCount val="4"/>
                <c:pt idx="0">
                  <c:v>Banana</c:v>
                </c:pt>
                <c:pt idx="1">
                  <c:v>Pineapple</c:v>
                </c:pt>
                <c:pt idx="2">
                  <c:v>Onion</c:v>
                </c:pt>
                <c:pt idx="3">
                  <c:v>Mango</c:v>
                </c:pt>
              </c:strCache>
            </c:strRef>
          </c:cat>
          <c:val>
            <c:numRef>
              <c:f>Sheet1!$B$36:$B$39</c:f>
              <c:numCache>
                <c:formatCode>_(* #,##0_);_(* \(#,##0\);_(* "-"??_);_(@_)</c:formatCode>
                <c:ptCount val="4"/>
                <c:pt idx="0">
                  <c:v>125184</c:v>
                </c:pt>
                <c:pt idx="1">
                  <c:v>61699</c:v>
                </c:pt>
                <c:pt idx="2">
                  <c:v>119426</c:v>
                </c:pt>
                <c:pt idx="3">
                  <c:v>44559</c:v>
                </c:pt>
              </c:numCache>
            </c:numRef>
          </c:val>
          <c:extLst>
            <c:ext xmlns:c16="http://schemas.microsoft.com/office/drawing/2014/chart" uri="{C3380CC4-5D6E-409C-BE32-E72D297353CC}">
              <c16:uniqueId val="{00000000-B514-4DCD-9B2F-7CB1F773791A}"/>
            </c:ext>
          </c:extLst>
        </c:ser>
        <c:dLbls>
          <c:dLblPos val="outEnd"/>
          <c:showLegendKey val="0"/>
          <c:showVal val="1"/>
          <c:showCatName val="0"/>
          <c:showSerName val="0"/>
          <c:showPercent val="0"/>
          <c:showBubbleSize val="0"/>
        </c:dLbls>
        <c:gapWidth val="182"/>
        <c:axId val="1030686095"/>
        <c:axId val="1030688975"/>
      </c:barChart>
      <c:catAx>
        <c:axId val="1030686095"/>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Georgia" panose="02040502050405020303" pitchFamily="18" charset="0"/>
                <a:ea typeface="+mn-ea"/>
                <a:cs typeface="+mn-cs"/>
              </a:defRPr>
            </a:pPr>
            <a:endParaRPr lang="en-US"/>
          </a:p>
        </c:txPr>
        <c:crossAx val="1030688975"/>
        <c:crosses val="autoZero"/>
        <c:auto val="1"/>
        <c:lblAlgn val="ctr"/>
        <c:lblOffset val="100"/>
        <c:noMultiLvlLbl val="0"/>
      </c:catAx>
      <c:valAx>
        <c:axId val="1030688975"/>
        <c:scaling>
          <c:orientation val="minMax"/>
          <c:max val="150000"/>
        </c:scaling>
        <c:delete val="1"/>
        <c:axPos val="t"/>
        <c:numFmt formatCode="_(* #,##0_);_(* \(#,##0\);_(* &quot;-&quot;??_);_(@_)" sourceLinked="1"/>
        <c:majorTickMark val="out"/>
        <c:minorTickMark val="none"/>
        <c:tickLblPos val="nextTo"/>
        <c:crossAx val="1030686095"/>
        <c:crosses val="autoZero"/>
        <c:crossBetween val="between"/>
        <c:majorUnit val="50000"/>
      </c:valAx>
      <c:spPr>
        <a:noFill/>
        <a:ln>
          <a:noFill/>
        </a:ln>
        <a:effectLst/>
      </c:spPr>
    </c:plotArea>
    <c:plotVisOnly val="1"/>
    <c:dispBlanksAs val="gap"/>
    <c:showDLblsOverMax val="0"/>
  </c:chart>
  <c:spPr>
    <a:noFill/>
    <a:ln>
      <a:noFill/>
    </a:ln>
    <a:effectLst/>
  </c:spPr>
  <c:txPr>
    <a:bodyPr/>
    <a:lstStyle/>
    <a:p>
      <a:pPr>
        <a:defRPr>
          <a:solidFill>
            <a:schemeClr val="tx1"/>
          </a:solidFill>
          <a:latin typeface="Georgia" panose="02040502050405020303" pitchFamily="18"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Georgia" panose="02040502050405020303" pitchFamily="18" charset="0"/>
                <a:ea typeface="+mn-ea"/>
                <a:cs typeface="+mn-cs"/>
              </a:defRPr>
            </a:pPr>
            <a:r>
              <a:rPr lang="en-US" sz="900" dirty="0">
                <a:solidFill>
                  <a:schemeClr val="tx1"/>
                </a:solidFill>
                <a:latin typeface="Georgia" panose="02040502050405020303" pitchFamily="18" charset="0"/>
              </a:rPr>
              <a:t>Production</a:t>
            </a:r>
            <a:r>
              <a:rPr lang="en-US" sz="900" baseline="0" dirty="0">
                <a:solidFill>
                  <a:schemeClr val="tx1"/>
                </a:solidFill>
                <a:latin typeface="Georgia" panose="02040502050405020303" pitchFamily="18" charset="0"/>
              </a:rPr>
              <a:t> (in MT)</a:t>
            </a:r>
            <a:endParaRPr lang="en-US" sz="900" dirty="0">
              <a:solidFill>
                <a:schemeClr val="tx1"/>
              </a:solidFill>
              <a:latin typeface="Georgia" panose="02040502050405020303" pitchFamily="18" charset="0"/>
            </a:endParaRPr>
          </a:p>
        </c:rich>
      </c:tx>
      <c:layout>
        <c:manualLayout>
          <c:xMode val="edge"/>
          <c:yMode val="edge"/>
          <c:x val="0.28059445166782992"/>
          <c:y val="0.16432964603928316"/>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Georgia" panose="02040502050405020303" pitchFamily="18" charset="0"/>
              <a:ea typeface="+mn-ea"/>
              <a:cs typeface="+mn-cs"/>
            </a:defRPr>
          </a:pPr>
          <a:endParaRPr lang="en-US"/>
        </a:p>
      </c:txPr>
    </c:title>
    <c:autoTitleDeleted val="0"/>
    <c:plotArea>
      <c:layout/>
      <c:barChart>
        <c:barDir val="bar"/>
        <c:grouping val="clustered"/>
        <c:varyColors val="0"/>
        <c:ser>
          <c:idx val="0"/>
          <c:order val="0"/>
          <c:tx>
            <c:strRef>
              <c:f>Sheet4!$C$1</c:f>
              <c:strCache>
                <c:ptCount val="1"/>
                <c:pt idx="0">
                  <c:v> Production (in MT) </c:v>
                </c:pt>
              </c:strCache>
            </c:strRef>
          </c:tx>
          <c:spPr>
            <a:solidFill>
              <a:srgbClr val="E8A33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Sheet4!$A$2:$A$7</c:f>
              <c:strCache>
                <c:ptCount val="6"/>
                <c:pt idx="0">
                  <c:v> Onion </c:v>
                </c:pt>
                <c:pt idx="1">
                  <c:v> Grape </c:v>
                </c:pt>
                <c:pt idx="2">
                  <c:v> Pomegranate </c:v>
                </c:pt>
                <c:pt idx="3">
                  <c:v> Banana </c:v>
                </c:pt>
                <c:pt idx="4">
                  <c:v> Tomato </c:v>
                </c:pt>
                <c:pt idx="5">
                  <c:v> Mango </c:v>
                </c:pt>
              </c:strCache>
            </c:strRef>
          </c:cat>
          <c:val>
            <c:numRef>
              <c:f>Sheet4!$C$2:$C$7</c:f>
              <c:numCache>
                <c:formatCode>_(* #,##0_);_(* \(#,##0\);_(* "-"??_);_(@_)</c:formatCode>
                <c:ptCount val="6"/>
                <c:pt idx="0">
                  <c:v>1695170</c:v>
                </c:pt>
                <c:pt idx="1">
                  <c:v>1082422</c:v>
                </c:pt>
                <c:pt idx="2">
                  <c:v>64551</c:v>
                </c:pt>
                <c:pt idx="3">
                  <c:v>73333</c:v>
                </c:pt>
                <c:pt idx="4">
                  <c:v>142310</c:v>
                </c:pt>
                <c:pt idx="5">
                  <c:v>75429</c:v>
                </c:pt>
              </c:numCache>
            </c:numRef>
          </c:val>
          <c:extLst>
            <c:ext xmlns:c16="http://schemas.microsoft.com/office/drawing/2014/chart" uri="{C3380CC4-5D6E-409C-BE32-E72D297353CC}">
              <c16:uniqueId val="{00000000-1BBF-4B04-ABF7-0E3A5D279AEB}"/>
            </c:ext>
          </c:extLst>
        </c:ser>
        <c:dLbls>
          <c:dLblPos val="outEnd"/>
          <c:showLegendKey val="0"/>
          <c:showVal val="1"/>
          <c:showCatName val="0"/>
          <c:showSerName val="0"/>
          <c:showPercent val="0"/>
          <c:showBubbleSize val="0"/>
        </c:dLbls>
        <c:gapWidth val="219"/>
        <c:axId val="559053231"/>
        <c:axId val="559051311"/>
      </c:barChart>
      <c:catAx>
        <c:axId val="559053231"/>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Georgia" panose="02040502050405020303" pitchFamily="18" charset="0"/>
                <a:ea typeface="+mn-ea"/>
                <a:cs typeface="+mn-cs"/>
              </a:defRPr>
            </a:pPr>
            <a:endParaRPr lang="en-US"/>
          </a:p>
        </c:txPr>
        <c:crossAx val="559051311"/>
        <c:crosses val="autoZero"/>
        <c:auto val="1"/>
        <c:lblAlgn val="ctr"/>
        <c:lblOffset val="100"/>
        <c:noMultiLvlLbl val="0"/>
      </c:catAx>
      <c:valAx>
        <c:axId val="559051311"/>
        <c:scaling>
          <c:orientation val="minMax"/>
        </c:scaling>
        <c:delete val="1"/>
        <c:axPos val="t"/>
        <c:numFmt formatCode="_(* #,##0_);_(* \(#,##0\);_(* &quot;-&quot;??_);_(@_)" sourceLinked="1"/>
        <c:majorTickMark val="none"/>
        <c:minorTickMark val="none"/>
        <c:tickLblPos val="nextTo"/>
        <c:crossAx val="55905323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60" b="0" i="0" u="none" strike="noStrike" kern="1200" spc="0" baseline="0">
                <a:solidFill>
                  <a:schemeClr val="tx1"/>
                </a:solidFill>
                <a:latin typeface="Georgia" panose="02040502050405020303" pitchFamily="18" charset="0"/>
                <a:ea typeface="+mn-ea"/>
                <a:cs typeface="+mn-cs"/>
              </a:defRPr>
            </a:pPr>
            <a:r>
              <a:rPr lang="en-US">
                <a:latin typeface="Georgia" panose="02040502050405020303" pitchFamily="18" charset="0"/>
              </a:rPr>
              <a:t>Area distribution of crops (in ha)</a:t>
            </a:r>
          </a:p>
        </c:rich>
      </c:tx>
      <c:layout>
        <c:manualLayout>
          <c:xMode val="edge"/>
          <c:yMode val="edge"/>
          <c:x val="0.25694641936276458"/>
          <c:y val="5.5368933668453441E-2"/>
        </c:manualLayout>
      </c:layout>
      <c:overlay val="0"/>
      <c:spPr>
        <a:noFill/>
        <a:ln>
          <a:noFill/>
        </a:ln>
        <a:effectLst/>
      </c:spPr>
      <c:txPr>
        <a:bodyPr rot="0" spcFirstLastPara="1" vertOverflow="ellipsis" vert="horz" wrap="square" anchor="ctr" anchorCtr="1"/>
        <a:lstStyle/>
        <a:p>
          <a:pPr>
            <a:defRPr sz="960" b="0" i="0" u="none" strike="noStrike" kern="1200" spc="0" baseline="0">
              <a:solidFill>
                <a:schemeClr val="tx1"/>
              </a:solidFill>
              <a:latin typeface="Georgia" panose="02040502050405020303" pitchFamily="18" charset="0"/>
              <a:ea typeface="+mn-ea"/>
              <a:cs typeface="+mn-cs"/>
            </a:defRPr>
          </a:pPr>
          <a:endParaRPr lang="en-US"/>
        </a:p>
      </c:txPr>
    </c:title>
    <c:autoTitleDeleted val="0"/>
    <c:plotArea>
      <c:layout>
        <c:manualLayout>
          <c:layoutTarget val="inner"/>
          <c:xMode val="edge"/>
          <c:yMode val="edge"/>
          <c:x val="0.16116422047691817"/>
          <c:y val="0.16225597314475065"/>
          <c:w val="0.77998797025371824"/>
          <c:h val="0.67786932294515978"/>
        </c:manualLayout>
      </c:layout>
      <c:barChart>
        <c:barDir val="bar"/>
        <c:grouping val="clustered"/>
        <c:varyColors val="0"/>
        <c:ser>
          <c:idx val="0"/>
          <c:order val="0"/>
          <c:tx>
            <c:strRef>
              <c:f>Sheet4!$B$1</c:f>
              <c:strCache>
                <c:ptCount val="1"/>
                <c:pt idx="0">
                  <c:v>Area distribution of crops</c:v>
                </c:pt>
              </c:strCache>
            </c:strRef>
          </c:tx>
          <c:spPr>
            <a:solidFill>
              <a:schemeClr val="accent1"/>
            </a:solidFill>
            <a:ln>
              <a:noFill/>
            </a:ln>
            <a:effectLst/>
          </c:spPr>
          <c:invertIfNegative val="0"/>
          <c:dLbls>
            <c:dLbl>
              <c:idx val="0"/>
              <c:layout>
                <c:manualLayout>
                  <c:x val="-1.829385988919971E-2"/>
                  <c:y val="7.2662642609518956E-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39F-42BB-B923-5C91038D2965}"/>
                </c:ext>
              </c:extLst>
            </c:dLbl>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Sheet4!$A$2:$A$7</c:f>
              <c:strCache>
                <c:ptCount val="6"/>
                <c:pt idx="0">
                  <c:v> Onion </c:v>
                </c:pt>
                <c:pt idx="1">
                  <c:v> Grape </c:v>
                </c:pt>
                <c:pt idx="2">
                  <c:v> Pomegranate </c:v>
                </c:pt>
                <c:pt idx="3">
                  <c:v> Banana </c:v>
                </c:pt>
                <c:pt idx="4">
                  <c:v> Tomato </c:v>
                </c:pt>
                <c:pt idx="5">
                  <c:v> Mango </c:v>
                </c:pt>
              </c:strCache>
            </c:strRef>
          </c:cat>
          <c:val>
            <c:numRef>
              <c:f>Sheet4!$B$2:$B$7</c:f>
              <c:numCache>
                <c:formatCode>_(* #,##0_);_(* \(#,##0\);_(* "-"??_);_(@_)</c:formatCode>
                <c:ptCount val="6"/>
                <c:pt idx="0">
                  <c:v>94906</c:v>
                </c:pt>
                <c:pt idx="1">
                  <c:v>41868</c:v>
                </c:pt>
                <c:pt idx="2">
                  <c:v>6918</c:v>
                </c:pt>
                <c:pt idx="3">
                  <c:v>2313</c:v>
                </c:pt>
                <c:pt idx="4">
                  <c:v>3760</c:v>
                </c:pt>
                <c:pt idx="5">
                  <c:v>4823</c:v>
                </c:pt>
              </c:numCache>
            </c:numRef>
          </c:val>
          <c:extLst>
            <c:ext xmlns:c16="http://schemas.microsoft.com/office/drawing/2014/chart" uri="{C3380CC4-5D6E-409C-BE32-E72D297353CC}">
              <c16:uniqueId val="{00000000-939F-42BB-B923-5C91038D2965}"/>
            </c:ext>
          </c:extLst>
        </c:ser>
        <c:dLbls>
          <c:dLblPos val="outEnd"/>
          <c:showLegendKey val="0"/>
          <c:showVal val="1"/>
          <c:showCatName val="0"/>
          <c:showSerName val="0"/>
          <c:showPercent val="0"/>
          <c:showBubbleSize val="0"/>
        </c:dLbls>
        <c:gapWidth val="182"/>
        <c:axId val="559084431"/>
        <c:axId val="559089711"/>
      </c:barChart>
      <c:catAx>
        <c:axId val="559084431"/>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Georgia" panose="02040502050405020303" pitchFamily="18" charset="0"/>
                <a:ea typeface="+mn-ea"/>
                <a:cs typeface="+mn-cs"/>
              </a:defRPr>
            </a:pPr>
            <a:endParaRPr lang="en-US"/>
          </a:p>
        </c:txPr>
        <c:crossAx val="559089711"/>
        <c:crosses val="autoZero"/>
        <c:auto val="1"/>
        <c:lblAlgn val="ctr"/>
        <c:lblOffset val="100"/>
        <c:noMultiLvlLbl val="0"/>
      </c:catAx>
      <c:valAx>
        <c:axId val="559089711"/>
        <c:scaling>
          <c:orientation val="minMax"/>
        </c:scaling>
        <c:delete val="1"/>
        <c:axPos val="t"/>
        <c:numFmt formatCode="_(* #,##0_);_(* \(#,##0\);_(* &quot;-&quot;??_);_(@_)" sourceLinked="1"/>
        <c:majorTickMark val="none"/>
        <c:minorTickMark val="none"/>
        <c:tickLblPos val="nextTo"/>
        <c:crossAx val="559084431"/>
        <c:crosses val="autoZero"/>
        <c:crossBetween val="between"/>
      </c:valAx>
      <c:spPr>
        <a:noFill/>
        <a:ln>
          <a:noFill/>
        </a:ln>
        <a:effectLst/>
      </c:spPr>
    </c:plotArea>
    <c:plotVisOnly val="1"/>
    <c:dispBlanksAs val="gap"/>
    <c:showDLblsOverMax val="0"/>
  </c:chart>
  <c:spPr>
    <a:noFill/>
    <a:ln>
      <a:noFill/>
    </a:ln>
    <a:effectLst/>
  </c:spPr>
  <c:txPr>
    <a:bodyPr/>
    <a:lstStyle/>
    <a:p>
      <a:pPr>
        <a:defRPr sz="800">
          <a:solidFill>
            <a:schemeClr val="tx1"/>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Georgia" panose="02040502050405020303" pitchFamily="18" charset="0"/>
                <a:ea typeface="+mn-ea"/>
                <a:cs typeface="+mn-cs"/>
              </a:defRPr>
            </a:pPr>
            <a:r>
              <a:rPr lang="en-IN" sz="900" dirty="0">
                <a:solidFill>
                  <a:schemeClr val="tx1"/>
                </a:solidFill>
                <a:latin typeface="Georgia" panose="02040502050405020303" pitchFamily="18" charset="0"/>
              </a:rPr>
              <a:t>Production</a:t>
            </a:r>
            <a:r>
              <a:rPr lang="en-IN" sz="900" baseline="0" dirty="0">
                <a:solidFill>
                  <a:schemeClr val="tx1"/>
                </a:solidFill>
                <a:latin typeface="Georgia" panose="02040502050405020303" pitchFamily="18" charset="0"/>
              </a:rPr>
              <a:t> (in MT)</a:t>
            </a:r>
            <a:endParaRPr lang="en-IN" sz="900" dirty="0">
              <a:solidFill>
                <a:schemeClr val="tx1"/>
              </a:solidFill>
              <a:latin typeface="Georgia" panose="02040502050405020303" pitchFamily="18" charset="0"/>
            </a:endParaRPr>
          </a:p>
        </c:rich>
      </c:tx>
      <c:layout>
        <c:manualLayout>
          <c:xMode val="edge"/>
          <c:yMode val="edge"/>
          <c:x val="0.25731233595800523"/>
          <c:y val="0.1069441263254335"/>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Georgia" panose="02040502050405020303" pitchFamily="18" charset="0"/>
              <a:ea typeface="+mn-ea"/>
              <a:cs typeface="+mn-cs"/>
            </a:defRPr>
          </a:pPr>
          <a:endParaRPr lang="en-IN"/>
        </a:p>
      </c:txPr>
    </c:title>
    <c:autoTitleDeleted val="0"/>
    <c:plotArea>
      <c:layout/>
      <c:barChart>
        <c:barDir val="bar"/>
        <c:grouping val="clustered"/>
        <c:varyColors val="0"/>
        <c:ser>
          <c:idx val="0"/>
          <c:order val="0"/>
          <c:spPr>
            <a:solidFill>
              <a:srgbClr val="E8A33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Sheet1!$A$8:$A$11</c:f>
              <c:strCache>
                <c:ptCount val="4"/>
                <c:pt idx="0">
                  <c:v>Onion</c:v>
                </c:pt>
                <c:pt idx="1">
                  <c:v>Tomato</c:v>
                </c:pt>
                <c:pt idx="2">
                  <c:v>Pomegranate</c:v>
                </c:pt>
                <c:pt idx="3">
                  <c:v>Banana</c:v>
                </c:pt>
              </c:strCache>
            </c:strRef>
          </c:cat>
          <c:val>
            <c:numRef>
              <c:f>Sheet1!$B$8:$B$11</c:f>
              <c:numCache>
                <c:formatCode>_(* #,##0_);_(* \(#,##0\);_(* "-"??_);_(@_)</c:formatCode>
                <c:ptCount val="4"/>
                <c:pt idx="0">
                  <c:v>812347</c:v>
                </c:pt>
                <c:pt idx="1">
                  <c:v>296684</c:v>
                </c:pt>
                <c:pt idx="2">
                  <c:v>99315</c:v>
                </c:pt>
                <c:pt idx="3">
                  <c:v>116975</c:v>
                </c:pt>
              </c:numCache>
            </c:numRef>
          </c:val>
          <c:extLst>
            <c:ext xmlns:c16="http://schemas.microsoft.com/office/drawing/2014/chart" uri="{C3380CC4-5D6E-409C-BE32-E72D297353CC}">
              <c16:uniqueId val="{00000000-708C-490D-B5F6-B220C59E944C}"/>
            </c:ext>
          </c:extLst>
        </c:ser>
        <c:dLbls>
          <c:dLblPos val="outEnd"/>
          <c:showLegendKey val="0"/>
          <c:showVal val="1"/>
          <c:showCatName val="0"/>
          <c:showSerName val="0"/>
          <c:showPercent val="0"/>
          <c:showBubbleSize val="0"/>
        </c:dLbls>
        <c:gapWidth val="182"/>
        <c:axId val="1388372655"/>
        <c:axId val="1388373135"/>
      </c:barChart>
      <c:catAx>
        <c:axId val="1388372655"/>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Georgia" panose="02040502050405020303" pitchFamily="18" charset="0"/>
                <a:ea typeface="+mn-ea"/>
                <a:cs typeface="+mn-cs"/>
              </a:defRPr>
            </a:pPr>
            <a:endParaRPr lang="en-US"/>
          </a:p>
        </c:txPr>
        <c:crossAx val="1388373135"/>
        <c:crosses val="autoZero"/>
        <c:auto val="1"/>
        <c:lblAlgn val="ctr"/>
        <c:lblOffset val="100"/>
        <c:noMultiLvlLbl val="0"/>
      </c:catAx>
      <c:valAx>
        <c:axId val="1388373135"/>
        <c:scaling>
          <c:orientation val="minMax"/>
        </c:scaling>
        <c:delete val="1"/>
        <c:axPos val="t"/>
        <c:numFmt formatCode="_(* #,##0_);_(* \(#,##0\);_(* &quot;-&quot;??_);_(@_)" sourceLinked="1"/>
        <c:majorTickMark val="none"/>
        <c:minorTickMark val="none"/>
        <c:tickLblPos val="nextTo"/>
        <c:crossAx val="1388372655"/>
        <c:crosses val="autoZero"/>
        <c:crossBetween val="between"/>
        <c:majorUnit val="300000"/>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US" sz="900" b="0" i="0" u="none" strike="noStrike" kern="1200" spc="0" baseline="0" dirty="0">
                <a:solidFill>
                  <a:schemeClr val="tx1"/>
                </a:solidFill>
                <a:latin typeface="Georgia" panose="02040502050405020303" pitchFamily="18" charset="0"/>
              </a:rPr>
              <a:t> Area distribution of crops (in ha) </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manualLayout>
          <c:layoutTarget val="inner"/>
          <c:xMode val="edge"/>
          <c:yMode val="edge"/>
          <c:x val="0.17837576552930884"/>
          <c:y val="0.23126753078625825"/>
          <c:w val="0.79106867891513566"/>
          <c:h val="0.62918541278758477"/>
        </c:manualLayout>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Sheet4!$A$10:$A$14</c:f>
              <c:strCache>
                <c:ptCount val="5"/>
                <c:pt idx="0">
                  <c:v> Onion </c:v>
                </c:pt>
                <c:pt idx="1">
                  <c:v> Tomato </c:v>
                </c:pt>
                <c:pt idx="2">
                  <c:v> Pomegranate </c:v>
                </c:pt>
                <c:pt idx="3">
                  <c:v> Banana </c:v>
                </c:pt>
                <c:pt idx="4">
                  <c:v> Mango </c:v>
                </c:pt>
              </c:strCache>
            </c:strRef>
          </c:cat>
          <c:val>
            <c:numRef>
              <c:f>Sheet4!$B$10:$B$14</c:f>
              <c:numCache>
                <c:formatCode>_(* #,##0_);_(* \(#,##0\);_(* "-"??_);_(@_)</c:formatCode>
                <c:ptCount val="5"/>
                <c:pt idx="0">
                  <c:v>43998</c:v>
                </c:pt>
                <c:pt idx="1">
                  <c:v>11560</c:v>
                </c:pt>
                <c:pt idx="2">
                  <c:v>8789</c:v>
                </c:pt>
                <c:pt idx="3">
                  <c:v>4638</c:v>
                </c:pt>
                <c:pt idx="4">
                  <c:v>4982</c:v>
                </c:pt>
              </c:numCache>
            </c:numRef>
          </c:val>
          <c:extLst>
            <c:ext xmlns:c16="http://schemas.microsoft.com/office/drawing/2014/chart" uri="{C3380CC4-5D6E-409C-BE32-E72D297353CC}">
              <c16:uniqueId val="{00000000-75B7-4A4B-A619-FAF08564AE11}"/>
            </c:ext>
          </c:extLst>
        </c:ser>
        <c:dLbls>
          <c:dLblPos val="outEnd"/>
          <c:showLegendKey val="0"/>
          <c:showVal val="1"/>
          <c:showCatName val="0"/>
          <c:showSerName val="0"/>
          <c:showPercent val="0"/>
          <c:showBubbleSize val="0"/>
        </c:dLbls>
        <c:gapWidth val="182"/>
        <c:axId val="558870831"/>
        <c:axId val="558879951"/>
      </c:barChart>
      <c:catAx>
        <c:axId val="558870831"/>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Georgia" panose="02040502050405020303" pitchFamily="18" charset="0"/>
                <a:ea typeface="+mn-ea"/>
                <a:cs typeface="+mn-cs"/>
              </a:defRPr>
            </a:pPr>
            <a:endParaRPr lang="en-US"/>
          </a:p>
        </c:txPr>
        <c:crossAx val="558879951"/>
        <c:crosses val="autoZero"/>
        <c:auto val="1"/>
        <c:lblAlgn val="ctr"/>
        <c:lblOffset val="100"/>
        <c:noMultiLvlLbl val="0"/>
      </c:catAx>
      <c:valAx>
        <c:axId val="558879951"/>
        <c:scaling>
          <c:orientation val="minMax"/>
        </c:scaling>
        <c:delete val="1"/>
        <c:axPos val="t"/>
        <c:numFmt formatCode="_(* #,##0_);_(* \(#,##0\);_(* &quot;-&quot;??_);_(@_)" sourceLinked="1"/>
        <c:majorTickMark val="none"/>
        <c:minorTickMark val="none"/>
        <c:tickLblPos val="nextTo"/>
        <c:crossAx val="55887083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US" sz="900" b="0" i="0" u="none" strike="noStrike" kern="1200" spc="0" baseline="0" dirty="0">
                <a:solidFill>
                  <a:schemeClr val="tx1"/>
                </a:solidFill>
                <a:latin typeface="Trebuchet MS" panose="020B0603020202020204" pitchFamily="34" charset="0"/>
              </a:rPr>
              <a:t> Area distribution of crops (in ha) </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manualLayout>
          <c:layoutTarget val="inner"/>
          <c:xMode val="edge"/>
          <c:yMode val="edge"/>
          <c:x val="0.17240726159230096"/>
          <c:y val="0.1930929870284378"/>
          <c:w val="0.76648162729658798"/>
          <c:h val="0.58314403304420892"/>
        </c:manualLayout>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Sheet4!$A$16:$A$21</c:f>
              <c:strCache>
                <c:ptCount val="6"/>
                <c:pt idx="0">
                  <c:v> Onion </c:v>
                </c:pt>
                <c:pt idx="1">
                  <c:v> Mango </c:v>
                </c:pt>
                <c:pt idx="2">
                  <c:v> Tomato </c:v>
                </c:pt>
                <c:pt idx="3">
                  <c:v> Pomegranate </c:v>
                </c:pt>
                <c:pt idx="4">
                  <c:v> Banana </c:v>
                </c:pt>
                <c:pt idx="5">
                  <c:v> Grapes </c:v>
                </c:pt>
              </c:strCache>
            </c:strRef>
          </c:cat>
          <c:val>
            <c:numRef>
              <c:f>Sheet4!$B$16:$B$21</c:f>
              <c:numCache>
                <c:formatCode>_(* #,##0_);_(* \(#,##0\);_(* "-"??_);_(@_)</c:formatCode>
                <c:ptCount val="6"/>
                <c:pt idx="0">
                  <c:v>5964</c:v>
                </c:pt>
                <c:pt idx="1">
                  <c:v>3127</c:v>
                </c:pt>
                <c:pt idx="2">
                  <c:v>2612</c:v>
                </c:pt>
                <c:pt idx="3">
                  <c:v>1830</c:v>
                </c:pt>
                <c:pt idx="4">
                  <c:v>1048</c:v>
                </c:pt>
                <c:pt idx="5">
                  <c:v>303</c:v>
                </c:pt>
              </c:numCache>
            </c:numRef>
          </c:val>
          <c:extLst>
            <c:ext xmlns:c16="http://schemas.microsoft.com/office/drawing/2014/chart" uri="{C3380CC4-5D6E-409C-BE32-E72D297353CC}">
              <c16:uniqueId val="{00000000-A2F7-45DB-AC8D-9024F5CC695D}"/>
            </c:ext>
          </c:extLst>
        </c:ser>
        <c:dLbls>
          <c:dLblPos val="outEnd"/>
          <c:showLegendKey val="0"/>
          <c:showVal val="1"/>
          <c:showCatName val="0"/>
          <c:showSerName val="0"/>
          <c:showPercent val="0"/>
          <c:showBubbleSize val="0"/>
        </c:dLbls>
        <c:gapWidth val="182"/>
        <c:axId val="970304112"/>
        <c:axId val="970306992"/>
      </c:barChart>
      <c:catAx>
        <c:axId val="970304112"/>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Trebuchet MS" panose="020B0603020202020204" pitchFamily="34" charset="0"/>
                <a:ea typeface="+mn-ea"/>
                <a:cs typeface="+mn-cs"/>
              </a:defRPr>
            </a:pPr>
            <a:endParaRPr lang="en-US"/>
          </a:p>
        </c:txPr>
        <c:crossAx val="970306992"/>
        <c:crosses val="autoZero"/>
        <c:auto val="1"/>
        <c:lblAlgn val="ctr"/>
        <c:lblOffset val="100"/>
        <c:noMultiLvlLbl val="0"/>
      </c:catAx>
      <c:valAx>
        <c:axId val="970306992"/>
        <c:scaling>
          <c:orientation val="minMax"/>
        </c:scaling>
        <c:delete val="1"/>
        <c:axPos val="t"/>
        <c:numFmt formatCode="_(* #,##0_);_(* \(#,##0\);_(* &quot;-&quot;??_);_(@_)" sourceLinked="1"/>
        <c:majorTickMark val="none"/>
        <c:minorTickMark val="none"/>
        <c:tickLblPos val="nextTo"/>
        <c:crossAx val="9703041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900" dirty="0">
                <a:solidFill>
                  <a:schemeClr val="tx1"/>
                </a:solidFill>
                <a:latin typeface="Trebuchet MS" panose="020B0603020202020204" pitchFamily="34" charset="0"/>
              </a:rPr>
              <a:t>Production (in MT)</a:t>
            </a:r>
          </a:p>
        </c:rich>
      </c:tx>
      <c:layout>
        <c:manualLayout>
          <c:xMode val="edge"/>
          <c:yMode val="edge"/>
          <c:x val="0.28615257190586424"/>
          <c:y val="0.225625188298580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6729620033058336E-2"/>
          <c:y val="0.36827019948730971"/>
          <c:w val="0.65657456846266016"/>
          <c:h val="0.59024822471913441"/>
        </c:manualLayout>
      </c:layout>
      <c:barChart>
        <c:barDir val="bar"/>
        <c:grouping val="clustered"/>
        <c:varyColors val="0"/>
        <c:ser>
          <c:idx val="0"/>
          <c:order val="0"/>
          <c:spPr>
            <a:solidFill>
              <a:srgbClr val="E8A33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Sheet1!$A$13:$A$17</c:f>
              <c:strCache>
                <c:ptCount val="5"/>
                <c:pt idx="0">
                  <c:v>Tomato</c:v>
                </c:pt>
                <c:pt idx="1">
                  <c:v>Onion</c:v>
                </c:pt>
                <c:pt idx="2">
                  <c:v>Banana</c:v>
                </c:pt>
                <c:pt idx="3">
                  <c:v>Mango</c:v>
                </c:pt>
                <c:pt idx="4">
                  <c:v>Pomegranate</c:v>
                </c:pt>
              </c:strCache>
            </c:strRef>
          </c:cat>
          <c:val>
            <c:numRef>
              <c:f>Sheet1!$B$13:$B$17</c:f>
              <c:numCache>
                <c:formatCode>_(* #,##0_);_(* \(#,##0\);_(* "-"??_);_(@_)</c:formatCode>
                <c:ptCount val="5"/>
                <c:pt idx="0">
                  <c:v>124424</c:v>
                </c:pt>
                <c:pt idx="1">
                  <c:v>123132</c:v>
                </c:pt>
                <c:pt idx="2">
                  <c:v>33203</c:v>
                </c:pt>
                <c:pt idx="3">
                  <c:v>31399</c:v>
                </c:pt>
                <c:pt idx="4">
                  <c:v>20992</c:v>
                </c:pt>
              </c:numCache>
            </c:numRef>
          </c:val>
          <c:extLst>
            <c:ext xmlns:c16="http://schemas.microsoft.com/office/drawing/2014/chart" uri="{C3380CC4-5D6E-409C-BE32-E72D297353CC}">
              <c16:uniqueId val="{00000000-5772-4522-84AF-D72630625BEB}"/>
            </c:ext>
          </c:extLst>
        </c:ser>
        <c:dLbls>
          <c:dLblPos val="outEnd"/>
          <c:showLegendKey val="0"/>
          <c:showVal val="1"/>
          <c:showCatName val="0"/>
          <c:showSerName val="0"/>
          <c:showPercent val="0"/>
          <c:showBubbleSize val="0"/>
        </c:dLbls>
        <c:gapWidth val="182"/>
        <c:axId val="1388212655"/>
        <c:axId val="1388213135"/>
      </c:barChart>
      <c:catAx>
        <c:axId val="1388212655"/>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Trebuchet MS" panose="020B0603020202020204" pitchFamily="34" charset="0"/>
                <a:ea typeface="+mn-ea"/>
                <a:cs typeface="+mn-cs"/>
              </a:defRPr>
            </a:pPr>
            <a:endParaRPr lang="en-US"/>
          </a:p>
        </c:txPr>
        <c:crossAx val="1388213135"/>
        <c:crosses val="autoZero"/>
        <c:auto val="1"/>
        <c:lblAlgn val="ctr"/>
        <c:lblOffset val="100"/>
        <c:noMultiLvlLbl val="0"/>
      </c:catAx>
      <c:valAx>
        <c:axId val="1388213135"/>
        <c:scaling>
          <c:orientation val="minMax"/>
          <c:max val="130000"/>
        </c:scaling>
        <c:delete val="1"/>
        <c:axPos val="t"/>
        <c:numFmt formatCode="_(* #,##0_);_(* \(#,##0\);_(* &quot;-&quot;??_);_(@_)" sourceLinked="1"/>
        <c:majorTickMark val="out"/>
        <c:minorTickMark val="none"/>
        <c:tickLblPos val="nextTo"/>
        <c:crossAx val="1388212655"/>
        <c:crosses val="autoZero"/>
        <c:crossBetween val="between"/>
        <c:majorUnit val="30000"/>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Georgia" panose="02040502050405020303" pitchFamily="18" charset="0"/>
                <a:ea typeface="+mn-ea"/>
                <a:cs typeface="+mn-cs"/>
              </a:defRPr>
            </a:pPr>
            <a:r>
              <a:rPr lang="en-IN" sz="900" dirty="0">
                <a:solidFill>
                  <a:schemeClr val="tx1"/>
                </a:solidFill>
                <a:latin typeface="Georgia" panose="02040502050405020303" pitchFamily="18" charset="0"/>
              </a:rPr>
              <a:t>Production (in MT)</a:t>
            </a:r>
          </a:p>
        </c:rich>
      </c:tx>
      <c:layout>
        <c:manualLayout>
          <c:xMode val="edge"/>
          <c:yMode val="edge"/>
          <c:x val="0.22120122484689417"/>
          <c:y val="0.1183849145247358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Georgia" panose="02040502050405020303" pitchFamily="18" charset="0"/>
              <a:ea typeface="+mn-ea"/>
              <a:cs typeface="+mn-cs"/>
            </a:defRPr>
          </a:pPr>
          <a:endParaRPr lang="en-US"/>
        </a:p>
      </c:txPr>
    </c:title>
    <c:autoTitleDeleted val="0"/>
    <c:plotArea>
      <c:layout/>
      <c:barChart>
        <c:barDir val="bar"/>
        <c:grouping val="clustered"/>
        <c:varyColors val="0"/>
        <c:ser>
          <c:idx val="0"/>
          <c:order val="0"/>
          <c:spPr>
            <a:solidFill>
              <a:srgbClr val="F79E1B"/>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Sheet1!$A$20:$A$23</c:f>
              <c:strCache>
                <c:ptCount val="4"/>
                <c:pt idx="0">
                  <c:v>Banana</c:v>
                </c:pt>
                <c:pt idx="1">
                  <c:v>Tomato</c:v>
                </c:pt>
                <c:pt idx="2">
                  <c:v>Mango</c:v>
                </c:pt>
                <c:pt idx="3">
                  <c:v>Onion</c:v>
                </c:pt>
              </c:strCache>
            </c:strRef>
          </c:cat>
          <c:val>
            <c:numRef>
              <c:f>Sheet1!$B$20:$B$23</c:f>
              <c:numCache>
                <c:formatCode>_(* #,##0_);_(* \(#,##0\);_(* "-"??_);_(@_)</c:formatCode>
                <c:ptCount val="4"/>
                <c:pt idx="0">
                  <c:v>787394</c:v>
                </c:pt>
                <c:pt idx="1">
                  <c:v>586930</c:v>
                </c:pt>
                <c:pt idx="2">
                  <c:v>311227</c:v>
                </c:pt>
                <c:pt idx="3">
                  <c:v>108602</c:v>
                </c:pt>
              </c:numCache>
            </c:numRef>
          </c:val>
          <c:extLst>
            <c:ext xmlns:c16="http://schemas.microsoft.com/office/drawing/2014/chart" uri="{C3380CC4-5D6E-409C-BE32-E72D297353CC}">
              <c16:uniqueId val="{00000000-7828-40E9-9EF6-B0723701AAF1}"/>
            </c:ext>
          </c:extLst>
        </c:ser>
        <c:dLbls>
          <c:dLblPos val="outEnd"/>
          <c:showLegendKey val="0"/>
          <c:showVal val="1"/>
          <c:showCatName val="0"/>
          <c:showSerName val="0"/>
          <c:showPercent val="0"/>
          <c:showBubbleSize val="0"/>
        </c:dLbls>
        <c:gapWidth val="182"/>
        <c:axId val="1388369727"/>
        <c:axId val="1388365407"/>
      </c:barChart>
      <c:catAx>
        <c:axId val="1388369727"/>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Georgia" panose="02040502050405020303" pitchFamily="18" charset="0"/>
                <a:ea typeface="+mn-ea"/>
                <a:cs typeface="+mn-cs"/>
              </a:defRPr>
            </a:pPr>
            <a:endParaRPr lang="en-US"/>
          </a:p>
        </c:txPr>
        <c:crossAx val="1388365407"/>
        <c:crosses val="autoZero"/>
        <c:auto val="1"/>
        <c:lblAlgn val="ctr"/>
        <c:lblOffset val="100"/>
        <c:noMultiLvlLbl val="0"/>
      </c:catAx>
      <c:valAx>
        <c:axId val="1388365407"/>
        <c:scaling>
          <c:orientation val="minMax"/>
        </c:scaling>
        <c:delete val="1"/>
        <c:axPos val="t"/>
        <c:numFmt formatCode="_(* #,##0_);_(* \(#,##0\);_(* &quot;-&quot;??_);_(@_)" sourceLinked="1"/>
        <c:majorTickMark val="none"/>
        <c:minorTickMark val="none"/>
        <c:tickLblPos val="nextTo"/>
        <c:crossAx val="1388369727"/>
        <c:crosses val="autoZero"/>
        <c:crossBetween val="between"/>
        <c:majorUnit val="300000"/>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Georgia" panose="02040502050405020303" pitchFamily="18" charset="0"/>
                <a:ea typeface="+mn-ea"/>
                <a:cs typeface="+mn-cs"/>
              </a:defRPr>
            </a:pPr>
            <a:r>
              <a:rPr lang="en-US" sz="900" b="0" i="0" u="none" strike="noStrike" kern="1200" spc="0" baseline="0" dirty="0">
                <a:solidFill>
                  <a:schemeClr val="tx1"/>
                </a:solidFill>
                <a:latin typeface="Georgia" panose="02040502050405020303" pitchFamily="18" charset="0"/>
              </a:rPr>
              <a:t> Area distribution of crops (in ha) </a:t>
            </a:r>
          </a:p>
        </c:rich>
      </c:tx>
      <c:layout>
        <c:manualLayout>
          <c:xMode val="edge"/>
          <c:yMode val="edge"/>
          <c:x val="0.25456233595800526"/>
          <c:y val="6.7777072137219216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Georgia" panose="02040502050405020303" pitchFamily="18" charset="0"/>
              <a:ea typeface="+mn-ea"/>
              <a:cs typeface="+mn-cs"/>
            </a:defRPr>
          </a:pPr>
          <a:endParaRPr lang="en-US"/>
        </a:p>
      </c:txPr>
    </c:title>
    <c:autoTitleDeleted val="0"/>
    <c:plotArea>
      <c:layout>
        <c:manualLayout>
          <c:layoutTarget val="inner"/>
          <c:xMode val="edge"/>
          <c:yMode val="edge"/>
          <c:x val="0.16851684164479441"/>
          <c:y val="0.29878392633824141"/>
          <c:w val="0.78703871391076119"/>
          <c:h val="0.63343900152453936"/>
        </c:manualLayout>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Sheet4!$A$23:$A$27</c:f>
              <c:strCache>
                <c:ptCount val="5"/>
                <c:pt idx="0">
                  <c:v> Mango </c:v>
                </c:pt>
                <c:pt idx="1">
                  <c:v> Banana </c:v>
                </c:pt>
                <c:pt idx="2">
                  <c:v> Tomato </c:v>
                </c:pt>
                <c:pt idx="3">
                  <c:v> Onion </c:v>
                </c:pt>
                <c:pt idx="4">
                  <c:v> Pomegranate </c:v>
                </c:pt>
              </c:strCache>
            </c:strRef>
          </c:cat>
          <c:val>
            <c:numRef>
              <c:f>Sheet4!$B$23:$B$27</c:f>
              <c:numCache>
                <c:formatCode>_(* #,##0_);_(* \(#,##0\);_(* "-"??_);_(@_)</c:formatCode>
                <c:ptCount val="5"/>
                <c:pt idx="0">
                  <c:v>31821</c:v>
                </c:pt>
                <c:pt idx="1">
                  <c:v>29159</c:v>
                </c:pt>
                <c:pt idx="2">
                  <c:v>14996</c:v>
                </c:pt>
                <c:pt idx="3">
                  <c:v>5432</c:v>
                </c:pt>
                <c:pt idx="4">
                  <c:v>336</c:v>
                </c:pt>
              </c:numCache>
            </c:numRef>
          </c:val>
          <c:extLst>
            <c:ext xmlns:c16="http://schemas.microsoft.com/office/drawing/2014/chart" uri="{C3380CC4-5D6E-409C-BE32-E72D297353CC}">
              <c16:uniqueId val="{00000000-CE42-421C-8B48-4C8D8C23A509}"/>
            </c:ext>
          </c:extLst>
        </c:ser>
        <c:dLbls>
          <c:dLblPos val="outEnd"/>
          <c:showLegendKey val="0"/>
          <c:showVal val="1"/>
          <c:showCatName val="0"/>
          <c:showSerName val="0"/>
          <c:showPercent val="0"/>
          <c:showBubbleSize val="0"/>
        </c:dLbls>
        <c:gapWidth val="182"/>
        <c:axId val="970294032"/>
        <c:axId val="970309392"/>
      </c:barChart>
      <c:catAx>
        <c:axId val="970294032"/>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Georgia" panose="02040502050405020303" pitchFamily="18" charset="0"/>
                <a:ea typeface="+mn-ea"/>
                <a:cs typeface="+mn-cs"/>
              </a:defRPr>
            </a:pPr>
            <a:endParaRPr lang="en-US"/>
          </a:p>
        </c:txPr>
        <c:crossAx val="970309392"/>
        <c:crosses val="autoZero"/>
        <c:auto val="1"/>
        <c:lblAlgn val="ctr"/>
        <c:lblOffset val="100"/>
        <c:noMultiLvlLbl val="0"/>
      </c:catAx>
      <c:valAx>
        <c:axId val="970309392"/>
        <c:scaling>
          <c:orientation val="minMax"/>
        </c:scaling>
        <c:delete val="1"/>
        <c:axPos val="t"/>
        <c:numFmt formatCode="_(* #,##0_);_(* \(#,##0\);_(* &quot;-&quot;??_);_(@_)" sourceLinked="1"/>
        <c:majorTickMark val="none"/>
        <c:minorTickMark val="none"/>
        <c:tickLblPos val="nextTo"/>
        <c:crossAx val="9702940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Georgia" panose="02040502050405020303" pitchFamily="18" charset="0"/>
                <a:ea typeface="+mn-ea"/>
                <a:cs typeface="+mn-cs"/>
              </a:defRPr>
            </a:pPr>
            <a:r>
              <a:rPr lang="en-US" sz="900" b="0" i="0" u="none" strike="noStrike" kern="1200" spc="0" baseline="0" dirty="0">
                <a:solidFill>
                  <a:schemeClr val="tx1"/>
                </a:solidFill>
                <a:latin typeface="Georgia" panose="02040502050405020303" pitchFamily="18" charset="0"/>
              </a:rPr>
              <a:t> Area distribution of crops (in ha) </a:t>
            </a:r>
          </a:p>
        </c:rich>
      </c:tx>
      <c:layout>
        <c:manualLayout>
          <c:xMode val="edge"/>
          <c:yMode val="edge"/>
          <c:x val="0.24067344706911636"/>
          <c:y val="0.1431418735278130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Georgia" panose="02040502050405020303" pitchFamily="18" charset="0"/>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Sheet4!$A$31:$A$36</c:f>
              <c:strCache>
                <c:ptCount val="6"/>
                <c:pt idx="0">
                  <c:v> Mango </c:v>
                </c:pt>
                <c:pt idx="1">
                  <c:v> Tomato </c:v>
                </c:pt>
                <c:pt idx="2">
                  <c:v> Pomegranate </c:v>
                </c:pt>
                <c:pt idx="3">
                  <c:v> Grapes </c:v>
                </c:pt>
                <c:pt idx="4">
                  <c:v> Banana </c:v>
                </c:pt>
                <c:pt idx="5">
                  <c:v> Onion </c:v>
                </c:pt>
              </c:strCache>
            </c:strRef>
          </c:cat>
          <c:val>
            <c:numRef>
              <c:f>Sheet4!$B$31:$B$36</c:f>
              <c:numCache>
                <c:formatCode>_(* #,##0_);_(* \(#,##0\);_(* "-"??_);_(@_)</c:formatCode>
                <c:ptCount val="6"/>
                <c:pt idx="0">
                  <c:v>70164</c:v>
                </c:pt>
                <c:pt idx="1">
                  <c:v>30786</c:v>
                </c:pt>
                <c:pt idx="2">
                  <c:v>4934</c:v>
                </c:pt>
                <c:pt idx="3">
                  <c:v>4672</c:v>
                </c:pt>
                <c:pt idx="4">
                  <c:v>2807</c:v>
                </c:pt>
                <c:pt idx="5">
                  <c:v>2728</c:v>
                </c:pt>
              </c:numCache>
            </c:numRef>
          </c:val>
          <c:extLst>
            <c:ext xmlns:c16="http://schemas.microsoft.com/office/drawing/2014/chart" uri="{C3380CC4-5D6E-409C-BE32-E72D297353CC}">
              <c16:uniqueId val="{00000000-E495-4C04-8BD1-F7B03AAC8654}"/>
            </c:ext>
          </c:extLst>
        </c:ser>
        <c:dLbls>
          <c:dLblPos val="outEnd"/>
          <c:showLegendKey val="0"/>
          <c:showVal val="1"/>
          <c:showCatName val="0"/>
          <c:showSerName val="0"/>
          <c:showPercent val="0"/>
          <c:showBubbleSize val="0"/>
        </c:dLbls>
        <c:gapWidth val="182"/>
        <c:axId val="970297872"/>
        <c:axId val="970295472"/>
      </c:barChart>
      <c:catAx>
        <c:axId val="970297872"/>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Georgia" panose="02040502050405020303" pitchFamily="18" charset="0"/>
                <a:ea typeface="+mn-ea"/>
                <a:cs typeface="+mn-cs"/>
              </a:defRPr>
            </a:pPr>
            <a:endParaRPr lang="en-US"/>
          </a:p>
        </c:txPr>
        <c:crossAx val="970295472"/>
        <c:crosses val="autoZero"/>
        <c:auto val="1"/>
        <c:lblAlgn val="ctr"/>
        <c:lblOffset val="100"/>
        <c:noMultiLvlLbl val="0"/>
      </c:catAx>
      <c:valAx>
        <c:axId val="970295472"/>
        <c:scaling>
          <c:orientation val="minMax"/>
        </c:scaling>
        <c:delete val="1"/>
        <c:axPos val="t"/>
        <c:numFmt formatCode="_(* #,##0_);_(* \(#,##0\);_(* &quot;-&quot;??_);_(@_)" sourceLinked="1"/>
        <c:majorTickMark val="none"/>
        <c:minorTickMark val="none"/>
        <c:tickLblPos val="nextTo"/>
        <c:crossAx val="9702978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Georgia" panose="02040502050405020303" pitchFamily="18" charset="0"/>
                <a:ea typeface="+mn-ea"/>
                <a:cs typeface="+mn-cs"/>
              </a:defRPr>
            </a:pPr>
            <a:r>
              <a:rPr lang="en-IN" sz="900" dirty="0">
                <a:solidFill>
                  <a:schemeClr val="tx1"/>
                </a:solidFill>
                <a:latin typeface="Georgia" panose="02040502050405020303" pitchFamily="18" charset="0"/>
              </a:rPr>
              <a:t>Production (in MT)</a:t>
            </a:r>
          </a:p>
        </c:rich>
      </c:tx>
      <c:layout>
        <c:manualLayout>
          <c:xMode val="edge"/>
          <c:yMode val="edge"/>
          <c:x val="0.23231233595800524"/>
          <c:y val="0.15885313043077184"/>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Georgia" panose="02040502050405020303" pitchFamily="18" charset="0"/>
              <a:ea typeface="+mn-ea"/>
              <a:cs typeface="+mn-cs"/>
            </a:defRPr>
          </a:pPr>
          <a:endParaRPr lang="en-US"/>
        </a:p>
      </c:txPr>
    </c:title>
    <c:autoTitleDeleted val="0"/>
    <c:plotArea>
      <c:layout/>
      <c:barChart>
        <c:barDir val="bar"/>
        <c:grouping val="clustered"/>
        <c:varyColors val="0"/>
        <c:ser>
          <c:idx val="0"/>
          <c:order val="0"/>
          <c:spPr>
            <a:solidFill>
              <a:srgbClr val="E8A33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Sheet1!$A$25:$A$28</c:f>
              <c:strCache>
                <c:ptCount val="4"/>
                <c:pt idx="0">
                  <c:v>Tomato</c:v>
                </c:pt>
                <c:pt idx="1">
                  <c:v>Mango</c:v>
                </c:pt>
                <c:pt idx="2">
                  <c:v>Grape</c:v>
                </c:pt>
                <c:pt idx="3">
                  <c:v>Pomegranate</c:v>
                </c:pt>
              </c:strCache>
            </c:strRef>
          </c:cat>
          <c:val>
            <c:numRef>
              <c:f>Sheet1!$B$25:$B$28</c:f>
              <c:numCache>
                <c:formatCode>_(* #,##0_);_(* \(#,##0\);_(* "-"??_);_(@_)</c:formatCode>
                <c:ptCount val="4"/>
                <c:pt idx="0">
                  <c:v>1301993</c:v>
                </c:pt>
                <c:pt idx="1">
                  <c:v>723743</c:v>
                </c:pt>
                <c:pt idx="2">
                  <c:v>132115</c:v>
                </c:pt>
                <c:pt idx="3">
                  <c:v>48345</c:v>
                </c:pt>
              </c:numCache>
            </c:numRef>
          </c:val>
          <c:extLst>
            <c:ext xmlns:c16="http://schemas.microsoft.com/office/drawing/2014/chart" uri="{C3380CC4-5D6E-409C-BE32-E72D297353CC}">
              <c16:uniqueId val="{00000000-847A-44D3-B6DA-B805759B180E}"/>
            </c:ext>
          </c:extLst>
        </c:ser>
        <c:dLbls>
          <c:dLblPos val="outEnd"/>
          <c:showLegendKey val="0"/>
          <c:showVal val="1"/>
          <c:showCatName val="0"/>
          <c:showSerName val="0"/>
          <c:showPercent val="0"/>
          <c:showBubbleSize val="0"/>
        </c:dLbls>
        <c:gapWidth val="182"/>
        <c:axId val="1022482399"/>
        <c:axId val="1022485279"/>
      </c:barChart>
      <c:catAx>
        <c:axId val="1022482399"/>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Georgia" panose="02040502050405020303" pitchFamily="18" charset="0"/>
                <a:ea typeface="+mn-ea"/>
                <a:cs typeface="+mn-cs"/>
              </a:defRPr>
            </a:pPr>
            <a:endParaRPr lang="en-US"/>
          </a:p>
        </c:txPr>
        <c:crossAx val="1022485279"/>
        <c:crosses val="autoZero"/>
        <c:auto val="1"/>
        <c:lblAlgn val="ctr"/>
        <c:lblOffset val="100"/>
        <c:noMultiLvlLbl val="0"/>
      </c:catAx>
      <c:valAx>
        <c:axId val="1022485279"/>
        <c:scaling>
          <c:orientation val="minMax"/>
        </c:scaling>
        <c:delete val="1"/>
        <c:axPos val="t"/>
        <c:numFmt formatCode="_(* #,##0_);_(* \(#,##0\);_(* &quot;-&quot;??_);_(@_)" sourceLinked="1"/>
        <c:majorTickMark val="none"/>
        <c:minorTickMark val="none"/>
        <c:tickLblPos val="nextTo"/>
        <c:crossAx val="1022482399"/>
        <c:crosses val="autoZero"/>
        <c:crossBetween val="between"/>
        <c:majorUnit val="400000"/>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Georgia" panose="02040502050405020303" pitchFamily="18" charset="0"/>
                <a:ea typeface="+mn-ea"/>
                <a:cs typeface="+mn-cs"/>
              </a:defRPr>
            </a:pPr>
            <a:r>
              <a:rPr lang="en-US" sz="900" b="0" i="0" u="none" strike="noStrike" kern="1200" spc="0" baseline="0" dirty="0">
                <a:solidFill>
                  <a:schemeClr val="tx1"/>
                </a:solidFill>
                <a:latin typeface="Georgia" panose="02040502050405020303" pitchFamily="18" charset="0"/>
              </a:rPr>
              <a:t> Area distribution of crops (in ha) </a:t>
            </a:r>
          </a:p>
        </c:rich>
      </c:tx>
      <c:layout>
        <c:manualLayout>
          <c:xMode val="edge"/>
          <c:yMode val="edge"/>
          <c:x val="0.24345122484689413"/>
          <c:y val="0.13295394349771467"/>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Georgia" panose="02040502050405020303" pitchFamily="18" charset="0"/>
              <a:ea typeface="+mn-ea"/>
              <a:cs typeface="+mn-cs"/>
            </a:defRPr>
          </a:pPr>
          <a:endParaRPr lang="en-US"/>
        </a:p>
      </c:txPr>
    </c:title>
    <c:autoTitleDeleted val="0"/>
    <c:plotArea>
      <c:layout>
        <c:manualLayout>
          <c:layoutTarget val="inner"/>
          <c:xMode val="edge"/>
          <c:yMode val="edge"/>
          <c:x val="0.13828062117235346"/>
          <c:y val="0.27876010153354175"/>
          <c:w val="0.82005271216097986"/>
          <c:h val="0.54396797380283868"/>
        </c:manualLayout>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Sheet4!$A$39:$A$43</c:f>
              <c:strCache>
                <c:ptCount val="5"/>
                <c:pt idx="0">
                  <c:v> Mango </c:v>
                </c:pt>
                <c:pt idx="1">
                  <c:v> Onion </c:v>
                </c:pt>
                <c:pt idx="2">
                  <c:v> Banana </c:v>
                </c:pt>
                <c:pt idx="3">
                  <c:v> Tomato </c:v>
                </c:pt>
                <c:pt idx="4">
                  <c:v> Pineapple </c:v>
                </c:pt>
              </c:strCache>
            </c:strRef>
          </c:cat>
          <c:val>
            <c:numRef>
              <c:f>Sheet4!$B$39:$B$43</c:f>
              <c:numCache>
                <c:formatCode>_(* #,##0_);_(* \(#,##0\);_(* "-"??_);_(@_)</c:formatCode>
                <c:ptCount val="5"/>
                <c:pt idx="0">
                  <c:v>19190</c:v>
                </c:pt>
                <c:pt idx="1">
                  <c:v>5039</c:v>
                </c:pt>
                <c:pt idx="2">
                  <c:v>3428</c:v>
                </c:pt>
                <c:pt idx="3">
                  <c:v>2966</c:v>
                </c:pt>
                <c:pt idx="4">
                  <c:v>132</c:v>
                </c:pt>
              </c:numCache>
            </c:numRef>
          </c:val>
          <c:extLst>
            <c:ext xmlns:c16="http://schemas.microsoft.com/office/drawing/2014/chart" uri="{C3380CC4-5D6E-409C-BE32-E72D297353CC}">
              <c16:uniqueId val="{00000000-60F7-4BC2-BAE4-B514C0093886}"/>
            </c:ext>
          </c:extLst>
        </c:ser>
        <c:dLbls>
          <c:dLblPos val="outEnd"/>
          <c:showLegendKey val="0"/>
          <c:showVal val="1"/>
          <c:showCatName val="0"/>
          <c:showSerName val="0"/>
          <c:showPercent val="0"/>
          <c:showBubbleSize val="0"/>
        </c:dLbls>
        <c:gapWidth val="182"/>
        <c:axId val="970328592"/>
        <c:axId val="970340592"/>
      </c:barChart>
      <c:catAx>
        <c:axId val="970328592"/>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Georgia" panose="02040502050405020303" pitchFamily="18" charset="0"/>
                <a:ea typeface="+mn-ea"/>
                <a:cs typeface="+mn-cs"/>
              </a:defRPr>
            </a:pPr>
            <a:endParaRPr lang="en-US"/>
          </a:p>
        </c:txPr>
        <c:crossAx val="970340592"/>
        <c:crosses val="autoZero"/>
        <c:auto val="1"/>
        <c:lblAlgn val="ctr"/>
        <c:lblOffset val="100"/>
        <c:noMultiLvlLbl val="0"/>
      </c:catAx>
      <c:valAx>
        <c:axId val="970340592"/>
        <c:scaling>
          <c:orientation val="minMax"/>
          <c:max val="20000"/>
        </c:scaling>
        <c:delete val="1"/>
        <c:axPos val="t"/>
        <c:numFmt formatCode="_(* #,##0_);_(* \(#,##0\);_(* &quot;-&quot;??_);_(@_)" sourceLinked="1"/>
        <c:majorTickMark val="none"/>
        <c:minorTickMark val="none"/>
        <c:tickLblPos val="nextTo"/>
        <c:crossAx val="9703285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Georgia" panose="02040502050405020303" pitchFamily="18" charset="0"/>
                <a:ea typeface="+mn-ea"/>
                <a:cs typeface="+mn-cs"/>
              </a:defRPr>
            </a:pPr>
            <a:r>
              <a:rPr lang="en-IN" sz="900" dirty="0">
                <a:solidFill>
                  <a:schemeClr val="tx1"/>
                </a:solidFill>
                <a:latin typeface="Georgia" panose="02040502050405020303" pitchFamily="18" charset="0"/>
              </a:rPr>
              <a:t>Production (in MT)</a:t>
            </a:r>
          </a:p>
        </c:rich>
      </c:tx>
      <c:layout>
        <c:manualLayout>
          <c:xMode val="edge"/>
          <c:yMode val="edge"/>
          <c:x val="0.2378678915135608"/>
          <c:y val="0.14973700228289977"/>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Georgia" panose="02040502050405020303" pitchFamily="18" charset="0"/>
              <a:ea typeface="+mn-ea"/>
              <a:cs typeface="+mn-cs"/>
            </a:defRPr>
          </a:pPr>
          <a:endParaRPr lang="en-US"/>
        </a:p>
      </c:txPr>
    </c:title>
    <c:autoTitleDeleted val="0"/>
    <c:plotArea>
      <c:layout>
        <c:manualLayout>
          <c:layoutTarget val="inner"/>
          <c:xMode val="edge"/>
          <c:yMode val="edge"/>
          <c:x val="0.14711395450568679"/>
          <c:y val="0.29432679511232485"/>
          <c:w val="0.76955271216097976"/>
          <c:h val="0.5933704531755003"/>
        </c:manualLayout>
      </c:layout>
      <c:barChart>
        <c:barDir val="bar"/>
        <c:grouping val="clustered"/>
        <c:varyColors val="0"/>
        <c:ser>
          <c:idx val="0"/>
          <c:order val="0"/>
          <c:spPr>
            <a:solidFill>
              <a:srgbClr val="E8A33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Sheet1!$A$30:$A$34</c:f>
              <c:strCache>
                <c:ptCount val="5"/>
                <c:pt idx="0">
                  <c:v>Mango</c:v>
                </c:pt>
                <c:pt idx="1">
                  <c:v>Onion</c:v>
                </c:pt>
                <c:pt idx="2">
                  <c:v>Banana</c:v>
                </c:pt>
                <c:pt idx="3">
                  <c:v>Tomato</c:v>
                </c:pt>
                <c:pt idx="4">
                  <c:v>Pineapple</c:v>
                </c:pt>
              </c:strCache>
            </c:strRef>
          </c:cat>
          <c:val>
            <c:numRef>
              <c:f>Sheet1!$B$30:$B$34</c:f>
              <c:numCache>
                <c:formatCode>_(* #,##0_);_(* \(#,##0\);_(* "-"??_);_(@_)</c:formatCode>
                <c:ptCount val="5"/>
                <c:pt idx="0">
                  <c:v>194862</c:v>
                </c:pt>
                <c:pt idx="1">
                  <c:v>98580</c:v>
                </c:pt>
                <c:pt idx="2">
                  <c:v>75294</c:v>
                </c:pt>
                <c:pt idx="3">
                  <c:v>79134</c:v>
                </c:pt>
                <c:pt idx="4">
                  <c:v>9172</c:v>
                </c:pt>
              </c:numCache>
            </c:numRef>
          </c:val>
          <c:extLst>
            <c:ext xmlns:c16="http://schemas.microsoft.com/office/drawing/2014/chart" uri="{C3380CC4-5D6E-409C-BE32-E72D297353CC}">
              <c16:uniqueId val="{00000000-1888-4118-8537-C115CD0CED94}"/>
            </c:ext>
          </c:extLst>
        </c:ser>
        <c:dLbls>
          <c:dLblPos val="outEnd"/>
          <c:showLegendKey val="0"/>
          <c:showVal val="1"/>
          <c:showCatName val="0"/>
          <c:showSerName val="0"/>
          <c:showPercent val="0"/>
          <c:showBubbleSize val="0"/>
        </c:dLbls>
        <c:gapWidth val="182"/>
        <c:axId val="1433418175"/>
        <c:axId val="1433415775"/>
      </c:barChart>
      <c:catAx>
        <c:axId val="1433418175"/>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Georgia" panose="02040502050405020303" pitchFamily="18" charset="0"/>
                <a:ea typeface="+mn-ea"/>
                <a:cs typeface="+mn-cs"/>
              </a:defRPr>
            </a:pPr>
            <a:endParaRPr lang="en-US"/>
          </a:p>
        </c:txPr>
        <c:crossAx val="1433415775"/>
        <c:crosses val="autoZero"/>
        <c:auto val="1"/>
        <c:lblAlgn val="ctr"/>
        <c:lblOffset val="100"/>
        <c:noMultiLvlLbl val="0"/>
      </c:catAx>
      <c:valAx>
        <c:axId val="1433415775"/>
        <c:scaling>
          <c:orientation val="minMax"/>
          <c:max val="200000"/>
        </c:scaling>
        <c:delete val="1"/>
        <c:axPos val="t"/>
        <c:numFmt formatCode="_(* #,##0_);_(* \(#,##0\);_(* &quot;-&quot;??_);_(@_)" sourceLinked="1"/>
        <c:majorTickMark val="none"/>
        <c:minorTickMark val="none"/>
        <c:tickLblPos val="nextTo"/>
        <c:crossAx val="143341817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spc="0" baseline="0">
                <a:solidFill>
                  <a:schemeClr val="tx1"/>
                </a:solidFill>
                <a:latin typeface="Georgia" panose="02040502050405020303" pitchFamily="18" charset="0"/>
                <a:ea typeface="+mn-ea"/>
                <a:cs typeface="+mn-cs"/>
              </a:defRPr>
            </a:pPr>
            <a:r>
              <a:rPr lang="en-US" sz="900" b="0" i="0" u="none" strike="noStrike" kern="1200" spc="0" baseline="0" dirty="0">
                <a:solidFill>
                  <a:schemeClr val="tx1"/>
                </a:solidFill>
                <a:latin typeface="Georgia" panose="02040502050405020303" pitchFamily="18" charset="0"/>
              </a:rPr>
              <a:t> Area distribution of crops (in ha) </a:t>
            </a:r>
          </a:p>
        </c:rich>
      </c:tx>
      <c:layout>
        <c:manualLayout>
          <c:xMode val="edge"/>
          <c:yMode val="edge"/>
          <c:x val="0.21289566929133857"/>
          <c:y val="0.14292807255635365"/>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900" b="0" i="0" u="none" strike="noStrike" kern="1200" spc="0" baseline="0">
              <a:solidFill>
                <a:schemeClr val="tx1"/>
              </a:solidFill>
              <a:latin typeface="Georgia" panose="02040502050405020303" pitchFamily="18" charset="0"/>
              <a:ea typeface="+mn-ea"/>
              <a:cs typeface="+mn-cs"/>
            </a:defRPr>
          </a:pPr>
          <a:endParaRPr lang="en-US"/>
        </a:p>
      </c:txPr>
    </c:title>
    <c:autoTitleDeleted val="0"/>
    <c:plotArea>
      <c:layout>
        <c:manualLayout>
          <c:layoutTarget val="inner"/>
          <c:xMode val="edge"/>
          <c:yMode val="edge"/>
          <c:x val="0.17407239720034998"/>
          <c:y val="0.25600940054946875"/>
          <c:w val="0.78703871391076119"/>
          <c:h val="0.60106252689417761"/>
        </c:manualLayout>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Sheet4!$A$46:$A$51</c:f>
              <c:strCache>
                <c:ptCount val="6"/>
                <c:pt idx="0">
                  <c:v> Onion </c:v>
                </c:pt>
                <c:pt idx="1">
                  <c:v> Banana </c:v>
                </c:pt>
                <c:pt idx="2">
                  <c:v> Mango </c:v>
                </c:pt>
                <c:pt idx="3">
                  <c:v> Tomato </c:v>
                </c:pt>
                <c:pt idx="4">
                  <c:v> Pineapple </c:v>
                </c:pt>
                <c:pt idx="5">
                  <c:v> Pomegranate </c:v>
                </c:pt>
              </c:strCache>
            </c:strRef>
          </c:cat>
          <c:val>
            <c:numRef>
              <c:f>Sheet4!$B$46:$B$51</c:f>
              <c:numCache>
                <c:formatCode>_(* #,##0_);_(* \(#,##0\);_(* "-"??_);_(@_)</c:formatCode>
                <c:ptCount val="6"/>
                <c:pt idx="0">
                  <c:v>7355</c:v>
                </c:pt>
                <c:pt idx="1">
                  <c:v>5459</c:v>
                </c:pt>
                <c:pt idx="2">
                  <c:v>3386</c:v>
                </c:pt>
                <c:pt idx="3">
                  <c:v>1270</c:v>
                </c:pt>
                <c:pt idx="4">
                  <c:v>1073</c:v>
                </c:pt>
                <c:pt idx="5">
                  <c:v>161</c:v>
                </c:pt>
              </c:numCache>
            </c:numRef>
          </c:val>
          <c:extLst>
            <c:ext xmlns:c16="http://schemas.microsoft.com/office/drawing/2014/chart" uri="{C3380CC4-5D6E-409C-BE32-E72D297353CC}">
              <c16:uniqueId val="{00000000-72CE-4403-A811-FB305649EDE1}"/>
            </c:ext>
          </c:extLst>
        </c:ser>
        <c:dLbls>
          <c:dLblPos val="outEnd"/>
          <c:showLegendKey val="0"/>
          <c:showVal val="1"/>
          <c:showCatName val="0"/>
          <c:showSerName val="0"/>
          <c:showPercent val="0"/>
          <c:showBubbleSize val="0"/>
        </c:dLbls>
        <c:gapWidth val="182"/>
        <c:axId val="970336752"/>
        <c:axId val="970342992"/>
      </c:barChart>
      <c:catAx>
        <c:axId val="970336752"/>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Georgia" panose="02040502050405020303" pitchFamily="18" charset="0"/>
                <a:ea typeface="+mn-ea"/>
                <a:cs typeface="+mn-cs"/>
              </a:defRPr>
            </a:pPr>
            <a:endParaRPr lang="en-US"/>
          </a:p>
        </c:txPr>
        <c:crossAx val="970342992"/>
        <c:crosses val="autoZero"/>
        <c:auto val="1"/>
        <c:lblAlgn val="ctr"/>
        <c:lblOffset val="100"/>
        <c:noMultiLvlLbl val="0"/>
      </c:catAx>
      <c:valAx>
        <c:axId val="970342992"/>
        <c:scaling>
          <c:orientation val="minMax"/>
        </c:scaling>
        <c:delete val="1"/>
        <c:axPos val="t"/>
        <c:numFmt formatCode="_(* #,##0_);_(* \(#,##0\);_(* &quot;-&quot;??_);_(@_)" sourceLinked="1"/>
        <c:majorTickMark val="none"/>
        <c:minorTickMark val="none"/>
        <c:tickLblPos val="nextTo"/>
        <c:crossAx val="9703367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0" i="0" u="none" strike="noStrike" kern="1200" spc="0" baseline="0">
                <a:solidFill>
                  <a:schemeClr val="tx1"/>
                </a:solidFill>
                <a:latin typeface="Georgia" panose="02040502050405020303" pitchFamily="18" charset="0"/>
                <a:ea typeface="+mn-ea"/>
                <a:cs typeface="+mn-cs"/>
              </a:defRPr>
            </a:pPr>
            <a:r>
              <a:rPr lang="en-IN" sz="900" dirty="0">
                <a:solidFill>
                  <a:schemeClr val="tx1"/>
                </a:solidFill>
                <a:latin typeface="Georgia" panose="02040502050405020303" pitchFamily="18" charset="0"/>
              </a:rPr>
              <a:t>Production (in MT)</a:t>
            </a:r>
          </a:p>
        </c:rich>
      </c:tx>
      <c:layout>
        <c:manualLayout>
          <c:xMode val="edge"/>
          <c:yMode val="edge"/>
          <c:x val="0.24064566929133857"/>
          <c:y val="7.235177449034319E-2"/>
        </c:manualLayout>
      </c:layout>
      <c:overlay val="0"/>
      <c:spPr>
        <a:noFill/>
        <a:ln>
          <a:noFill/>
        </a:ln>
        <a:effectLst/>
      </c:spPr>
      <c:txPr>
        <a:bodyPr rot="0" spcFirstLastPara="1" vertOverflow="ellipsis" vert="horz" wrap="square" anchor="ctr" anchorCtr="1"/>
        <a:lstStyle/>
        <a:p>
          <a:pPr>
            <a:defRPr sz="900" b="0" i="0" u="none" strike="noStrike" kern="1200" spc="0" baseline="0">
              <a:solidFill>
                <a:schemeClr val="tx1"/>
              </a:solidFill>
              <a:latin typeface="Georgia" panose="02040502050405020303" pitchFamily="18" charset="0"/>
              <a:ea typeface="+mn-ea"/>
              <a:cs typeface="+mn-cs"/>
            </a:defRPr>
          </a:pPr>
          <a:endParaRPr lang="en-US"/>
        </a:p>
      </c:txPr>
    </c:title>
    <c:autoTitleDeleted val="0"/>
    <c:plotArea>
      <c:layout>
        <c:manualLayout>
          <c:layoutTarget val="inner"/>
          <c:xMode val="edge"/>
          <c:yMode val="edge"/>
          <c:x val="0.15266951006124235"/>
          <c:y val="0.27338634789565391"/>
          <c:w val="0.83066382327209087"/>
          <c:h val="0.57157413533932488"/>
        </c:manualLayout>
      </c:layout>
      <c:barChart>
        <c:barDir val="bar"/>
        <c:grouping val="clustered"/>
        <c:varyColors val="0"/>
        <c:ser>
          <c:idx val="0"/>
          <c:order val="0"/>
          <c:spPr>
            <a:solidFill>
              <a:srgbClr val="E8A33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Georgia" panose="02040502050405020303"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Sheet1!$A$36:$A$39</c:f>
              <c:strCache>
                <c:ptCount val="4"/>
                <c:pt idx="0">
                  <c:v>Banana</c:v>
                </c:pt>
                <c:pt idx="1">
                  <c:v>Pineapple</c:v>
                </c:pt>
                <c:pt idx="2">
                  <c:v>Onion</c:v>
                </c:pt>
                <c:pt idx="3">
                  <c:v>Mango</c:v>
                </c:pt>
              </c:strCache>
            </c:strRef>
          </c:cat>
          <c:val>
            <c:numRef>
              <c:f>Sheet1!$B$36:$B$39</c:f>
              <c:numCache>
                <c:formatCode>_(* #,##0_);_(* \(#,##0\);_(* "-"??_);_(@_)</c:formatCode>
                <c:ptCount val="4"/>
                <c:pt idx="0">
                  <c:v>125184</c:v>
                </c:pt>
                <c:pt idx="1">
                  <c:v>61699</c:v>
                </c:pt>
                <c:pt idx="2">
                  <c:v>119426</c:v>
                </c:pt>
                <c:pt idx="3">
                  <c:v>44559</c:v>
                </c:pt>
              </c:numCache>
            </c:numRef>
          </c:val>
          <c:extLst>
            <c:ext xmlns:c16="http://schemas.microsoft.com/office/drawing/2014/chart" uri="{C3380CC4-5D6E-409C-BE32-E72D297353CC}">
              <c16:uniqueId val="{00000000-0A68-416E-88D5-B999E8F76D99}"/>
            </c:ext>
          </c:extLst>
        </c:ser>
        <c:dLbls>
          <c:dLblPos val="outEnd"/>
          <c:showLegendKey val="0"/>
          <c:showVal val="1"/>
          <c:showCatName val="0"/>
          <c:showSerName val="0"/>
          <c:showPercent val="0"/>
          <c:showBubbleSize val="0"/>
        </c:dLbls>
        <c:gapWidth val="182"/>
        <c:axId val="1030686095"/>
        <c:axId val="1030688975"/>
      </c:barChart>
      <c:catAx>
        <c:axId val="1030686095"/>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Georgia" panose="02040502050405020303" pitchFamily="18" charset="0"/>
                <a:ea typeface="+mn-ea"/>
                <a:cs typeface="+mn-cs"/>
              </a:defRPr>
            </a:pPr>
            <a:endParaRPr lang="en-US"/>
          </a:p>
        </c:txPr>
        <c:crossAx val="1030688975"/>
        <c:crosses val="autoZero"/>
        <c:auto val="1"/>
        <c:lblAlgn val="ctr"/>
        <c:lblOffset val="100"/>
        <c:noMultiLvlLbl val="0"/>
      </c:catAx>
      <c:valAx>
        <c:axId val="1030688975"/>
        <c:scaling>
          <c:orientation val="minMax"/>
          <c:max val="150000"/>
        </c:scaling>
        <c:delete val="1"/>
        <c:axPos val="t"/>
        <c:numFmt formatCode="_(* #,##0_);_(* \(#,##0\);_(* &quot;-&quot;??_);_(@_)" sourceLinked="1"/>
        <c:majorTickMark val="out"/>
        <c:minorTickMark val="none"/>
        <c:tickLblPos val="nextTo"/>
        <c:crossAx val="1030686095"/>
        <c:crosses val="autoZero"/>
        <c:crossBetween val="between"/>
        <c:majorUnit val="50000"/>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4736D7-D8CB-3037-AA3B-77B02C2EA371}"/>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CE5CF1D-ECA9-9317-D9FD-E387B87B61FF}"/>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FA458331-81A1-4AF2-9411-9616B3968DCA}" type="datetimeFigureOut">
              <a:rPr lang="en-US" smtClean="0"/>
              <a:t>5/29/2026</a:t>
            </a:fld>
            <a:endParaRPr lang="en-US"/>
          </a:p>
        </p:txBody>
      </p:sp>
      <p:sp>
        <p:nvSpPr>
          <p:cNvPr id="4" name="Footer Placeholder 3">
            <a:extLst>
              <a:ext uri="{FF2B5EF4-FFF2-40B4-BE49-F238E27FC236}">
                <a16:creationId xmlns:a16="http://schemas.microsoft.com/office/drawing/2014/main" id="{92105AC3-744A-9EBB-A4DB-58FDEF0DB7D5}"/>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753FDDD-D329-F144-B84A-1ACD4F7E8818}"/>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01CDBBAF-708A-4E69-9174-33698C89D938}" type="slidenum">
              <a:rPr lang="en-US" smtClean="0"/>
              <a:t>‹#›</a:t>
            </a:fld>
            <a:endParaRPr lang="en-US"/>
          </a:p>
        </p:txBody>
      </p:sp>
    </p:spTree>
    <p:extLst>
      <p:ext uri="{BB962C8B-B14F-4D97-AF65-F5344CB8AC3E}">
        <p14:creationId xmlns:p14="http://schemas.microsoft.com/office/powerpoint/2010/main" val="13516356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E36BE1D-5EF2-44D2-BD51-E936F2012550}" type="datetimeFigureOut">
              <a:rPr lang="en-IN" smtClean="0"/>
              <a:t>29-05-2026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7BFB954A-777E-4874-915C-01DF470DBF7F}" type="slidenum">
              <a:rPr lang="en-IN" smtClean="0"/>
              <a:t>‹#›</a:t>
            </a:fld>
            <a:endParaRPr lang="en-IN"/>
          </a:p>
        </p:txBody>
      </p:sp>
    </p:spTree>
    <p:extLst>
      <p:ext uri="{BB962C8B-B14F-4D97-AF65-F5344CB8AC3E}">
        <p14:creationId xmlns:p14="http://schemas.microsoft.com/office/powerpoint/2010/main" val="2363391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097EE-668B-DCFE-2F70-8773043CE1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4C143-2C4C-4909-8F8C-7CCEA5AF0A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1EC5AB-8290-F14C-8D0F-BFFCB299E6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AB3CBD-B129-60E8-28FE-B7DB1B563B4A}"/>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905728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BFB954A-777E-4874-915C-01DF470DBF7F}" type="slidenum">
              <a:rPr lang="en-IN" smtClean="0"/>
              <a:t>10</a:t>
            </a:fld>
            <a:endParaRPr lang="en-IN"/>
          </a:p>
        </p:txBody>
      </p:sp>
    </p:spTree>
    <p:extLst>
      <p:ext uri="{BB962C8B-B14F-4D97-AF65-F5344CB8AC3E}">
        <p14:creationId xmlns:p14="http://schemas.microsoft.com/office/powerpoint/2010/main" val="466674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BFB954A-777E-4874-915C-01DF470DBF7F}" type="slidenum">
              <a:rPr lang="en-IN" smtClean="0"/>
              <a:t>11</a:t>
            </a:fld>
            <a:endParaRPr lang="en-IN"/>
          </a:p>
        </p:txBody>
      </p:sp>
    </p:spTree>
    <p:extLst>
      <p:ext uri="{BB962C8B-B14F-4D97-AF65-F5344CB8AC3E}">
        <p14:creationId xmlns:p14="http://schemas.microsoft.com/office/powerpoint/2010/main" val="1199033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BFB954A-777E-4874-915C-01DF470DBF7F}" type="slidenum">
              <a:rPr lang="en-IN" smtClean="0"/>
              <a:t>13</a:t>
            </a:fld>
            <a:endParaRPr lang="en-IN"/>
          </a:p>
        </p:txBody>
      </p:sp>
    </p:spTree>
    <p:extLst>
      <p:ext uri="{BB962C8B-B14F-4D97-AF65-F5344CB8AC3E}">
        <p14:creationId xmlns:p14="http://schemas.microsoft.com/office/powerpoint/2010/main" val="413690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37FD7-9412-38B3-E8EA-66EC1C0308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C5A031-2DBF-286E-7EF8-491DDF5E4B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CBD56F-8049-D106-45D1-03D98CA83A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6DEA16-0093-209C-81BA-0AC7E40F36E5}"/>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299908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BFB954A-777E-4874-915C-01DF470DBF7F}" type="slidenum">
              <a:rPr lang="en-IN" smtClean="0"/>
              <a:t>38</a:t>
            </a:fld>
            <a:endParaRPr lang="en-IN"/>
          </a:p>
        </p:txBody>
      </p:sp>
    </p:spTree>
    <p:extLst>
      <p:ext uri="{BB962C8B-B14F-4D97-AF65-F5344CB8AC3E}">
        <p14:creationId xmlns:p14="http://schemas.microsoft.com/office/powerpoint/2010/main" val="30398431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BFB954A-777E-4874-915C-01DF470DBF7F}" type="slidenum">
              <a:rPr lang="en-IN" smtClean="0"/>
              <a:t>41</a:t>
            </a:fld>
            <a:endParaRPr lang="en-IN"/>
          </a:p>
        </p:txBody>
      </p:sp>
    </p:spTree>
    <p:extLst>
      <p:ext uri="{BB962C8B-B14F-4D97-AF65-F5344CB8AC3E}">
        <p14:creationId xmlns:p14="http://schemas.microsoft.com/office/powerpoint/2010/main" val="3607835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BFB954A-777E-4874-915C-01DF470DBF7F}" type="slidenum">
              <a:rPr lang="en-IN" smtClean="0"/>
              <a:t>45</a:t>
            </a:fld>
            <a:endParaRPr lang="en-IN"/>
          </a:p>
        </p:txBody>
      </p:sp>
    </p:spTree>
    <p:extLst>
      <p:ext uri="{BB962C8B-B14F-4D97-AF65-F5344CB8AC3E}">
        <p14:creationId xmlns:p14="http://schemas.microsoft.com/office/powerpoint/2010/main" val="24178480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BFB954A-777E-4874-915C-01DF470DBF7F}" type="slidenum">
              <a:rPr lang="en-IN" smtClean="0"/>
              <a:t>50</a:t>
            </a:fld>
            <a:endParaRPr lang="en-IN"/>
          </a:p>
        </p:txBody>
      </p:sp>
    </p:spTree>
    <p:extLst>
      <p:ext uri="{BB962C8B-B14F-4D97-AF65-F5344CB8AC3E}">
        <p14:creationId xmlns:p14="http://schemas.microsoft.com/office/powerpoint/2010/main" val="217599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BFB954A-777E-4874-915C-01DF470DBF7F}" type="slidenum">
              <a:rPr lang="en-IN" smtClean="0"/>
              <a:t>53</a:t>
            </a:fld>
            <a:endParaRPr lang="en-IN"/>
          </a:p>
        </p:txBody>
      </p:sp>
    </p:spTree>
    <p:extLst>
      <p:ext uri="{BB962C8B-B14F-4D97-AF65-F5344CB8AC3E}">
        <p14:creationId xmlns:p14="http://schemas.microsoft.com/office/powerpoint/2010/main" val="34777190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9C3134"/>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6845AA4B-31E8-4077-BB5E-076AC7BFB44F}" type="datetime1">
              <a:rPr lang="en-US" smtClean="0"/>
              <a:t>5/29/2026</a:t>
            </a:fld>
            <a:endParaRPr lang="en-US"/>
          </a:p>
        </p:txBody>
      </p:sp>
      <p:sp>
        <p:nvSpPr>
          <p:cNvPr id="6" name="Holder 6"/>
          <p:cNvSpPr>
            <a:spLocks noGrp="1"/>
          </p:cNvSpPr>
          <p:nvPr>
            <p:ph type="sldNum" sz="quarter" idx="7"/>
          </p:nvPr>
        </p:nvSpPr>
        <p:spPr/>
        <p:txBody>
          <a:bodyPr lIns="0" tIns="0" rIns="0" bIns="0"/>
          <a:lstStyle>
            <a:lvl1pPr>
              <a:defRPr sz="750" b="0" i="0">
                <a:solidFill>
                  <a:srgbClr val="0C0C0C"/>
                </a:solidFill>
                <a:latin typeface="Trebuchet MS"/>
                <a:cs typeface="Trebuchet MS"/>
              </a:defRPr>
            </a:lvl1pPr>
          </a:lstStyle>
          <a:p>
            <a:pPr marL="12700">
              <a:lnSpc>
                <a:spcPct val="100000"/>
              </a:lnSpc>
              <a:spcBef>
                <a:spcPts val="60"/>
              </a:spcBef>
            </a:pPr>
            <a:r>
              <a:rPr dirty="0"/>
              <a:t>Page</a:t>
            </a:r>
            <a:r>
              <a:rPr spc="-55" dirty="0"/>
              <a:t> </a:t>
            </a:r>
            <a:fld id="{81D60167-4931-47E6-BA6A-407CBD079E47}" type="slidenum">
              <a:rPr dirty="0"/>
              <a:t>‹#›</a:t>
            </a:fld>
            <a:endParaRPr dirty="0"/>
          </a:p>
        </p:txBody>
      </p:sp>
      <p:grpSp>
        <p:nvGrpSpPr>
          <p:cNvPr id="7" name="object 4">
            <a:extLst>
              <a:ext uri="{FF2B5EF4-FFF2-40B4-BE49-F238E27FC236}">
                <a16:creationId xmlns:a16="http://schemas.microsoft.com/office/drawing/2014/main" id="{F9E138FD-581F-E3A6-2CB4-08348762ADEF}"/>
              </a:ext>
            </a:extLst>
          </p:cNvPr>
          <p:cNvGrpSpPr/>
          <p:nvPr userDrawn="1"/>
        </p:nvGrpSpPr>
        <p:grpSpPr>
          <a:xfrm>
            <a:off x="0" y="26"/>
            <a:ext cx="12188825" cy="105410"/>
            <a:chOff x="0" y="26"/>
            <a:chExt cx="12188825" cy="105410"/>
          </a:xfrm>
        </p:grpSpPr>
        <p:sp>
          <p:nvSpPr>
            <p:cNvPr id="8" name="object 5">
              <a:extLst>
                <a:ext uri="{FF2B5EF4-FFF2-40B4-BE49-F238E27FC236}">
                  <a16:creationId xmlns:a16="http://schemas.microsoft.com/office/drawing/2014/main" id="{6B92A806-517F-B93F-37F6-1EE2288056D8}"/>
                </a:ext>
              </a:extLst>
            </p:cNvPr>
            <p:cNvSpPr/>
            <p:nvPr/>
          </p:nvSpPr>
          <p:spPr>
            <a:xfrm>
              <a:off x="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4A4A4D"/>
            </a:solidFill>
          </p:spPr>
          <p:txBody>
            <a:bodyPr wrap="square" lIns="0" tIns="0" rIns="0" bIns="0" rtlCol="0"/>
            <a:lstStyle/>
            <a:p>
              <a:endParaRPr/>
            </a:p>
          </p:txBody>
        </p:sp>
        <p:sp>
          <p:nvSpPr>
            <p:cNvPr id="9" name="object 6">
              <a:extLst>
                <a:ext uri="{FF2B5EF4-FFF2-40B4-BE49-F238E27FC236}">
                  <a16:creationId xmlns:a16="http://schemas.microsoft.com/office/drawing/2014/main" id="{9589BE81-6C27-66FB-3D72-BBC09096101E}"/>
                </a:ext>
              </a:extLst>
            </p:cNvPr>
            <p:cNvSpPr/>
            <p:nvPr/>
          </p:nvSpPr>
          <p:spPr>
            <a:xfrm>
              <a:off x="304800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0C460C"/>
            </a:solidFill>
          </p:spPr>
          <p:txBody>
            <a:bodyPr wrap="square" lIns="0" tIns="0" rIns="0" bIns="0" rtlCol="0"/>
            <a:lstStyle/>
            <a:p>
              <a:endParaRPr/>
            </a:p>
          </p:txBody>
        </p:sp>
        <p:sp>
          <p:nvSpPr>
            <p:cNvPr id="10" name="object 7">
              <a:extLst>
                <a:ext uri="{FF2B5EF4-FFF2-40B4-BE49-F238E27FC236}">
                  <a16:creationId xmlns:a16="http://schemas.microsoft.com/office/drawing/2014/main" id="{230DBE46-9E13-6178-9795-A09596519C51}"/>
                </a:ext>
              </a:extLst>
            </p:cNvPr>
            <p:cNvSpPr/>
            <p:nvPr/>
          </p:nvSpPr>
          <p:spPr>
            <a:xfrm>
              <a:off x="609600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9C3134"/>
            </a:solidFill>
          </p:spPr>
          <p:txBody>
            <a:bodyPr wrap="square" lIns="0" tIns="0" rIns="0" bIns="0" rtlCol="0"/>
            <a:lstStyle/>
            <a:p>
              <a:endParaRPr/>
            </a:p>
          </p:txBody>
        </p:sp>
        <p:sp>
          <p:nvSpPr>
            <p:cNvPr id="11" name="object 8">
              <a:extLst>
                <a:ext uri="{FF2B5EF4-FFF2-40B4-BE49-F238E27FC236}">
                  <a16:creationId xmlns:a16="http://schemas.microsoft.com/office/drawing/2014/main" id="{048EEEE8-166E-75B3-C3A2-FD33DBC7E993}"/>
                </a:ext>
              </a:extLst>
            </p:cNvPr>
            <p:cNvSpPr/>
            <p:nvPr/>
          </p:nvSpPr>
          <p:spPr>
            <a:xfrm>
              <a:off x="9144000" y="26"/>
              <a:ext cx="3044825" cy="105410"/>
            </a:xfrm>
            <a:custGeom>
              <a:avLst/>
              <a:gdLst/>
              <a:ahLst/>
              <a:cxnLst/>
              <a:rect l="l" t="t" r="r" b="b"/>
              <a:pathLst>
                <a:path w="3044825" h="105410">
                  <a:moveTo>
                    <a:pt x="3044444" y="0"/>
                  </a:moveTo>
                  <a:lnTo>
                    <a:pt x="0" y="0"/>
                  </a:lnTo>
                  <a:lnTo>
                    <a:pt x="0" y="105002"/>
                  </a:lnTo>
                  <a:lnTo>
                    <a:pt x="3044444" y="105002"/>
                  </a:lnTo>
                  <a:lnTo>
                    <a:pt x="3044444" y="0"/>
                  </a:lnTo>
                  <a:close/>
                </a:path>
              </a:pathLst>
            </a:custGeom>
            <a:solidFill>
              <a:srgbClr val="F79E1B"/>
            </a:solidFill>
          </p:spPr>
          <p:txBody>
            <a:bodyPr wrap="square" lIns="0" tIns="0" rIns="0" bIns="0" rtlCol="0"/>
            <a:lstStyle/>
            <a:p>
              <a:endParaRPr/>
            </a:p>
          </p:txBody>
        </p:sp>
      </p:grpSp>
      <p:grpSp>
        <p:nvGrpSpPr>
          <p:cNvPr id="16" name="Group 15">
            <a:extLst>
              <a:ext uri="{FF2B5EF4-FFF2-40B4-BE49-F238E27FC236}">
                <a16:creationId xmlns:a16="http://schemas.microsoft.com/office/drawing/2014/main" id="{1EE2A6DD-C818-4178-03AD-8015A7DE208D}"/>
              </a:ext>
            </a:extLst>
          </p:cNvPr>
          <p:cNvGrpSpPr/>
          <p:nvPr userDrawn="1"/>
        </p:nvGrpSpPr>
        <p:grpSpPr>
          <a:xfrm>
            <a:off x="5922273" y="6305778"/>
            <a:ext cx="5528197" cy="518542"/>
            <a:chOff x="5922273" y="6305778"/>
            <a:chExt cx="5528197" cy="518542"/>
          </a:xfrm>
        </p:grpSpPr>
        <p:pic>
          <p:nvPicPr>
            <p:cNvPr id="14" name="image1.png">
              <a:extLst>
                <a:ext uri="{FF2B5EF4-FFF2-40B4-BE49-F238E27FC236}">
                  <a16:creationId xmlns:a16="http://schemas.microsoft.com/office/drawing/2014/main" id="{680850D8-F37D-C210-579F-7D25836782BC}"/>
                </a:ext>
              </a:extLst>
            </p:cNvPr>
            <p:cNvPicPr/>
            <p:nvPr userDrawn="1"/>
          </p:nvPicPr>
          <p:blipFill>
            <a:blip r:embed="rId2"/>
            <a:srcRect t="66642" r="30621"/>
            <a:stretch>
              <a:fillRect/>
            </a:stretch>
          </p:blipFill>
          <p:spPr>
            <a:xfrm>
              <a:off x="5922273" y="6305778"/>
              <a:ext cx="4145661" cy="518542"/>
            </a:xfrm>
            <a:prstGeom prst="rect">
              <a:avLst/>
            </a:prstGeom>
            <a:ln/>
          </p:spPr>
        </p:pic>
        <p:pic>
          <p:nvPicPr>
            <p:cNvPr id="15" name="bg object 16">
              <a:extLst>
                <a:ext uri="{FF2B5EF4-FFF2-40B4-BE49-F238E27FC236}">
                  <a16:creationId xmlns:a16="http://schemas.microsoft.com/office/drawing/2014/main" id="{0602C32B-1102-2F77-DA63-1AE50B9FEA24}"/>
                </a:ext>
              </a:extLst>
            </p:cNvPr>
            <p:cNvPicPr/>
            <p:nvPr userDrawn="1"/>
          </p:nvPicPr>
          <p:blipFill>
            <a:blip r:embed="rId3" cstate="print"/>
            <a:stretch>
              <a:fillRect/>
            </a:stretch>
          </p:blipFill>
          <p:spPr>
            <a:xfrm>
              <a:off x="10058400" y="6353077"/>
              <a:ext cx="1392070" cy="422148"/>
            </a:xfrm>
            <a:prstGeom prst="rect">
              <a:avLst/>
            </a:prstGeom>
          </p:spPr>
        </p:pic>
      </p:gr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17" name="bg object 17"/>
          <p:cNvSpPr/>
          <p:nvPr/>
        </p:nvSpPr>
        <p:spPr>
          <a:xfrm>
            <a:off x="815339" y="1053083"/>
            <a:ext cx="10562590" cy="0"/>
          </a:xfrm>
          <a:custGeom>
            <a:avLst/>
            <a:gdLst/>
            <a:ahLst/>
            <a:cxnLst/>
            <a:rect l="l" t="t" r="r" b="b"/>
            <a:pathLst>
              <a:path w="10562590">
                <a:moveTo>
                  <a:pt x="0" y="0"/>
                </a:moveTo>
                <a:lnTo>
                  <a:pt x="10562209" y="0"/>
                </a:lnTo>
              </a:path>
            </a:pathLst>
          </a:custGeom>
          <a:ln w="12700">
            <a:solidFill>
              <a:srgbClr val="9C3134"/>
            </a:solidFill>
          </a:ln>
        </p:spPr>
        <p:txBody>
          <a:bodyPr wrap="square" lIns="0" tIns="0" rIns="0" bIns="0" rtlCol="0"/>
          <a:lstStyle/>
          <a:p>
            <a:endParaRPr/>
          </a:p>
        </p:txBody>
      </p:sp>
      <p:sp>
        <p:nvSpPr>
          <p:cNvPr id="18" name="bg object 18"/>
          <p:cNvSpPr/>
          <p:nvPr/>
        </p:nvSpPr>
        <p:spPr>
          <a:xfrm>
            <a:off x="812291" y="6237732"/>
            <a:ext cx="10562590" cy="0"/>
          </a:xfrm>
          <a:custGeom>
            <a:avLst/>
            <a:gdLst/>
            <a:ahLst/>
            <a:cxnLst/>
            <a:rect l="l" t="t" r="r" b="b"/>
            <a:pathLst>
              <a:path w="10562590">
                <a:moveTo>
                  <a:pt x="0" y="0"/>
                </a:moveTo>
                <a:lnTo>
                  <a:pt x="10562209" y="0"/>
                </a:lnTo>
              </a:path>
            </a:pathLst>
          </a:custGeom>
          <a:ln w="12700">
            <a:solidFill>
              <a:srgbClr val="4A4A4D"/>
            </a:solidFill>
          </a:ln>
        </p:spPr>
        <p:txBody>
          <a:bodyPr wrap="square" lIns="0" tIns="0" rIns="0" bIns="0" rtlCol="0"/>
          <a:lstStyle/>
          <a:p>
            <a:endParaRPr/>
          </a:p>
        </p:txBody>
      </p:sp>
      <p:sp>
        <p:nvSpPr>
          <p:cNvPr id="19" name="bg object 19"/>
          <p:cNvSpPr/>
          <p:nvPr/>
        </p:nvSpPr>
        <p:spPr>
          <a:xfrm>
            <a:off x="815339" y="2350007"/>
            <a:ext cx="10561320" cy="3743325"/>
          </a:xfrm>
          <a:custGeom>
            <a:avLst/>
            <a:gdLst/>
            <a:ahLst/>
            <a:cxnLst/>
            <a:rect l="l" t="t" r="r" b="b"/>
            <a:pathLst>
              <a:path w="10561320" h="3743325">
                <a:moveTo>
                  <a:pt x="0" y="3742944"/>
                </a:moveTo>
                <a:lnTo>
                  <a:pt x="10561320" y="3742944"/>
                </a:lnTo>
                <a:lnTo>
                  <a:pt x="10561320" y="0"/>
                </a:lnTo>
                <a:lnTo>
                  <a:pt x="0" y="0"/>
                </a:lnTo>
                <a:lnTo>
                  <a:pt x="0" y="3742944"/>
                </a:lnTo>
                <a:close/>
              </a:path>
            </a:pathLst>
          </a:custGeom>
          <a:ln w="9525">
            <a:solidFill>
              <a:srgbClr val="9C3134"/>
            </a:solidFill>
            <a:prstDash val="sysDash"/>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000" b="1" i="0">
                <a:solidFill>
                  <a:srgbClr val="9C3134"/>
                </a:solidFill>
                <a:latin typeface="Trebuchet MS"/>
                <a:cs typeface="Trebuchet MS"/>
              </a:defRPr>
            </a:lvl1pPr>
          </a:lstStyle>
          <a:p>
            <a:endParaRPr/>
          </a:p>
        </p:txBody>
      </p:sp>
      <p:sp>
        <p:nvSpPr>
          <p:cNvPr id="3" name="Holder 3"/>
          <p:cNvSpPr>
            <a:spLocks noGrp="1"/>
          </p:cNvSpPr>
          <p:nvPr>
            <p:ph sz="half" idx="2"/>
          </p:nvPr>
        </p:nvSpPr>
        <p:spPr>
          <a:xfrm>
            <a:off x="872744" y="2434844"/>
            <a:ext cx="3639820" cy="3529329"/>
          </a:xfrm>
          <a:prstGeom prst="rect">
            <a:avLst/>
          </a:prstGeom>
        </p:spPr>
        <p:txBody>
          <a:bodyPr wrap="square" lIns="0" tIns="0" rIns="0" bIns="0">
            <a:spAutoFit/>
          </a:bodyPr>
          <a:lstStyle>
            <a:lvl1pPr>
              <a:defRPr sz="1100" b="0" i="0">
                <a:solidFill>
                  <a:srgbClr val="0C0C0C"/>
                </a:solidFill>
                <a:latin typeface="Trebuchet MS"/>
                <a:cs typeface="Trebuchet MS"/>
              </a:defRPr>
            </a:lvl1pPr>
          </a:lstStyle>
          <a:p>
            <a:endParaRPr/>
          </a:p>
        </p:txBody>
      </p:sp>
      <p:sp>
        <p:nvSpPr>
          <p:cNvPr id="4" name="Holder 4"/>
          <p:cNvSpPr>
            <a:spLocks noGrp="1"/>
          </p:cNvSpPr>
          <p:nvPr>
            <p:ph sz="half" idx="3"/>
          </p:nvPr>
        </p:nvSpPr>
        <p:spPr>
          <a:xfrm>
            <a:off x="7239127" y="2351633"/>
            <a:ext cx="4053204" cy="3659504"/>
          </a:xfrm>
          <a:prstGeom prst="rect">
            <a:avLst/>
          </a:prstGeom>
        </p:spPr>
        <p:txBody>
          <a:bodyPr wrap="square" lIns="0" tIns="0" rIns="0" bIns="0">
            <a:spAutoFit/>
          </a:bodyPr>
          <a:lstStyle>
            <a:lvl1pPr>
              <a:defRPr sz="1100" b="0" i="0">
                <a:solidFill>
                  <a:srgbClr val="0C0C0C"/>
                </a:solidFill>
                <a:latin typeface="Trebuchet MS"/>
                <a:cs typeface="Trebuchet MS"/>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571409B1-151C-4AA2-9611-4740A0CA0647}" type="datetime1">
              <a:rPr lang="en-US" smtClean="0"/>
              <a:t>5/29/2026</a:t>
            </a:fld>
            <a:endParaRPr lang="en-US"/>
          </a:p>
        </p:txBody>
      </p:sp>
      <p:sp>
        <p:nvSpPr>
          <p:cNvPr id="7" name="Holder 7"/>
          <p:cNvSpPr>
            <a:spLocks noGrp="1"/>
          </p:cNvSpPr>
          <p:nvPr>
            <p:ph type="sldNum" sz="quarter" idx="7"/>
          </p:nvPr>
        </p:nvSpPr>
        <p:spPr/>
        <p:txBody>
          <a:bodyPr lIns="0" tIns="0" rIns="0" bIns="0"/>
          <a:lstStyle>
            <a:lvl1pPr>
              <a:defRPr sz="750" b="0" i="0">
                <a:solidFill>
                  <a:srgbClr val="0C0C0C"/>
                </a:solidFill>
                <a:latin typeface="Trebuchet MS"/>
                <a:cs typeface="Trebuchet MS"/>
              </a:defRPr>
            </a:lvl1pPr>
          </a:lstStyle>
          <a:p>
            <a:pPr marL="12700">
              <a:lnSpc>
                <a:spcPct val="100000"/>
              </a:lnSpc>
              <a:spcBef>
                <a:spcPts val="60"/>
              </a:spcBef>
            </a:pPr>
            <a:r>
              <a:rPr dirty="0"/>
              <a:t>Page</a:t>
            </a:r>
            <a:r>
              <a:rPr spc="-55" dirty="0"/>
              <a:t> </a:t>
            </a:r>
            <a:fld id="{81D60167-4931-47E6-BA6A-407CBD079E47}" type="slidenum">
              <a:rPr dirty="0"/>
              <a:t>‹#›</a:t>
            </a:fld>
            <a:endParaRPr dirty="0"/>
          </a:p>
        </p:txBody>
      </p:sp>
      <p:grpSp>
        <p:nvGrpSpPr>
          <p:cNvPr id="8" name="object 4">
            <a:extLst>
              <a:ext uri="{FF2B5EF4-FFF2-40B4-BE49-F238E27FC236}">
                <a16:creationId xmlns:a16="http://schemas.microsoft.com/office/drawing/2014/main" id="{4DAB8A0B-9748-C33B-76E9-AD75EFDDF44A}"/>
              </a:ext>
            </a:extLst>
          </p:cNvPr>
          <p:cNvGrpSpPr/>
          <p:nvPr userDrawn="1"/>
        </p:nvGrpSpPr>
        <p:grpSpPr>
          <a:xfrm>
            <a:off x="0" y="26"/>
            <a:ext cx="12188825" cy="105410"/>
            <a:chOff x="0" y="26"/>
            <a:chExt cx="12188825" cy="105410"/>
          </a:xfrm>
        </p:grpSpPr>
        <p:sp>
          <p:nvSpPr>
            <p:cNvPr id="9" name="object 5">
              <a:extLst>
                <a:ext uri="{FF2B5EF4-FFF2-40B4-BE49-F238E27FC236}">
                  <a16:creationId xmlns:a16="http://schemas.microsoft.com/office/drawing/2014/main" id="{5B86FB0D-6B50-D8B5-E533-CC346EB05EA1}"/>
                </a:ext>
              </a:extLst>
            </p:cNvPr>
            <p:cNvSpPr/>
            <p:nvPr/>
          </p:nvSpPr>
          <p:spPr>
            <a:xfrm>
              <a:off x="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4A4A4D"/>
            </a:solidFill>
          </p:spPr>
          <p:txBody>
            <a:bodyPr wrap="square" lIns="0" tIns="0" rIns="0" bIns="0" rtlCol="0"/>
            <a:lstStyle/>
            <a:p>
              <a:endParaRPr/>
            </a:p>
          </p:txBody>
        </p:sp>
        <p:sp>
          <p:nvSpPr>
            <p:cNvPr id="10" name="object 6">
              <a:extLst>
                <a:ext uri="{FF2B5EF4-FFF2-40B4-BE49-F238E27FC236}">
                  <a16:creationId xmlns:a16="http://schemas.microsoft.com/office/drawing/2014/main" id="{880E2C26-0878-B13A-AA88-8916CDFFCDF3}"/>
                </a:ext>
              </a:extLst>
            </p:cNvPr>
            <p:cNvSpPr/>
            <p:nvPr/>
          </p:nvSpPr>
          <p:spPr>
            <a:xfrm>
              <a:off x="304800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0C460C"/>
            </a:solidFill>
          </p:spPr>
          <p:txBody>
            <a:bodyPr wrap="square" lIns="0" tIns="0" rIns="0" bIns="0" rtlCol="0"/>
            <a:lstStyle/>
            <a:p>
              <a:endParaRPr/>
            </a:p>
          </p:txBody>
        </p:sp>
        <p:sp>
          <p:nvSpPr>
            <p:cNvPr id="11" name="object 7">
              <a:extLst>
                <a:ext uri="{FF2B5EF4-FFF2-40B4-BE49-F238E27FC236}">
                  <a16:creationId xmlns:a16="http://schemas.microsoft.com/office/drawing/2014/main" id="{B1C0E3B6-A224-D190-CBA0-BC9055B239F2}"/>
                </a:ext>
              </a:extLst>
            </p:cNvPr>
            <p:cNvSpPr/>
            <p:nvPr/>
          </p:nvSpPr>
          <p:spPr>
            <a:xfrm>
              <a:off x="609600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9C3134"/>
            </a:solidFill>
          </p:spPr>
          <p:txBody>
            <a:bodyPr wrap="square" lIns="0" tIns="0" rIns="0" bIns="0" rtlCol="0"/>
            <a:lstStyle/>
            <a:p>
              <a:endParaRPr/>
            </a:p>
          </p:txBody>
        </p:sp>
        <p:sp>
          <p:nvSpPr>
            <p:cNvPr id="12" name="object 8">
              <a:extLst>
                <a:ext uri="{FF2B5EF4-FFF2-40B4-BE49-F238E27FC236}">
                  <a16:creationId xmlns:a16="http://schemas.microsoft.com/office/drawing/2014/main" id="{66734053-25C8-DF48-0E34-DF373E34D1B7}"/>
                </a:ext>
              </a:extLst>
            </p:cNvPr>
            <p:cNvSpPr/>
            <p:nvPr/>
          </p:nvSpPr>
          <p:spPr>
            <a:xfrm>
              <a:off x="9144000" y="26"/>
              <a:ext cx="3044825" cy="105410"/>
            </a:xfrm>
            <a:custGeom>
              <a:avLst/>
              <a:gdLst/>
              <a:ahLst/>
              <a:cxnLst/>
              <a:rect l="l" t="t" r="r" b="b"/>
              <a:pathLst>
                <a:path w="3044825" h="105410">
                  <a:moveTo>
                    <a:pt x="3044444" y="0"/>
                  </a:moveTo>
                  <a:lnTo>
                    <a:pt x="0" y="0"/>
                  </a:lnTo>
                  <a:lnTo>
                    <a:pt x="0" y="105002"/>
                  </a:lnTo>
                  <a:lnTo>
                    <a:pt x="3044444" y="105002"/>
                  </a:lnTo>
                  <a:lnTo>
                    <a:pt x="3044444" y="0"/>
                  </a:lnTo>
                  <a:close/>
                </a:path>
              </a:pathLst>
            </a:custGeom>
            <a:solidFill>
              <a:srgbClr val="F79E1B"/>
            </a:solidFill>
          </p:spPr>
          <p:txBody>
            <a:bodyPr wrap="square" lIns="0" tIns="0" rIns="0" bIns="0" rtlCol="0"/>
            <a:lstStyle/>
            <a:p>
              <a:endParaRPr/>
            </a:p>
          </p:txBody>
        </p:sp>
      </p:grpSp>
      <p:pic>
        <p:nvPicPr>
          <p:cNvPr id="15" name="image1.png">
            <a:extLst>
              <a:ext uri="{FF2B5EF4-FFF2-40B4-BE49-F238E27FC236}">
                <a16:creationId xmlns:a16="http://schemas.microsoft.com/office/drawing/2014/main" id="{C942E478-5970-5FB3-FADB-146064F61460}"/>
              </a:ext>
            </a:extLst>
          </p:cNvPr>
          <p:cNvPicPr/>
          <p:nvPr userDrawn="1"/>
        </p:nvPicPr>
        <p:blipFill>
          <a:blip r:embed="rId2"/>
          <a:srcRect t="66642" r="30621"/>
          <a:stretch>
            <a:fillRect/>
          </a:stretch>
        </p:blipFill>
        <p:spPr>
          <a:xfrm>
            <a:off x="5922273" y="6305778"/>
            <a:ext cx="4145661" cy="518542"/>
          </a:xfrm>
          <a:prstGeom prst="rect">
            <a:avLst/>
          </a:prstGeom>
          <a:ln/>
        </p:spPr>
      </p:pic>
      <p:pic>
        <p:nvPicPr>
          <p:cNvPr id="16" name="bg object 16">
            <a:extLst>
              <a:ext uri="{FF2B5EF4-FFF2-40B4-BE49-F238E27FC236}">
                <a16:creationId xmlns:a16="http://schemas.microsoft.com/office/drawing/2014/main" id="{30BDAB78-41B6-15A0-72FF-7B0DAA11256C}"/>
              </a:ext>
            </a:extLst>
          </p:cNvPr>
          <p:cNvPicPr/>
          <p:nvPr userDrawn="1"/>
        </p:nvPicPr>
        <p:blipFill>
          <a:blip r:embed="rId3" cstate="print"/>
          <a:stretch>
            <a:fillRect/>
          </a:stretch>
        </p:blipFill>
        <p:spPr>
          <a:xfrm>
            <a:off x="10058400" y="6353077"/>
            <a:ext cx="1392070" cy="4221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17" name="bg object 17"/>
          <p:cNvSpPr/>
          <p:nvPr/>
        </p:nvSpPr>
        <p:spPr>
          <a:xfrm>
            <a:off x="812291" y="6237732"/>
            <a:ext cx="10562590" cy="0"/>
          </a:xfrm>
          <a:custGeom>
            <a:avLst/>
            <a:gdLst/>
            <a:ahLst/>
            <a:cxnLst/>
            <a:rect l="l" t="t" r="r" b="b"/>
            <a:pathLst>
              <a:path w="10562590">
                <a:moveTo>
                  <a:pt x="0" y="0"/>
                </a:moveTo>
                <a:lnTo>
                  <a:pt x="10562209" y="0"/>
                </a:lnTo>
              </a:path>
            </a:pathLst>
          </a:custGeom>
          <a:ln w="12700">
            <a:solidFill>
              <a:srgbClr val="4A4A4D"/>
            </a:solidFill>
          </a:ln>
        </p:spPr>
        <p:txBody>
          <a:bodyPr wrap="square" lIns="0" tIns="0" rIns="0" bIns="0" rtlCol="0"/>
          <a:lstStyle/>
          <a:p>
            <a:endParaRPr/>
          </a:p>
        </p:txBody>
      </p:sp>
      <p:sp>
        <p:nvSpPr>
          <p:cNvPr id="18" name="bg object 18"/>
          <p:cNvSpPr/>
          <p:nvPr/>
        </p:nvSpPr>
        <p:spPr>
          <a:xfrm>
            <a:off x="815339" y="1053083"/>
            <a:ext cx="10562590" cy="0"/>
          </a:xfrm>
          <a:custGeom>
            <a:avLst/>
            <a:gdLst/>
            <a:ahLst/>
            <a:cxnLst/>
            <a:rect l="l" t="t" r="r" b="b"/>
            <a:pathLst>
              <a:path w="10562590">
                <a:moveTo>
                  <a:pt x="0" y="0"/>
                </a:moveTo>
                <a:lnTo>
                  <a:pt x="10562209" y="0"/>
                </a:lnTo>
              </a:path>
            </a:pathLst>
          </a:custGeom>
          <a:ln w="12700">
            <a:solidFill>
              <a:srgbClr val="9C3134"/>
            </a:solidFill>
          </a:ln>
        </p:spPr>
        <p:txBody>
          <a:bodyPr wrap="square" lIns="0" tIns="0" rIns="0" bIns="0" rtlCol="0"/>
          <a:lstStyle/>
          <a:p>
            <a:endParaRPr/>
          </a:p>
        </p:txBody>
      </p:sp>
      <p:sp>
        <p:nvSpPr>
          <p:cNvPr id="3" name="Holder 3"/>
          <p:cNvSpPr>
            <a:spLocks noGrp="1"/>
          </p:cNvSpPr>
          <p:nvPr>
            <p:ph type="dt" sz="half" idx="6"/>
          </p:nvPr>
        </p:nvSpPr>
        <p:spPr>
          <a:xfrm>
            <a:off x="1371600" y="6356675"/>
            <a:ext cx="2804160" cy="342900"/>
          </a:xfrm>
        </p:spPr>
        <p:txBody>
          <a:bodyPr lIns="0" tIns="0" rIns="0" bIns="0"/>
          <a:lstStyle>
            <a:lvl1pPr algn="l">
              <a:defRPr>
                <a:solidFill>
                  <a:schemeClr val="tx1">
                    <a:tint val="75000"/>
                  </a:schemeClr>
                </a:solidFill>
              </a:defRPr>
            </a:lvl1pPr>
          </a:lstStyle>
          <a:p>
            <a:fld id="{F6015E4B-DC9A-4C60-98BC-1E9DCFE5E274}" type="datetime1">
              <a:rPr lang="en-US" smtClean="0"/>
              <a:t>5/29/2026</a:t>
            </a:fld>
            <a:endParaRPr lang="en-US"/>
          </a:p>
        </p:txBody>
      </p:sp>
      <p:sp>
        <p:nvSpPr>
          <p:cNvPr id="4" name="Holder 4"/>
          <p:cNvSpPr>
            <a:spLocks noGrp="1"/>
          </p:cNvSpPr>
          <p:nvPr>
            <p:ph type="sldNum" sz="quarter" idx="7"/>
          </p:nvPr>
        </p:nvSpPr>
        <p:spPr>
          <a:xfrm>
            <a:off x="779630" y="6440648"/>
            <a:ext cx="383540" cy="137159"/>
          </a:xfrm>
        </p:spPr>
        <p:txBody>
          <a:bodyPr lIns="0" tIns="0" rIns="0" bIns="0"/>
          <a:lstStyle>
            <a:lvl1pPr>
              <a:defRPr sz="750" b="0" i="0">
                <a:solidFill>
                  <a:srgbClr val="0C0C0C"/>
                </a:solidFill>
                <a:latin typeface="Trebuchet MS"/>
                <a:cs typeface="Trebuchet MS"/>
              </a:defRPr>
            </a:lvl1pPr>
          </a:lstStyle>
          <a:p>
            <a:pPr marL="12700">
              <a:lnSpc>
                <a:spcPct val="100000"/>
              </a:lnSpc>
              <a:spcBef>
                <a:spcPts val="60"/>
              </a:spcBef>
            </a:pPr>
            <a:r>
              <a:rPr dirty="0"/>
              <a:t>Page</a:t>
            </a:r>
            <a:r>
              <a:rPr spc="-55" dirty="0"/>
              <a:t> </a:t>
            </a:r>
            <a:fld id="{81D60167-4931-47E6-BA6A-407CBD079E47}" type="slidenum">
              <a:rPr dirty="0"/>
              <a:t>‹#›</a:t>
            </a:fld>
            <a:endParaRPr dirty="0"/>
          </a:p>
        </p:txBody>
      </p:sp>
      <p:grpSp>
        <p:nvGrpSpPr>
          <p:cNvPr id="5" name="object 4">
            <a:extLst>
              <a:ext uri="{FF2B5EF4-FFF2-40B4-BE49-F238E27FC236}">
                <a16:creationId xmlns:a16="http://schemas.microsoft.com/office/drawing/2014/main" id="{07FCB2C7-D429-9FC0-73D5-54EA0D3FF4FF}"/>
              </a:ext>
            </a:extLst>
          </p:cNvPr>
          <p:cNvGrpSpPr/>
          <p:nvPr userDrawn="1"/>
        </p:nvGrpSpPr>
        <p:grpSpPr>
          <a:xfrm>
            <a:off x="0" y="26"/>
            <a:ext cx="12188825" cy="105410"/>
            <a:chOff x="0" y="26"/>
            <a:chExt cx="12188825" cy="105410"/>
          </a:xfrm>
        </p:grpSpPr>
        <p:sp>
          <p:nvSpPr>
            <p:cNvPr id="6" name="object 5">
              <a:extLst>
                <a:ext uri="{FF2B5EF4-FFF2-40B4-BE49-F238E27FC236}">
                  <a16:creationId xmlns:a16="http://schemas.microsoft.com/office/drawing/2014/main" id="{1ACF968E-0D66-4C11-395A-397443D4D325}"/>
                </a:ext>
              </a:extLst>
            </p:cNvPr>
            <p:cNvSpPr/>
            <p:nvPr/>
          </p:nvSpPr>
          <p:spPr>
            <a:xfrm>
              <a:off x="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4A4A4D"/>
            </a:solidFill>
          </p:spPr>
          <p:txBody>
            <a:bodyPr wrap="square" lIns="0" tIns="0" rIns="0" bIns="0" rtlCol="0"/>
            <a:lstStyle/>
            <a:p>
              <a:endParaRPr/>
            </a:p>
          </p:txBody>
        </p:sp>
        <p:sp>
          <p:nvSpPr>
            <p:cNvPr id="7" name="object 6">
              <a:extLst>
                <a:ext uri="{FF2B5EF4-FFF2-40B4-BE49-F238E27FC236}">
                  <a16:creationId xmlns:a16="http://schemas.microsoft.com/office/drawing/2014/main" id="{0E2D345C-EAE4-C302-9E55-F2FA14C92143}"/>
                </a:ext>
              </a:extLst>
            </p:cNvPr>
            <p:cNvSpPr/>
            <p:nvPr/>
          </p:nvSpPr>
          <p:spPr>
            <a:xfrm>
              <a:off x="304800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0C460C"/>
            </a:solidFill>
          </p:spPr>
          <p:txBody>
            <a:bodyPr wrap="square" lIns="0" tIns="0" rIns="0" bIns="0" rtlCol="0"/>
            <a:lstStyle/>
            <a:p>
              <a:endParaRPr/>
            </a:p>
          </p:txBody>
        </p:sp>
        <p:sp>
          <p:nvSpPr>
            <p:cNvPr id="8" name="object 7">
              <a:extLst>
                <a:ext uri="{FF2B5EF4-FFF2-40B4-BE49-F238E27FC236}">
                  <a16:creationId xmlns:a16="http://schemas.microsoft.com/office/drawing/2014/main" id="{ADA93807-2352-8DD6-81B7-1A48714385DE}"/>
                </a:ext>
              </a:extLst>
            </p:cNvPr>
            <p:cNvSpPr/>
            <p:nvPr/>
          </p:nvSpPr>
          <p:spPr>
            <a:xfrm>
              <a:off x="609600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9C3134"/>
            </a:solidFill>
          </p:spPr>
          <p:txBody>
            <a:bodyPr wrap="square" lIns="0" tIns="0" rIns="0" bIns="0" rtlCol="0"/>
            <a:lstStyle/>
            <a:p>
              <a:endParaRPr/>
            </a:p>
          </p:txBody>
        </p:sp>
        <p:sp>
          <p:nvSpPr>
            <p:cNvPr id="9" name="object 8">
              <a:extLst>
                <a:ext uri="{FF2B5EF4-FFF2-40B4-BE49-F238E27FC236}">
                  <a16:creationId xmlns:a16="http://schemas.microsoft.com/office/drawing/2014/main" id="{C1764AFC-0C58-F24F-CCB5-23612163C02B}"/>
                </a:ext>
              </a:extLst>
            </p:cNvPr>
            <p:cNvSpPr/>
            <p:nvPr/>
          </p:nvSpPr>
          <p:spPr>
            <a:xfrm>
              <a:off x="9144000" y="26"/>
              <a:ext cx="3044825" cy="105410"/>
            </a:xfrm>
            <a:custGeom>
              <a:avLst/>
              <a:gdLst/>
              <a:ahLst/>
              <a:cxnLst/>
              <a:rect l="l" t="t" r="r" b="b"/>
              <a:pathLst>
                <a:path w="3044825" h="105410">
                  <a:moveTo>
                    <a:pt x="3044444" y="0"/>
                  </a:moveTo>
                  <a:lnTo>
                    <a:pt x="0" y="0"/>
                  </a:lnTo>
                  <a:lnTo>
                    <a:pt x="0" y="105002"/>
                  </a:lnTo>
                  <a:lnTo>
                    <a:pt x="3044444" y="105002"/>
                  </a:lnTo>
                  <a:lnTo>
                    <a:pt x="3044444" y="0"/>
                  </a:lnTo>
                  <a:close/>
                </a:path>
              </a:pathLst>
            </a:custGeom>
            <a:solidFill>
              <a:srgbClr val="F79E1B"/>
            </a:solidFill>
          </p:spPr>
          <p:txBody>
            <a:bodyPr wrap="square" lIns="0" tIns="0" rIns="0" bIns="0" rtlCol="0"/>
            <a:lstStyle/>
            <a:p>
              <a:endParaRPr/>
            </a:p>
          </p:txBody>
        </p:sp>
      </p:grpSp>
      <p:pic>
        <p:nvPicPr>
          <p:cNvPr id="13" name="image1.png">
            <a:extLst>
              <a:ext uri="{FF2B5EF4-FFF2-40B4-BE49-F238E27FC236}">
                <a16:creationId xmlns:a16="http://schemas.microsoft.com/office/drawing/2014/main" id="{5E1E6946-DDF6-0C3F-DF54-776BD823C3CC}"/>
              </a:ext>
            </a:extLst>
          </p:cNvPr>
          <p:cNvPicPr/>
          <p:nvPr userDrawn="1"/>
        </p:nvPicPr>
        <p:blipFill>
          <a:blip r:embed="rId2"/>
          <a:srcRect t="66642" r="30621"/>
          <a:stretch>
            <a:fillRect/>
          </a:stretch>
        </p:blipFill>
        <p:spPr>
          <a:xfrm>
            <a:off x="5922273" y="6305778"/>
            <a:ext cx="4145661" cy="518542"/>
          </a:xfrm>
          <a:prstGeom prst="rect">
            <a:avLst/>
          </a:prstGeom>
          <a:ln/>
        </p:spPr>
      </p:pic>
      <p:pic>
        <p:nvPicPr>
          <p:cNvPr id="14" name="bg object 16">
            <a:extLst>
              <a:ext uri="{FF2B5EF4-FFF2-40B4-BE49-F238E27FC236}">
                <a16:creationId xmlns:a16="http://schemas.microsoft.com/office/drawing/2014/main" id="{07692102-2D6F-D012-BCD2-BE62D157F5D9}"/>
              </a:ext>
            </a:extLst>
          </p:cNvPr>
          <p:cNvPicPr/>
          <p:nvPr userDrawn="1"/>
        </p:nvPicPr>
        <p:blipFill>
          <a:blip r:embed="rId3" cstate="print"/>
          <a:stretch>
            <a:fillRect/>
          </a:stretch>
        </p:blipFill>
        <p:spPr>
          <a:xfrm>
            <a:off x="10058400" y="6353077"/>
            <a:ext cx="1392070" cy="422148"/>
          </a:xfrm>
          <a:prstGeom prst="rect">
            <a:avLst/>
          </a:prstGeom>
        </p:spPr>
      </p:pic>
      <p:sp>
        <p:nvSpPr>
          <p:cNvPr id="2" name="Shape 0">
            <a:extLst>
              <a:ext uri="{FF2B5EF4-FFF2-40B4-BE49-F238E27FC236}">
                <a16:creationId xmlns:a16="http://schemas.microsoft.com/office/drawing/2014/main" id="{6159A81C-CEDA-B197-C9BA-422B91D0A5ED}"/>
              </a:ext>
            </a:extLst>
          </p:cNvPr>
          <p:cNvSpPr/>
          <p:nvPr userDrawn="1"/>
        </p:nvSpPr>
        <p:spPr>
          <a:xfrm>
            <a:off x="0" y="105436"/>
            <a:ext cx="12192000" cy="656564"/>
          </a:xfrm>
          <a:prstGeom prst="rect">
            <a:avLst/>
          </a:prstGeom>
          <a:solidFill>
            <a:srgbClr val="2A5C2E"/>
          </a:solidFill>
          <a:ln w="12700">
            <a:solidFill>
              <a:srgbClr val="2A5C2E"/>
            </a:solidFill>
          </a:ln>
        </p:spPr>
        <p:txBody>
          <a:bodyPr lIns="60959" rIns="60959"/>
          <a:lstStyle/>
          <a:p>
            <a:pPr>
              <a:defRPr sz="1800">
                <a:latin typeface="Calibri"/>
                <a:ea typeface="Calibri"/>
                <a:cs typeface="Calibri"/>
                <a:sym typeface="Calibri"/>
              </a:defRPr>
            </a:pPr>
            <a:endParaRPr sz="24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17" name="bg object 17"/>
          <p:cNvSpPr/>
          <p:nvPr/>
        </p:nvSpPr>
        <p:spPr>
          <a:xfrm>
            <a:off x="528292" y="6248400"/>
            <a:ext cx="10844529" cy="111257"/>
          </a:xfrm>
          <a:custGeom>
            <a:avLst/>
            <a:gdLst/>
            <a:ahLst/>
            <a:cxnLst/>
            <a:rect l="l" t="t" r="r" b="b"/>
            <a:pathLst>
              <a:path w="10562590">
                <a:moveTo>
                  <a:pt x="0" y="0"/>
                </a:moveTo>
                <a:lnTo>
                  <a:pt x="10562209" y="0"/>
                </a:lnTo>
              </a:path>
            </a:pathLst>
          </a:custGeom>
          <a:ln w="12700">
            <a:solidFill>
              <a:srgbClr val="4A4A4D"/>
            </a:solidFill>
          </a:ln>
        </p:spPr>
        <p:txBody>
          <a:bodyPr wrap="square" lIns="0" tIns="0" rIns="0" bIns="0" rtlCol="0"/>
          <a:lstStyle/>
          <a:p>
            <a:endParaRPr/>
          </a:p>
        </p:txBody>
      </p:sp>
      <p:sp>
        <p:nvSpPr>
          <p:cNvPr id="18" name="bg object 18"/>
          <p:cNvSpPr/>
          <p:nvPr/>
        </p:nvSpPr>
        <p:spPr>
          <a:xfrm>
            <a:off x="533400" y="868681"/>
            <a:ext cx="10844529" cy="45719"/>
          </a:xfrm>
          <a:custGeom>
            <a:avLst/>
            <a:gdLst/>
            <a:ahLst/>
            <a:cxnLst/>
            <a:rect l="l" t="t" r="r" b="b"/>
            <a:pathLst>
              <a:path w="10562590">
                <a:moveTo>
                  <a:pt x="0" y="0"/>
                </a:moveTo>
                <a:lnTo>
                  <a:pt x="10562209" y="0"/>
                </a:lnTo>
              </a:path>
            </a:pathLst>
          </a:custGeom>
          <a:ln w="12700">
            <a:solidFill>
              <a:srgbClr val="9C3134"/>
            </a:solidFill>
          </a:ln>
        </p:spPr>
        <p:txBody>
          <a:bodyPr wrap="square" lIns="0" tIns="0" rIns="0" bIns="0" rtlCol="0"/>
          <a:lstStyle/>
          <a:p>
            <a:endParaRPr/>
          </a:p>
        </p:txBody>
      </p:sp>
      <p:sp>
        <p:nvSpPr>
          <p:cNvPr id="3" name="Holder 3"/>
          <p:cNvSpPr>
            <a:spLocks noGrp="1"/>
          </p:cNvSpPr>
          <p:nvPr>
            <p:ph type="dt" sz="half" idx="6"/>
          </p:nvPr>
        </p:nvSpPr>
        <p:spPr>
          <a:xfrm>
            <a:off x="1524000" y="6603052"/>
            <a:ext cx="2590800" cy="137159"/>
          </a:xfrm>
        </p:spPr>
        <p:txBody>
          <a:bodyPr lIns="0" tIns="0" rIns="0" bIns="0"/>
          <a:lstStyle>
            <a:lvl1pPr algn="l">
              <a:defRPr>
                <a:solidFill>
                  <a:schemeClr val="tx1">
                    <a:tint val="75000"/>
                  </a:schemeClr>
                </a:solidFill>
              </a:defRPr>
            </a:lvl1pPr>
          </a:lstStyle>
          <a:p>
            <a:fld id="{ECF3C2A7-E689-4692-9786-E19C4EC34B21}" type="datetime1">
              <a:rPr lang="en-US" smtClean="0"/>
              <a:t>5/29/2026</a:t>
            </a:fld>
            <a:endParaRPr lang="en-US"/>
          </a:p>
        </p:txBody>
      </p:sp>
      <p:grpSp>
        <p:nvGrpSpPr>
          <p:cNvPr id="5" name="object 4">
            <a:extLst>
              <a:ext uri="{FF2B5EF4-FFF2-40B4-BE49-F238E27FC236}">
                <a16:creationId xmlns:a16="http://schemas.microsoft.com/office/drawing/2014/main" id="{07FCB2C7-D429-9FC0-73D5-54EA0D3FF4FF}"/>
              </a:ext>
            </a:extLst>
          </p:cNvPr>
          <p:cNvGrpSpPr/>
          <p:nvPr userDrawn="1"/>
        </p:nvGrpSpPr>
        <p:grpSpPr>
          <a:xfrm>
            <a:off x="0" y="26"/>
            <a:ext cx="12188825" cy="105410"/>
            <a:chOff x="0" y="26"/>
            <a:chExt cx="12188825" cy="105410"/>
          </a:xfrm>
        </p:grpSpPr>
        <p:sp>
          <p:nvSpPr>
            <p:cNvPr id="6" name="object 5">
              <a:extLst>
                <a:ext uri="{FF2B5EF4-FFF2-40B4-BE49-F238E27FC236}">
                  <a16:creationId xmlns:a16="http://schemas.microsoft.com/office/drawing/2014/main" id="{1ACF968E-0D66-4C11-395A-397443D4D325}"/>
                </a:ext>
              </a:extLst>
            </p:cNvPr>
            <p:cNvSpPr/>
            <p:nvPr/>
          </p:nvSpPr>
          <p:spPr>
            <a:xfrm>
              <a:off x="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4A4A4D"/>
            </a:solidFill>
          </p:spPr>
          <p:txBody>
            <a:bodyPr wrap="square" lIns="0" tIns="0" rIns="0" bIns="0" rtlCol="0"/>
            <a:lstStyle/>
            <a:p>
              <a:endParaRPr/>
            </a:p>
          </p:txBody>
        </p:sp>
        <p:sp>
          <p:nvSpPr>
            <p:cNvPr id="7" name="object 6">
              <a:extLst>
                <a:ext uri="{FF2B5EF4-FFF2-40B4-BE49-F238E27FC236}">
                  <a16:creationId xmlns:a16="http://schemas.microsoft.com/office/drawing/2014/main" id="{0E2D345C-EAE4-C302-9E55-F2FA14C92143}"/>
                </a:ext>
              </a:extLst>
            </p:cNvPr>
            <p:cNvSpPr/>
            <p:nvPr/>
          </p:nvSpPr>
          <p:spPr>
            <a:xfrm>
              <a:off x="304800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0C460C"/>
            </a:solidFill>
          </p:spPr>
          <p:txBody>
            <a:bodyPr wrap="square" lIns="0" tIns="0" rIns="0" bIns="0" rtlCol="0"/>
            <a:lstStyle/>
            <a:p>
              <a:endParaRPr/>
            </a:p>
          </p:txBody>
        </p:sp>
        <p:sp>
          <p:nvSpPr>
            <p:cNvPr id="8" name="object 7">
              <a:extLst>
                <a:ext uri="{FF2B5EF4-FFF2-40B4-BE49-F238E27FC236}">
                  <a16:creationId xmlns:a16="http://schemas.microsoft.com/office/drawing/2014/main" id="{ADA93807-2352-8DD6-81B7-1A48714385DE}"/>
                </a:ext>
              </a:extLst>
            </p:cNvPr>
            <p:cNvSpPr/>
            <p:nvPr/>
          </p:nvSpPr>
          <p:spPr>
            <a:xfrm>
              <a:off x="609600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9C3134"/>
            </a:solidFill>
          </p:spPr>
          <p:txBody>
            <a:bodyPr wrap="square" lIns="0" tIns="0" rIns="0" bIns="0" rtlCol="0"/>
            <a:lstStyle/>
            <a:p>
              <a:endParaRPr/>
            </a:p>
          </p:txBody>
        </p:sp>
        <p:sp>
          <p:nvSpPr>
            <p:cNvPr id="9" name="object 8">
              <a:extLst>
                <a:ext uri="{FF2B5EF4-FFF2-40B4-BE49-F238E27FC236}">
                  <a16:creationId xmlns:a16="http://schemas.microsoft.com/office/drawing/2014/main" id="{C1764AFC-0C58-F24F-CCB5-23612163C02B}"/>
                </a:ext>
              </a:extLst>
            </p:cNvPr>
            <p:cNvSpPr/>
            <p:nvPr/>
          </p:nvSpPr>
          <p:spPr>
            <a:xfrm>
              <a:off x="9144000" y="26"/>
              <a:ext cx="3044825" cy="105410"/>
            </a:xfrm>
            <a:custGeom>
              <a:avLst/>
              <a:gdLst/>
              <a:ahLst/>
              <a:cxnLst/>
              <a:rect l="l" t="t" r="r" b="b"/>
              <a:pathLst>
                <a:path w="3044825" h="105410">
                  <a:moveTo>
                    <a:pt x="3044444" y="0"/>
                  </a:moveTo>
                  <a:lnTo>
                    <a:pt x="0" y="0"/>
                  </a:lnTo>
                  <a:lnTo>
                    <a:pt x="0" y="105002"/>
                  </a:lnTo>
                  <a:lnTo>
                    <a:pt x="3044444" y="105002"/>
                  </a:lnTo>
                  <a:lnTo>
                    <a:pt x="3044444" y="0"/>
                  </a:lnTo>
                  <a:close/>
                </a:path>
              </a:pathLst>
            </a:custGeom>
            <a:solidFill>
              <a:srgbClr val="F79E1B"/>
            </a:solidFill>
          </p:spPr>
          <p:txBody>
            <a:bodyPr wrap="square" lIns="0" tIns="0" rIns="0" bIns="0" rtlCol="0"/>
            <a:lstStyle/>
            <a:p>
              <a:endParaRPr/>
            </a:p>
          </p:txBody>
        </p:sp>
      </p:grpSp>
      <p:sp>
        <p:nvSpPr>
          <p:cNvPr id="11" name="Holder 2">
            <a:extLst>
              <a:ext uri="{FF2B5EF4-FFF2-40B4-BE49-F238E27FC236}">
                <a16:creationId xmlns:a16="http://schemas.microsoft.com/office/drawing/2014/main" id="{0290D040-1FC4-E8F0-B35D-C7B003086651}"/>
              </a:ext>
            </a:extLst>
          </p:cNvPr>
          <p:cNvSpPr>
            <a:spLocks noGrp="1"/>
          </p:cNvSpPr>
          <p:nvPr>
            <p:ph type="title"/>
          </p:nvPr>
        </p:nvSpPr>
        <p:spPr>
          <a:xfrm>
            <a:off x="815441" y="228600"/>
            <a:ext cx="10561116" cy="606425"/>
          </a:xfrm>
        </p:spPr>
        <p:txBody>
          <a:bodyPr lIns="0" tIns="0" rIns="0" bIns="0"/>
          <a:lstStyle>
            <a:lvl1pPr>
              <a:defRPr sz="2000" b="1" i="0">
                <a:solidFill>
                  <a:srgbClr val="9C3134"/>
                </a:solidFill>
                <a:latin typeface="Trebuchet MS"/>
                <a:cs typeface="Trebuchet MS"/>
              </a:defRPr>
            </a:lvl1pPr>
          </a:lstStyle>
          <a:p>
            <a:endParaRPr dirty="0"/>
          </a:p>
        </p:txBody>
      </p:sp>
      <p:sp>
        <p:nvSpPr>
          <p:cNvPr id="2" name="Holder 4">
            <a:extLst>
              <a:ext uri="{FF2B5EF4-FFF2-40B4-BE49-F238E27FC236}">
                <a16:creationId xmlns:a16="http://schemas.microsoft.com/office/drawing/2014/main" id="{81934318-84A7-89E7-DB21-0383DF95D5B8}"/>
              </a:ext>
            </a:extLst>
          </p:cNvPr>
          <p:cNvSpPr>
            <a:spLocks noGrp="1"/>
          </p:cNvSpPr>
          <p:nvPr>
            <p:ph type="sldNum" sz="quarter" idx="7"/>
          </p:nvPr>
        </p:nvSpPr>
        <p:spPr>
          <a:xfrm>
            <a:off x="805814" y="6595754"/>
            <a:ext cx="383540" cy="137159"/>
          </a:xfrm>
        </p:spPr>
        <p:txBody>
          <a:bodyPr lIns="0" tIns="0" rIns="0" bIns="0"/>
          <a:lstStyle>
            <a:lvl1pPr>
              <a:defRPr sz="750" b="0" i="0">
                <a:solidFill>
                  <a:srgbClr val="0C0C0C"/>
                </a:solidFill>
                <a:latin typeface="Trebuchet MS"/>
                <a:cs typeface="Trebuchet MS"/>
              </a:defRPr>
            </a:lvl1pPr>
          </a:lstStyle>
          <a:p>
            <a:pPr marL="12700">
              <a:lnSpc>
                <a:spcPct val="100000"/>
              </a:lnSpc>
              <a:spcBef>
                <a:spcPts val="60"/>
              </a:spcBef>
            </a:pPr>
            <a:r>
              <a:rPr dirty="0"/>
              <a:t>Page</a:t>
            </a:r>
            <a:r>
              <a:rPr spc="-55" dirty="0"/>
              <a:t> </a:t>
            </a:r>
            <a:fld id="{81D60167-4931-47E6-BA6A-407CBD079E47}" type="slidenum">
              <a:rPr dirty="0"/>
              <a:t>‹#›</a:t>
            </a:fld>
            <a:endParaRPr dirty="0"/>
          </a:p>
        </p:txBody>
      </p:sp>
      <p:sp>
        <p:nvSpPr>
          <p:cNvPr id="10" name="Text Placeholder 9">
            <a:extLst>
              <a:ext uri="{FF2B5EF4-FFF2-40B4-BE49-F238E27FC236}">
                <a16:creationId xmlns:a16="http://schemas.microsoft.com/office/drawing/2014/main" id="{9CD57412-5D51-3C2F-F846-A4EBE8A77EAD}"/>
              </a:ext>
            </a:extLst>
          </p:cNvPr>
          <p:cNvSpPr>
            <a:spLocks noGrp="1"/>
          </p:cNvSpPr>
          <p:nvPr>
            <p:ph type="body" sz="quarter" idx="10" hasCustomPrompt="1"/>
          </p:nvPr>
        </p:nvSpPr>
        <p:spPr>
          <a:xfrm>
            <a:off x="2845981" y="1986607"/>
            <a:ext cx="7239000" cy="276999"/>
          </a:xfrm>
        </p:spPr>
        <p:txBody>
          <a:bodyPr/>
          <a:lstStyle>
            <a:lvl1pPr>
              <a:defRPr/>
            </a:lvl1pPr>
          </a:lstStyle>
          <a:p>
            <a:pPr lvl="0"/>
            <a:r>
              <a:rPr lang="en-US" dirty="0"/>
              <a:t>WORK IN PROGRESS</a:t>
            </a:r>
          </a:p>
        </p:txBody>
      </p:sp>
      <p:sp>
        <p:nvSpPr>
          <p:cNvPr id="4" name="Shape 0">
            <a:extLst>
              <a:ext uri="{FF2B5EF4-FFF2-40B4-BE49-F238E27FC236}">
                <a16:creationId xmlns:a16="http://schemas.microsoft.com/office/drawing/2014/main" id="{55A871C2-DEC3-0E9E-1532-2E66F196D8B8}"/>
              </a:ext>
            </a:extLst>
          </p:cNvPr>
          <p:cNvSpPr/>
          <p:nvPr userDrawn="1"/>
        </p:nvSpPr>
        <p:spPr>
          <a:xfrm>
            <a:off x="0" y="0"/>
            <a:ext cx="12192000" cy="914400"/>
          </a:xfrm>
          <a:prstGeom prst="rect">
            <a:avLst/>
          </a:prstGeom>
          <a:solidFill>
            <a:srgbClr val="2A5C2E"/>
          </a:solidFill>
          <a:ln w="12700">
            <a:solidFill>
              <a:srgbClr val="2A5C2E"/>
            </a:solidFill>
          </a:ln>
        </p:spPr>
        <p:txBody>
          <a:bodyPr lIns="60959" rIns="60959"/>
          <a:lstStyle/>
          <a:p>
            <a:pPr>
              <a:defRPr sz="1800">
                <a:latin typeface="Calibri"/>
                <a:ea typeface="Calibri"/>
                <a:cs typeface="Calibri"/>
                <a:sym typeface="Calibri"/>
              </a:defRPr>
            </a:pPr>
            <a:endParaRPr sz="2400"/>
          </a:p>
        </p:txBody>
      </p:sp>
    </p:spTree>
    <p:extLst>
      <p:ext uri="{BB962C8B-B14F-4D97-AF65-F5344CB8AC3E}">
        <p14:creationId xmlns:p14="http://schemas.microsoft.com/office/powerpoint/2010/main" val="3556399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0511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15441" y="412445"/>
            <a:ext cx="10561116" cy="606425"/>
          </a:xfrm>
          <a:prstGeom prst="rect">
            <a:avLst/>
          </a:prstGeom>
        </p:spPr>
        <p:txBody>
          <a:bodyPr wrap="square" lIns="0" tIns="0" rIns="0" bIns="0">
            <a:spAutoFit/>
          </a:bodyPr>
          <a:lstStyle>
            <a:lvl1pPr>
              <a:defRPr sz="2000" b="1" i="0">
                <a:solidFill>
                  <a:srgbClr val="9C3134"/>
                </a:solidFill>
                <a:latin typeface="Trebuchet MS"/>
                <a:cs typeface="Trebuchet MS"/>
              </a:defRPr>
            </a:lvl1pPr>
          </a:lstStyle>
          <a:p>
            <a:endParaRPr/>
          </a:p>
        </p:txBody>
      </p:sp>
      <p:sp>
        <p:nvSpPr>
          <p:cNvPr id="3" name="Holder 3"/>
          <p:cNvSpPr>
            <a:spLocks noGrp="1"/>
          </p:cNvSpPr>
          <p:nvPr>
            <p:ph type="body" idx="1"/>
          </p:nvPr>
        </p:nvSpPr>
        <p:spPr>
          <a:xfrm>
            <a:off x="807402" y="1502028"/>
            <a:ext cx="10600690" cy="3714750"/>
          </a:xfrm>
          <a:prstGeom prst="rect">
            <a:avLst/>
          </a:prstGeom>
        </p:spPr>
        <p:txBody>
          <a:bodyPr wrap="square" lIns="0" tIns="0" rIns="0" bIns="0">
            <a:spAutoFit/>
          </a:bodyPr>
          <a:lstStyle>
            <a:lvl1pPr>
              <a:defRPr b="0" i="0">
                <a:solidFill>
                  <a:schemeClr val="tx1"/>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3381E8F0-147D-4677-BE75-1065F1278BF5}" type="datetime1">
              <a:rPr lang="en-US" smtClean="0"/>
              <a:t>5/29/2026</a:t>
            </a:fld>
            <a:endParaRPr lang="en-US"/>
          </a:p>
        </p:txBody>
      </p:sp>
      <p:sp>
        <p:nvSpPr>
          <p:cNvPr id="6" name="Holder 6"/>
          <p:cNvSpPr>
            <a:spLocks noGrp="1"/>
          </p:cNvSpPr>
          <p:nvPr>
            <p:ph type="sldNum" sz="quarter" idx="7"/>
          </p:nvPr>
        </p:nvSpPr>
        <p:spPr>
          <a:xfrm>
            <a:off x="767283" y="6382072"/>
            <a:ext cx="383540" cy="137159"/>
          </a:xfrm>
          <a:prstGeom prst="rect">
            <a:avLst/>
          </a:prstGeom>
        </p:spPr>
        <p:txBody>
          <a:bodyPr wrap="square" lIns="0" tIns="0" rIns="0" bIns="0">
            <a:spAutoFit/>
          </a:bodyPr>
          <a:lstStyle>
            <a:lvl1pPr>
              <a:defRPr sz="750" b="0" i="0">
                <a:solidFill>
                  <a:srgbClr val="0C0C0C"/>
                </a:solidFill>
                <a:latin typeface="Trebuchet MS"/>
                <a:cs typeface="Trebuchet MS"/>
              </a:defRPr>
            </a:lvl1pPr>
          </a:lstStyle>
          <a:p>
            <a:pPr marL="12700">
              <a:lnSpc>
                <a:spcPct val="100000"/>
              </a:lnSpc>
              <a:spcBef>
                <a:spcPts val="60"/>
              </a:spcBef>
            </a:pPr>
            <a:r>
              <a:rPr dirty="0"/>
              <a:t>Page</a:t>
            </a:r>
            <a:r>
              <a:rPr spc="-55" dirty="0"/>
              <a:t> </a:t>
            </a:r>
            <a:fld id="{81D60167-4931-47E6-BA6A-407CBD079E47}" type="slidenum">
              <a:rPr dirty="0"/>
              <a:t>‹#›</a:t>
            </a:fld>
            <a:endParaRPr dirty="0"/>
          </a:p>
        </p:txBody>
      </p:sp>
      <p:grpSp>
        <p:nvGrpSpPr>
          <p:cNvPr id="7" name="object 4">
            <a:extLst>
              <a:ext uri="{FF2B5EF4-FFF2-40B4-BE49-F238E27FC236}">
                <a16:creationId xmlns:a16="http://schemas.microsoft.com/office/drawing/2014/main" id="{0F6AC5C7-1F7E-8483-3692-A9158BA7F421}"/>
              </a:ext>
            </a:extLst>
          </p:cNvPr>
          <p:cNvGrpSpPr/>
          <p:nvPr userDrawn="1"/>
        </p:nvGrpSpPr>
        <p:grpSpPr>
          <a:xfrm>
            <a:off x="0" y="26"/>
            <a:ext cx="12188825" cy="105410"/>
            <a:chOff x="0" y="26"/>
            <a:chExt cx="12188825" cy="105410"/>
          </a:xfrm>
        </p:grpSpPr>
        <p:sp>
          <p:nvSpPr>
            <p:cNvPr id="8" name="object 5">
              <a:extLst>
                <a:ext uri="{FF2B5EF4-FFF2-40B4-BE49-F238E27FC236}">
                  <a16:creationId xmlns:a16="http://schemas.microsoft.com/office/drawing/2014/main" id="{331D6D4D-AE18-71D6-1012-277408C11B0A}"/>
                </a:ext>
              </a:extLst>
            </p:cNvPr>
            <p:cNvSpPr/>
            <p:nvPr/>
          </p:nvSpPr>
          <p:spPr>
            <a:xfrm>
              <a:off x="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4A4A4D"/>
            </a:solidFill>
          </p:spPr>
          <p:txBody>
            <a:bodyPr wrap="square" lIns="0" tIns="0" rIns="0" bIns="0" rtlCol="0"/>
            <a:lstStyle/>
            <a:p>
              <a:endParaRPr/>
            </a:p>
          </p:txBody>
        </p:sp>
        <p:sp>
          <p:nvSpPr>
            <p:cNvPr id="9" name="object 6">
              <a:extLst>
                <a:ext uri="{FF2B5EF4-FFF2-40B4-BE49-F238E27FC236}">
                  <a16:creationId xmlns:a16="http://schemas.microsoft.com/office/drawing/2014/main" id="{91E5F98C-3429-6B30-1105-EFC288411C39}"/>
                </a:ext>
              </a:extLst>
            </p:cNvPr>
            <p:cNvSpPr/>
            <p:nvPr/>
          </p:nvSpPr>
          <p:spPr>
            <a:xfrm>
              <a:off x="304800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0C460C"/>
            </a:solidFill>
          </p:spPr>
          <p:txBody>
            <a:bodyPr wrap="square" lIns="0" tIns="0" rIns="0" bIns="0" rtlCol="0"/>
            <a:lstStyle/>
            <a:p>
              <a:endParaRPr/>
            </a:p>
          </p:txBody>
        </p:sp>
        <p:sp>
          <p:nvSpPr>
            <p:cNvPr id="10" name="object 7">
              <a:extLst>
                <a:ext uri="{FF2B5EF4-FFF2-40B4-BE49-F238E27FC236}">
                  <a16:creationId xmlns:a16="http://schemas.microsoft.com/office/drawing/2014/main" id="{0DA66D45-FA25-EDDA-1814-17BDFB04FF3E}"/>
                </a:ext>
              </a:extLst>
            </p:cNvPr>
            <p:cNvSpPr/>
            <p:nvPr/>
          </p:nvSpPr>
          <p:spPr>
            <a:xfrm>
              <a:off x="609600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9C3134"/>
            </a:solidFill>
          </p:spPr>
          <p:txBody>
            <a:bodyPr wrap="square" lIns="0" tIns="0" rIns="0" bIns="0" rtlCol="0"/>
            <a:lstStyle/>
            <a:p>
              <a:endParaRPr/>
            </a:p>
          </p:txBody>
        </p:sp>
        <p:sp>
          <p:nvSpPr>
            <p:cNvPr id="11" name="object 8">
              <a:extLst>
                <a:ext uri="{FF2B5EF4-FFF2-40B4-BE49-F238E27FC236}">
                  <a16:creationId xmlns:a16="http://schemas.microsoft.com/office/drawing/2014/main" id="{343B18DD-9BA9-6AAE-774A-8FB551A01049}"/>
                </a:ext>
              </a:extLst>
            </p:cNvPr>
            <p:cNvSpPr/>
            <p:nvPr/>
          </p:nvSpPr>
          <p:spPr>
            <a:xfrm>
              <a:off x="9144000" y="26"/>
              <a:ext cx="3044825" cy="105410"/>
            </a:xfrm>
            <a:custGeom>
              <a:avLst/>
              <a:gdLst/>
              <a:ahLst/>
              <a:cxnLst/>
              <a:rect l="l" t="t" r="r" b="b"/>
              <a:pathLst>
                <a:path w="3044825" h="105410">
                  <a:moveTo>
                    <a:pt x="3044444" y="0"/>
                  </a:moveTo>
                  <a:lnTo>
                    <a:pt x="0" y="0"/>
                  </a:lnTo>
                  <a:lnTo>
                    <a:pt x="0" y="105002"/>
                  </a:lnTo>
                  <a:lnTo>
                    <a:pt x="3044444" y="105002"/>
                  </a:lnTo>
                  <a:lnTo>
                    <a:pt x="3044444" y="0"/>
                  </a:lnTo>
                  <a:close/>
                </a:path>
              </a:pathLst>
            </a:custGeom>
            <a:solidFill>
              <a:srgbClr val="F79E1B"/>
            </a:solidFill>
          </p:spPr>
          <p:txBody>
            <a:bodyPr wrap="square" lIns="0" tIns="0" rIns="0" bIns="0" rtlCol="0"/>
            <a:lstStyle/>
            <a:p>
              <a:endParaRPr/>
            </a:p>
          </p:txBody>
        </p:sp>
      </p:grpSp>
      <p:pic>
        <p:nvPicPr>
          <p:cNvPr id="14" name="image1.png">
            <a:extLst>
              <a:ext uri="{FF2B5EF4-FFF2-40B4-BE49-F238E27FC236}">
                <a16:creationId xmlns:a16="http://schemas.microsoft.com/office/drawing/2014/main" id="{030355A9-87CB-7560-AAC2-C68FCE8418AA}"/>
              </a:ext>
            </a:extLst>
          </p:cNvPr>
          <p:cNvPicPr/>
          <p:nvPr userDrawn="1"/>
        </p:nvPicPr>
        <p:blipFill>
          <a:blip r:embed="rId7"/>
          <a:srcRect t="66642" r="30621"/>
          <a:stretch>
            <a:fillRect/>
          </a:stretch>
        </p:blipFill>
        <p:spPr>
          <a:xfrm>
            <a:off x="5922273" y="6305778"/>
            <a:ext cx="4145661" cy="518542"/>
          </a:xfrm>
          <a:prstGeom prst="rect">
            <a:avLst/>
          </a:prstGeom>
          <a:ln/>
        </p:spPr>
      </p:pic>
      <p:pic>
        <p:nvPicPr>
          <p:cNvPr id="15" name="bg object 16">
            <a:extLst>
              <a:ext uri="{FF2B5EF4-FFF2-40B4-BE49-F238E27FC236}">
                <a16:creationId xmlns:a16="http://schemas.microsoft.com/office/drawing/2014/main" id="{4777A3D1-06D8-32BE-0B19-4E39CF96E78A}"/>
              </a:ext>
            </a:extLst>
          </p:cNvPr>
          <p:cNvPicPr/>
          <p:nvPr userDrawn="1"/>
        </p:nvPicPr>
        <p:blipFill>
          <a:blip r:embed="rId8" cstate="print"/>
          <a:stretch>
            <a:fillRect/>
          </a:stretch>
        </p:blipFill>
        <p:spPr>
          <a:xfrm>
            <a:off x="10058400" y="6353077"/>
            <a:ext cx="1392070" cy="422148"/>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5" r:id="rId3"/>
    <p:sldLayoutId id="2147483671" r:id="rId4"/>
    <p:sldLayoutId id="2147483672"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5.jpg"/></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5.jpg"/><Relationship Id="rId5" Type="http://schemas.openxmlformats.org/officeDocument/2006/relationships/image" Target="../media/image12.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8.png"/><Relationship Id="rId7"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0.png"/><Relationship Id="rId9" Type="http://schemas.openxmlformats.org/officeDocument/2006/relationships/image" Target="../media/image5.jpg"/></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chart" Target="../charts/chart1.xml"/><Relationship Id="rId1" Type="http://schemas.openxmlformats.org/officeDocument/2006/relationships/slideLayout" Target="../slideLayouts/slideLayout4.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 Id="rId9" Type="http://schemas.openxmlformats.org/officeDocument/2006/relationships/image" Target="../media/image5.jpg"/></Relationships>
</file>

<file path=ppt/slides/_rels/slide10.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chart" Target="../charts/chart2.xml"/><Relationship Id="rId7" Type="http://schemas.openxmlformats.org/officeDocument/2006/relationships/image" Target="../media/image22.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23.svg"/><Relationship Id="rId5" Type="http://schemas.openxmlformats.org/officeDocument/2006/relationships/image" Target="../media/image19.svg"/><Relationship Id="rId10" Type="http://schemas.openxmlformats.org/officeDocument/2006/relationships/image" Target="../media/image5.jpg"/><Relationship Id="rId4" Type="http://schemas.openxmlformats.org/officeDocument/2006/relationships/image" Target="../media/image20.sv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chart" Target="../charts/chart3.xml"/><Relationship Id="rId7" Type="http://schemas.openxmlformats.org/officeDocument/2006/relationships/image" Target="../media/image22.sv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21.svg"/><Relationship Id="rId5" Type="http://schemas.openxmlformats.org/officeDocument/2006/relationships/image" Target="../media/image20.svg"/><Relationship Id="rId10" Type="http://schemas.openxmlformats.org/officeDocument/2006/relationships/image" Target="../media/image5.jpg"/><Relationship Id="rId4" Type="http://schemas.openxmlformats.org/officeDocument/2006/relationships/image" Target="../media/image19.svg"/><Relationship Id="rId9" Type="http://schemas.openxmlformats.org/officeDocument/2006/relationships/image" Target="../media/image23.svg"/></Relationships>
</file>

<file path=ppt/slides/_rels/slide1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20.svg"/><Relationship Id="rId7" Type="http://schemas.openxmlformats.org/officeDocument/2006/relationships/image" Target="../media/image27.svg"/><Relationship Id="rId2" Type="http://schemas.openxmlformats.org/officeDocument/2006/relationships/chart" Target="../charts/chart4.xml"/><Relationship Id="rId1" Type="http://schemas.openxmlformats.org/officeDocument/2006/relationships/slideLayout" Target="../slideLayouts/slideLayout4.xml"/><Relationship Id="rId6" Type="http://schemas.openxmlformats.org/officeDocument/2006/relationships/image" Target="../media/image21.svg"/><Relationship Id="rId5" Type="http://schemas.openxmlformats.org/officeDocument/2006/relationships/image" Target="../media/image22.svg"/><Relationship Id="rId10" Type="http://schemas.openxmlformats.org/officeDocument/2006/relationships/image" Target="../media/image5.jpg"/><Relationship Id="rId4" Type="http://schemas.openxmlformats.org/officeDocument/2006/relationships/image" Target="../media/image19.svg"/><Relationship Id="rId9"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chart" Target="../charts/chart5.xml"/><Relationship Id="rId7" Type="http://schemas.openxmlformats.org/officeDocument/2006/relationships/image" Target="../media/image30.sv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9.svg"/><Relationship Id="rId11" Type="http://schemas.openxmlformats.org/officeDocument/2006/relationships/image" Target="../media/image5.jpg"/><Relationship Id="rId5" Type="http://schemas.openxmlformats.org/officeDocument/2006/relationships/image" Target="../media/image27.svg"/><Relationship Id="rId10" Type="http://schemas.openxmlformats.org/officeDocument/2006/relationships/image" Target="../media/image31.png"/><Relationship Id="rId4" Type="http://schemas.openxmlformats.org/officeDocument/2006/relationships/image" Target="../media/image19.svg"/><Relationship Id="rId9" Type="http://schemas.openxmlformats.org/officeDocument/2006/relationships/image" Target="../media/image23.svg"/></Relationships>
</file>

<file path=ppt/slides/_rels/slide14.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image" Target="../media/image27.svg"/><Relationship Id="rId7" Type="http://schemas.openxmlformats.org/officeDocument/2006/relationships/image" Target="../media/image23.svg"/><Relationship Id="rId2" Type="http://schemas.openxmlformats.org/officeDocument/2006/relationships/image" Target="../media/image19.svg"/><Relationship Id="rId1" Type="http://schemas.openxmlformats.org/officeDocument/2006/relationships/slideLayout" Target="../slideLayouts/slideLayout4.xml"/><Relationship Id="rId6" Type="http://schemas.openxmlformats.org/officeDocument/2006/relationships/image" Target="../media/image21.svg"/><Relationship Id="rId5" Type="http://schemas.openxmlformats.org/officeDocument/2006/relationships/image" Target="../media/image30.svg"/><Relationship Id="rId10" Type="http://schemas.openxmlformats.org/officeDocument/2006/relationships/image" Target="../media/image5.jpg"/><Relationship Id="rId4" Type="http://schemas.openxmlformats.org/officeDocument/2006/relationships/image" Target="../media/image29.svg"/><Relationship Id="rId9"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9.svg"/><Relationship Id="rId7" Type="http://schemas.openxmlformats.org/officeDocument/2006/relationships/image" Target="../media/image30.svg"/><Relationship Id="rId2" Type="http://schemas.openxmlformats.org/officeDocument/2006/relationships/chart" Target="../charts/chart7.xml"/><Relationship Id="rId1" Type="http://schemas.openxmlformats.org/officeDocument/2006/relationships/slideLayout" Target="../slideLayouts/slideLayout4.xml"/><Relationship Id="rId6" Type="http://schemas.openxmlformats.org/officeDocument/2006/relationships/image" Target="../media/image27.svg"/><Relationship Id="rId5" Type="http://schemas.openxmlformats.org/officeDocument/2006/relationships/image" Target="../media/image23.svg"/><Relationship Id="rId10" Type="http://schemas.openxmlformats.org/officeDocument/2006/relationships/image" Target="../media/image5.jpg"/><Relationship Id="rId4" Type="http://schemas.openxmlformats.org/officeDocument/2006/relationships/image" Target="../media/image29.svg"/><Relationship Id="rId9" Type="http://schemas.openxmlformats.org/officeDocument/2006/relationships/image" Target="../media/image33.png"/></Relationships>
</file>

<file path=ppt/slides/_rels/slide1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43.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45.png"/><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47.png"/><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image" Target="../media/image56.svg"/><Relationship Id="rId13" Type="http://schemas.openxmlformats.org/officeDocument/2006/relationships/hyperlink" Target="https://link.springer.com/article/10.1186/s44316-026-00054-5" TargetMode="External"/><Relationship Id="rId3" Type="http://schemas.openxmlformats.org/officeDocument/2006/relationships/image" Target="../media/image51.svg"/><Relationship Id="rId7" Type="http://schemas.openxmlformats.org/officeDocument/2006/relationships/image" Target="../media/image55.svg"/><Relationship Id="rId12" Type="http://schemas.openxmlformats.org/officeDocument/2006/relationships/hyperlink" Target="https://www.nature.com/articles/s41598-025-28141-z" TargetMode="External"/><Relationship Id="rId2" Type="http://schemas.openxmlformats.org/officeDocument/2006/relationships/image" Target="../media/image50.svg"/><Relationship Id="rId1" Type="http://schemas.openxmlformats.org/officeDocument/2006/relationships/slideLayout" Target="../slideLayouts/slideLayout4.xml"/><Relationship Id="rId6" Type="http://schemas.openxmlformats.org/officeDocument/2006/relationships/image" Target="../media/image54.svg"/><Relationship Id="rId11" Type="http://schemas.openxmlformats.org/officeDocument/2006/relationships/hyperlink" Target="https://www.sciencedirect.com/science/article/abs/pii/S2589014X25000763" TargetMode="External"/><Relationship Id="rId5" Type="http://schemas.openxmlformats.org/officeDocument/2006/relationships/image" Target="../media/image53.svg"/><Relationship Id="rId10" Type="http://schemas.openxmlformats.org/officeDocument/2006/relationships/hyperlink" Target="https://www.researchgate.net/publication/237014154_Onion_dehydration_A_review" TargetMode="External"/><Relationship Id="rId4" Type="http://schemas.openxmlformats.org/officeDocument/2006/relationships/image" Target="../media/image52.svg"/><Relationship Id="rId9" Type="http://schemas.openxmlformats.org/officeDocument/2006/relationships/image" Target="../media/image57.svg"/><Relationship Id="rId14" Type="http://schemas.openxmlformats.org/officeDocument/2006/relationships/image" Target="../media/image40.png"/></Relationships>
</file>

<file path=ppt/slides/_rels/slide26.xml.rels><?xml version="1.0" encoding="UTF-8" standalone="yes"?>
<Relationships xmlns="http://schemas.openxmlformats.org/package/2006/relationships"><Relationship Id="rId8" Type="http://schemas.openxmlformats.org/officeDocument/2006/relationships/image" Target="../media/image53.svg"/><Relationship Id="rId13" Type="http://schemas.openxmlformats.org/officeDocument/2006/relationships/hyperlink" Target="https://pmc.ncbi.nlm.nih.gov/articles/PMC11202697/" TargetMode="External"/><Relationship Id="rId3" Type="http://schemas.openxmlformats.org/officeDocument/2006/relationships/image" Target="../media/image59.svg"/><Relationship Id="rId7" Type="http://schemas.openxmlformats.org/officeDocument/2006/relationships/image" Target="../media/image52.svg"/><Relationship Id="rId12" Type="http://schemas.openxmlformats.org/officeDocument/2006/relationships/hyperlink" Target="https://pmc.ncbi.nlm.nih.gov/articles/PMC11767471/" TargetMode="External"/><Relationship Id="rId2" Type="http://schemas.openxmlformats.org/officeDocument/2006/relationships/image" Target="../media/image58.svg"/><Relationship Id="rId1" Type="http://schemas.openxmlformats.org/officeDocument/2006/relationships/slideLayout" Target="../slideLayouts/slideLayout4.xml"/><Relationship Id="rId6" Type="http://schemas.openxmlformats.org/officeDocument/2006/relationships/image" Target="../media/image51.svg"/><Relationship Id="rId11" Type="http://schemas.openxmlformats.org/officeDocument/2006/relationships/hyperlink" Target="https://pmc.ncbi.nlm.nih.gov/articles/PMC9455765/" TargetMode="External"/><Relationship Id="rId5" Type="http://schemas.openxmlformats.org/officeDocument/2006/relationships/image" Target="../media/image50.svg"/><Relationship Id="rId15" Type="http://schemas.openxmlformats.org/officeDocument/2006/relationships/image" Target="../media/image40.png"/><Relationship Id="rId10" Type="http://schemas.openxmlformats.org/officeDocument/2006/relationships/image" Target="../media/image55.svg"/><Relationship Id="rId4" Type="http://schemas.openxmlformats.org/officeDocument/2006/relationships/image" Target="../media/image60.svg"/><Relationship Id="rId9" Type="http://schemas.openxmlformats.org/officeDocument/2006/relationships/image" Target="../media/image54.svg"/><Relationship Id="rId14" Type="http://schemas.openxmlformats.org/officeDocument/2006/relationships/hyperlink" Target="https://pubs.acs.org/doi/10.1021/acs.iecr.4c00125" TargetMode="External"/></Relationships>
</file>

<file path=ppt/slides/_rels/slide27.xml.rels><?xml version="1.0" encoding="UTF-8" standalone="yes"?>
<Relationships xmlns="http://schemas.openxmlformats.org/package/2006/relationships"><Relationship Id="rId8" Type="http://schemas.openxmlformats.org/officeDocument/2006/relationships/image" Target="../media/image54.svg"/><Relationship Id="rId13" Type="http://schemas.openxmlformats.org/officeDocument/2006/relationships/hyperlink" Target="https://www.sciencedirect.com/science/article/pii/S2772753X2300237X" TargetMode="External"/><Relationship Id="rId3" Type="http://schemas.openxmlformats.org/officeDocument/2006/relationships/image" Target="../media/image62.svg"/><Relationship Id="rId7" Type="http://schemas.openxmlformats.org/officeDocument/2006/relationships/image" Target="../media/image53.svg"/><Relationship Id="rId12" Type="http://schemas.openxmlformats.org/officeDocument/2006/relationships/hyperlink" Target="https://link.springer.com/article/10.1007/s13399-024-05617-y" TargetMode="External"/><Relationship Id="rId2" Type="http://schemas.openxmlformats.org/officeDocument/2006/relationships/image" Target="../media/image61.svg"/><Relationship Id="rId1" Type="http://schemas.openxmlformats.org/officeDocument/2006/relationships/slideLayout" Target="../slideLayouts/slideLayout4.xml"/><Relationship Id="rId6" Type="http://schemas.openxmlformats.org/officeDocument/2006/relationships/image" Target="../media/image52.svg"/><Relationship Id="rId11" Type="http://schemas.openxmlformats.org/officeDocument/2006/relationships/hyperlink" Target="https://www.sciencedirect.com/science/article/abs/pii/S2352550921003614" TargetMode="External"/><Relationship Id="rId5" Type="http://schemas.openxmlformats.org/officeDocument/2006/relationships/image" Target="../media/image51.svg"/><Relationship Id="rId10" Type="http://schemas.openxmlformats.org/officeDocument/2006/relationships/hyperlink" Target="https://pmc.ncbi.nlm.nih.gov/articles/PMC8434441/" TargetMode="External"/><Relationship Id="rId4" Type="http://schemas.openxmlformats.org/officeDocument/2006/relationships/image" Target="../media/image50.svg"/><Relationship Id="rId9" Type="http://schemas.openxmlformats.org/officeDocument/2006/relationships/image" Target="../media/image55.svg"/><Relationship Id="rId14" Type="http://schemas.openxmlformats.org/officeDocument/2006/relationships/image" Target="../media/image40.png"/></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59.sv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hart" Target="../charts/chart10.xml"/><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chart" Target="../charts/chart11.xml"/></Relationships>
</file>

<file path=ppt/slides/_rels/slide34.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image" Target="../media/image63.png"/></Relationships>
</file>

<file path=ppt/slides/_rels/slide36.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chart" Target="../charts/chart18.xml"/><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3.png"/><Relationship Id="rId4" Type="http://schemas.openxmlformats.org/officeDocument/2006/relationships/chart" Target="../charts/chart21.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8" Type="http://schemas.openxmlformats.org/officeDocument/2006/relationships/image" Target="../media/image68.jpg"/><Relationship Id="rId3" Type="http://schemas.openxmlformats.org/officeDocument/2006/relationships/hyperlink" Target="http://www.ttcglocal.com/" TargetMode="External"/><Relationship Id="rId7" Type="http://schemas.openxmlformats.org/officeDocument/2006/relationships/image" Target="../media/image6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6.png"/><Relationship Id="rId11" Type="http://schemas.openxmlformats.org/officeDocument/2006/relationships/image" Target="../media/image5.jpg"/><Relationship Id="rId5" Type="http://schemas.openxmlformats.org/officeDocument/2006/relationships/image" Target="../media/image65.png"/><Relationship Id="rId10" Type="http://schemas.openxmlformats.org/officeDocument/2006/relationships/image" Target="../media/image2.jpg"/><Relationship Id="rId4" Type="http://schemas.openxmlformats.org/officeDocument/2006/relationships/image" Target="../media/image64.png"/><Relationship Id="rId9"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6705600" y="4389120"/>
            <a:ext cx="5486400" cy="975360"/>
          </a:xfrm>
          <a:prstGeom prst="rect">
            <a:avLst/>
          </a:prstGeom>
          <a:noFill/>
          <a:ln/>
        </p:spPr>
        <p:txBody>
          <a:bodyPr wrap="square" rtlCol="0" anchor="ctr"/>
          <a:lstStyle/>
          <a:p>
            <a:pPr algn="ctr"/>
            <a:r>
              <a:rPr lang="en-US" sz="2000" b="1" dirty="0">
                <a:solidFill>
                  <a:srgbClr val="0B6E78"/>
                </a:solidFill>
                <a:latin typeface="Georgia" panose="02040502050405020303" pitchFamily="18" charset="0"/>
                <a:ea typeface="Calibri" pitchFamily="34" charset="-122"/>
                <a:cs typeface="Calibri" pitchFamily="34" charset="-120"/>
              </a:rPr>
              <a:t>Reducing Food Loss</a:t>
            </a:r>
            <a:endParaRPr lang="en-US" sz="2000" dirty="0">
              <a:solidFill>
                <a:srgbClr val="0B6E78"/>
              </a:solidFill>
              <a:latin typeface="Georgia" panose="02040502050405020303" pitchFamily="18" charset="0"/>
            </a:endParaRPr>
          </a:p>
          <a:p>
            <a:pPr algn="ctr"/>
            <a:r>
              <a:rPr lang="en-US" sz="2000" b="1" dirty="0">
                <a:solidFill>
                  <a:srgbClr val="0B6E78"/>
                </a:solidFill>
                <a:latin typeface="Georgia" panose="02040502050405020303" pitchFamily="18" charset="0"/>
                <a:ea typeface="Calibri" pitchFamily="34" charset="-122"/>
                <a:cs typeface="Calibri" pitchFamily="34" charset="-120"/>
              </a:rPr>
              <a:t>Strengthening Food Systems in Karnataka</a:t>
            </a:r>
            <a:endParaRPr lang="en-US" sz="2000" dirty="0">
              <a:solidFill>
                <a:srgbClr val="0B6E78"/>
              </a:solidFill>
              <a:latin typeface="Georgia" panose="02040502050405020303" pitchFamily="18" charset="0"/>
            </a:endParaRPr>
          </a:p>
        </p:txBody>
      </p:sp>
      <p:sp>
        <p:nvSpPr>
          <p:cNvPr id="7" name="Text 5"/>
          <p:cNvSpPr/>
          <p:nvPr/>
        </p:nvSpPr>
        <p:spPr>
          <a:xfrm>
            <a:off x="360790" y="1993846"/>
            <a:ext cx="7733056" cy="731520"/>
          </a:xfrm>
          <a:prstGeom prst="rect">
            <a:avLst/>
          </a:prstGeom>
          <a:noFill/>
          <a:ln/>
        </p:spPr>
        <p:txBody>
          <a:bodyPr wrap="square" rtlCol="0" anchor="ctr"/>
          <a:lstStyle/>
          <a:p>
            <a:r>
              <a:rPr lang="en-US" sz="4267" b="1" dirty="0">
                <a:solidFill>
                  <a:srgbClr val="0B6E78"/>
                </a:solidFill>
                <a:latin typeface="Georgia" panose="02040502050405020303" pitchFamily="18" charset="0"/>
                <a:ea typeface="Calibri" pitchFamily="34" charset="-122"/>
                <a:cs typeface="Calibri" pitchFamily="34" charset="-120"/>
              </a:rPr>
              <a:t>Information Compendium</a:t>
            </a:r>
            <a:endParaRPr lang="en-US" sz="4267" dirty="0">
              <a:solidFill>
                <a:srgbClr val="0B6E78"/>
              </a:solidFill>
              <a:latin typeface="Georgia" panose="02040502050405020303" pitchFamily="18" charset="0"/>
            </a:endParaRPr>
          </a:p>
        </p:txBody>
      </p:sp>
      <p:sp>
        <p:nvSpPr>
          <p:cNvPr id="8" name="Text 6"/>
          <p:cNvSpPr/>
          <p:nvPr/>
        </p:nvSpPr>
        <p:spPr>
          <a:xfrm>
            <a:off x="571500" y="2725366"/>
            <a:ext cx="6096000" cy="487680"/>
          </a:xfrm>
          <a:prstGeom prst="rect">
            <a:avLst/>
          </a:prstGeom>
          <a:noFill/>
          <a:ln/>
        </p:spPr>
        <p:txBody>
          <a:bodyPr wrap="square" rtlCol="0" anchor="ctr"/>
          <a:lstStyle/>
          <a:p>
            <a:r>
              <a:rPr lang="en-US" sz="2400" dirty="0">
                <a:solidFill>
                  <a:srgbClr val="E8A33D"/>
                </a:solidFill>
                <a:latin typeface="Georgia" panose="02040502050405020303" pitchFamily="18" charset="0"/>
                <a:ea typeface="Calibri" pitchFamily="34" charset="-122"/>
                <a:cs typeface="Calibri" pitchFamily="34" charset="-120"/>
              </a:rPr>
              <a:t>Horticulture Cluster Analysis for Karnataka</a:t>
            </a:r>
            <a:endParaRPr lang="en-US" sz="2400" dirty="0">
              <a:solidFill>
                <a:srgbClr val="E8A33D"/>
              </a:solidFill>
              <a:latin typeface="Georgia" panose="02040502050405020303" pitchFamily="18" charset="0"/>
            </a:endParaRPr>
          </a:p>
        </p:txBody>
      </p:sp>
      <p:sp>
        <p:nvSpPr>
          <p:cNvPr id="10" name="Text 8"/>
          <p:cNvSpPr/>
          <p:nvPr/>
        </p:nvSpPr>
        <p:spPr>
          <a:xfrm>
            <a:off x="990600" y="4693920"/>
            <a:ext cx="3657600" cy="365760"/>
          </a:xfrm>
          <a:prstGeom prst="rect">
            <a:avLst/>
          </a:prstGeom>
          <a:noFill/>
          <a:ln/>
        </p:spPr>
        <p:txBody>
          <a:bodyPr wrap="square" rtlCol="0" anchor="ctr"/>
          <a:lstStyle/>
          <a:p>
            <a:r>
              <a:rPr lang="en-US" sz="2000" b="1" dirty="0">
                <a:solidFill>
                  <a:srgbClr val="000000"/>
                </a:solidFill>
                <a:latin typeface="Georgia" panose="02040502050405020303" pitchFamily="18" charset="0"/>
                <a:ea typeface="Calibri" pitchFamily="34" charset="-122"/>
                <a:cs typeface="Calibri" pitchFamily="34" charset="-120"/>
              </a:rPr>
              <a:t>May 2026</a:t>
            </a:r>
            <a:endParaRPr lang="en-US" sz="2000" b="1" dirty="0">
              <a:latin typeface="Georgia" panose="02040502050405020303" pitchFamily="18" charset="0"/>
            </a:endParaRPr>
          </a:p>
        </p:txBody>
      </p:sp>
      <p:pic>
        <p:nvPicPr>
          <p:cNvPr id="3" name="Picture 2">
            <a:extLst>
              <a:ext uri="{FF2B5EF4-FFF2-40B4-BE49-F238E27FC236}">
                <a16:creationId xmlns:a16="http://schemas.microsoft.com/office/drawing/2014/main" id="{EA0E04EB-677E-BD62-6ADD-14EBA3D504A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6000" y="228600"/>
            <a:ext cx="2143358" cy="2052876"/>
          </a:xfrm>
          <a:prstGeom prst="rect">
            <a:avLst/>
          </a:prstGeom>
        </p:spPr>
      </p:pic>
      <p:pic>
        <p:nvPicPr>
          <p:cNvPr id="11" name="Picture 10">
            <a:extLst>
              <a:ext uri="{FF2B5EF4-FFF2-40B4-BE49-F238E27FC236}">
                <a16:creationId xmlns:a16="http://schemas.microsoft.com/office/drawing/2014/main" id="{67496B91-4E84-0E2F-D9E2-9E91E0E129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4"/>
            <a:ext cx="12192000" cy="6860032"/>
          </a:xfrm>
          <a:prstGeom prst="rect">
            <a:avLst/>
          </a:prstGeom>
        </p:spPr>
      </p:pic>
      <p:sp>
        <p:nvSpPr>
          <p:cNvPr id="12" name="Oval 11">
            <a:extLst>
              <a:ext uri="{FF2B5EF4-FFF2-40B4-BE49-F238E27FC236}">
                <a16:creationId xmlns:a16="http://schemas.microsoft.com/office/drawing/2014/main" id="{9982B85E-5332-63CB-7D59-77E4C20B573C}"/>
              </a:ext>
            </a:extLst>
          </p:cNvPr>
          <p:cNvSpPr/>
          <p:nvPr/>
        </p:nvSpPr>
        <p:spPr>
          <a:xfrm>
            <a:off x="4952884" y="1867771"/>
            <a:ext cx="2267066" cy="220286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D7FBB321-6511-215E-6648-3D61C4B29D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14738" y="1896346"/>
            <a:ext cx="2143358" cy="20528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3728D-4020-53E8-315B-82040C7627A7}"/>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028F4AAB-6507-6E24-FFD6-E9F3D9915E45}"/>
              </a:ext>
            </a:extLst>
          </p:cNvPr>
          <p:cNvSpPr/>
          <p:nvPr/>
        </p:nvSpPr>
        <p:spPr>
          <a:xfrm>
            <a:off x="6705600" y="4389120"/>
            <a:ext cx="5486400" cy="975360"/>
          </a:xfrm>
          <a:prstGeom prst="rect">
            <a:avLst/>
          </a:prstGeom>
          <a:noFill/>
          <a:ln/>
        </p:spPr>
        <p:txBody>
          <a:bodyPr wrap="square" rtlCol="0" anchor="ctr"/>
          <a:lstStyle/>
          <a:p>
            <a:pPr algn="ctr"/>
            <a:r>
              <a:rPr lang="en-US" sz="2000" b="1" dirty="0">
                <a:solidFill>
                  <a:srgbClr val="0B6E78"/>
                </a:solidFill>
                <a:latin typeface="Georgia" panose="02040502050405020303" pitchFamily="18" charset="0"/>
                <a:ea typeface="Calibri" pitchFamily="34" charset="-122"/>
                <a:cs typeface="Calibri" pitchFamily="34" charset="-120"/>
              </a:rPr>
              <a:t>Reducing Food Loss</a:t>
            </a:r>
            <a:endParaRPr lang="en-US" sz="2000" dirty="0">
              <a:solidFill>
                <a:srgbClr val="0B6E78"/>
              </a:solidFill>
              <a:latin typeface="Georgia" panose="02040502050405020303" pitchFamily="18" charset="0"/>
            </a:endParaRPr>
          </a:p>
          <a:p>
            <a:pPr algn="ctr"/>
            <a:r>
              <a:rPr lang="en-US" sz="2000" b="1" dirty="0">
                <a:solidFill>
                  <a:srgbClr val="0B6E78"/>
                </a:solidFill>
                <a:latin typeface="Georgia" panose="02040502050405020303" pitchFamily="18" charset="0"/>
                <a:ea typeface="Calibri" pitchFamily="34" charset="-122"/>
                <a:cs typeface="Calibri" pitchFamily="34" charset="-120"/>
              </a:rPr>
              <a:t>Strengthening Food Systems in Karnataka</a:t>
            </a:r>
            <a:endParaRPr lang="en-US" sz="2000" dirty="0">
              <a:solidFill>
                <a:srgbClr val="0B6E78"/>
              </a:solidFill>
              <a:latin typeface="Georgia" panose="02040502050405020303" pitchFamily="18" charset="0"/>
            </a:endParaRPr>
          </a:p>
        </p:txBody>
      </p:sp>
      <p:sp>
        <p:nvSpPr>
          <p:cNvPr id="7" name="Text 5">
            <a:extLst>
              <a:ext uri="{FF2B5EF4-FFF2-40B4-BE49-F238E27FC236}">
                <a16:creationId xmlns:a16="http://schemas.microsoft.com/office/drawing/2014/main" id="{36AE7146-ECA6-0773-6157-8A5C0C730C75}"/>
              </a:ext>
            </a:extLst>
          </p:cNvPr>
          <p:cNvSpPr/>
          <p:nvPr/>
        </p:nvSpPr>
        <p:spPr>
          <a:xfrm>
            <a:off x="360790" y="1993846"/>
            <a:ext cx="7733056" cy="731520"/>
          </a:xfrm>
          <a:prstGeom prst="rect">
            <a:avLst/>
          </a:prstGeom>
          <a:noFill/>
          <a:ln/>
        </p:spPr>
        <p:txBody>
          <a:bodyPr wrap="square" rtlCol="0" anchor="ctr"/>
          <a:lstStyle/>
          <a:p>
            <a:r>
              <a:rPr lang="en-US" sz="4267" b="1" dirty="0">
                <a:solidFill>
                  <a:srgbClr val="0B6E78"/>
                </a:solidFill>
                <a:latin typeface="Georgia" panose="02040502050405020303" pitchFamily="18" charset="0"/>
                <a:ea typeface="Calibri" pitchFamily="34" charset="-122"/>
                <a:cs typeface="Calibri" pitchFamily="34" charset="-120"/>
              </a:rPr>
              <a:t>Information Compendium</a:t>
            </a:r>
            <a:endParaRPr lang="en-US" sz="4267" dirty="0">
              <a:solidFill>
                <a:srgbClr val="0B6E78"/>
              </a:solidFill>
              <a:latin typeface="Georgia" panose="02040502050405020303" pitchFamily="18" charset="0"/>
            </a:endParaRPr>
          </a:p>
        </p:txBody>
      </p:sp>
      <p:sp>
        <p:nvSpPr>
          <p:cNvPr id="8" name="Text 6">
            <a:extLst>
              <a:ext uri="{FF2B5EF4-FFF2-40B4-BE49-F238E27FC236}">
                <a16:creationId xmlns:a16="http://schemas.microsoft.com/office/drawing/2014/main" id="{559BE0F8-86E9-0FD4-1FCF-5CA660D2AC34}"/>
              </a:ext>
            </a:extLst>
          </p:cNvPr>
          <p:cNvSpPr/>
          <p:nvPr/>
        </p:nvSpPr>
        <p:spPr>
          <a:xfrm>
            <a:off x="571500" y="2725366"/>
            <a:ext cx="6096000" cy="487680"/>
          </a:xfrm>
          <a:prstGeom prst="rect">
            <a:avLst/>
          </a:prstGeom>
          <a:noFill/>
          <a:ln/>
        </p:spPr>
        <p:txBody>
          <a:bodyPr wrap="square" rtlCol="0" anchor="ctr"/>
          <a:lstStyle/>
          <a:p>
            <a:r>
              <a:rPr lang="en-US" sz="2400" dirty="0">
                <a:solidFill>
                  <a:srgbClr val="E8A33D"/>
                </a:solidFill>
                <a:latin typeface="Georgia" panose="02040502050405020303" pitchFamily="18" charset="0"/>
                <a:ea typeface="Calibri" pitchFamily="34" charset="-122"/>
                <a:cs typeface="Calibri" pitchFamily="34" charset="-120"/>
              </a:rPr>
              <a:t>Horticulture Cluster Analysis for Karnataka</a:t>
            </a:r>
            <a:endParaRPr lang="en-US" sz="2400" dirty="0">
              <a:solidFill>
                <a:srgbClr val="E8A33D"/>
              </a:solidFill>
              <a:latin typeface="Georgia" panose="02040502050405020303" pitchFamily="18" charset="0"/>
            </a:endParaRPr>
          </a:p>
        </p:txBody>
      </p:sp>
      <p:sp>
        <p:nvSpPr>
          <p:cNvPr id="10" name="Text 8">
            <a:extLst>
              <a:ext uri="{FF2B5EF4-FFF2-40B4-BE49-F238E27FC236}">
                <a16:creationId xmlns:a16="http://schemas.microsoft.com/office/drawing/2014/main" id="{ACB7BFA2-7B31-58C8-5807-E00014F01533}"/>
              </a:ext>
            </a:extLst>
          </p:cNvPr>
          <p:cNvSpPr/>
          <p:nvPr/>
        </p:nvSpPr>
        <p:spPr>
          <a:xfrm>
            <a:off x="990600" y="4693920"/>
            <a:ext cx="3657600" cy="365760"/>
          </a:xfrm>
          <a:prstGeom prst="rect">
            <a:avLst/>
          </a:prstGeom>
          <a:noFill/>
          <a:ln/>
        </p:spPr>
        <p:txBody>
          <a:bodyPr wrap="square" rtlCol="0" anchor="ctr"/>
          <a:lstStyle/>
          <a:p>
            <a:r>
              <a:rPr lang="en-US" sz="2000" b="1" dirty="0">
                <a:solidFill>
                  <a:srgbClr val="000000"/>
                </a:solidFill>
                <a:latin typeface="Georgia" panose="02040502050405020303" pitchFamily="18" charset="0"/>
                <a:ea typeface="Calibri" pitchFamily="34" charset="-122"/>
                <a:cs typeface="Calibri" pitchFamily="34" charset="-120"/>
              </a:rPr>
              <a:t>May 2026</a:t>
            </a:r>
            <a:endParaRPr lang="en-US" sz="2000" b="1" dirty="0">
              <a:latin typeface="Georgia" panose="02040502050405020303" pitchFamily="18" charset="0"/>
            </a:endParaRPr>
          </a:p>
        </p:txBody>
      </p:sp>
      <p:pic>
        <p:nvPicPr>
          <p:cNvPr id="3" name="Picture 2">
            <a:extLst>
              <a:ext uri="{FF2B5EF4-FFF2-40B4-BE49-F238E27FC236}">
                <a16:creationId xmlns:a16="http://schemas.microsoft.com/office/drawing/2014/main" id="{75BD14B1-04C1-E93C-C248-6AD65662E6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6000" y="228600"/>
            <a:ext cx="2143358" cy="2052876"/>
          </a:xfrm>
          <a:prstGeom prst="rect">
            <a:avLst/>
          </a:prstGeom>
        </p:spPr>
      </p:pic>
      <p:pic>
        <p:nvPicPr>
          <p:cNvPr id="14" name="Picture 13">
            <a:extLst>
              <a:ext uri="{FF2B5EF4-FFF2-40B4-BE49-F238E27FC236}">
                <a16:creationId xmlns:a16="http://schemas.microsoft.com/office/drawing/2014/main" id="{7B385466-A8F1-E1CB-FE35-2EAD962F87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857434"/>
            <a:ext cx="12192000" cy="987920"/>
          </a:xfrm>
          <a:prstGeom prst="rect">
            <a:avLst/>
          </a:prstGeom>
        </p:spPr>
      </p:pic>
    </p:spTree>
    <p:extLst>
      <p:ext uri="{BB962C8B-B14F-4D97-AF65-F5344CB8AC3E}">
        <p14:creationId xmlns:p14="http://schemas.microsoft.com/office/powerpoint/2010/main" val="1379214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Shape 0"/>
          <p:cNvSpPr/>
          <p:nvPr/>
        </p:nvSpPr>
        <p:spPr>
          <a:xfrm>
            <a:off x="0" y="0"/>
            <a:ext cx="12192000" cy="914400"/>
          </a:xfrm>
          <a:prstGeom prst="rect">
            <a:avLst/>
          </a:prstGeom>
          <a:solidFill>
            <a:srgbClr val="2A5C2E"/>
          </a:solidFill>
          <a:ln w="12700">
            <a:solidFill>
              <a:srgbClr val="2A5C2E"/>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176" name="Text 1"/>
          <p:cNvSpPr txBox="1"/>
          <p:nvPr/>
        </p:nvSpPr>
        <p:spPr>
          <a:xfrm>
            <a:off x="457200" y="228600"/>
            <a:ext cx="11216640"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defRPr sz="2200" b="1">
                <a:solidFill>
                  <a:srgbClr val="FFFFFF"/>
                </a:solidFill>
                <a:latin typeface="Georgia"/>
                <a:ea typeface="Georgia"/>
                <a:cs typeface="Georgia"/>
                <a:sym typeface="Georgia"/>
              </a:defRPr>
            </a:lvl1pPr>
          </a:lstStyle>
          <a:p>
            <a:r>
              <a:rPr sz="2400" dirty="0">
                <a:latin typeface="Georgia" panose="02040502050405020303" pitchFamily="18" charset="0"/>
              </a:rPr>
              <a:t>Losses Happen at Every Stage of the Value Chain</a:t>
            </a:r>
          </a:p>
        </p:txBody>
      </p:sp>
      <p:sp>
        <p:nvSpPr>
          <p:cNvPr id="177" name="Text 2"/>
          <p:cNvSpPr txBox="1"/>
          <p:nvPr/>
        </p:nvSpPr>
        <p:spPr>
          <a:xfrm>
            <a:off x="487680" y="1141363"/>
            <a:ext cx="11216640"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defRPr sz="1300" i="1">
                <a:solidFill>
                  <a:srgbClr val="2B2B2B"/>
                </a:solidFill>
                <a:latin typeface="Calibri"/>
                <a:ea typeface="Calibri"/>
                <a:cs typeface="Calibri"/>
                <a:sym typeface="Calibri"/>
              </a:defRPr>
            </a:lvl1pPr>
          </a:lstStyle>
          <a:p>
            <a:r>
              <a:rPr sz="1600" dirty="0">
                <a:latin typeface="Georgia" panose="02040502050405020303" pitchFamily="18" charset="0"/>
              </a:rPr>
              <a:t>From the moment of harvest to the final point of sale, produce faces risk of loss at multiple stages.</a:t>
            </a:r>
          </a:p>
        </p:txBody>
      </p:sp>
      <p:sp>
        <p:nvSpPr>
          <p:cNvPr id="178" name="Shape 3"/>
          <p:cNvSpPr/>
          <p:nvPr/>
        </p:nvSpPr>
        <p:spPr>
          <a:xfrm>
            <a:off x="304800" y="1560575"/>
            <a:ext cx="1731264" cy="1402081"/>
          </a:xfrm>
          <a:prstGeom prst="rect">
            <a:avLst/>
          </a:prstGeom>
          <a:solidFill>
            <a:srgbClr val="2A5C2E"/>
          </a:solidFill>
          <a:ln w="12700">
            <a:solidFill>
              <a:srgbClr val="2A5C2E"/>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pic>
        <p:nvPicPr>
          <p:cNvPr id="179" name="Image 0" descr="Image 0"/>
          <p:cNvPicPr>
            <a:picLocks noChangeAspect="1"/>
          </p:cNvPicPr>
          <p:nvPr/>
        </p:nvPicPr>
        <p:blipFill>
          <a:blip r:embed="rId2"/>
          <a:stretch>
            <a:fillRect/>
          </a:stretch>
        </p:blipFill>
        <p:spPr>
          <a:xfrm>
            <a:off x="877825" y="1682494"/>
            <a:ext cx="585217" cy="585217"/>
          </a:xfrm>
          <a:prstGeom prst="rect">
            <a:avLst/>
          </a:prstGeom>
          <a:ln w="12700">
            <a:miter lim="400000"/>
          </a:ln>
        </p:spPr>
      </p:pic>
      <p:sp>
        <p:nvSpPr>
          <p:cNvPr id="180" name="Text 4"/>
          <p:cNvSpPr txBox="1"/>
          <p:nvPr/>
        </p:nvSpPr>
        <p:spPr>
          <a:xfrm>
            <a:off x="365761" y="2393713"/>
            <a:ext cx="1609345"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spAutoFit/>
          </a:bodyPr>
          <a:lstStyle>
            <a:lvl1pPr algn="ctr">
              <a:defRPr sz="900" b="1">
                <a:solidFill>
                  <a:srgbClr val="FFFFFF"/>
                </a:solidFill>
                <a:latin typeface="Calibri"/>
                <a:ea typeface="Calibri"/>
                <a:cs typeface="Calibri"/>
                <a:sym typeface="Calibri"/>
              </a:defRPr>
            </a:lvl1pPr>
          </a:lstStyle>
          <a:p>
            <a:r>
              <a:rPr sz="1400" dirty="0">
                <a:latin typeface="Georgia" panose="02040502050405020303" pitchFamily="18" charset="0"/>
              </a:rPr>
              <a:t>Harvesting</a:t>
            </a:r>
          </a:p>
        </p:txBody>
      </p:sp>
      <p:sp>
        <p:nvSpPr>
          <p:cNvPr id="181" name="Shape 5"/>
          <p:cNvSpPr/>
          <p:nvPr/>
        </p:nvSpPr>
        <p:spPr>
          <a:xfrm>
            <a:off x="2036064" y="2170174"/>
            <a:ext cx="219457" cy="73153"/>
          </a:xfrm>
          <a:prstGeom prst="rect">
            <a:avLst/>
          </a:prstGeom>
          <a:solidFill>
            <a:srgbClr val="6B6B6B"/>
          </a:solidFill>
          <a:ln w="12700">
            <a:solidFill>
              <a:srgbClr val="6B6B6B"/>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182" name="Shape 6"/>
          <p:cNvSpPr/>
          <p:nvPr/>
        </p:nvSpPr>
        <p:spPr>
          <a:xfrm>
            <a:off x="2218944" y="2084831"/>
            <a:ext cx="73153" cy="243841"/>
          </a:xfrm>
          <a:prstGeom prst="rect">
            <a:avLst/>
          </a:prstGeom>
          <a:solidFill>
            <a:srgbClr val="6B6B6B"/>
          </a:solidFill>
          <a:ln w="12700">
            <a:solidFill>
              <a:srgbClr val="6B6B6B"/>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183" name="Shape 7"/>
          <p:cNvSpPr/>
          <p:nvPr/>
        </p:nvSpPr>
        <p:spPr>
          <a:xfrm>
            <a:off x="304800" y="3047999"/>
            <a:ext cx="1731264" cy="1828801"/>
          </a:xfrm>
          <a:prstGeom prst="rect">
            <a:avLst/>
          </a:prstGeom>
          <a:solidFill>
            <a:srgbClr val="EBF4EC"/>
          </a:solidFill>
          <a:ln w="12700">
            <a:solidFill>
              <a:srgbClr val="C8DEC9"/>
            </a:solidFill>
          </a:ln>
        </p:spPr>
        <p:txBody>
          <a:bodyPr lIns="60959" rIns="60959"/>
          <a:lstStyle/>
          <a:p>
            <a:pPr>
              <a:defRPr sz="1800">
                <a:latin typeface="Calibri"/>
                <a:ea typeface="Calibri"/>
                <a:cs typeface="Calibri"/>
                <a:sym typeface="Calibri"/>
              </a:defRPr>
            </a:pPr>
            <a:endParaRPr sz="1300">
              <a:latin typeface="Georgia" panose="02040502050405020303" pitchFamily="18" charset="0"/>
            </a:endParaRPr>
          </a:p>
        </p:txBody>
      </p:sp>
      <p:pic>
        <p:nvPicPr>
          <p:cNvPr id="184" name="Image 1" descr="Image 1"/>
          <p:cNvPicPr>
            <a:picLocks noChangeAspect="1"/>
          </p:cNvPicPr>
          <p:nvPr/>
        </p:nvPicPr>
        <p:blipFill>
          <a:blip r:embed="rId3"/>
          <a:stretch>
            <a:fillRect/>
          </a:stretch>
        </p:blipFill>
        <p:spPr>
          <a:xfrm>
            <a:off x="938784" y="3121150"/>
            <a:ext cx="365761" cy="365761"/>
          </a:xfrm>
          <a:prstGeom prst="rect">
            <a:avLst/>
          </a:prstGeom>
          <a:ln w="12700">
            <a:miter lim="400000"/>
          </a:ln>
        </p:spPr>
      </p:pic>
      <p:sp>
        <p:nvSpPr>
          <p:cNvPr id="185" name="Text 8"/>
          <p:cNvSpPr txBox="1"/>
          <p:nvPr/>
        </p:nvSpPr>
        <p:spPr>
          <a:xfrm>
            <a:off x="426721" y="3605070"/>
            <a:ext cx="1487425" cy="10926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800">
                <a:solidFill>
                  <a:srgbClr val="2B2B2B"/>
                </a:solidFill>
                <a:latin typeface="Calibri"/>
                <a:ea typeface="Calibri"/>
                <a:cs typeface="Calibri"/>
                <a:sym typeface="Calibri"/>
              </a:defRPr>
            </a:lvl1pPr>
          </a:lstStyle>
          <a:p>
            <a:r>
              <a:rPr sz="1300" dirty="0">
                <a:latin typeface="Georgia" panose="02040502050405020303" pitchFamily="18" charset="0"/>
              </a:rPr>
              <a:t>Damage at field level from improper technique, timing &amp; handling</a:t>
            </a:r>
          </a:p>
        </p:txBody>
      </p:sp>
      <p:sp>
        <p:nvSpPr>
          <p:cNvPr id="186" name="Shape 9"/>
          <p:cNvSpPr/>
          <p:nvPr/>
        </p:nvSpPr>
        <p:spPr>
          <a:xfrm>
            <a:off x="2255520" y="1560575"/>
            <a:ext cx="1731265" cy="1402081"/>
          </a:xfrm>
          <a:prstGeom prst="rect">
            <a:avLst/>
          </a:prstGeom>
          <a:solidFill>
            <a:srgbClr val="3D7A42"/>
          </a:solidFill>
          <a:ln w="12700">
            <a:solidFill>
              <a:srgbClr val="3D7A42"/>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pic>
        <p:nvPicPr>
          <p:cNvPr id="187" name="Image 2" descr="Image 2"/>
          <p:cNvPicPr>
            <a:picLocks noChangeAspect="1"/>
          </p:cNvPicPr>
          <p:nvPr/>
        </p:nvPicPr>
        <p:blipFill>
          <a:blip r:embed="rId4"/>
          <a:stretch>
            <a:fillRect/>
          </a:stretch>
        </p:blipFill>
        <p:spPr>
          <a:xfrm>
            <a:off x="2828544" y="1682494"/>
            <a:ext cx="585217" cy="585217"/>
          </a:xfrm>
          <a:prstGeom prst="rect">
            <a:avLst/>
          </a:prstGeom>
          <a:ln w="12700">
            <a:miter lim="400000"/>
          </a:ln>
        </p:spPr>
      </p:pic>
      <p:sp>
        <p:nvSpPr>
          <p:cNvPr id="188" name="Text 10"/>
          <p:cNvSpPr txBox="1"/>
          <p:nvPr/>
        </p:nvSpPr>
        <p:spPr>
          <a:xfrm>
            <a:off x="2316481" y="2393714"/>
            <a:ext cx="1609345" cy="5232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spAutoFit/>
          </a:bodyPr>
          <a:lstStyle/>
          <a:p>
            <a:pPr algn="ctr">
              <a:defRPr sz="900" b="1">
                <a:solidFill>
                  <a:srgbClr val="FFFFFF"/>
                </a:solidFill>
                <a:latin typeface="Calibri"/>
                <a:ea typeface="Calibri"/>
                <a:cs typeface="Calibri"/>
                <a:sym typeface="Calibri"/>
              </a:defRPr>
            </a:pPr>
            <a:r>
              <a:rPr sz="1400">
                <a:latin typeface="Georgia" panose="02040502050405020303" pitchFamily="18" charset="0"/>
              </a:rPr>
              <a:t>Sorting &amp;</a:t>
            </a:r>
          </a:p>
          <a:p>
            <a:pPr algn="ctr">
              <a:defRPr sz="900" b="1">
                <a:solidFill>
                  <a:srgbClr val="FFFFFF"/>
                </a:solidFill>
                <a:latin typeface="Calibri"/>
                <a:ea typeface="Calibri"/>
                <a:cs typeface="Calibri"/>
                <a:sym typeface="Calibri"/>
              </a:defRPr>
            </a:pPr>
            <a:r>
              <a:rPr sz="1400">
                <a:latin typeface="Georgia" panose="02040502050405020303" pitchFamily="18" charset="0"/>
              </a:rPr>
              <a:t>Grading</a:t>
            </a:r>
          </a:p>
        </p:txBody>
      </p:sp>
      <p:sp>
        <p:nvSpPr>
          <p:cNvPr id="189" name="Shape 11"/>
          <p:cNvSpPr/>
          <p:nvPr/>
        </p:nvSpPr>
        <p:spPr>
          <a:xfrm>
            <a:off x="3986785" y="2170174"/>
            <a:ext cx="219457" cy="73153"/>
          </a:xfrm>
          <a:prstGeom prst="rect">
            <a:avLst/>
          </a:prstGeom>
          <a:solidFill>
            <a:srgbClr val="6B6B6B"/>
          </a:solidFill>
          <a:ln w="12700">
            <a:solidFill>
              <a:srgbClr val="6B6B6B"/>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190" name="Shape 12"/>
          <p:cNvSpPr/>
          <p:nvPr/>
        </p:nvSpPr>
        <p:spPr>
          <a:xfrm>
            <a:off x="4169665" y="2084831"/>
            <a:ext cx="73153" cy="243841"/>
          </a:xfrm>
          <a:prstGeom prst="rect">
            <a:avLst/>
          </a:prstGeom>
          <a:solidFill>
            <a:srgbClr val="6B6B6B"/>
          </a:solidFill>
          <a:ln w="12700">
            <a:solidFill>
              <a:srgbClr val="6B6B6B"/>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191" name="Shape 13"/>
          <p:cNvSpPr/>
          <p:nvPr/>
        </p:nvSpPr>
        <p:spPr>
          <a:xfrm>
            <a:off x="2255520" y="3047999"/>
            <a:ext cx="1731265" cy="1828801"/>
          </a:xfrm>
          <a:prstGeom prst="rect">
            <a:avLst/>
          </a:prstGeom>
          <a:solidFill>
            <a:srgbClr val="FDF5E6"/>
          </a:solidFill>
          <a:ln w="12700">
            <a:solidFill>
              <a:srgbClr val="F0D9A0"/>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pic>
        <p:nvPicPr>
          <p:cNvPr id="192" name="Image 3" descr="Image 3"/>
          <p:cNvPicPr>
            <a:picLocks noChangeAspect="1"/>
          </p:cNvPicPr>
          <p:nvPr/>
        </p:nvPicPr>
        <p:blipFill>
          <a:blip r:embed="rId3"/>
          <a:stretch>
            <a:fillRect/>
          </a:stretch>
        </p:blipFill>
        <p:spPr>
          <a:xfrm>
            <a:off x="2889504" y="3121150"/>
            <a:ext cx="365761" cy="365761"/>
          </a:xfrm>
          <a:prstGeom prst="rect">
            <a:avLst/>
          </a:prstGeom>
          <a:ln w="12700">
            <a:miter lim="400000"/>
          </a:ln>
        </p:spPr>
      </p:pic>
      <p:sp>
        <p:nvSpPr>
          <p:cNvPr id="193" name="Text 14"/>
          <p:cNvSpPr txBox="1"/>
          <p:nvPr/>
        </p:nvSpPr>
        <p:spPr>
          <a:xfrm>
            <a:off x="2377441" y="3705100"/>
            <a:ext cx="1487425" cy="8925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800">
                <a:solidFill>
                  <a:srgbClr val="2B2B2B"/>
                </a:solidFill>
                <a:latin typeface="Calibri"/>
                <a:ea typeface="Calibri"/>
                <a:cs typeface="Calibri"/>
                <a:sym typeface="Calibri"/>
              </a:defRPr>
            </a:lvl1pPr>
          </a:lstStyle>
          <a:p>
            <a:r>
              <a:rPr sz="1300">
                <a:latin typeface="Georgia" panose="02040502050405020303" pitchFamily="18" charset="0"/>
              </a:rPr>
              <a:t>Largest single loss stage; inadequate infrastructure at farm gate</a:t>
            </a:r>
          </a:p>
        </p:txBody>
      </p:sp>
      <p:sp>
        <p:nvSpPr>
          <p:cNvPr id="194" name="Shape 15"/>
          <p:cNvSpPr/>
          <p:nvPr/>
        </p:nvSpPr>
        <p:spPr>
          <a:xfrm>
            <a:off x="4206240" y="1560575"/>
            <a:ext cx="1731265" cy="1402081"/>
          </a:xfrm>
          <a:prstGeom prst="rect">
            <a:avLst/>
          </a:prstGeom>
          <a:solidFill>
            <a:srgbClr val="E8A020"/>
          </a:solidFill>
          <a:ln w="12700">
            <a:solidFill>
              <a:srgbClr val="E8A020"/>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pic>
        <p:nvPicPr>
          <p:cNvPr id="195" name="Image 4" descr="Image 4"/>
          <p:cNvPicPr>
            <a:picLocks noChangeAspect="1"/>
          </p:cNvPicPr>
          <p:nvPr/>
        </p:nvPicPr>
        <p:blipFill>
          <a:blip r:embed="rId5"/>
          <a:stretch>
            <a:fillRect/>
          </a:stretch>
        </p:blipFill>
        <p:spPr>
          <a:xfrm>
            <a:off x="4779264" y="1682494"/>
            <a:ext cx="585217" cy="585217"/>
          </a:xfrm>
          <a:prstGeom prst="rect">
            <a:avLst/>
          </a:prstGeom>
          <a:ln w="12700">
            <a:miter lim="400000"/>
          </a:ln>
        </p:spPr>
      </p:pic>
      <p:sp>
        <p:nvSpPr>
          <p:cNvPr id="196" name="Text 16"/>
          <p:cNvSpPr txBox="1"/>
          <p:nvPr/>
        </p:nvSpPr>
        <p:spPr>
          <a:xfrm>
            <a:off x="4267201" y="2393713"/>
            <a:ext cx="1609345"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spAutoFit/>
          </a:bodyPr>
          <a:lstStyle>
            <a:lvl1pPr algn="ctr">
              <a:defRPr sz="900" b="1">
                <a:solidFill>
                  <a:srgbClr val="FFFFFF"/>
                </a:solidFill>
                <a:latin typeface="Calibri"/>
                <a:ea typeface="Calibri"/>
                <a:cs typeface="Calibri"/>
                <a:sym typeface="Calibri"/>
              </a:defRPr>
            </a:lvl1pPr>
          </a:lstStyle>
          <a:p>
            <a:r>
              <a:rPr sz="1400">
                <a:latin typeface="Georgia" panose="02040502050405020303" pitchFamily="18" charset="0"/>
              </a:rPr>
              <a:t>Farm Storage</a:t>
            </a:r>
          </a:p>
        </p:txBody>
      </p:sp>
      <p:sp>
        <p:nvSpPr>
          <p:cNvPr id="197" name="Shape 17"/>
          <p:cNvSpPr/>
          <p:nvPr/>
        </p:nvSpPr>
        <p:spPr>
          <a:xfrm>
            <a:off x="5937505" y="2170174"/>
            <a:ext cx="219457" cy="73153"/>
          </a:xfrm>
          <a:prstGeom prst="rect">
            <a:avLst/>
          </a:prstGeom>
          <a:solidFill>
            <a:srgbClr val="6B6B6B"/>
          </a:solidFill>
          <a:ln w="12700">
            <a:solidFill>
              <a:srgbClr val="6B6B6B"/>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198" name="Shape 18"/>
          <p:cNvSpPr/>
          <p:nvPr/>
        </p:nvSpPr>
        <p:spPr>
          <a:xfrm>
            <a:off x="6120385" y="2084831"/>
            <a:ext cx="73153" cy="243841"/>
          </a:xfrm>
          <a:prstGeom prst="rect">
            <a:avLst/>
          </a:prstGeom>
          <a:solidFill>
            <a:srgbClr val="6B6B6B"/>
          </a:solidFill>
          <a:ln w="12700">
            <a:solidFill>
              <a:srgbClr val="6B6B6B"/>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199" name="Shape 19"/>
          <p:cNvSpPr/>
          <p:nvPr/>
        </p:nvSpPr>
        <p:spPr>
          <a:xfrm>
            <a:off x="4206240" y="3047999"/>
            <a:ext cx="1731265" cy="1828801"/>
          </a:xfrm>
          <a:prstGeom prst="rect">
            <a:avLst/>
          </a:prstGeom>
          <a:solidFill>
            <a:srgbClr val="EBF4EC"/>
          </a:solidFill>
          <a:ln w="12700">
            <a:solidFill>
              <a:srgbClr val="C8DEC9"/>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pic>
        <p:nvPicPr>
          <p:cNvPr id="200" name="Image 5" descr="Image 5"/>
          <p:cNvPicPr>
            <a:picLocks noChangeAspect="1"/>
          </p:cNvPicPr>
          <p:nvPr/>
        </p:nvPicPr>
        <p:blipFill>
          <a:blip r:embed="rId3"/>
          <a:stretch>
            <a:fillRect/>
          </a:stretch>
        </p:blipFill>
        <p:spPr>
          <a:xfrm>
            <a:off x="4840224" y="3121150"/>
            <a:ext cx="365761" cy="365761"/>
          </a:xfrm>
          <a:prstGeom prst="rect">
            <a:avLst/>
          </a:prstGeom>
          <a:ln w="12700">
            <a:miter lim="400000"/>
          </a:ln>
        </p:spPr>
      </p:pic>
      <p:sp>
        <p:nvSpPr>
          <p:cNvPr id="201" name="Text 20"/>
          <p:cNvSpPr txBox="1"/>
          <p:nvPr/>
        </p:nvSpPr>
        <p:spPr>
          <a:xfrm>
            <a:off x="4328161" y="3705098"/>
            <a:ext cx="1487425" cy="8925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800">
                <a:solidFill>
                  <a:srgbClr val="2B2B2B"/>
                </a:solidFill>
                <a:latin typeface="Calibri"/>
                <a:ea typeface="Calibri"/>
                <a:cs typeface="Calibri"/>
                <a:sym typeface="Calibri"/>
              </a:defRPr>
            </a:lvl1pPr>
          </a:lstStyle>
          <a:p>
            <a:r>
              <a:rPr sz="1300">
                <a:latin typeface="Georgia" panose="02040502050405020303" pitchFamily="18" charset="0"/>
              </a:rPr>
              <a:t>On-farm storage fails without cooling;  especially for onion &amp; grapes</a:t>
            </a:r>
          </a:p>
        </p:txBody>
      </p:sp>
      <p:sp>
        <p:nvSpPr>
          <p:cNvPr id="202" name="Shape 21"/>
          <p:cNvSpPr/>
          <p:nvPr/>
        </p:nvSpPr>
        <p:spPr>
          <a:xfrm>
            <a:off x="6156961" y="1560575"/>
            <a:ext cx="1731265" cy="1402081"/>
          </a:xfrm>
          <a:prstGeom prst="rect">
            <a:avLst/>
          </a:prstGeom>
          <a:solidFill>
            <a:srgbClr val="B87A10"/>
          </a:solidFill>
          <a:ln w="12700">
            <a:solidFill>
              <a:srgbClr val="B87A10"/>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pic>
        <p:nvPicPr>
          <p:cNvPr id="203" name="Image 6" descr="Image 6"/>
          <p:cNvPicPr>
            <a:picLocks noChangeAspect="1"/>
          </p:cNvPicPr>
          <p:nvPr/>
        </p:nvPicPr>
        <p:blipFill>
          <a:blip r:embed="rId6"/>
          <a:stretch>
            <a:fillRect/>
          </a:stretch>
        </p:blipFill>
        <p:spPr>
          <a:xfrm>
            <a:off x="6729985" y="1682494"/>
            <a:ext cx="585217" cy="585217"/>
          </a:xfrm>
          <a:prstGeom prst="rect">
            <a:avLst/>
          </a:prstGeom>
          <a:ln w="12700">
            <a:miter lim="400000"/>
          </a:ln>
        </p:spPr>
      </p:pic>
      <p:sp>
        <p:nvSpPr>
          <p:cNvPr id="204" name="Text 22"/>
          <p:cNvSpPr txBox="1"/>
          <p:nvPr/>
        </p:nvSpPr>
        <p:spPr>
          <a:xfrm>
            <a:off x="6217921" y="2393713"/>
            <a:ext cx="1609345"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spAutoFit/>
          </a:bodyPr>
          <a:lstStyle>
            <a:lvl1pPr algn="ctr">
              <a:defRPr sz="900" b="1">
                <a:solidFill>
                  <a:srgbClr val="FFFFFF"/>
                </a:solidFill>
                <a:latin typeface="Calibri"/>
                <a:ea typeface="Calibri"/>
                <a:cs typeface="Calibri"/>
                <a:sym typeface="Calibri"/>
              </a:defRPr>
            </a:lvl1pPr>
          </a:lstStyle>
          <a:p>
            <a:r>
              <a:rPr sz="1400">
                <a:latin typeface="Georgia" panose="02040502050405020303" pitchFamily="18" charset="0"/>
              </a:rPr>
              <a:t>Transport</a:t>
            </a:r>
          </a:p>
        </p:txBody>
      </p:sp>
      <p:sp>
        <p:nvSpPr>
          <p:cNvPr id="205" name="Shape 23"/>
          <p:cNvSpPr/>
          <p:nvPr/>
        </p:nvSpPr>
        <p:spPr>
          <a:xfrm>
            <a:off x="7888224" y="2170174"/>
            <a:ext cx="219457" cy="73153"/>
          </a:xfrm>
          <a:prstGeom prst="rect">
            <a:avLst/>
          </a:prstGeom>
          <a:solidFill>
            <a:srgbClr val="6B6B6B"/>
          </a:solidFill>
          <a:ln w="12700">
            <a:solidFill>
              <a:srgbClr val="6B6B6B"/>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206" name="Shape 24"/>
          <p:cNvSpPr/>
          <p:nvPr/>
        </p:nvSpPr>
        <p:spPr>
          <a:xfrm>
            <a:off x="8071105" y="2084831"/>
            <a:ext cx="73153" cy="243841"/>
          </a:xfrm>
          <a:prstGeom prst="rect">
            <a:avLst/>
          </a:prstGeom>
          <a:solidFill>
            <a:srgbClr val="6B6B6B"/>
          </a:solidFill>
          <a:ln w="12700">
            <a:solidFill>
              <a:srgbClr val="6B6B6B"/>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207" name="Shape 25"/>
          <p:cNvSpPr/>
          <p:nvPr/>
        </p:nvSpPr>
        <p:spPr>
          <a:xfrm>
            <a:off x="6156961" y="3047999"/>
            <a:ext cx="1731265" cy="1828801"/>
          </a:xfrm>
          <a:prstGeom prst="rect">
            <a:avLst/>
          </a:prstGeom>
          <a:solidFill>
            <a:srgbClr val="FDF5E6"/>
          </a:solidFill>
          <a:ln w="12700">
            <a:solidFill>
              <a:srgbClr val="F0D9A0"/>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pic>
        <p:nvPicPr>
          <p:cNvPr id="208" name="Image 7" descr="Image 7"/>
          <p:cNvPicPr>
            <a:picLocks noChangeAspect="1"/>
          </p:cNvPicPr>
          <p:nvPr/>
        </p:nvPicPr>
        <p:blipFill>
          <a:blip r:embed="rId3"/>
          <a:stretch>
            <a:fillRect/>
          </a:stretch>
        </p:blipFill>
        <p:spPr>
          <a:xfrm>
            <a:off x="6790945" y="3121150"/>
            <a:ext cx="365761" cy="365761"/>
          </a:xfrm>
          <a:prstGeom prst="rect">
            <a:avLst/>
          </a:prstGeom>
          <a:ln w="12700">
            <a:miter lim="400000"/>
          </a:ln>
        </p:spPr>
      </p:pic>
      <p:sp>
        <p:nvSpPr>
          <p:cNvPr id="209" name="Text 26"/>
          <p:cNvSpPr txBox="1"/>
          <p:nvPr/>
        </p:nvSpPr>
        <p:spPr>
          <a:xfrm>
            <a:off x="6278881" y="3705099"/>
            <a:ext cx="1487425" cy="8925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800">
                <a:solidFill>
                  <a:srgbClr val="2B2B2B"/>
                </a:solidFill>
                <a:latin typeface="Calibri"/>
                <a:ea typeface="Calibri"/>
                <a:cs typeface="Calibri"/>
                <a:sym typeface="Calibri"/>
              </a:defRPr>
            </a:lvl1pPr>
          </a:lstStyle>
          <a:p>
            <a:r>
              <a:rPr sz="1300">
                <a:latin typeface="Georgia" panose="02040502050405020303" pitchFamily="18" charset="0"/>
              </a:rPr>
              <a:t>No reefer vehicles; heat, vibration &amp; delays cause spoilage in transit</a:t>
            </a:r>
          </a:p>
        </p:txBody>
      </p:sp>
      <p:sp>
        <p:nvSpPr>
          <p:cNvPr id="210" name="Shape 27"/>
          <p:cNvSpPr/>
          <p:nvPr/>
        </p:nvSpPr>
        <p:spPr>
          <a:xfrm>
            <a:off x="8107680" y="1560575"/>
            <a:ext cx="1731265" cy="1402081"/>
          </a:xfrm>
          <a:prstGeom prst="rect">
            <a:avLst/>
          </a:prstGeom>
          <a:solidFill>
            <a:srgbClr val="2A5C2E"/>
          </a:solidFill>
          <a:ln w="12700">
            <a:solidFill>
              <a:srgbClr val="2A5C2E"/>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pic>
        <p:nvPicPr>
          <p:cNvPr id="211" name="Image 8" descr="Image 8"/>
          <p:cNvPicPr>
            <a:picLocks noChangeAspect="1"/>
          </p:cNvPicPr>
          <p:nvPr/>
        </p:nvPicPr>
        <p:blipFill>
          <a:blip r:embed="rId7"/>
          <a:stretch>
            <a:fillRect/>
          </a:stretch>
        </p:blipFill>
        <p:spPr>
          <a:xfrm>
            <a:off x="8680705" y="1682494"/>
            <a:ext cx="585217" cy="585217"/>
          </a:xfrm>
          <a:prstGeom prst="rect">
            <a:avLst/>
          </a:prstGeom>
          <a:ln w="12700">
            <a:miter lim="400000"/>
          </a:ln>
        </p:spPr>
      </p:pic>
      <p:sp>
        <p:nvSpPr>
          <p:cNvPr id="212" name="Text 28"/>
          <p:cNvSpPr txBox="1"/>
          <p:nvPr/>
        </p:nvSpPr>
        <p:spPr>
          <a:xfrm>
            <a:off x="8168640" y="2393714"/>
            <a:ext cx="1609345" cy="5232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spAutoFit/>
          </a:bodyPr>
          <a:lstStyle/>
          <a:p>
            <a:pPr algn="ctr">
              <a:defRPr sz="900" b="1">
                <a:solidFill>
                  <a:srgbClr val="FFFFFF"/>
                </a:solidFill>
                <a:latin typeface="Calibri"/>
                <a:ea typeface="Calibri"/>
                <a:cs typeface="Calibri"/>
                <a:sym typeface="Calibri"/>
              </a:defRPr>
            </a:pPr>
            <a:r>
              <a:rPr sz="1400">
                <a:latin typeface="Georgia" panose="02040502050405020303" pitchFamily="18" charset="0"/>
              </a:rPr>
              <a:t>Wholesale &amp;</a:t>
            </a:r>
          </a:p>
          <a:p>
            <a:pPr algn="ctr">
              <a:defRPr sz="900" b="1">
                <a:solidFill>
                  <a:srgbClr val="FFFFFF"/>
                </a:solidFill>
                <a:latin typeface="Calibri"/>
                <a:ea typeface="Calibri"/>
                <a:cs typeface="Calibri"/>
                <a:sym typeface="Calibri"/>
              </a:defRPr>
            </a:pPr>
            <a:r>
              <a:rPr sz="1400">
                <a:latin typeface="Georgia" panose="02040502050405020303" pitchFamily="18" charset="0"/>
              </a:rPr>
              <a:t>Retail</a:t>
            </a:r>
          </a:p>
        </p:txBody>
      </p:sp>
      <p:sp>
        <p:nvSpPr>
          <p:cNvPr id="213" name="Shape 29"/>
          <p:cNvSpPr/>
          <p:nvPr/>
        </p:nvSpPr>
        <p:spPr>
          <a:xfrm>
            <a:off x="9838944" y="2170174"/>
            <a:ext cx="219457" cy="73153"/>
          </a:xfrm>
          <a:prstGeom prst="rect">
            <a:avLst/>
          </a:prstGeom>
          <a:solidFill>
            <a:srgbClr val="6B6B6B"/>
          </a:solidFill>
          <a:ln w="12700">
            <a:solidFill>
              <a:srgbClr val="6B6B6B"/>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214" name="Shape 30"/>
          <p:cNvSpPr/>
          <p:nvPr/>
        </p:nvSpPr>
        <p:spPr>
          <a:xfrm>
            <a:off x="10021825" y="2084831"/>
            <a:ext cx="73153" cy="243841"/>
          </a:xfrm>
          <a:prstGeom prst="rect">
            <a:avLst/>
          </a:prstGeom>
          <a:solidFill>
            <a:srgbClr val="6B6B6B"/>
          </a:solidFill>
          <a:ln w="12700">
            <a:solidFill>
              <a:srgbClr val="6B6B6B"/>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215" name="Shape 31"/>
          <p:cNvSpPr/>
          <p:nvPr/>
        </p:nvSpPr>
        <p:spPr>
          <a:xfrm>
            <a:off x="8107680" y="3047999"/>
            <a:ext cx="1731265" cy="1828801"/>
          </a:xfrm>
          <a:prstGeom prst="rect">
            <a:avLst/>
          </a:prstGeom>
          <a:solidFill>
            <a:srgbClr val="EBF4EC"/>
          </a:solidFill>
          <a:ln w="12700">
            <a:solidFill>
              <a:srgbClr val="C8DEC9"/>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pic>
        <p:nvPicPr>
          <p:cNvPr id="216" name="Image 9" descr="Image 9"/>
          <p:cNvPicPr>
            <a:picLocks noChangeAspect="1"/>
          </p:cNvPicPr>
          <p:nvPr/>
        </p:nvPicPr>
        <p:blipFill>
          <a:blip r:embed="rId3"/>
          <a:stretch>
            <a:fillRect/>
          </a:stretch>
        </p:blipFill>
        <p:spPr>
          <a:xfrm>
            <a:off x="8741664" y="3121150"/>
            <a:ext cx="365761" cy="365761"/>
          </a:xfrm>
          <a:prstGeom prst="rect">
            <a:avLst/>
          </a:prstGeom>
          <a:ln w="12700">
            <a:miter lim="400000"/>
          </a:ln>
        </p:spPr>
      </p:pic>
      <p:sp>
        <p:nvSpPr>
          <p:cNvPr id="217" name="Text 32"/>
          <p:cNvSpPr txBox="1"/>
          <p:nvPr/>
        </p:nvSpPr>
        <p:spPr>
          <a:xfrm>
            <a:off x="8229601" y="3605072"/>
            <a:ext cx="1487425" cy="10926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800">
                <a:solidFill>
                  <a:srgbClr val="2B2B2B"/>
                </a:solidFill>
                <a:latin typeface="Calibri"/>
                <a:ea typeface="Calibri"/>
                <a:cs typeface="Calibri"/>
                <a:sym typeface="Calibri"/>
              </a:defRPr>
            </a:lvl1pPr>
          </a:lstStyle>
          <a:p>
            <a:r>
              <a:rPr sz="1300">
                <a:latin typeface="Georgia" panose="02040502050405020303" pitchFamily="18" charset="0"/>
              </a:rPr>
              <a:t>Multiple handling points; price volatility causes inventory build-up</a:t>
            </a:r>
          </a:p>
        </p:txBody>
      </p:sp>
      <p:sp>
        <p:nvSpPr>
          <p:cNvPr id="218" name="Shape 33"/>
          <p:cNvSpPr/>
          <p:nvPr/>
        </p:nvSpPr>
        <p:spPr>
          <a:xfrm>
            <a:off x="10058400" y="1560575"/>
            <a:ext cx="1731264" cy="1402081"/>
          </a:xfrm>
          <a:prstGeom prst="rect">
            <a:avLst/>
          </a:prstGeom>
          <a:solidFill>
            <a:srgbClr val="1A3D1C"/>
          </a:solidFill>
          <a:ln w="12700">
            <a:solidFill>
              <a:srgbClr val="1A3D1C"/>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pic>
        <p:nvPicPr>
          <p:cNvPr id="219" name="Image 10" descr="Image 10"/>
          <p:cNvPicPr>
            <a:picLocks noChangeAspect="1"/>
          </p:cNvPicPr>
          <p:nvPr/>
        </p:nvPicPr>
        <p:blipFill>
          <a:blip r:embed="rId8"/>
          <a:stretch>
            <a:fillRect/>
          </a:stretch>
        </p:blipFill>
        <p:spPr>
          <a:xfrm>
            <a:off x="10631425" y="1682494"/>
            <a:ext cx="585217" cy="585217"/>
          </a:xfrm>
          <a:prstGeom prst="rect">
            <a:avLst/>
          </a:prstGeom>
          <a:ln w="12700">
            <a:miter lim="400000"/>
          </a:ln>
        </p:spPr>
      </p:pic>
      <p:sp>
        <p:nvSpPr>
          <p:cNvPr id="220" name="Text 34"/>
          <p:cNvSpPr txBox="1"/>
          <p:nvPr/>
        </p:nvSpPr>
        <p:spPr>
          <a:xfrm>
            <a:off x="10119360" y="2393714"/>
            <a:ext cx="1609345" cy="5232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spAutoFit/>
          </a:bodyPr>
          <a:lstStyle/>
          <a:p>
            <a:pPr algn="ctr">
              <a:defRPr sz="900" b="1">
                <a:solidFill>
                  <a:srgbClr val="FFFFFF"/>
                </a:solidFill>
                <a:latin typeface="Calibri"/>
                <a:ea typeface="Calibri"/>
                <a:cs typeface="Calibri"/>
                <a:sym typeface="Calibri"/>
              </a:defRPr>
            </a:pPr>
            <a:r>
              <a:rPr sz="1400">
                <a:latin typeface="Georgia" panose="02040502050405020303" pitchFamily="18" charset="0"/>
              </a:rPr>
              <a:t>Processing</a:t>
            </a:r>
          </a:p>
          <a:p>
            <a:pPr algn="ctr">
              <a:defRPr sz="900" b="1">
                <a:solidFill>
                  <a:srgbClr val="FFFFFF"/>
                </a:solidFill>
                <a:latin typeface="Calibri"/>
                <a:ea typeface="Calibri"/>
                <a:cs typeface="Calibri"/>
                <a:sym typeface="Calibri"/>
              </a:defRPr>
            </a:pPr>
            <a:r>
              <a:rPr sz="1400">
                <a:latin typeface="Georgia" panose="02040502050405020303" pitchFamily="18" charset="0"/>
              </a:rPr>
              <a:t>Units</a:t>
            </a:r>
          </a:p>
        </p:txBody>
      </p:sp>
      <p:sp>
        <p:nvSpPr>
          <p:cNvPr id="221" name="Shape 35"/>
          <p:cNvSpPr/>
          <p:nvPr/>
        </p:nvSpPr>
        <p:spPr>
          <a:xfrm>
            <a:off x="10058400" y="3047999"/>
            <a:ext cx="1731264" cy="1828801"/>
          </a:xfrm>
          <a:prstGeom prst="rect">
            <a:avLst/>
          </a:prstGeom>
          <a:solidFill>
            <a:srgbClr val="FDF5E6"/>
          </a:solidFill>
          <a:ln w="12700">
            <a:solidFill>
              <a:srgbClr val="F0D9A0"/>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pic>
        <p:nvPicPr>
          <p:cNvPr id="222" name="Image 11" descr="Image 11"/>
          <p:cNvPicPr>
            <a:picLocks noChangeAspect="1"/>
          </p:cNvPicPr>
          <p:nvPr/>
        </p:nvPicPr>
        <p:blipFill>
          <a:blip r:embed="rId3"/>
          <a:stretch>
            <a:fillRect/>
          </a:stretch>
        </p:blipFill>
        <p:spPr>
          <a:xfrm>
            <a:off x="10692385" y="3121150"/>
            <a:ext cx="365761" cy="365761"/>
          </a:xfrm>
          <a:prstGeom prst="rect">
            <a:avLst/>
          </a:prstGeom>
          <a:ln w="12700">
            <a:miter lim="400000"/>
          </a:ln>
        </p:spPr>
      </p:pic>
      <p:sp>
        <p:nvSpPr>
          <p:cNvPr id="223" name="Text 36"/>
          <p:cNvSpPr txBox="1"/>
          <p:nvPr/>
        </p:nvSpPr>
        <p:spPr>
          <a:xfrm>
            <a:off x="10180320" y="3605071"/>
            <a:ext cx="1487425" cy="10926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800">
                <a:solidFill>
                  <a:srgbClr val="2B2B2B"/>
                </a:solidFill>
                <a:latin typeface="Calibri"/>
                <a:ea typeface="Calibri"/>
                <a:cs typeface="Calibri"/>
                <a:sym typeface="Calibri"/>
              </a:defRPr>
            </a:lvl1pPr>
          </a:lstStyle>
          <a:p>
            <a:r>
              <a:rPr sz="1300">
                <a:latin typeface="Georgia" panose="02040502050405020303" pitchFamily="18" charset="0"/>
              </a:rPr>
              <a:t>Capacity bottlenecks; quality rejection; peak-season overflow</a:t>
            </a:r>
          </a:p>
        </p:txBody>
      </p:sp>
      <p:sp>
        <p:nvSpPr>
          <p:cNvPr id="224" name="Shape 37"/>
          <p:cNvSpPr/>
          <p:nvPr/>
        </p:nvSpPr>
        <p:spPr>
          <a:xfrm>
            <a:off x="0" y="5254751"/>
            <a:ext cx="12192000" cy="536449"/>
          </a:xfrm>
          <a:prstGeom prst="rect">
            <a:avLst/>
          </a:prstGeom>
          <a:solidFill>
            <a:srgbClr val="2A5C2E"/>
          </a:solidFill>
          <a:ln w="12700">
            <a:solidFill>
              <a:srgbClr val="2A5C2E"/>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225" name="Text 38"/>
          <p:cNvSpPr txBox="1"/>
          <p:nvPr/>
        </p:nvSpPr>
        <p:spPr>
          <a:xfrm>
            <a:off x="207266" y="5363925"/>
            <a:ext cx="11338560" cy="318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defRPr sz="1100" b="1" i="1">
                <a:solidFill>
                  <a:srgbClr val="FFFFFF"/>
                </a:solidFill>
                <a:latin typeface="Calibri"/>
                <a:ea typeface="Calibri"/>
                <a:cs typeface="Calibri"/>
                <a:sym typeface="Calibri"/>
              </a:defRPr>
            </a:lvl1pPr>
          </a:lstStyle>
          <a:p>
            <a:r>
              <a:rPr sz="1400" dirty="0">
                <a:latin typeface="Georgia" panose="02040502050405020303" pitchFamily="18" charset="0"/>
              </a:rPr>
              <a:t>No single stage is safe. The losses compound where each stage adds to the next, eroding what the farmer produced.</a:t>
            </a:r>
          </a:p>
        </p:txBody>
      </p:sp>
      <p:sp>
        <p:nvSpPr>
          <p:cNvPr id="2" name="Slide Number Placeholder 2">
            <a:extLst>
              <a:ext uri="{FF2B5EF4-FFF2-40B4-BE49-F238E27FC236}">
                <a16:creationId xmlns:a16="http://schemas.microsoft.com/office/drawing/2014/main" id="{9E6794B0-94CA-5B8C-6FBC-DEAE1E6CCA37}"/>
              </a:ext>
            </a:extLst>
          </p:cNvPr>
          <p:cNvSpPr>
            <a:spLocks noGrp="1"/>
          </p:cNvSpPr>
          <p:nvPr>
            <p:ph type="sldNum" sz="quarter" idx="7"/>
          </p:nvPr>
        </p:nvSpPr>
        <p:spPr>
          <a:xfrm>
            <a:off x="779630" y="6440648"/>
            <a:ext cx="383540" cy="115416"/>
          </a:xfrm>
        </p:spPr>
        <p:txBody>
          <a:bodyPr/>
          <a:lstStyle/>
          <a:p>
            <a:pPr marL="12700">
              <a:spcBef>
                <a:spcPts val="60"/>
              </a:spcBef>
            </a:pPr>
            <a:r>
              <a:rPr lang="en-IN" dirty="0">
                <a:latin typeface="Georgia" panose="02040502050405020303" pitchFamily="18" charset="0"/>
              </a:rPr>
              <a:t>Page</a:t>
            </a:r>
            <a:r>
              <a:rPr lang="en-IN" spc="-55" dirty="0">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3</a:t>
            </a:fld>
            <a:endParaRPr dirty="0">
              <a:latin typeface="Georgia" panose="02040502050405020303" pitchFamily="18" charset="0"/>
            </a:endParaRPr>
          </a:p>
        </p:txBody>
      </p:sp>
      <p:pic>
        <p:nvPicPr>
          <p:cNvPr id="6" name="Picture 5">
            <a:extLst>
              <a:ext uri="{FF2B5EF4-FFF2-40B4-BE49-F238E27FC236}">
                <a16:creationId xmlns:a16="http://schemas.microsoft.com/office/drawing/2014/main" id="{5CD20545-103C-93E5-85BD-358DBFE78CB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5857434"/>
            <a:ext cx="12192000" cy="9879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Shape 0"/>
          <p:cNvSpPr/>
          <p:nvPr/>
        </p:nvSpPr>
        <p:spPr>
          <a:xfrm>
            <a:off x="0" y="0"/>
            <a:ext cx="12192000" cy="914400"/>
          </a:xfrm>
          <a:prstGeom prst="rect">
            <a:avLst/>
          </a:prstGeom>
          <a:solidFill>
            <a:srgbClr val="2A5C2E"/>
          </a:solidFill>
          <a:ln w="12700">
            <a:solidFill>
              <a:srgbClr val="2A5C2E"/>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295" name="Text 1"/>
          <p:cNvSpPr txBox="1"/>
          <p:nvPr/>
        </p:nvSpPr>
        <p:spPr>
          <a:xfrm>
            <a:off x="487680" y="226367"/>
            <a:ext cx="11216640"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defRPr sz="2200" b="1">
                <a:solidFill>
                  <a:srgbClr val="FFFFFF"/>
                </a:solidFill>
                <a:latin typeface="Georgia"/>
                <a:ea typeface="Georgia"/>
                <a:cs typeface="Georgia"/>
                <a:sym typeface="Georgia"/>
              </a:defRPr>
            </a:lvl1pPr>
          </a:lstStyle>
          <a:p>
            <a:r>
              <a:rPr sz="2400" dirty="0">
                <a:latin typeface="Georgia" panose="02040502050405020303" pitchFamily="18" charset="0"/>
              </a:rPr>
              <a:t>We Needed Evidence — Not Assumptions</a:t>
            </a:r>
          </a:p>
        </p:txBody>
      </p:sp>
      <p:sp>
        <p:nvSpPr>
          <p:cNvPr id="296" name="Text 2"/>
          <p:cNvSpPr txBox="1"/>
          <p:nvPr/>
        </p:nvSpPr>
        <p:spPr>
          <a:xfrm>
            <a:off x="487680" y="1177939"/>
            <a:ext cx="11216640"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defRPr sz="1300" i="1">
                <a:solidFill>
                  <a:srgbClr val="2B2B2B"/>
                </a:solidFill>
                <a:latin typeface="Calibri"/>
                <a:ea typeface="Calibri"/>
                <a:cs typeface="Calibri"/>
                <a:sym typeface="Calibri"/>
              </a:defRPr>
            </a:lvl1pPr>
          </a:lstStyle>
          <a:p>
            <a:r>
              <a:rPr sz="1600">
                <a:latin typeface="Georgia" panose="02040502050405020303" pitchFamily="18" charset="0"/>
              </a:rPr>
              <a:t>To design a meaningful innovation challenge, we first had to understand where losses truly occur.</a:t>
            </a:r>
          </a:p>
        </p:txBody>
      </p:sp>
      <p:sp>
        <p:nvSpPr>
          <p:cNvPr id="297" name="Shape 3"/>
          <p:cNvSpPr/>
          <p:nvPr/>
        </p:nvSpPr>
        <p:spPr>
          <a:xfrm>
            <a:off x="6400800" y="1600199"/>
            <a:ext cx="5486400" cy="4267201"/>
          </a:xfrm>
          <a:prstGeom prst="rect">
            <a:avLst/>
          </a:prstGeom>
          <a:solidFill>
            <a:srgbClr val="FDF5E6"/>
          </a:solidFill>
          <a:ln w="12700">
            <a:solidFill>
              <a:srgbClr val="F0D9A0"/>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298" name="Text 4"/>
          <p:cNvSpPr txBox="1"/>
          <p:nvPr/>
        </p:nvSpPr>
        <p:spPr>
          <a:xfrm>
            <a:off x="6583681" y="1827160"/>
            <a:ext cx="5120641"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defRPr sz="1300" b="1">
                <a:solidFill>
                  <a:srgbClr val="B87A10"/>
                </a:solidFill>
                <a:latin typeface="Calibri"/>
                <a:ea typeface="Calibri"/>
                <a:cs typeface="Calibri"/>
                <a:sym typeface="Calibri"/>
              </a:defRPr>
            </a:lvl1pPr>
          </a:lstStyle>
          <a:p>
            <a:r>
              <a:rPr sz="1600" dirty="0">
                <a:latin typeface="Georgia" panose="02040502050405020303" pitchFamily="18" charset="0"/>
              </a:rPr>
              <a:t>Why a Gap Assessment?</a:t>
            </a:r>
          </a:p>
        </p:txBody>
      </p:sp>
      <p:sp>
        <p:nvSpPr>
          <p:cNvPr id="299" name="Shape 5"/>
          <p:cNvSpPr/>
          <p:nvPr/>
        </p:nvSpPr>
        <p:spPr>
          <a:xfrm>
            <a:off x="6522721" y="2541927"/>
            <a:ext cx="365761" cy="365761"/>
          </a:xfrm>
          <a:prstGeom prst="rect">
            <a:avLst/>
          </a:prstGeom>
          <a:solidFill>
            <a:srgbClr val="E8A020"/>
          </a:solidFill>
          <a:ln w="12700">
            <a:solidFill>
              <a:srgbClr val="E8A020"/>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300" name="Text 6"/>
          <p:cNvSpPr txBox="1"/>
          <p:nvPr/>
        </p:nvSpPr>
        <p:spPr>
          <a:xfrm>
            <a:off x="7071361" y="2482769"/>
            <a:ext cx="4632959" cy="5025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defRPr sz="1000">
                <a:solidFill>
                  <a:srgbClr val="2B2B2B"/>
                </a:solidFill>
                <a:latin typeface="Calibri"/>
                <a:ea typeface="Calibri"/>
                <a:cs typeface="Calibri"/>
                <a:sym typeface="Calibri"/>
              </a:defRPr>
            </a:lvl1pPr>
          </a:lstStyle>
          <a:p>
            <a:r>
              <a:rPr sz="1300" dirty="0">
                <a:latin typeface="Georgia" panose="02040502050405020303" pitchFamily="18" charset="0"/>
              </a:rPr>
              <a:t>A cold storage scheme placed in the wrong district solves nothing.</a:t>
            </a:r>
          </a:p>
        </p:txBody>
      </p:sp>
      <p:sp>
        <p:nvSpPr>
          <p:cNvPr id="301" name="Shape 7"/>
          <p:cNvSpPr/>
          <p:nvPr/>
        </p:nvSpPr>
        <p:spPr>
          <a:xfrm>
            <a:off x="6522721" y="3456327"/>
            <a:ext cx="365761" cy="365761"/>
          </a:xfrm>
          <a:prstGeom prst="rect">
            <a:avLst/>
          </a:prstGeom>
          <a:solidFill>
            <a:srgbClr val="E8A020"/>
          </a:solidFill>
          <a:ln w="12700">
            <a:solidFill>
              <a:srgbClr val="E8A020"/>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302" name="Text 8"/>
          <p:cNvSpPr txBox="1"/>
          <p:nvPr/>
        </p:nvSpPr>
        <p:spPr>
          <a:xfrm>
            <a:off x="7071361" y="3397169"/>
            <a:ext cx="4632959" cy="5025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defRPr sz="1000">
                <a:solidFill>
                  <a:srgbClr val="2B2B2B"/>
                </a:solidFill>
                <a:latin typeface="Calibri"/>
                <a:ea typeface="Calibri"/>
                <a:cs typeface="Calibri"/>
                <a:sym typeface="Calibri"/>
              </a:defRPr>
            </a:lvl1pPr>
          </a:lstStyle>
          <a:p>
            <a:r>
              <a:rPr sz="1300">
                <a:latin typeface="Georgia" panose="02040502050405020303" pitchFamily="18" charset="0"/>
              </a:rPr>
              <a:t>A logistics platform built for a crop whose losses peak at the farm gate misses the point.</a:t>
            </a:r>
          </a:p>
        </p:txBody>
      </p:sp>
      <p:sp>
        <p:nvSpPr>
          <p:cNvPr id="303" name="Shape 9"/>
          <p:cNvSpPr/>
          <p:nvPr/>
        </p:nvSpPr>
        <p:spPr>
          <a:xfrm>
            <a:off x="6522721" y="4370725"/>
            <a:ext cx="365761" cy="365761"/>
          </a:xfrm>
          <a:prstGeom prst="rect">
            <a:avLst/>
          </a:prstGeom>
          <a:solidFill>
            <a:srgbClr val="E8A020"/>
          </a:solidFill>
          <a:ln w="12700">
            <a:solidFill>
              <a:srgbClr val="E8A020"/>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304" name="Text 10"/>
          <p:cNvSpPr txBox="1"/>
          <p:nvPr/>
        </p:nvSpPr>
        <p:spPr>
          <a:xfrm>
            <a:off x="7071361" y="4311569"/>
            <a:ext cx="4632959" cy="5025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defRPr sz="1000">
                <a:solidFill>
                  <a:srgbClr val="2B2B2B"/>
                </a:solidFill>
                <a:latin typeface="Calibri"/>
                <a:ea typeface="Calibri"/>
                <a:cs typeface="Calibri"/>
                <a:sym typeface="Calibri"/>
              </a:defRPr>
            </a:lvl1pPr>
          </a:lstStyle>
          <a:p>
            <a:r>
              <a:rPr sz="1300">
                <a:latin typeface="Georgia" panose="02040502050405020303" pitchFamily="18" charset="0"/>
              </a:rPr>
              <a:t>Good intentions without grounded diagnosis lead to the wrong solutions.</a:t>
            </a:r>
          </a:p>
        </p:txBody>
      </p:sp>
      <p:sp>
        <p:nvSpPr>
          <p:cNvPr id="305" name="Shape 11"/>
          <p:cNvSpPr/>
          <p:nvPr/>
        </p:nvSpPr>
        <p:spPr>
          <a:xfrm>
            <a:off x="6522721" y="5285125"/>
            <a:ext cx="365761" cy="365761"/>
          </a:xfrm>
          <a:prstGeom prst="rect">
            <a:avLst/>
          </a:prstGeom>
          <a:solidFill>
            <a:srgbClr val="E8A020"/>
          </a:solidFill>
          <a:ln w="12700">
            <a:solidFill>
              <a:srgbClr val="E8A020"/>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306" name="Text 12"/>
          <p:cNvSpPr txBox="1"/>
          <p:nvPr/>
        </p:nvSpPr>
        <p:spPr>
          <a:xfrm>
            <a:off x="7071361" y="5225967"/>
            <a:ext cx="4632959" cy="5025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defRPr sz="1000">
                <a:solidFill>
                  <a:srgbClr val="2B2B2B"/>
                </a:solidFill>
                <a:latin typeface="Calibri"/>
                <a:ea typeface="Calibri"/>
                <a:cs typeface="Calibri"/>
                <a:sym typeface="Calibri"/>
              </a:defRPr>
            </a:lvl1pPr>
          </a:lstStyle>
          <a:p>
            <a:r>
              <a:rPr sz="1300">
                <a:latin typeface="Georgia" panose="02040502050405020303" pitchFamily="18" charset="0"/>
              </a:rPr>
              <a:t>We needed to know which crops, which stages, and which structural barriers before designing anything.</a:t>
            </a:r>
          </a:p>
        </p:txBody>
      </p:sp>
      <p:grpSp>
        <p:nvGrpSpPr>
          <p:cNvPr id="327" name="Group 37"/>
          <p:cNvGrpSpPr/>
          <p:nvPr/>
        </p:nvGrpSpPr>
        <p:grpSpPr>
          <a:xfrm>
            <a:off x="548640" y="1667251"/>
            <a:ext cx="5791200" cy="4133092"/>
            <a:chOff x="-1" y="-1"/>
            <a:chExt cx="4343400" cy="3099817"/>
          </a:xfrm>
        </p:grpSpPr>
        <p:sp>
          <p:nvSpPr>
            <p:cNvPr id="307" name="Shape 13"/>
            <p:cNvSpPr/>
            <p:nvPr/>
          </p:nvSpPr>
          <p:spPr>
            <a:xfrm>
              <a:off x="0" y="-1"/>
              <a:ext cx="4297680" cy="713233"/>
            </a:xfrm>
            <a:prstGeom prst="rect">
              <a:avLst/>
            </a:prstGeom>
            <a:solidFill>
              <a:srgbClr val="FFFFFF"/>
            </a:solidFill>
            <a:ln w="12700" cap="flat">
              <a:solidFill>
                <a:srgbClr val="E8E8E8"/>
              </a:solidFill>
              <a:prstDash val="solid"/>
              <a:round/>
            </a:ln>
            <a:effectLst>
              <a:outerShdw blurRad="101600" dist="38100" dir="8100000" rotWithShape="0">
                <a:srgbClr val="000000">
                  <a:alpha val="12000"/>
                </a:srgbClr>
              </a:outerShdw>
            </a:effectLst>
          </p:spPr>
          <p:txBody>
            <a:bodyPr wrap="square" lIns="60959" tIns="60959" rIns="60959" bIns="60959" numCol="1" anchor="t">
              <a:noAutofit/>
            </a:bodyPr>
            <a:lstStyle/>
            <a:p>
              <a:pPr>
                <a:defRPr sz="1800">
                  <a:latin typeface="Calibri"/>
                  <a:ea typeface="Calibri"/>
                  <a:cs typeface="Calibri"/>
                  <a:sym typeface="Calibri"/>
                </a:defRPr>
              </a:pPr>
              <a:endParaRPr sz="2400">
                <a:latin typeface="Georgia" panose="02040502050405020303" pitchFamily="18" charset="0"/>
              </a:endParaRPr>
            </a:p>
          </p:txBody>
        </p:sp>
        <p:sp>
          <p:nvSpPr>
            <p:cNvPr id="308" name="Shape 14"/>
            <p:cNvSpPr/>
            <p:nvPr/>
          </p:nvSpPr>
          <p:spPr>
            <a:xfrm>
              <a:off x="-1" y="-1"/>
              <a:ext cx="548641" cy="713233"/>
            </a:xfrm>
            <a:prstGeom prst="rect">
              <a:avLst/>
            </a:prstGeom>
            <a:solidFill>
              <a:srgbClr val="2A5C2E"/>
            </a:solidFill>
            <a:ln w="12700" cap="flat">
              <a:solidFill>
                <a:srgbClr val="2A5C2E"/>
              </a:solidFill>
              <a:prstDash val="solid"/>
              <a:round/>
            </a:ln>
            <a:effectLst/>
          </p:spPr>
          <p:txBody>
            <a:bodyPr wrap="square" lIns="60959" tIns="60959" rIns="60959" bIns="60959" numCol="1" anchor="t">
              <a:noAutofit/>
            </a:bodyPr>
            <a:lstStyle/>
            <a:p>
              <a:pPr>
                <a:defRPr sz="1800">
                  <a:latin typeface="Calibri"/>
                  <a:ea typeface="Calibri"/>
                  <a:cs typeface="Calibri"/>
                  <a:sym typeface="Calibri"/>
                </a:defRPr>
              </a:pPr>
              <a:endParaRPr sz="2400">
                <a:latin typeface="Georgia" panose="02040502050405020303" pitchFamily="18" charset="0"/>
              </a:endParaRPr>
            </a:p>
          </p:txBody>
        </p:sp>
        <p:sp>
          <p:nvSpPr>
            <p:cNvPr id="309" name="Text 15"/>
            <p:cNvSpPr txBox="1"/>
            <p:nvPr/>
          </p:nvSpPr>
          <p:spPr>
            <a:xfrm>
              <a:off x="45719" y="187364"/>
              <a:ext cx="457201" cy="3385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tIns="60959" rIns="60959" bIns="60959" numCol="1" anchor="ctr">
              <a:spAutoFit/>
            </a:bodyPr>
            <a:lstStyle>
              <a:lvl1pPr algn="ctr">
                <a:defRPr sz="1600" b="1">
                  <a:solidFill>
                    <a:srgbClr val="FFFFFF"/>
                  </a:solidFill>
                  <a:latin typeface="Georgia"/>
                  <a:ea typeface="Georgia"/>
                  <a:cs typeface="Georgia"/>
                  <a:sym typeface="Georgia"/>
                </a:defRPr>
              </a:lvl1pPr>
            </a:lstStyle>
            <a:p>
              <a:r>
                <a:rPr sz="2133">
                  <a:latin typeface="Georgia" panose="02040502050405020303" pitchFamily="18" charset="0"/>
                </a:rPr>
                <a:t>01</a:t>
              </a:r>
            </a:p>
          </p:txBody>
        </p:sp>
        <p:sp>
          <p:nvSpPr>
            <p:cNvPr id="310" name="Text 16"/>
            <p:cNvSpPr txBox="1"/>
            <p:nvPr/>
          </p:nvSpPr>
          <p:spPr>
            <a:xfrm>
              <a:off x="685799" y="55923"/>
              <a:ext cx="3474721" cy="25391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tIns="60959" rIns="60959" bIns="60959" numCol="1" anchor="ctr">
              <a:spAutoFit/>
            </a:bodyPr>
            <a:lstStyle>
              <a:lvl1pPr>
                <a:defRPr sz="1000" b="1">
                  <a:solidFill>
                    <a:srgbClr val="2A5C2E"/>
                  </a:solidFill>
                  <a:latin typeface="Calibri"/>
                  <a:ea typeface="Calibri"/>
                  <a:cs typeface="Calibri"/>
                  <a:sym typeface="Calibri"/>
                </a:defRPr>
              </a:lvl1pPr>
            </a:lstStyle>
            <a:p>
              <a:r>
                <a:rPr sz="1400" dirty="0">
                  <a:latin typeface="Georgia" panose="02040502050405020303" pitchFamily="18" charset="0"/>
                </a:rPr>
                <a:t>Identify 7 priority crops</a:t>
              </a:r>
            </a:p>
          </p:txBody>
        </p:sp>
        <p:sp>
          <p:nvSpPr>
            <p:cNvPr id="311" name="Text 17"/>
            <p:cNvSpPr txBox="1"/>
            <p:nvPr/>
          </p:nvSpPr>
          <p:spPr>
            <a:xfrm>
              <a:off x="685799" y="292611"/>
              <a:ext cx="3657600" cy="39241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tIns="60959" rIns="60959" bIns="60959" numCol="1" anchor="ctr">
              <a:spAutoFit/>
            </a:bodyPr>
            <a:lstStyle>
              <a:lvl1pPr>
                <a:defRPr sz="800">
                  <a:solidFill>
                    <a:srgbClr val="2B2B2B"/>
                  </a:solidFill>
                  <a:latin typeface="Calibri"/>
                  <a:ea typeface="Calibri"/>
                  <a:cs typeface="Calibri"/>
                  <a:sym typeface="Calibri"/>
                </a:defRPr>
              </a:lvl1pPr>
            </a:lstStyle>
            <a:p>
              <a:r>
                <a:rPr sz="1300" dirty="0">
                  <a:latin typeface="Georgia" panose="02040502050405020303" pitchFamily="18" charset="0"/>
                </a:rPr>
                <a:t>Onion, Mango, Banana, Tomato, Grapes, Pomegranate, Pineapple — representing the majority of horticulture production</a:t>
              </a:r>
            </a:p>
          </p:txBody>
        </p:sp>
        <p:sp>
          <p:nvSpPr>
            <p:cNvPr id="312" name="Shape 18"/>
            <p:cNvSpPr/>
            <p:nvPr/>
          </p:nvSpPr>
          <p:spPr>
            <a:xfrm>
              <a:off x="0" y="795527"/>
              <a:ext cx="4297680" cy="713233"/>
            </a:xfrm>
            <a:prstGeom prst="rect">
              <a:avLst/>
            </a:prstGeom>
            <a:solidFill>
              <a:srgbClr val="FFFFFF"/>
            </a:solidFill>
            <a:ln w="12700" cap="flat">
              <a:solidFill>
                <a:srgbClr val="E8E8E8"/>
              </a:solidFill>
              <a:prstDash val="solid"/>
              <a:round/>
            </a:ln>
            <a:effectLst>
              <a:outerShdw blurRad="101600" dist="38100" dir="8100000" rotWithShape="0">
                <a:srgbClr val="000000">
                  <a:alpha val="12000"/>
                </a:srgbClr>
              </a:outerShdw>
            </a:effectLst>
          </p:spPr>
          <p:txBody>
            <a:bodyPr wrap="square" lIns="60959" tIns="60959" rIns="60959" bIns="60959" numCol="1" anchor="t">
              <a:noAutofit/>
            </a:bodyPr>
            <a:lstStyle/>
            <a:p>
              <a:pPr>
                <a:defRPr sz="1800">
                  <a:latin typeface="Calibri"/>
                  <a:ea typeface="Calibri"/>
                  <a:cs typeface="Calibri"/>
                  <a:sym typeface="Calibri"/>
                </a:defRPr>
              </a:pPr>
              <a:endParaRPr sz="2400">
                <a:latin typeface="Georgia" panose="02040502050405020303" pitchFamily="18" charset="0"/>
              </a:endParaRPr>
            </a:p>
          </p:txBody>
        </p:sp>
        <p:sp>
          <p:nvSpPr>
            <p:cNvPr id="313" name="Shape 19"/>
            <p:cNvSpPr/>
            <p:nvPr/>
          </p:nvSpPr>
          <p:spPr>
            <a:xfrm>
              <a:off x="-1" y="795527"/>
              <a:ext cx="548641" cy="713233"/>
            </a:xfrm>
            <a:prstGeom prst="rect">
              <a:avLst/>
            </a:prstGeom>
            <a:solidFill>
              <a:srgbClr val="2A5C2E"/>
            </a:solidFill>
            <a:ln w="12700" cap="flat">
              <a:solidFill>
                <a:srgbClr val="2A5C2E"/>
              </a:solidFill>
              <a:prstDash val="solid"/>
              <a:round/>
            </a:ln>
            <a:effectLst/>
          </p:spPr>
          <p:txBody>
            <a:bodyPr wrap="square" lIns="60959" tIns="60959" rIns="60959" bIns="60959" numCol="1" anchor="t">
              <a:noAutofit/>
            </a:bodyPr>
            <a:lstStyle/>
            <a:p>
              <a:pPr>
                <a:defRPr sz="1800">
                  <a:latin typeface="Calibri"/>
                  <a:ea typeface="Calibri"/>
                  <a:cs typeface="Calibri"/>
                  <a:sym typeface="Calibri"/>
                </a:defRPr>
              </a:pPr>
              <a:endParaRPr sz="2400">
                <a:latin typeface="Georgia" panose="02040502050405020303" pitchFamily="18" charset="0"/>
              </a:endParaRPr>
            </a:p>
          </p:txBody>
        </p:sp>
        <p:sp>
          <p:nvSpPr>
            <p:cNvPr id="314" name="Text 20"/>
            <p:cNvSpPr txBox="1"/>
            <p:nvPr/>
          </p:nvSpPr>
          <p:spPr>
            <a:xfrm>
              <a:off x="45719" y="982893"/>
              <a:ext cx="457201" cy="3385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tIns="60959" rIns="60959" bIns="60959" numCol="1" anchor="ctr">
              <a:spAutoFit/>
            </a:bodyPr>
            <a:lstStyle>
              <a:lvl1pPr algn="ctr">
                <a:defRPr sz="1600" b="1">
                  <a:solidFill>
                    <a:srgbClr val="FFFFFF"/>
                  </a:solidFill>
                  <a:latin typeface="Georgia"/>
                  <a:ea typeface="Georgia"/>
                  <a:cs typeface="Georgia"/>
                  <a:sym typeface="Georgia"/>
                </a:defRPr>
              </a:lvl1pPr>
            </a:lstStyle>
            <a:p>
              <a:r>
                <a:rPr sz="2133">
                  <a:latin typeface="Georgia" panose="02040502050405020303" pitchFamily="18" charset="0"/>
                </a:rPr>
                <a:t>02</a:t>
              </a:r>
            </a:p>
          </p:txBody>
        </p:sp>
        <p:sp>
          <p:nvSpPr>
            <p:cNvPr id="315" name="Text 21"/>
            <p:cNvSpPr txBox="1"/>
            <p:nvPr/>
          </p:nvSpPr>
          <p:spPr>
            <a:xfrm>
              <a:off x="685799" y="851451"/>
              <a:ext cx="3474721" cy="25391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tIns="60959" rIns="60959" bIns="60959" numCol="1" anchor="ctr">
              <a:spAutoFit/>
            </a:bodyPr>
            <a:lstStyle>
              <a:lvl1pPr>
                <a:defRPr sz="1000" b="1">
                  <a:solidFill>
                    <a:srgbClr val="2A5C2E"/>
                  </a:solidFill>
                  <a:latin typeface="Calibri"/>
                  <a:ea typeface="Calibri"/>
                  <a:cs typeface="Calibri"/>
                  <a:sym typeface="Calibri"/>
                </a:defRPr>
              </a:lvl1pPr>
            </a:lstStyle>
            <a:p>
              <a:r>
                <a:rPr sz="1400">
                  <a:latin typeface="Georgia" panose="02040502050405020303" pitchFamily="18" charset="0"/>
                </a:rPr>
                <a:t>Map every value chain stage</a:t>
              </a:r>
            </a:p>
          </p:txBody>
        </p:sp>
        <p:sp>
          <p:nvSpPr>
            <p:cNvPr id="316" name="Text 22"/>
            <p:cNvSpPr txBox="1"/>
            <p:nvPr/>
          </p:nvSpPr>
          <p:spPr>
            <a:xfrm>
              <a:off x="685799" y="1111386"/>
              <a:ext cx="3474721" cy="39241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tIns="60959" rIns="60959" bIns="60959" numCol="1" anchor="ctr">
              <a:spAutoFit/>
            </a:bodyPr>
            <a:lstStyle>
              <a:lvl1pPr>
                <a:defRPr sz="800">
                  <a:solidFill>
                    <a:srgbClr val="2B2B2B"/>
                  </a:solidFill>
                  <a:latin typeface="Calibri"/>
                  <a:ea typeface="Calibri"/>
                  <a:cs typeface="Calibri"/>
                  <a:sym typeface="Calibri"/>
                </a:defRPr>
              </a:lvl1pPr>
            </a:lstStyle>
            <a:p>
              <a:r>
                <a:rPr sz="1300">
                  <a:latin typeface="Georgia" panose="02040502050405020303" pitchFamily="18" charset="0"/>
                </a:rPr>
                <a:t>Farm level: harvesting, sorting, packaging, storage → Market level: godown, wholesale, retail, processing, transport</a:t>
              </a:r>
            </a:p>
          </p:txBody>
        </p:sp>
        <p:sp>
          <p:nvSpPr>
            <p:cNvPr id="317" name="Shape 23"/>
            <p:cNvSpPr/>
            <p:nvPr/>
          </p:nvSpPr>
          <p:spPr>
            <a:xfrm>
              <a:off x="0" y="1591055"/>
              <a:ext cx="4297680" cy="713233"/>
            </a:xfrm>
            <a:prstGeom prst="rect">
              <a:avLst/>
            </a:prstGeom>
            <a:solidFill>
              <a:srgbClr val="FFFFFF"/>
            </a:solidFill>
            <a:ln w="12700" cap="flat">
              <a:solidFill>
                <a:srgbClr val="E8E8E8"/>
              </a:solidFill>
              <a:prstDash val="solid"/>
              <a:round/>
            </a:ln>
            <a:effectLst>
              <a:outerShdw blurRad="101600" dist="38100" dir="8100000" rotWithShape="0">
                <a:srgbClr val="000000">
                  <a:alpha val="12000"/>
                </a:srgbClr>
              </a:outerShdw>
            </a:effectLst>
          </p:spPr>
          <p:txBody>
            <a:bodyPr wrap="square" lIns="60959" tIns="60959" rIns="60959" bIns="60959" numCol="1" anchor="t">
              <a:noAutofit/>
            </a:bodyPr>
            <a:lstStyle/>
            <a:p>
              <a:pPr>
                <a:defRPr sz="1800">
                  <a:latin typeface="Calibri"/>
                  <a:ea typeface="Calibri"/>
                  <a:cs typeface="Calibri"/>
                  <a:sym typeface="Calibri"/>
                </a:defRPr>
              </a:pPr>
              <a:endParaRPr sz="2400">
                <a:latin typeface="Georgia" panose="02040502050405020303" pitchFamily="18" charset="0"/>
              </a:endParaRPr>
            </a:p>
          </p:txBody>
        </p:sp>
        <p:sp>
          <p:nvSpPr>
            <p:cNvPr id="318" name="Shape 24"/>
            <p:cNvSpPr/>
            <p:nvPr/>
          </p:nvSpPr>
          <p:spPr>
            <a:xfrm>
              <a:off x="-1" y="1591055"/>
              <a:ext cx="548641" cy="713233"/>
            </a:xfrm>
            <a:prstGeom prst="rect">
              <a:avLst/>
            </a:prstGeom>
            <a:solidFill>
              <a:srgbClr val="E8A020"/>
            </a:solidFill>
            <a:ln w="12700" cap="flat">
              <a:solidFill>
                <a:srgbClr val="E8A020"/>
              </a:solidFill>
              <a:prstDash val="solid"/>
              <a:round/>
            </a:ln>
            <a:effectLst/>
          </p:spPr>
          <p:txBody>
            <a:bodyPr wrap="square" lIns="60959" tIns="60959" rIns="60959" bIns="60959" numCol="1" anchor="t">
              <a:noAutofit/>
            </a:bodyPr>
            <a:lstStyle/>
            <a:p>
              <a:pPr>
                <a:defRPr sz="1800">
                  <a:latin typeface="Calibri"/>
                  <a:ea typeface="Calibri"/>
                  <a:cs typeface="Calibri"/>
                  <a:sym typeface="Calibri"/>
                </a:defRPr>
              </a:pPr>
              <a:endParaRPr sz="2400">
                <a:latin typeface="Georgia" panose="02040502050405020303" pitchFamily="18" charset="0"/>
              </a:endParaRPr>
            </a:p>
          </p:txBody>
        </p:sp>
        <p:sp>
          <p:nvSpPr>
            <p:cNvPr id="319" name="Text 25"/>
            <p:cNvSpPr txBox="1"/>
            <p:nvPr/>
          </p:nvSpPr>
          <p:spPr>
            <a:xfrm>
              <a:off x="45719" y="1778420"/>
              <a:ext cx="457201" cy="3385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tIns="60959" rIns="60959" bIns="60959" numCol="1" anchor="ctr">
              <a:spAutoFit/>
            </a:bodyPr>
            <a:lstStyle>
              <a:lvl1pPr algn="ctr">
                <a:defRPr sz="1600" b="1">
                  <a:solidFill>
                    <a:srgbClr val="FFFFFF"/>
                  </a:solidFill>
                  <a:latin typeface="Georgia"/>
                  <a:ea typeface="Georgia"/>
                  <a:cs typeface="Georgia"/>
                  <a:sym typeface="Georgia"/>
                </a:defRPr>
              </a:lvl1pPr>
            </a:lstStyle>
            <a:p>
              <a:r>
                <a:rPr sz="2133">
                  <a:latin typeface="Georgia" panose="02040502050405020303" pitchFamily="18" charset="0"/>
                </a:rPr>
                <a:t>03</a:t>
              </a:r>
            </a:p>
          </p:txBody>
        </p:sp>
        <p:sp>
          <p:nvSpPr>
            <p:cNvPr id="320" name="Text 26"/>
            <p:cNvSpPr txBox="1"/>
            <p:nvPr/>
          </p:nvSpPr>
          <p:spPr>
            <a:xfrm>
              <a:off x="685799" y="1646978"/>
              <a:ext cx="3474721" cy="25391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tIns="60959" rIns="60959" bIns="60959" numCol="1" anchor="ctr">
              <a:spAutoFit/>
            </a:bodyPr>
            <a:lstStyle>
              <a:lvl1pPr>
                <a:defRPr sz="1000" b="1">
                  <a:solidFill>
                    <a:srgbClr val="2A5C2E"/>
                  </a:solidFill>
                  <a:latin typeface="Calibri"/>
                  <a:ea typeface="Calibri"/>
                  <a:cs typeface="Calibri"/>
                  <a:sym typeface="Calibri"/>
                </a:defRPr>
              </a:lvl1pPr>
            </a:lstStyle>
            <a:p>
              <a:r>
                <a:rPr sz="1400">
                  <a:latin typeface="Georgia" panose="02040502050405020303" pitchFamily="18" charset="0"/>
                </a:rPr>
                <a:t>Assess loss at each stage</a:t>
              </a:r>
            </a:p>
          </p:txBody>
        </p:sp>
        <p:sp>
          <p:nvSpPr>
            <p:cNvPr id="321" name="Text 27"/>
            <p:cNvSpPr txBox="1"/>
            <p:nvPr/>
          </p:nvSpPr>
          <p:spPr>
            <a:xfrm>
              <a:off x="685799" y="1906914"/>
              <a:ext cx="3474721" cy="39241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tIns="60959" rIns="60959" bIns="60959" numCol="1" anchor="ctr">
              <a:spAutoFit/>
            </a:bodyPr>
            <a:lstStyle>
              <a:lvl1pPr>
                <a:defRPr sz="800">
                  <a:solidFill>
                    <a:srgbClr val="2B2B2B"/>
                  </a:solidFill>
                  <a:latin typeface="Calibri"/>
                  <a:ea typeface="Calibri"/>
                  <a:cs typeface="Calibri"/>
                  <a:sym typeface="Calibri"/>
                </a:defRPr>
              </a:lvl1pPr>
            </a:lstStyle>
            <a:p>
              <a:r>
                <a:rPr sz="1300">
                  <a:latin typeface="Georgia" panose="02040502050405020303" pitchFamily="18" charset="0"/>
                </a:rPr>
                <a:t>Stage-wise loss percentages from field assessments, FPO interviews and officer estimates across districts</a:t>
              </a:r>
            </a:p>
          </p:txBody>
        </p:sp>
        <p:sp>
          <p:nvSpPr>
            <p:cNvPr id="322" name="Shape 28"/>
            <p:cNvSpPr/>
            <p:nvPr/>
          </p:nvSpPr>
          <p:spPr>
            <a:xfrm>
              <a:off x="0" y="2386583"/>
              <a:ext cx="4297680" cy="713233"/>
            </a:xfrm>
            <a:prstGeom prst="rect">
              <a:avLst/>
            </a:prstGeom>
            <a:solidFill>
              <a:srgbClr val="FFFFFF"/>
            </a:solidFill>
            <a:ln w="12700" cap="flat">
              <a:solidFill>
                <a:srgbClr val="E8E8E8"/>
              </a:solidFill>
              <a:prstDash val="solid"/>
              <a:round/>
            </a:ln>
            <a:effectLst>
              <a:outerShdw blurRad="101600" dist="38100" dir="8100000" rotWithShape="0">
                <a:srgbClr val="000000">
                  <a:alpha val="12000"/>
                </a:srgbClr>
              </a:outerShdw>
            </a:effectLst>
          </p:spPr>
          <p:txBody>
            <a:bodyPr wrap="square" lIns="60959" tIns="60959" rIns="60959" bIns="60959" numCol="1" anchor="t">
              <a:noAutofit/>
            </a:bodyPr>
            <a:lstStyle/>
            <a:p>
              <a:pPr>
                <a:defRPr sz="1800">
                  <a:latin typeface="Calibri"/>
                  <a:ea typeface="Calibri"/>
                  <a:cs typeface="Calibri"/>
                  <a:sym typeface="Calibri"/>
                </a:defRPr>
              </a:pPr>
              <a:endParaRPr sz="2400">
                <a:latin typeface="Georgia" panose="02040502050405020303" pitchFamily="18" charset="0"/>
              </a:endParaRPr>
            </a:p>
          </p:txBody>
        </p:sp>
        <p:sp>
          <p:nvSpPr>
            <p:cNvPr id="323" name="Shape 29"/>
            <p:cNvSpPr/>
            <p:nvPr/>
          </p:nvSpPr>
          <p:spPr>
            <a:xfrm>
              <a:off x="-1" y="2386583"/>
              <a:ext cx="548641" cy="713233"/>
            </a:xfrm>
            <a:prstGeom prst="rect">
              <a:avLst/>
            </a:prstGeom>
            <a:solidFill>
              <a:srgbClr val="E8A020"/>
            </a:solidFill>
            <a:ln w="12700" cap="flat">
              <a:solidFill>
                <a:srgbClr val="E8A020"/>
              </a:solidFill>
              <a:prstDash val="solid"/>
              <a:round/>
            </a:ln>
            <a:effectLst/>
          </p:spPr>
          <p:txBody>
            <a:bodyPr wrap="square" lIns="60959" tIns="60959" rIns="60959" bIns="60959" numCol="1" anchor="t">
              <a:noAutofit/>
            </a:bodyPr>
            <a:lstStyle/>
            <a:p>
              <a:pPr>
                <a:defRPr sz="1800">
                  <a:latin typeface="Calibri"/>
                  <a:ea typeface="Calibri"/>
                  <a:cs typeface="Calibri"/>
                  <a:sym typeface="Calibri"/>
                </a:defRPr>
              </a:pPr>
              <a:endParaRPr sz="2400">
                <a:latin typeface="Georgia" panose="02040502050405020303" pitchFamily="18" charset="0"/>
              </a:endParaRPr>
            </a:p>
          </p:txBody>
        </p:sp>
        <p:sp>
          <p:nvSpPr>
            <p:cNvPr id="324" name="Text 30"/>
            <p:cNvSpPr txBox="1"/>
            <p:nvPr/>
          </p:nvSpPr>
          <p:spPr>
            <a:xfrm>
              <a:off x="45719" y="2573948"/>
              <a:ext cx="457201" cy="3385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tIns="60959" rIns="60959" bIns="60959" numCol="1" anchor="ctr">
              <a:spAutoFit/>
            </a:bodyPr>
            <a:lstStyle>
              <a:lvl1pPr algn="ctr">
                <a:defRPr sz="1600" b="1">
                  <a:solidFill>
                    <a:srgbClr val="FFFFFF"/>
                  </a:solidFill>
                  <a:latin typeface="Georgia"/>
                  <a:ea typeface="Georgia"/>
                  <a:cs typeface="Georgia"/>
                  <a:sym typeface="Georgia"/>
                </a:defRPr>
              </a:lvl1pPr>
            </a:lstStyle>
            <a:p>
              <a:r>
                <a:rPr sz="2133">
                  <a:latin typeface="Georgia" panose="02040502050405020303" pitchFamily="18" charset="0"/>
                </a:rPr>
                <a:t>04</a:t>
              </a:r>
            </a:p>
          </p:txBody>
        </p:sp>
        <p:sp>
          <p:nvSpPr>
            <p:cNvPr id="325" name="Text 31"/>
            <p:cNvSpPr txBox="1"/>
            <p:nvPr/>
          </p:nvSpPr>
          <p:spPr>
            <a:xfrm>
              <a:off x="685799" y="2442507"/>
              <a:ext cx="3474721" cy="25391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tIns="60959" rIns="60959" bIns="60959" numCol="1" anchor="ctr">
              <a:spAutoFit/>
            </a:bodyPr>
            <a:lstStyle>
              <a:lvl1pPr>
                <a:defRPr sz="1000" b="1">
                  <a:solidFill>
                    <a:srgbClr val="2A5C2E"/>
                  </a:solidFill>
                  <a:latin typeface="Calibri"/>
                  <a:ea typeface="Calibri"/>
                  <a:cs typeface="Calibri"/>
                  <a:sym typeface="Calibri"/>
                </a:defRPr>
              </a:lvl1pPr>
            </a:lstStyle>
            <a:p>
              <a:r>
                <a:rPr sz="1400">
                  <a:latin typeface="Georgia" panose="02040502050405020303" pitchFamily="18" charset="0"/>
                </a:rPr>
                <a:t>Identify critical hotspots</a:t>
              </a:r>
            </a:p>
          </p:txBody>
        </p:sp>
        <p:sp>
          <p:nvSpPr>
            <p:cNvPr id="326" name="Text 32"/>
            <p:cNvSpPr txBox="1"/>
            <p:nvPr/>
          </p:nvSpPr>
          <p:spPr>
            <a:xfrm>
              <a:off x="685799" y="2702442"/>
              <a:ext cx="3474721" cy="39241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tIns="60959" rIns="60959" bIns="60959" numCol="1" anchor="ctr">
              <a:spAutoFit/>
            </a:bodyPr>
            <a:lstStyle>
              <a:lvl1pPr>
                <a:defRPr sz="800">
                  <a:solidFill>
                    <a:srgbClr val="2B2B2B"/>
                  </a:solidFill>
                  <a:latin typeface="Calibri"/>
                  <a:ea typeface="Calibri"/>
                  <a:cs typeface="Calibri"/>
                  <a:sym typeface="Calibri"/>
                </a:defRPr>
              </a:lvl1pPr>
            </a:lstStyle>
            <a:p>
              <a:r>
                <a:rPr sz="1300">
                  <a:latin typeface="Georgia" panose="02040502050405020303" pitchFamily="18" charset="0"/>
                </a:rPr>
                <a:t>Pinpoint where the highest losses occur by crop and stage — to design targeted, evidence-backed challenge categories</a:t>
              </a:r>
            </a:p>
          </p:txBody>
        </p:sp>
      </p:grpSp>
      <p:sp>
        <p:nvSpPr>
          <p:cNvPr id="2" name="Slide Number Placeholder 2">
            <a:extLst>
              <a:ext uri="{FF2B5EF4-FFF2-40B4-BE49-F238E27FC236}">
                <a16:creationId xmlns:a16="http://schemas.microsoft.com/office/drawing/2014/main" id="{076766F5-0097-75A7-AA3C-C0478A3743AA}"/>
              </a:ext>
            </a:extLst>
          </p:cNvPr>
          <p:cNvSpPr>
            <a:spLocks noGrp="1"/>
          </p:cNvSpPr>
          <p:nvPr>
            <p:ph type="sldNum" sz="quarter" idx="7"/>
          </p:nvPr>
        </p:nvSpPr>
        <p:spPr>
          <a:xfrm>
            <a:off x="779630" y="6440648"/>
            <a:ext cx="383540" cy="115416"/>
          </a:xfrm>
        </p:spPr>
        <p:txBody>
          <a:bodyPr/>
          <a:lstStyle/>
          <a:p>
            <a:pPr marL="12700">
              <a:spcBef>
                <a:spcPts val="60"/>
              </a:spcBef>
            </a:pPr>
            <a:r>
              <a:rPr lang="en-IN" dirty="0">
                <a:latin typeface="Georgia" panose="02040502050405020303" pitchFamily="18" charset="0"/>
              </a:rPr>
              <a:t>Page</a:t>
            </a:r>
            <a:r>
              <a:rPr lang="en-IN" spc="-55" dirty="0">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4</a:t>
            </a:fld>
            <a:endParaRPr dirty="0">
              <a:latin typeface="Georgia" panose="02040502050405020303" pitchFamily="18" charset="0"/>
            </a:endParaRPr>
          </a:p>
        </p:txBody>
      </p:sp>
      <p:pic>
        <p:nvPicPr>
          <p:cNvPr id="3" name="Picture 2">
            <a:extLst>
              <a:ext uri="{FF2B5EF4-FFF2-40B4-BE49-F238E27FC236}">
                <a16:creationId xmlns:a16="http://schemas.microsoft.com/office/drawing/2014/main" id="{4DE3E954-1956-51DB-A276-5AED2B752B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57434"/>
            <a:ext cx="12192000" cy="987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Shape 0"/>
          <p:cNvSpPr/>
          <p:nvPr/>
        </p:nvSpPr>
        <p:spPr>
          <a:xfrm>
            <a:off x="0" y="0"/>
            <a:ext cx="12192000" cy="914400"/>
          </a:xfrm>
          <a:prstGeom prst="rect">
            <a:avLst/>
          </a:prstGeom>
          <a:solidFill>
            <a:srgbClr val="2A5C2E"/>
          </a:solidFill>
          <a:ln w="12700">
            <a:solidFill>
              <a:srgbClr val="2A5C2E"/>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379" name="Text 1"/>
          <p:cNvSpPr txBox="1"/>
          <p:nvPr/>
        </p:nvSpPr>
        <p:spPr>
          <a:xfrm>
            <a:off x="441960" y="279784"/>
            <a:ext cx="11216640"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defRPr sz="2000" b="1">
                <a:solidFill>
                  <a:srgbClr val="FFFFFF"/>
                </a:solidFill>
                <a:latin typeface="Georgia"/>
                <a:ea typeface="Georgia"/>
                <a:cs typeface="Georgia"/>
                <a:sym typeface="Georgia"/>
              </a:defRPr>
            </a:lvl1pPr>
          </a:lstStyle>
          <a:p>
            <a:r>
              <a:rPr sz="2400" dirty="0">
                <a:latin typeface="Georgia" panose="02040502050405020303" pitchFamily="18" charset="0"/>
              </a:rPr>
              <a:t>From Evidence to Action: The Sampurna Grand Challenge 2026</a:t>
            </a:r>
          </a:p>
        </p:txBody>
      </p:sp>
      <p:sp>
        <p:nvSpPr>
          <p:cNvPr id="380" name="Text 2"/>
          <p:cNvSpPr txBox="1"/>
          <p:nvPr/>
        </p:nvSpPr>
        <p:spPr>
          <a:xfrm>
            <a:off x="487680" y="1295400"/>
            <a:ext cx="11216640"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defRPr sz="1300" i="1">
                <a:solidFill>
                  <a:srgbClr val="2B2B2B"/>
                </a:solidFill>
                <a:latin typeface="Calibri"/>
                <a:ea typeface="Calibri"/>
                <a:cs typeface="Calibri"/>
                <a:sym typeface="Calibri"/>
              </a:defRPr>
            </a:lvl1pPr>
          </a:lstStyle>
          <a:p>
            <a:r>
              <a:rPr sz="1600" dirty="0">
                <a:solidFill>
                  <a:schemeClr val="tx1"/>
                </a:solidFill>
                <a:latin typeface="Georgia" panose="02040502050405020303" pitchFamily="18" charset="0"/>
              </a:rPr>
              <a:t>The gap assessment showed us exactly where the problems lie. The challenge invites the ecosystem to solve them.</a:t>
            </a:r>
          </a:p>
        </p:txBody>
      </p:sp>
      <p:sp>
        <p:nvSpPr>
          <p:cNvPr id="381" name="Shape 3"/>
          <p:cNvSpPr/>
          <p:nvPr/>
        </p:nvSpPr>
        <p:spPr>
          <a:xfrm>
            <a:off x="341377" y="2072637"/>
            <a:ext cx="2682239" cy="3413763"/>
          </a:xfrm>
          <a:prstGeom prst="rect">
            <a:avLst/>
          </a:prstGeom>
          <a:solidFill>
            <a:srgbClr val="FFFFFF"/>
          </a:solidFill>
          <a:ln w="12700">
            <a:solidFill>
              <a:srgbClr val="E8E8E8"/>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382" name="Shape 4"/>
          <p:cNvSpPr/>
          <p:nvPr/>
        </p:nvSpPr>
        <p:spPr>
          <a:xfrm>
            <a:off x="341377" y="2072638"/>
            <a:ext cx="2682239" cy="755905"/>
          </a:xfrm>
          <a:prstGeom prst="rect">
            <a:avLst/>
          </a:prstGeom>
          <a:solidFill>
            <a:srgbClr val="2A5C2E"/>
          </a:solidFill>
          <a:ln w="12700">
            <a:solidFill>
              <a:srgbClr val="2A5C2E"/>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pic>
        <p:nvPicPr>
          <p:cNvPr id="383" name="Image 0" descr="Image 0"/>
          <p:cNvPicPr>
            <a:picLocks noChangeAspect="1"/>
          </p:cNvPicPr>
          <p:nvPr/>
        </p:nvPicPr>
        <p:blipFill>
          <a:blip r:embed="rId2"/>
          <a:stretch>
            <a:fillRect/>
          </a:stretch>
        </p:blipFill>
        <p:spPr>
          <a:xfrm>
            <a:off x="1414272" y="2182367"/>
            <a:ext cx="536449" cy="536449"/>
          </a:xfrm>
          <a:prstGeom prst="rect">
            <a:avLst/>
          </a:prstGeom>
          <a:ln w="12700">
            <a:miter lim="400000"/>
          </a:ln>
        </p:spPr>
      </p:pic>
      <p:sp>
        <p:nvSpPr>
          <p:cNvPr id="384" name="Text 5"/>
          <p:cNvSpPr txBox="1"/>
          <p:nvPr/>
        </p:nvSpPr>
        <p:spPr>
          <a:xfrm>
            <a:off x="499871" y="2897985"/>
            <a:ext cx="2377443" cy="5438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1100" b="1">
                <a:solidFill>
                  <a:srgbClr val="2A5C2E"/>
                </a:solidFill>
                <a:latin typeface="Calibri"/>
                <a:ea typeface="Calibri"/>
                <a:cs typeface="Calibri"/>
                <a:sym typeface="Calibri"/>
              </a:defRPr>
            </a:lvl1pPr>
          </a:lstStyle>
          <a:p>
            <a:r>
              <a:rPr sz="1400" dirty="0">
                <a:latin typeface="Georgia" panose="02040502050405020303" pitchFamily="18" charset="0"/>
              </a:rPr>
              <a:t>Harvest &amp; post Harvest Farm Operations</a:t>
            </a:r>
          </a:p>
        </p:txBody>
      </p:sp>
      <p:sp>
        <p:nvSpPr>
          <p:cNvPr id="385" name="Text 6"/>
          <p:cNvSpPr txBox="1"/>
          <p:nvPr/>
        </p:nvSpPr>
        <p:spPr>
          <a:xfrm>
            <a:off x="499871" y="3563369"/>
            <a:ext cx="2377443"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800" i="1">
                <a:solidFill>
                  <a:srgbClr val="6B6B6B"/>
                </a:solidFill>
                <a:latin typeface="Calibri"/>
                <a:ea typeface="Calibri"/>
                <a:cs typeface="Calibri"/>
                <a:sym typeface="Calibri"/>
              </a:defRPr>
            </a:lvl1pPr>
          </a:lstStyle>
          <a:p>
            <a:r>
              <a:rPr sz="1100" dirty="0">
                <a:latin typeface="Georgia" panose="02040502050405020303" pitchFamily="18" charset="0"/>
              </a:rPr>
              <a:t>Post-Harvest Value Chain Solutions</a:t>
            </a:r>
          </a:p>
        </p:txBody>
      </p:sp>
      <p:sp>
        <p:nvSpPr>
          <p:cNvPr id="386" name="Shape 7"/>
          <p:cNvSpPr/>
          <p:nvPr/>
        </p:nvSpPr>
        <p:spPr>
          <a:xfrm>
            <a:off x="524255" y="3962399"/>
            <a:ext cx="2316483" cy="24385"/>
          </a:xfrm>
          <a:prstGeom prst="rect">
            <a:avLst/>
          </a:prstGeom>
          <a:solidFill>
            <a:srgbClr val="E8E8E8"/>
          </a:solidFill>
          <a:ln w="12700">
            <a:solidFill>
              <a:srgbClr val="E8E8E8"/>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387" name="Text 8"/>
          <p:cNvSpPr txBox="1"/>
          <p:nvPr/>
        </p:nvSpPr>
        <p:spPr>
          <a:xfrm>
            <a:off x="524257" y="4247642"/>
            <a:ext cx="2316481" cy="8925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900">
                <a:solidFill>
                  <a:srgbClr val="2B2B2B"/>
                </a:solidFill>
                <a:latin typeface="Calibri"/>
                <a:ea typeface="Calibri"/>
                <a:cs typeface="Calibri"/>
                <a:sym typeface="Calibri"/>
              </a:defRPr>
            </a:lvl1pPr>
          </a:lstStyle>
          <a:p>
            <a:r>
              <a:rPr sz="1300" dirty="0">
                <a:latin typeface="Georgia" panose="02040502050405020303" pitchFamily="18" charset="0"/>
              </a:rPr>
              <a:t>Harvesting, sorting, grading, farm storage, on-farm mechanisation and pre-cooling</a:t>
            </a:r>
          </a:p>
        </p:txBody>
      </p:sp>
      <p:sp>
        <p:nvSpPr>
          <p:cNvPr id="388" name="Shape 9"/>
          <p:cNvSpPr/>
          <p:nvPr/>
        </p:nvSpPr>
        <p:spPr>
          <a:xfrm>
            <a:off x="3230881" y="2072637"/>
            <a:ext cx="2682239" cy="3413763"/>
          </a:xfrm>
          <a:prstGeom prst="rect">
            <a:avLst/>
          </a:prstGeom>
          <a:solidFill>
            <a:srgbClr val="FFFFFF"/>
          </a:solidFill>
          <a:ln w="12700">
            <a:solidFill>
              <a:srgbClr val="E8E8E8"/>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389" name="Shape 10"/>
          <p:cNvSpPr/>
          <p:nvPr/>
        </p:nvSpPr>
        <p:spPr>
          <a:xfrm>
            <a:off x="3230881" y="2072638"/>
            <a:ext cx="2682239" cy="755905"/>
          </a:xfrm>
          <a:prstGeom prst="rect">
            <a:avLst/>
          </a:prstGeom>
          <a:solidFill>
            <a:srgbClr val="E8A020"/>
          </a:solidFill>
          <a:ln w="12700">
            <a:solidFill>
              <a:srgbClr val="E8A020"/>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pic>
        <p:nvPicPr>
          <p:cNvPr id="390" name="Image 1" descr="Image 1"/>
          <p:cNvPicPr>
            <a:picLocks noChangeAspect="1"/>
          </p:cNvPicPr>
          <p:nvPr/>
        </p:nvPicPr>
        <p:blipFill>
          <a:blip r:embed="rId3"/>
          <a:stretch>
            <a:fillRect/>
          </a:stretch>
        </p:blipFill>
        <p:spPr>
          <a:xfrm>
            <a:off x="4303777" y="2182367"/>
            <a:ext cx="536449" cy="536449"/>
          </a:xfrm>
          <a:prstGeom prst="rect">
            <a:avLst/>
          </a:prstGeom>
          <a:ln w="12700">
            <a:miter lim="400000"/>
          </a:ln>
        </p:spPr>
      </p:pic>
      <p:sp>
        <p:nvSpPr>
          <p:cNvPr id="391" name="Text 11"/>
          <p:cNvSpPr txBox="1"/>
          <p:nvPr/>
        </p:nvSpPr>
        <p:spPr>
          <a:xfrm>
            <a:off x="3389376" y="2897986"/>
            <a:ext cx="2377441" cy="5438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1100" b="1">
                <a:solidFill>
                  <a:srgbClr val="E8A020"/>
                </a:solidFill>
                <a:latin typeface="Calibri"/>
                <a:ea typeface="Calibri"/>
                <a:cs typeface="Calibri"/>
                <a:sym typeface="Calibri"/>
              </a:defRPr>
            </a:lvl1pPr>
          </a:lstStyle>
          <a:p>
            <a:r>
              <a:rPr sz="1400">
                <a:latin typeface="Georgia" panose="02040502050405020303" pitchFamily="18" charset="0"/>
              </a:rPr>
              <a:t>Packaging &amp; Aggregation</a:t>
            </a:r>
          </a:p>
        </p:txBody>
      </p:sp>
      <p:sp>
        <p:nvSpPr>
          <p:cNvPr id="392" name="Text 12"/>
          <p:cNvSpPr txBox="1"/>
          <p:nvPr/>
        </p:nvSpPr>
        <p:spPr>
          <a:xfrm>
            <a:off x="3389376" y="3478731"/>
            <a:ext cx="2377441" cy="4308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800" i="1">
                <a:solidFill>
                  <a:srgbClr val="6B6B6B"/>
                </a:solidFill>
                <a:latin typeface="Calibri"/>
                <a:ea typeface="Calibri"/>
                <a:cs typeface="Calibri"/>
                <a:sym typeface="Calibri"/>
              </a:defRPr>
            </a:lvl1pPr>
          </a:lstStyle>
          <a:p>
            <a:r>
              <a:rPr sz="1100">
                <a:latin typeface="Georgia" panose="02040502050405020303" pitchFamily="18" charset="0"/>
              </a:rPr>
              <a:t>Sustainable Packaging + Community Models</a:t>
            </a:r>
          </a:p>
        </p:txBody>
      </p:sp>
      <p:sp>
        <p:nvSpPr>
          <p:cNvPr id="393" name="Shape 13"/>
          <p:cNvSpPr/>
          <p:nvPr/>
        </p:nvSpPr>
        <p:spPr>
          <a:xfrm>
            <a:off x="3413761" y="3962399"/>
            <a:ext cx="2316481" cy="24385"/>
          </a:xfrm>
          <a:prstGeom prst="rect">
            <a:avLst/>
          </a:prstGeom>
          <a:solidFill>
            <a:srgbClr val="E8E8E8"/>
          </a:solidFill>
          <a:ln w="12700">
            <a:solidFill>
              <a:srgbClr val="E8E8E8"/>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394" name="Text 14"/>
          <p:cNvSpPr txBox="1"/>
          <p:nvPr/>
        </p:nvSpPr>
        <p:spPr>
          <a:xfrm>
            <a:off x="3413761" y="4247642"/>
            <a:ext cx="2316481" cy="8925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900">
                <a:solidFill>
                  <a:srgbClr val="2B2B2B"/>
                </a:solidFill>
                <a:latin typeface="Calibri"/>
                <a:ea typeface="Calibri"/>
                <a:cs typeface="Calibri"/>
                <a:sym typeface="Calibri"/>
              </a:defRPr>
            </a:lvl1pPr>
          </a:lstStyle>
          <a:p>
            <a:r>
              <a:rPr sz="1300">
                <a:latin typeface="Georgia" panose="02040502050405020303" pitchFamily="18" charset="0"/>
              </a:rPr>
              <a:t>Biodegradable packaging, reusable crates, MAP, community aggregation and collective enterprise</a:t>
            </a:r>
          </a:p>
        </p:txBody>
      </p:sp>
      <p:sp>
        <p:nvSpPr>
          <p:cNvPr id="395" name="Shape 15"/>
          <p:cNvSpPr/>
          <p:nvPr/>
        </p:nvSpPr>
        <p:spPr>
          <a:xfrm>
            <a:off x="6120385" y="2072637"/>
            <a:ext cx="2682239" cy="3413763"/>
          </a:xfrm>
          <a:prstGeom prst="rect">
            <a:avLst/>
          </a:prstGeom>
          <a:solidFill>
            <a:srgbClr val="FFFFFF"/>
          </a:solidFill>
          <a:ln w="12700">
            <a:solidFill>
              <a:srgbClr val="E8E8E8"/>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396" name="Shape 16"/>
          <p:cNvSpPr/>
          <p:nvPr/>
        </p:nvSpPr>
        <p:spPr>
          <a:xfrm>
            <a:off x="6120385" y="2072638"/>
            <a:ext cx="2682239" cy="755905"/>
          </a:xfrm>
          <a:prstGeom prst="rect">
            <a:avLst/>
          </a:prstGeom>
          <a:solidFill>
            <a:srgbClr val="3D7A42"/>
          </a:solidFill>
          <a:ln w="12700">
            <a:solidFill>
              <a:srgbClr val="3D7A42"/>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pic>
        <p:nvPicPr>
          <p:cNvPr id="397" name="Image 2" descr="Image 2"/>
          <p:cNvPicPr>
            <a:picLocks noChangeAspect="1"/>
          </p:cNvPicPr>
          <p:nvPr/>
        </p:nvPicPr>
        <p:blipFill>
          <a:blip r:embed="rId4"/>
          <a:stretch>
            <a:fillRect/>
          </a:stretch>
        </p:blipFill>
        <p:spPr>
          <a:xfrm>
            <a:off x="7193280" y="2182367"/>
            <a:ext cx="536449" cy="536449"/>
          </a:xfrm>
          <a:prstGeom prst="rect">
            <a:avLst/>
          </a:prstGeom>
          <a:ln w="12700">
            <a:miter lim="400000"/>
          </a:ln>
        </p:spPr>
      </p:pic>
      <p:sp>
        <p:nvSpPr>
          <p:cNvPr id="398" name="Text 17"/>
          <p:cNvSpPr txBox="1"/>
          <p:nvPr/>
        </p:nvSpPr>
        <p:spPr>
          <a:xfrm>
            <a:off x="6278881" y="3010868"/>
            <a:ext cx="2377441" cy="318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1100" b="1">
                <a:solidFill>
                  <a:srgbClr val="3D7A42"/>
                </a:solidFill>
                <a:latin typeface="Calibri"/>
                <a:ea typeface="Calibri"/>
                <a:cs typeface="Calibri"/>
                <a:sym typeface="Calibri"/>
              </a:defRPr>
            </a:lvl1pPr>
          </a:lstStyle>
          <a:p>
            <a:r>
              <a:rPr sz="1400">
                <a:latin typeface="Georgia" panose="02040502050405020303" pitchFamily="18" charset="0"/>
              </a:rPr>
              <a:t>Logistics &amp; Transport</a:t>
            </a:r>
          </a:p>
        </p:txBody>
      </p:sp>
      <p:sp>
        <p:nvSpPr>
          <p:cNvPr id="399" name="Text 18"/>
          <p:cNvSpPr txBox="1"/>
          <p:nvPr/>
        </p:nvSpPr>
        <p:spPr>
          <a:xfrm>
            <a:off x="6278881" y="3563369"/>
            <a:ext cx="2377441"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800" i="1">
                <a:solidFill>
                  <a:srgbClr val="6B6B6B"/>
                </a:solidFill>
                <a:latin typeface="Calibri"/>
                <a:ea typeface="Calibri"/>
                <a:cs typeface="Calibri"/>
                <a:sym typeface="Calibri"/>
              </a:defRPr>
            </a:lvl1pPr>
          </a:lstStyle>
          <a:p>
            <a:r>
              <a:rPr sz="1100">
                <a:latin typeface="Georgia" panose="02040502050405020303" pitchFamily="18" charset="0"/>
              </a:rPr>
              <a:t>Efficient Logistics Optimisation</a:t>
            </a:r>
          </a:p>
        </p:txBody>
      </p:sp>
      <p:sp>
        <p:nvSpPr>
          <p:cNvPr id="400" name="Shape 19"/>
          <p:cNvSpPr/>
          <p:nvPr/>
        </p:nvSpPr>
        <p:spPr>
          <a:xfrm>
            <a:off x="6303264" y="3962399"/>
            <a:ext cx="2316481" cy="24385"/>
          </a:xfrm>
          <a:prstGeom prst="rect">
            <a:avLst/>
          </a:prstGeom>
          <a:solidFill>
            <a:srgbClr val="E8E8E8"/>
          </a:solidFill>
          <a:ln w="12700">
            <a:solidFill>
              <a:srgbClr val="E8E8E8"/>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401" name="Text 20"/>
          <p:cNvSpPr txBox="1"/>
          <p:nvPr/>
        </p:nvSpPr>
        <p:spPr>
          <a:xfrm>
            <a:off x="6303265" y="4347669"/>
            <a:ext cx="2316481" cy="6924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900">
                <a:solidFill>
                  <a:srgbClr val="2B2B2B"/>
                </a:solidFill>
                <a:latin typeface="Calibri"/>
                <a:ea typeface="Calibri"/>
                <a:cs typeface="Calibri"/>
                <a:sym typeface="Calibri"/>
              </a:defRPr>
            </a:lvl1pPr>
          </a:lstStyle>
          <a:p>
            <a:r>
              <a:rPr sz="1300">
                <a:latin typeface="Georgia" panose="02040502050405020303" pitchFamily="18" charset="0"/>
              </a:rPr>
              <a:t>Cold-chain logistics, last-mile transport, route optimisation, shared reefer vehicles</a:t>
            </a:r>
          </a:p>
        </p:txBody>
      </p:sp>
      <p:sp>
        <p:nvSpPr>
          <p:cNvPr id="402" name="Shape 21"/>
          <p:cNvSpPr/>
          <p:nvPr/>
        </p:nvSpPr>
        <p:spPr>
          <a:xfrm>
            <a:off x="9009888" y="2072637"/>
            <a:ext cx="2682240" cy="3413763"/>
          </a:xfrm>
          <a:prstGeom prst="rect">
            <a:avLst/>
          </a:prstGeom>
          <a:solidFill>
            <a:srgbClr val="FFFFFF"/>
          </a:solidFill>
          <a:ln w="12700">
            <a:solidFill>
              <a:srgbClr val="E8E8E8"/>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403" name="Shape 22"/>
          <p:cNvSpPr/>
          <p:nvPr/>
        </p:nvSpPr>
        <p:spPr>
          <a:xfrm>
            <a:off x="9009888" y="2072638"/>
            <a:ext cx="2682240" cy="755905"/>
          </a:xfrm>
          <a:prstGeom prst="rect">
            <a:avLst/>
          </a:prstGeom>
          <a:solidFill>
            <a:srgbClr val="B87A10"/>
          </a:solidFill>
          <a:ln w="12700">
            <a:solidFill>
              <a:srgbClr val="B87A10"/>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pic>
        <p:nvPicPr>
          <p:cNvPr id="404" name="Image 3" descr="Image 3"/>
          <p:cNvPicPr>
            <a:picLocks noChangeAspect="1"/>
          </p:cNvPicPr>
          <p:nvPr/>
        </p:nvPicPr>
        <p:blipFill>
          <a:blip r:embed="rId5"/>
          <a:stretch>
            <a:fillRect/>
          </a:stretch>
        </p:blipFill>
        <p:spPr>
          <a:xfrm>
            <a:off x="10082785" y="2182367"/>
            <a:ext cx="536449" cy="536449"/>
          </a:xfrm>
          <a:prstGeom prst="rect">
            <a:avLst/>
          </a:prstGeom>
          <a:ln w="12700">
            <a:miter lim="400000"/>
          </a:ln>
        </p:spPr>
      </p:pic>
      <p:sp>
        <p:nvSpPr>
          <p:cNvPr id="405" name="Text 23"/>
          <p:cNvSpPr txBox="1"/>
          <p:nvPr/>
        </p:nvSpPr>
        <p:spPr>
          <a:xfrm>
            <a:off x="9168385" y="2897986"/>
            <a:ext cx="2377441" cy="5438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1100" b="1">
                <a:solidFill>
                  <a:srgbClr val="B87A10"/>
                </a:solidFill>
                <a:latin typeface="Calibri"/>
                <a:ea typeface="Calibri"/>
                <a:cs typeface="Calibri"/>
                <a:sym typeface="Calibri"/>
              </a:defRPr>
            </a:lvl1pPr>
          </a:lstStyle>
          <a:p>
            <a:r>
              <a:rPr sz="1400">
                <a:latin typeface="Georgia" panose="02040502050405020303" pitchFamily="18" charset="0"/>
              </a:rPr>
              <a:t>Processing, Finance &amp; Digital</a:t>
            </a:r>
          </a:p>
        </p:txBody>
      </p:sp>
      <p:sp>
        <p:nvSpPr>
          <p:cNvPr id="406" name="Text 24"/>
          <p:cNvSpPr txBox="1"/>
          <p:nvPr/>
        </p:nvSpPr>
        <p:spPr>
          <a:xfrm>
            <a:off x="9168385" y="3478731"/>
            <a:ext cx="2377441" cy="4308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800" i="1">
                <a:solidFill>
                  <a:srgbClr val="6B6B6B"/>
                </a:solidFill>
                <a:latin typeface="Calibri"/>
                <a:ea typeface="Calibri"/>
                <a:cs typeface="Calibri"/>
                <a:sym typeface="Calibri"/>
              </a:defRPr>
            </a:lvl1pPr>
          </a:lstStyle>
          <a:p>
            <a:r>
              <a:rPr sz="1100">
                <a:latin typeface="Georgia" panose="02040502050405020303" pitchFamily="18" charset="0"/>
              </a:rPr>
              <a:t>Finance + Digital + Circular Economy</a:t>
            </a:r>
          </a:p>
        </p:txBody>
      </p:sp>
      <p:sp>
        <p:nvSpPr>
          <p:cNvPr id="407" name="Shape 25"/>
          <p:cNvSpPr/>
          <p:nvPr/>
        </p:nvSpPr>
        <p:spPr>
          <a:xfrm>
            <a:off x="9192769" y="3962399"/>
            <a:ext cx="2316481" cy="24385"/>
          </a:xfrm>
          <a:prstGeom prst="rect">
            <a:avLst/>
          </a:prstGeom>
          <a:solidFill>
            <a:srgbClr val="E8E8E8"/>
          </a:solidFill>
          <a:ln w="12700">
            <a:solidFill>
              <a:srgbClr val="E8E8E8"/>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408" name="Text 26"/>
          <p:cNvSpPr txBox="1"/>
          <p:nvPr/>
        </p:nvSpPr>
        <p:spPr>
          <a:xfrm>
            <a:off x="9192769" y="4247643"/>
            <a:ext cx="2316481" cy="8925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lgn="ctr">
              <a:defRPr sz="900">
                <a:solidFill>
                  <a:srgbClr val="2B2B2B"/>
                </a:solidFill>
                <a:latin typeface="Calibri"/>
                <a:ea typeface="Calibri"/>
                <a:cs typeface="Calibri"/>
                <a:sym typeface="Calibri"/>
              </a:defRPr>
            </a:lvl1pPr>
          </a:lstStyle>
          <a:p>
            <a:r>
              <a:rPr sz="1300">
                <a:latin typeface="Georgia" panose="02040502050405020303" pitchFamily="18" charset="0"/>
              </a:rPr>
              <a:t>FPO credit and working capital, digital decision systems, waste-to-value and circular economy solutions</a:t>
            </a:r>
          </a:p>
        </p:txBody>
      </p:sp>
      <p:sp>
        <p:nvSpPr>
          <p:cNvPr id="2" name="Slide Number Placeholder 2">
            <a:extLst>
              <a:ext uri="{FF2B5EF4-FFF2-40B4-BE49-F238E27FC236}">
                <a16:creationId xmlns:a16="http://schemas.microsoft.com/office/drawing/2014/main" id="{29C0CCB6-1C97-C9B6-6E2D-2B25499D309A}"/>
              </a:ext>
            </a:extLst>
          </p:cNvPr>
          <p:cNvSpPr>
            <a:spLocks noGrp="1"/>
          </p:cNvSpPr>
          <p:nvPr>
            <p:ph type="sldNum" sz="quarter" idx="7"/>
          </p:nvPr>
        </p:nvSpPr>
        <p:spPr>
          <a:xfrm>
            <a:off x="779630" y="6440648"/>
            <a:ext cx="383540" cy="115416"/>
          </a:xfrm>
        </p:spPr>
        <p:txBody>
          <a:bodyPr/>
          <a:lstStyle/>
          <a:p>
            <a:pPr marL="12700">
              <a:spcBef>
                <a:spcPts val="60"/>
              </a:spcBef>
            </a:pPr>
            <a:r>
              <a:rPr lang="en-IN" dirty="0">
                <a:latin typeface="Georgia" panose="02040502050405020303" pitchFamily="18" charset="0"/>
              </a:rPr>
              <a:t>Page</a:t>
            </a:r>
            <a:r>
              <a:rPr lang="en-IN" spc="-55" dirty="0">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5</a:t>
            </a:fld>
            <a:endParaRPr dirty="0">
              <a:latin typeface="Georgia" panose="02040502050405020303" pitchFamily="18" charset="0"/>
            </a:endParaRPr>
          </a:p>
        </p:txBody>
      </p:sp>
      <p:pic>
        <p:nvPicPr>
          <p:cNvPr id="3" name="Picture 2">
            <a:extLst>
              <a:ext uri="{FF2B5EF4-FFF2-40B4-BE49-F238E27FC236}">
                <a16:creationId xmlns:a16="http://schemas.microsoft.com/office/drawing/2014/main" id="{C788D3D2-5878-6DE4-EDB6-EB651276813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5857434"/>
            <a:ext cx="12192000" cy="987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Shape 0"/>
          <p:cNvSpPr/>
          <p:nvPr/>
        </p:nvSpPr>
        <p:spPr>
          <a:xfrm>
            <a:off x="0" y="0"/>
            <a:ext cx="12192000" cy="914400"/>
          </a:xfrm>
          <a:prstGeom prst="rect">
            <a:avLst/>
          </a:prstGeom>
          <a:solidFill>
            <a:srgbClr val="2A5C2E"/>
          </a:solidFill>
          <a:ln w="12700">
            <a:solidFill>
              <a:srgbClr val="2A5C2E"/>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500" name="Text 1"/>
          <p:cNvSpPr txBox="1"/>
          <p:nvPr/>
        </p:nvSpPr>
        <p:spPr>
          <a:xfrm>
            <a:off x="487680" y="228600"/>
            <a:ext cx="11216640"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59" rIns="60959" anchor="ctr">
            <a:spAutoFit/>
          </a:bodyPr>
          <a:lstStyle>
            <a:lvl1pPr>
              <a:defRPr sz="2200" b="1">
                <a:solidFill>
                  <a:srgbClr val="FFFFFF"/>
                </a:solidFill>
                <a:latin typeface="Georgia"/>
                <a:ea typeface="Georgia"/>
                <a:cs typeface="Georgia"/>
                <a:sym typeface="Georgia"/>
              </a:defRPr>
            </a:lvl1pPr>
          </a:lstStyle>
          <a:p>
            <a:r>
              <a:rPr sz="2400" dirty="0">
                <a:latin typeface="Georgia" panose="02040502050405020303" pitchFamily="18" charset="0"/>
              </a:rPr>
              <a:t>The 7 Challenge Categories</a:t>
            </a:r>
          </a:p>
        </p:txBody>
      </p:sp>
      <p:sp>
        <p:nvSpPr>
          <p:cNvPr id="501" name="Shape 2"/>
          <p:cNvSpPr/>
          <p:nvPr/>
        </p:nvSpPr>
        <p:spPr>
          <a:xfrm>
            <a:off x="304800" y="1203959"/>
            <a:ext cx="5791200" cy="1082041"/>
          </a:xfrm>
          <a:prstGeom prst="rect">
            <a:avLst/>
          </a:prstGeom>
          <a:solidFill>
            <a:srgbClr val="FFFFFF"/>
          </a:solidFill>
          <a:ln w="12700">
            <a:solidFill>
              <a:srgbClr val="E8E8E8"/>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502" name="Shape 3"/>
          <p:cNvSpPr/>
          <p:nvPr/>
        </p:nvSpPr>
        <p:spPr>
          <a:xfrm>
            <a:off x="304800" y="1203959"/>
            <a:ext cx="837876" cy="1082041"/>
          </a:xfrm>
          <a:prstGeom prst="rect">
            <a:avLst/>
          </a:prstGeom>
          <a:solidFill>
            <a:srgbClr val="2A5C2E"/>
          </a:solidFill>
          <a:ln w="12700">
            <a:solidFill>
              <a:srgbClr val="2A5C2E"/>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503" name="Text 4"/>
          <p:cNvSpPr txBox="1"/>
          <p:nvPr/>
        </p:nvSpPr>
        <p:spPr>
          <a:xfrm>
            <a:off x="365759" y="1219200"/>
            <a:ext cx="714659"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b">
            <a:spAutoFit/>
          </a:bodyPr>
          <a:lstStyle>
            <a:lvl1pPr algn="ctr">
              <a:defRPr sz="1800" b="1">
                <a:solidFill>
                  <a:srgbClr val="FFFFFF"/>
                </a:solidFill>
                <a:latin typeface="Georgia"/>
                <a:ea typeface="Georgia"/>
                <a:cs typeface="Georgia"/>
                <a:sym typeface="Georgia"/>
              </a:defRPr>
            </a:lvl1pPr>
          </a:lstStyle>
          <a:p>
            <a:r>
              <a:rPr sz="2400" dirty="0">
                <a:latin typeface="Georgia" panose="02040502050405020303" pitchFamily="18" charset="0"/>
              </a:rPr>
              <a:t>1</a:t>
            </a:r>
          </a:p>
        </p:txBody>
      </p:sp>
      <p:pic>
        <p:nvPicPr>
          <p:cNvPr id="504" name="Image 0" descr="Image 0"/>
          <p:cNvPicPr>
            <a:picLocks noChangeAspect="1"/>
          </p:cNvPicPr>
          <p:nvPr/>
        </p:nvPicPr>
        <p:blipFill>
          <a:blip r:embed="rId2"/>
          <a:stretch>
            <a:fillRect/>
          </a:stretch>
        </p:blipFill>
        <p:spPr>
          <a:xfrm>
            <a:off x="487680" y="1772272"/>
            <a:ext cx="431263" cy="431261"/>
          </a:xfrm>
          <a:prstGeom prst="rect">
            <a:avLst/>
          </a:prstGeom>
          <a:ln w="12700">
            <a:miter lim="400000"/>
          </a:ln>
        </p:spPr>
      </p:pic>
      <p:sp>
        <p:nvSpPr>
          <p:cNvPr id="505" name="Text 5"/>
          <p:cNvSpPr txBox="1"/>
          <p:nvPr/>
        </p:nvSpPr>
        <p:spPr>
          <a:xfrm>
            <a:off x="1316735" y="1338650"/>
            <a:ext cx="4583673"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ctr">
            <a:spAutoFit/>
          </a:bodyPr>
          <a:lstStyle>
            <a:lvl1pPr>
              <a:defRPr sz="1000" b="1">
                <a:solidFill>
                  <a:srgbClr val="2A5C2E"/>
                </a:solidFill>
                <a:latin typeface="Calibri"/>
                <a:ea typeface="Calibri"/>
                <a:cs typeface="Calibri"/>
                <a:sym typeface="Calibri"/>
              </a:defRPr>
            </a:lvl1pPr>
          </a:lstStyle>
          <a:p>
            <a:r>
              <a:rPr sz="1400" dirty="0">
                <a:latin typeface="Georgia" panose="02040502050405020303" pitchFamily="18" charset="0"/>
              </a:rPr>
              <a:t>Post-Harvest Value Chain Solutions</a:t>
            </a:r>
          </a:p>
        </p:txBody>
      </p:sp>
      <p:sp>
        <p:nvSpPr>
          <p:cNvPr id="506" name="Text 6"/>
          <p:cNvSpPr txBox="1"/>
          <p:nvPr/>
        </p:nvSpPr>
        <p:spPr>
          <a:xfrm>
            <a:off x="1316735" y="1817951"/>
            <a:ext cx="4583673" cy="2923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ctr">
            <a:spAutoFit/>
          </a:bodyPr>
          <a:lstStyle>
            <a:lvl1pPr>
              <a:defRPr sz="900">
                <a:solidFill>
                  <a:srgbClr val="2B2B2B"/>
                </a:solidFill>
                <a:latin typeface="Calibri"/>
                <a:ea typeface="Calibri"/>
                <a:cs typeface="Calibri"/>
                <a:sym typeface="Calibri"/>
              </a:defRPr>
            </a:lvl1pPr>
          </a:lstStyle>
          <a:p>
            <a:r>
              <a:rPr sz="1300" dirty="0">
                <a:latin typeface="Georgia" panose="02040502050405020303" pitchFamily="18" charset="0"/>
              </a:rPr>
              <a:t>On-farm handling, sorting, grading, cooling, mechanisation</a:t>
            </a:r>
          </a:p>
        </p:txBody>
      </p:sp>
      <p:sp>
        <p:nvSpPr>
          <p:cNvPr id="507" name="Shape 7"/>
          <p:cNvSpPr/>
          <p:nvPr/>
        </p:nvSpPr>
        <p:spPr>
          <a:xfrm>
            <a:off x="304800" y="2407919"/>
            <a:ext cx="5791200" cy="1082041"/>
          </a:xfrm>
          <a:prstGeom prst="rect">
            <a:avLst/>
          </a:prstGeom>
          <a:solidFill>
            <a:srgbClr val="FFFFFF"/>
          </a:solidFill>
          <a:ln w="12700">
            <a:solidFill>
              <a:srgbClr val="E8E8E8"/>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508" name="Shape 8"/>
          <p:cNvSpPr/>
          <p:nvPr/>
        </p:nvSpPr>
        <p:spPr>
          <a:xfrm>
            <a:off x="304800" y="2407919"/>
            <a:ext cx="837876" cy="1082041"/>
          </a:xfrm>
          <a:prstGeom prst="rect">
            <a:avLst/>
          </a:prstGeom>
          <a:solidFill>
            <a:srgbClr val="E8A020"/>
          </a:solidFill>
          <a:ln w="12700">
            <a:solidFill>
              <a:srgbClr val="E8A020"/>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509" name="Text 9"/>
          <p:cNvSpPr txBox="1"/>
          <p:nvPr/>
        </p:nvSpPr>
        <p:spPr>
          <a:xfrm>
            <a:off x="365759" y="2438400"/>
            <a:ext cx="714659"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b">
            <a:spAutoFit/>
          </a:bodyPr>
          <a:lstStyle>
            <a:lvl1pPr algn="ctr">
              <a:defRPr sz="1800" b="1">
                <a:solidFill>
                  <a:srgbClr val="FFFFFF"/>
                </a:solidFill>
                <a:latin typeface="Georgia"/>
                <a:ea typeface="Georgia"/>
                <a:cs typeface="Georgia"/>
                <a:sym typeface="Georgia"/>
              </a:defRPr>
            </a:lvl1pPr>
          </a:lstStyle>
          <a:p>
            <a:r>
              <a:rPr sz="2400" dirty="0">
                <a:latin typeface="Georgia" panose="02040502050405020303" pitchFamily="18" charset="0"/>
              </a:rPr>
              <a:t>2</a:t>
            </a:r>
          </a:p>
        </p:txBody>
      </p:sp>
      <p:pic>
        <p:nvPicPr>
          <p:cNvPr id="510" name="Image 1" descr="Image 1"/>
          <p:cNvPicPr>
            <a:picLocks noChangeAspect="1"/>
          </p:cNvPicPr>
          <p:nvPr/>
        </p:nvPicPr>
        <p:blipFill>
          <a:blip r:embed="rId3"/>
          <a:stretch>
            <a:fillRect/>
          </a:stretch>
        </p:blipFill>
        <p:spPr>
          <a:xfrm>
            <a:off x="475487" y="3041904"/>
            <a:ext cx="431263" cy="431261"/>
          </a:xfrm>
          <a:prstGeom prst="rect">
            <a:avLst/>
          </a:prstGeom>
          <a:ln w="12700">
            <a:miter lim="400000"/>
          </a:ln>
        </p:spPr>
      </p:pic>
      <p:sp>
        <p:nvSpPr>
          <p:cNvPr id="511" name="Text 10"/>
          <p:cNvSpPr txBox="1"/>
          <p:nvPr/>
        </p:nvSpPr>
        <p:spPr>
          <a:xfrm>
            <a:off x="1316735" y="2542611"/>
            <a:ext cx="4583673"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ctr">
            <a:spAutoFit/>
          </a:bodyPr>
          <a:lstStyle>
            <a:lvl1pPr>
              <a:defRPr sz="1000" b="1">
                <a:solidFill>
                  <a:srgbClr val="E8A020"/>
                </a:solidFill>
                <a:latin typeface="Calibri"/>
                <a:ea typeface="Calibri"/>
                <a:cs typeface="Calibri"/>
                <a:sym typeface="Calibri"/>
              </a:defRPr>
            </a:lvl1pPr>
          </a:lstStyle>
          <a:p>
            <a:r>
              <a:rPr sz="1400" dirty="0">
                <a:latin typeface="Georgia" panose="02040502050405020303" pitchFamily="18" charset="0"/>
              </a:rPr>
              <a:t>Sustainable Packaging Innovations</a:t>
            </a:r>
          </a:p>
        </p:txBody>
      </p:sp>
      <p:sp>
        <p:nvSpPr>
          <p:cNvPr id="512" name="Text 11"/>
          <p:cNvSpPr txBox="1"/>
          <p:nvPr/>
        </p:nvSpPr>
        <p:spPr>
          <a:xfrm>
            <a:off x="1316735" y="2944076"/>
            <a:ext cx="4583673" cy="4924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ctr">
            <a:spAutoFit/>
          </a:bodyPr>
          <a:lstStyle>
            <a:lvl1pPr>
              <a:defRPr sz="900">
                <a:solidFill>
                  <a:srgbClr val="2B2B2B"/>
                </a:solidFill>
                <a:latin typeface="Calibri"/>
                <a:ea typeface="Calibri"/>
                <a:cs typeface="Calibri"/>
                <a:sym typeface="Calibri"/>
              </a:defRPr>
            </a:lvl1pPr>
          </a:lstStyle>
          <a:p>
            <a:r>
              <a:rPr sz="1300">
                <a:latin typeface="Georgia" panose="02040502050405020303" pitchFamily="18" charset="0"/>
              </a:rPr>
              <a:t>Biodegradable packaging, reusable crates, MAP, freshness indicators</a:t>
            </a:r>
          </a:p>
        </p:txBody>
      </p:sp>
      <p:sp>
        <p:nvSpPr>
          <p:cNvPr id="513" name="Shape 12"/>
          <p:cNvSpPr/>
          <p:nvPr/>
        </p:nvSpPr>
        <p:spPr>
          <a:xfrm>
            <a:off x="304800" y="3642359"/>
            <a:ext cx="5791200" cy="1082041"/>
          </a:xfrm>
          <a:prstGeom prst="rect">
            <a:avLst/>
          </a:prstGeom>
          <a:solidFill>
            <a:srgbClr val="FFFFFF"/>
          </a:solidFill>
          <a:ln w="12700">
            <a:solidFill>
              <a:srgbClr val="E8E8E8"/>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514" name="Shape 13"/>
          <p:cNvSpPr/>
          <p:nvPr/>
        </p:nvSpPr>
        <p:spPr>
          <a:xfrm>
            <a:off x="304800" y="3642359"/>
            <a:ext cx="837876" cy="1082041"/>
          </a:xfrm>
          <a:prstGeom prst="rect">
            <a:avLst/>
          </a:prstGeom>
          <a:solidFill>
            <a:srgbClr val="3D7A42"/>
          </a:solidFill>
          <a:ln w="12700">
            <a:solidFill>
              <a:srgbClr val="3D7A42"/>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515" name="Text 14"/>
          <p:cNvSpPr txBox="1"/>
          <p:nvPr/>
        </p:nvSpPr>
        <p:spPr>
          <a:xfrm>
            <a:off x="365759" y="3657600"/>
            <a:ext cx="714659"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b">
            <a:spAutoFit/>
          </a:bodyPr>
          <a:lstStyle>
            <a:lvl1pPr algn="ctr">
              <a:defRPr sz="1800" b="1">
                <a:solidFill>
                  <a:srgbClr val="FFFFFF"/>
                </a:solidFill>
                <a:latin typeface="Georgia"/>
                <a:ea typeface="Georgia"/>
                <a:cs typeface="Georgia"/>
                <a:sym typeface="Georgia"/>
              </a:defRPr>
            </a:lvl1pPr>
          </a:lstStyle>
          <a:p>
            <a:r>
              <a:rPr sz="2400" dirty="0">
                <a:latin typeface="Georgia" panose="02040502050405020303" pitchFamily="18" charset="0"/>
              </a:rPr>
              <a:t>3</a:t>
            </a:r>
          </a:p>
        </p:txBody>
      </p:sp>
      <p:pic>
        <p:nvPicPr>
          <p:cNvPr id="516" name="Image 2" descr="Image 2"/>
          <p:cNvPicPr>
            <a:picLocks noChangeAspect="1"/>
          </p:cNvPicPr>
          <p:nvPr/>
        </p:nvPicPr>
        <p:blipFill>
          <a:blip r:embed="rId4"/>
          <a:stretch>
            <a:fillRect/>
          </a:stretch>
        </p:blipFill>
        <p:spPr>
          <a:xfrm>
            <a:off x="475487" y="4276344"/>
            <a:ext cx="431263" cy="431261"/>
          </a:xfrm>
          <a:prstGeom prst="rect">
            <a:avLst/>
          </a:prstGeom>
          <a:ln w="12700">
            <a:miter lim="400000"/>
          </a:ln>
        </p:spPr>
      </p:pic>
      <p:sp>
        <p:nvSpPr>
          <p:cNvPr id="517" name="Text 15"/>
          <p:cNvSpPr txBox="1"/>
          <p:nvPr/>
        </p:nvSpPr>
        <p:spPr>
          <a:xfrm>
            <a:off x="1316735" y="3777051"/>
            <a:ext cx="4583673"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ctr">
            <a:spAutoFit/>
          </a:bodyPr>
          <a:lstStyle>
            <a:lvl1pPr>
              <a:defRPr sz="1000" b="1">
                <a:solidFill>
                  <a:srgbClr val="3D7A42"/>
                </a:solidFill>
                <a:latin typeface="Calibri"/>
                <a:ea typeface="Calibri"/>
                <a:cs typeface="Calibri"/>
                <a:sym typeface="Calibri"/>
              </a:defRPr>
            </a:lvl1pPr>
          </a:lstStyle>
          <a:p>
            <a:r>
              <a:rPr sz="1400" dirty="0">
                <a:latin typeface="Georgia" panose="02040502050405020303" pitchFamily="18" charset="0"/>
              </a:rPr>
              <a:t>Efficient Logistics Optimization</a:t>
            </a:r>
          </a:p>
        </p:txBody>
      </p:sp>
      <p:sp>
        <p:nvSpPr>
          <p:cNvPr id="518" name="Text 16"/>
          <p:cNvSpPr txBox="1"/>
          <p:nvPr/>
        </p:nvSpPr>
        <p:spPr>
          <a:xfrm>
            <a:off x="1316735" y="4178516"/>
            <a:ext cx="4583673" cy="4924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ctr">
            <a:spAutoFit/>
          </a:bodyPr>
          <a:lstStyle>
            <a:lvl1pPr>
              <a:defRPr sz="900">
                <a:solidFill>
                  <a:srgbClr val="2B2B2B"/>
                </a:solidFill>
                <a:latin typeface="Calibri"/>
                <a:ea typeface="Calibri"/>
                <a:cs typeface="Calibri"/>
                <a:sym typeface="Calibri"/>
              </a:defRPr>
            </a:lvl1pPr>
          </a:lstStyle>
          <a:p>
            <a:r>
              <a:rPr sz="1300">
                <a:latin typeface="Georgia" panose="02040502050405020303" pitchFamily="18" charset="0"/>
              </a:rPr>
              <a:t>Cold chain, last-mile transport, route optimisation, load matching</a:t>
            </a:r>
          </a:p>
        </p:txBody>
      </p:sp>
      <p:sp>
        <p:nvSpPr>
          <p:cNvPr id="519" name="Shape 17"/>
          <p:cNvSpPr/>
          <p:nvPr/>
        </p:nvSpPr>
        <p:spPr>
          <a:xfrm>
            <a:off x="304800" y="4876800"/>
            <a:ext cx="5791200" cy="1082041"/>
          </a:xfrm>
          <a:prstGeom prst="rect">
            <a:avLst/>
          </a:prstGeom>
          <a:solidFill>
            <a:srgbClr val="FFFFFF"/>
          </a:solidFill>
          <a:ln w="12700">
            <a:solidFill>
              <a:srgbClr val="E8E8E8"/>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520" name="Shape 18"/>
          <p:cNvSpPr/>
          <p:nvPr/>
        </p:nvSpPr>
        <p:spPr>
          <a:xfrm>
            <a:off x="304800" y="4871936"/>
            <a:ext cx="837876" cy="1082041"/>
          </a:xfrm>
          <a:prstGeom prst="rect">
            <a:avLst/>
          </a:prstGeom>
          <a:solidFill>
            <a:srgbClr val="B87A10"/>
          </a:solidFill>
          <a:ln w="12700">
            <a:solidFill>
              <a:srgbClr val="B87A10"/>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521" name="Text 19"/>
          <p:cNvSpPr txBox="1"/>
          <p:nvPr/>
        </p:nvSpPr>
        <p:spPr>
          <a:xfrm>
            <a:off x="365759" y="4969980"/>
            <a:ext cx="714659"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b">
            <a:spAutoFit/>
          </a:bodyPr>
          <a:lstStyle>
            <a:lvl1pPr algn="ctr">
              <a:defRPr sz="1800" b="1">
                <a:solidFill>
                  <a:srgbClr val="FFFFFF"/>
                </a:solidFill>
                <a:latin typeface="Georgia"/>
                <a:ea typeface="Georgia"/>
                <a:cs typeface="Georgia"/>
                <a:sym typeface="Georgia"/>
              </a:defRPr>
            </a:lvl1pPr>
          </a:lstStyle>
          <a:p>
            <a:r>
              <a:rPr sz="2400">
                <a:latin typeface="Georgia" panose="02040502050405020303" pitchFamily="18" charset="0"/>
              </a:rPr>
              <a:t>4</a:t>
            </a:r>
          </a:p>
        </p:txBody>
      </p:sp>
      <p:pic>
        <p:nvPicPr>
          <p:cNvPr id="522" name="Image 3" descr="Image 3"/>
          <p:cNvPicPr>
            <a:picLocks noChangeAspect="1"/>
          </p:cNvPicPr>
          <p:nvPr/>
        </p:nvPicPr>
        <p:blipFill>
          <a:blip r:embed="rId5"/>
          <a:stretch>
            <a:fillRect/>
          </a:stretch>
        </p:blipFill>
        <p:spPr>
          <a:xfrm>
            <a:off x="475487" y="5510784"/>
            <a:ext cx="431263" cy="431261"/>
          </a:xfrm>
          <a:prstGeom prst="rect">
            <a:avLst/>
          </a:prstGeom>
          <a:ln w="12700">
            <a:miter lim="400000"/>
          </a:ln>
        </p:spPr>
      </p:pic>
      <p:sp>
        <p:nvSpPr>
          <p:cNvPr id="523" name="Text 20"/>
          <p:cNvSpPr txBox="1"/>
          <p:nvPr/>
        </p:nvSpPr>
        <p:spPr>
          <a:xfrm>
            <a:off x="1316735" y="5011492"/>
            <a:ext cx="4583673"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ctr">
            <a:spAutoFit/>
          </a:bodyPr>
          <a:lstStyle>
            <a:lvl1pPr>
              <a:defRPr sz="1000" b="1">
                <a:solidFill>
                  <a:srgbClr val="B87A10"/>
                </a:solidFill>
                <a:latin typeface="Calibri"/>
                <a:ea typeface="Calibri"/>
                <a:cs typeface="Calibri"/>
                <a:sym typeface="Calibri"/>
              </a:defRPr>
            </a:lvl1pPr>
          </a:lstStyle>
          <a:p>
            <a:r>
              <a:rPr sz="1400">
                <a:latin typeface="Georgia" panose="02040502050405020303" pitchFamily="18" charset="0"/>
              </a:rPr>
              <a:t>Community-Led Aggregation &amp; Enterprise</a:t>
            </a:r>
          </a:p>
        </p:txBody>
      </p:sp>
      <p:sp>
        <p:nvSpPr>
          <p:cNvPr id="524" name="Text 21"/>
          <p:cNvSpPr txBox="1"/>
          <p:nvPr/>
        </p:nvSpPr>
        <p:spPr>
          <a:xfrm>
            <a:off x="1316735" y="5412957"/>
            <a:ext cx="4583673" cy="4924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ctr">
            <a:spAutoFit/>
          </a:bodyPr>
          <a:lstStyle>
            <a:lvl1pPr>
              <a:defRPr sz="900">
                <a:solidFill>
                  <a:srgbClr val="2B2B2B"/>
                </a:solidFill>
                <a:latin typeface="Calibri"/>
                <a:ea typeface="Calibri"/>
                <a:cs typeface="Calibri"/>
                <a:sym typeface="Calibri"/>
              </a:defRPr>
            </a:lvl1pPr>
          </a:lstStyle>
          <a:p>
            <a:r>
              <a:rPr sz="1300" dirty="0">
                <a:latin typeface="Georgia" panose="02040502050405020303" pitchFamily="18" charset="0"/>
              </a:rPr>
              <a:t>FPO models, collection </a:t>
            </a:r>
            <a:r>
              <a:rPr sz="1300" dirty="0" err="1">
                <a:latin typeface="Georgia" panose="02040502050405020303" pitchFamily="18" charset="0"/>
              </a:rPr>
              <a:t>centres</a:t>
            </a:r>
            <a:r>
              <a:rPr sz="1300" dirty="0">
                <a:latin typeface="Georgia" panose="02040502050405020303" pitchFamily="18" charset="0"/>
              </a:rPr>
              <a:t>, collective branding, individual champions</a:t>
            </a:r>
          </a:p>
        </p:txBody>
      </p:sp>
      <p:sp>
        <p:nvSpPr>
          <p:cNvPr id="525" name="Shape 22"/>
          <p:cNvSpPr/>
          <p:nvPr/>
        </p:nvSpPr>
        <p:spPr>
          <a:xfrm>
            <a:off x="6278880" y="1203959"/>
            <a:ext cx="5791201" cy="1082041"/>
          </a:xfrm>
          <a:prstGeom prst="rect">
            <a:avLst/>
          </a:prstGeom>
          <a:solidFill>
            <a:srgbClr val="FFFFFF"/>
          </a:solidFill>
          <a:ln w="12700">
            <a:solidFill>
              <a:srgbClr val="E8E8E8"/>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526" name="Shape 23"/>
          <p:cNvSpPr/>
          <p:nvPr/>
        </p:nvSpPr>
        <p:spPr>
          <a:xfrm>
            <a:off x="6278880" y="1203959"/>
            <a:ext cx="837877" cy="1082041"/>
          </a:xfrm>
          <a:prstGeom prst="rect">
            <a:avLst/>
          </a:prstGeom>
          <a:solidFill>
            <a:srgbClr val="2A5C2E"/>
          </a:solidFill>
          <a:ln w="12700">
            <a:solidFill>
              <a:srgbClr val="2A5C2E"/>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527" name="Text 24"/>
          <p:cNvSpPr txBox="1"/>
          <p:nvPr/>
        </p:nvSpPr>
        <p:spPr>
          <a:xfrm>
            <a:off x="6339840" y="1219200"/>
            <a:ext cx="714660"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b">
            <a:spAutoFit/>
          </a:bodyPr>
          <a:lstStyle>
            <a:lvl1pPr algn="ctr">
              <a:defRPr sz="1800" b="1">
                <a:solidFill>
                  <a:srgbClr val="FFFFFF"/>
                </a:solidFill>
                <a:latin typeface="Georgia"/>
                <a:ea typeface="Georgia"/>
                <a:cs typeface="Georgia"/>
                <a:sym typeface="Georgia"/>
              </a:defRPr>
            </a:lvl1pPr>
          </a:lstStyle>
          <a:p>
            <a:r>
              <a:rPr sz="2400" dirty="0">
                <a:latin typeface="Georgia" panose="02040502050405020303" pitchFamily="18" charset="0"/>
              </a:rPr>
              <a:t>5</a:t>
            </a:r>
          </a:p>
        </p:txBody>
      </p:sp>
      <p:pic>
        <p:nvPicPr>
          <p:cNvPr id="528" name="Image 4" descr="Image 4"/>
          <p:cNvPicPr>
            <a:picLocks noChangeAspect="1"/>
          </p:cNvPicPr>
          <p:nvPr/>
        </p:nvPicPr>
        <p:blipFill>
          <a:blip r:embed="rId6"/>
          <a:stretch>
            <a:fillRect/>
          </a:stretch>
        </p:blipFill>
        <p:spPr>
          <a:xfrm>
            <a:off x="6449569" y="1837943"/>
            <a:ext cx="431261" cy="431261"/>
          </a:xfrm>
          <a:prstGeom prst="rect">
            <a:avLst/>
          </a:prstGeom>
          <a:ln w="12700">
            <a:miter lim="400000"/>
          </a:ln>
        </p:spPr>
      </p:pic>
      <p:sp>
        <p:nvSpPr>
          <p:cNvPr id="529" name="Text 25"/>
          <p:cNvSpPr txBox="1"/>
          <p:nvPr/>
        </p:nvSpPr>
        <p:spPr>
          <a:xfrm>
            <a:off x="7290816" y="1338650"/>
            <a:ext cx="4583674"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ctr">
            <a:spAutoFit/>
          </a:bodyPr>
          <a:lstStyle>
            <a:lvl1pPr>
              <a:defRPr sz="1000" b="1">
                <a:solidFill>
                  <a:srgbClr val="2A5C2E"/>
                </a:solidFill>
                <a:latin typeface="Calibri"/>
                <a:ea typeface="Calibri"/>
                <a:cs typeface="Calibri"/>
                <a:sym typeface="Calibri"/>
              </a:defRPr>
            </a:lvl1pPr>
          </a:lstStyle>
          <a:p>
            <a:r>
              <a:rPr sz="1400" dirty="0">
                <a:latin typeface="Georgia" panose="02040502050405020303" pitchFamily="18" charset="0"/>
              </a:rPr>
              <a:t>Innovative Financial Access Solutions</a:t>
            </a:r>
          </a:p>
        </p:txBody>
      </p:sp>
      <p:sp>
        <p:nvSpPr>
          <p:cNvPr id="530" name="Text 26"/>
          <p:cNvSpPr txBox="1"/>
          <p:nvPr/>
        </p:nvSpPr>
        <p:spPr>
          <a:xfrm>
            <a:off x="7290816" y="1740115"/>
            <a:ext cx="4583674" cy="4924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ctr">
            <a:spAutoFit/>
          </a:bodyPr>
          <a:lstStyle>
            <a:lvl1pPr>
              <a:defRPr sz="900">
                <a:solidFill>
                  <a:srgbClr val="2B2B2B"/>
                </a:solidFill>
                <a:latin typeface="Calibri"/>
                <a:ea typeface="Calibri"/>
                <a:cs typeface="Calibri"/>
                <a:sym typeface="Calibri"/>
              </a:defRPr>
            </a:lvl1pPr>
          </a:lstStyle>
          <a:p>
            <a:r>
              <a:rPr sz="1300">
                <a:latin typeface="Georgia" panose="02040502050405020303" pitchFamily="18" charset="0"/>
              </a:rPr>
              <a:t>FPO credit, warehouse receipt finance, digital lending, insurance-linked products</a:t>
            </a:r>
          </a:p>
        </p:txBody>
      </p:sp>
      <p:sp>
        <p:nvSpPr>
          <p:cNvPr id="531" name="Shape 27"/>
          <p:cNvSpPr/>
          <p:nvPr/>
        </p:nvSpPr>
        <p:spPr>
          <a:xfrm>
            <a:off x="6278880" y="2407919"/>
            <a:ext cx="5791201" cy="1082041"/>
          </a:xfrm>
          <a:prstGeom prst="rect">
            <a:avLst/>
          </a:prstGeom>
          <a:solidFill>
            <a:srgbClr val="FFFFFF"/>
          </a:solidFill>
          <a:ln w="12700">
            <a:solidFill>
              <a:srgbClr val="E8E8E8"/>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532" name="Shape 28"/>
          <p:cNvSpPr/>
          <p:nvPr/>
        </p:nvSpPr>
        <p:spPr>
          <a:xfrm>
            <a:off x="6278880" y="2407919"/>
            <a:ext cx="837877" cy="1082041"/>
          </a:xfrm>
          <a:prstGeom prst="rect">
            <a:avLst/>
          </a:prstGeom>
          <a:solidFill>
            <a:srgbClr val="E8A020"/>
          </a:solidFill>
          <a:ln w="12700">
            <a:solidFill>
              <a:srgbClr val="E8A020"/>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533" name="Text 29"/>
          <p:cNvSpPr txBox="1"/>
          <p:nvPr/>
        </p:nvSpPr>
        <p:spPr>
          <a:xfrm>
            <a:off x="6339840" y="2501099"/>
            <a:ext cx="714660"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b">
            <a:spAutoFit/>
          </a:bodyPr>
          <a:lstStyle>
            <a:lvl1pPr algn="ctr">
              <a:defRPr sz="1800" b="1">
                <a:solidFill>
                  <a:srgbClr val="FFFFFF"/>
                </a:solidFill>
                <a:latin typeface="Georgia"/>
                <a:ea typeface="Georgia"/>
                <a:cs typeface="Georgia"/>
                <a:sym typeface="Georgia"/>
              </a:defRPr>
            </a:lvl1pPr>
          </a:lstStyle>
          <a:p>
            <a:r>
              <a:rPr sz="2400">
                <a:latin typeface="Georgia" panose="02040502050405020303" pitchFamily="18" charset="0"/>
              </a:rPr>
              <a:t>6</a:t>
            </a:r>
          </a:p>
        </p:txBody>
      </p:sp>
      <p:pic>
        <p:nvPicPr>
          <p:cNvPr id="534" name="Image 5" descr="Image 5"/>
          <p:cNvPicPr>
            <a:picLocks noChangeAspect="1"/>
          </p:cNvPicPr>
          <p:nvPr/>
        </p:nvPicPr>
        <p:blipFill>
          <a:blip r:embed="rId7"/>
          <a:stretch>
            <a:fillRect/>
          </a:stretch>
        </p:blipFill>
        <p:spPr>
          <a:xfrm>
            <a:off x="6502939" y="2971800"/>
            <a:ext cx="431261" cy="431261"/>
          </a:xfrm>
          <a:prstGeom prst="rect">
            <a:avLst/>
          </a:prstGeom>
          <a:ln w="12700">
            <a:miter lim="400000"/>
          </a:ln>
        </p:spPr>
      </p:pic>
      <p:sp>
        <p:nvSpPr>
          <p:cNvPr id="535" name="Text 30"/>
          <p:cNvSpPr txBox="1"/>
          <p:nvPr/>
        </p:nvSpPr>
        <p:spPr>
          <a:xfrm>
            <a:off x="7290816" y="2542611"/>
            <a:ext cx="4583674"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ctr">
            <a:spAutoFit/>
          </a:bodyPr>
          <a:lstStyle>
            <a:lvl1pPr>
              <a:defRPr sz="1000" b="1">
                <a:solidFill>
                  <a:srgbClr val="E8A020"/>
                </a:solidFill>
                <a:latin typeface="Calibri"/>
                <a:ea typeface="Calibri"/>
                <a:cs typeface="Calibri"/>
                <a:sym typeface="Calibri"/>
              </a:defRPr>
            </a:lvl1pPr>
          </a:lstStyle>
          <a:p>
            <a:r>
              <a:rPr sz="1400">
                <a:latin typeface="Georgia" panose="02040502050405020303" pitchFamily="18" charset="0"/>
              </a:rPr>
              <a:t>Digital Decision Systems for Food Loss</a:t>
            </a:r>
          </a:p>
        </p:txBody>
      </p:sp>
      <p:sp>
        <p:nvSpPr>
          <p:cNvPr id="536" name="Text 31"/>
          <p:cNvSpPr txBox="1"/>
          <p:nvPr/>
        </p:nvSpPr>
        <p:spPr>
          <a:xfrm>
            <a:off x="7290816" y="2944076"/>
            <a:ext cx="4583674" cy="4924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ctr">
            <a:spAutoFit/>
          </a:bodyPr>
          <a:lstStyle>
            <a:lvl1pPr>
              <a:defRPr sz="900">
                <a:solidFill>
                  <a:srgbClr val="2B2B2B"/>
                </a:solidFill>
                <a:latin typeface="Calibri"/>
                <a:ea typeface="Calibri"/>
                <a:cs typeface="Calibri"/>
                <a:sym typeface="Calibri"/>
              </a:defRPr>
            </a:lvl1pPr>
          </a:lstStyle>
          <a:p>
            <a:r>
              <a:rPr sz="1300">
                <a:latin typeface="Georgia" panose="02040502050405020303" pitchFamily="18" charset="0"/>
              </a:rPr>
              <a:t>Multi-stakeholder platforms, predictive analytics, end-to-end traceability</a:t>
            </a:r>
          </a:p>
        </p:txBody>
      </p:sp>
      <p:sp>
        <p:nvSpPr>
          <p:cNvPr id="537" name="Shape 32"/>
          <p:cNvSpPr/>
          <p:nvPr/>
        </p:nvSpPr>
        <p:spPr>
          <a:xfrm>
            <a:off x="6278880" y="3642359"/>
            <a:ext cx="5791201" cy="1082041"/>
          </a:xfrm>
          <a:prstGeom prst="rect">
            <a:avLst/>
          </a:prstGeom>
          <a:solidFill>
            <a:srgbClr val="FFFFFF"/>
          </a:solidFill>
          <a:ln w="12700">
            <a:solidFill>
              <a:srgbClr val="E8E8E8"/>
            </a:solidFill>
          </a:ln>
          <a:effectLst>
            <a:outerShdw blurRad="101600" dist="38100" dir="8100000" rotWithShape="0">
              <a:srgbClr val="000000">
                <a:alpha val="12000"/>
              </a:srgbClr>
            </a:outerShdw>
          </a:effectLst>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538" name="Shape 33"/>
          <p:cNvSpPr/>
          <p:nvPr/>
        </p:nvSpPr>
        <p:spPr>
          <a:xfrm>
            <a:off x="6278880" y="3642359"/>
            <a:ext cx="837877" cy="1082041"/>
          </a:xfrm>
          <a:prstGeom prst="rect">
            <a:avLst/>
          </a:prstGeom>
          <a:solidFill>
            <a:srgbClr val="1A3D1C"/>
          </a:solidFill>
          <a:ln w="12700">
            <a:solidFill>
              <a:srgbClr val="1A3D1C"/>
            </a:solidFill>
          </a:ln>
        </p:spPr>
        <p:txBody>
          <a:bodyPr lIns="60959" rIns="60959"/>
          <a:lstStyle/>
          <a:p>
            <a:pPr>
              <a:defRPr sz="1800">
                <a:latin typeface="Calibri"/>
                <a:ea typeface="Calibri"/>
                <a:cs typeface="Calibri"/>
                <a:sym typeface="Calibri"/>
              </a:defRPr>
            </a:pPr>
            <a:endParaRPr sz="2400">
              <a:latin typeface="Georgia" panose="02040502050405020303" pitchFamily="18" charset="0"/>
            </a:endParaRPr>
          </a:p>
        </p:txBody>
      </p:sp>
      <p:sp>
        <p:nvSpPr>
          <p:cNvPr id="539" name="Text 34"/>
          <p:cNvSpPr txBox="1"/>
          <p:nvPr/>
        </p:nvSpPr>
        <p:spPr>
          <a:xfrm>
            <a:off x="6339840" y="3657600"/>
            <a:ext cx="714660"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b">
            <a:spAutoFit/>
          </a:bodyPr>
          <a:lstStyle>
            <a:lvl1pPr algn="ctr">
              <a:defRPr sz="1800" b="1">
                <a:solidFill>
                  <a:srgbClr val="FFFFFF"/>
                </a:solidFill>
                <a:latin typeface="Georgia"/>
                <a:ea typeface="Georgia"/>
                <a:cs typeface="Georgia"/>
                <a:sym typeface="Georgia"/>
              </a:defRPr>
            </a:lvl1pPr>
          </a:lstStyle>
          <a:p>
            <a:r>
              <a:rPr sz="2400" dirty="0">
                <a:latin typeface="Georgia" panose="02040502050405020303" pitchFamily="18" charset="0"/>
              </a:rPr>
              <a:t>7</a:t>
            </a:r>
          </a:p>
        </p:txBody>
      </p:sp>
      <p:pic>
        <p:nvPicPr>
          <p:cNvPr id="540" name="Image 6" descr="Image 6"/>
          <p:cNvPicPr>
            <a:picLocks noChangeAspect="1"/>
          </p:cNvPicPr>
          <p:nvPr/>
        </p:nvPicPr>
        <p:blipFill>
          <a:blip r:embed="rId8"/>
          <a:stretch>
            <a:fillRect/>
          </a:stretch>
        </p:blipFill>
        <p:spPr>
          <a:xfrm>
            <a:off x="6502939" y="4191000"/>
            <a:ext cx="431261" cy="431261"/>
          </a:xfrm>
          <a:prstGeom prst="rect">
            <a:avLst/>
          </a:prstGeom>
          <a:ln w="12700">
            <a:miter lim="400000"/>
          </a:ln>
        </p:spPr>
      </p:pic>
      <p:sp>
        <p:nvSpPr>
          <p:cNvPr id="541" name="Text 35"/>
          <p:cNvSpPr txBox="1"/>
          <p:nvPr/>
        </p:nvSpPr>
        <p:spPr>
          <a:xfrm>
            <a:off x="7290816" y="3777051"/>
            <a:ext cx="4583674"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ctr">
            <a:spAutoFit/>
          </a:bodyPr>
          <a:lstStyle>
            <a:lvl1pPr>
              <a:defRPr sz="1000" b="1">
                <a:solidFill>
                  <a:srgbClr val="1A3D1C"/>
                </a:solidFill>
                <a:latin typeface="Calibri"/>
                <a:ea typeface="Calibri"/>
                <a:cs typeface="Calibri"/>
                <a:sym typeface="Calibri"/>
              </a:defRPr>
            </a:lvl1pPr>
          </a:lstStyle>
          <a:p>
            <a:r>
              <a:rPr sz="1400">
                <a:latin typeface="Georgia" panose="02040502050405020303" pitchFamily="18" charset="0"/>
              </a:rPr>
              <a:t>Circular Economy &amp; Loss-to-Value Solutions</a:t>
            </a:r>
          </a:p>
        </p:txBody>
      </p:sp>
      <p:sp>
        <p:nvSpPr>
          <p:cNvPr id="542" name="Text 36"/>
          <p:cNvSpPr txBox="1"/>
          <p:nvPr/>
        </p:nvSpPr>
        <p:spPr>
          <a:xfrm>
            <a:off x="7290816" y="4178516"/>
            <a:ext cx="4583674" cy="4924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59" rIns="60959" anchor="ctr">
            <a:spAutoFit/>
          </a:bodyPr>
          <a:lstStyle>
            <a:lvl1pPr>
              <a:defRPr sz="900">
                <a:solidFill>
                  <a:srgbClr val="2B2B2B"/>
                </a:solidFill>
                <a:latin typeface="Calibri"/>
                <a:ea typeface="Calibri"/>
                <a:cs typeface="Calibri"/>
                <a:sym typeface="Calibri"/>
              </a:defRPr>
            </a:lvl1pPr>
          </a:lstStyle>
          <a:p>
            <a:r>
              <a:rPr sz="1300">
                <a:latin typeface="Georgia" panose="02040502050405020303" pitchFamily="18" charset="0"/>
              </a:rPr>
              <a:t>Dehydration, juice/puree, biogas, composting, by-product extraction</a:t>
            </a:r>
          </a:p>
        </p:txBody>
      </p:sp>
      <p:sp>
        <p:nvSpPr>
          <p:cNvPr id="2" name="Slide Number Placeholder 2">
            <a:extLst>
              <a:ext uri="{FF2B5EF4-FFF2-40B4-BE49-F238E27FC236}">
                <a16:creationId xmlns:a16="http://schemas.microsoft.com/office/drawing/2014/main" id="{1D443AED-2FE6-046F-CF1B-8BFF0C84DA58}"/>
              </a:ext>
            </a:extLst>
          </p:cNvPr>
          <p:cNvSpPr>
            <a:spLocks noGrp="1"/>
          </p:cNvSpPr>
          <p:nvPr>
            <p:ph type="sldNum" sz="quarter" idx="7"/>
          </p:nvPr>
        </p:nvSpPr>
        <p:spPr>
          <a:xfrm>
            <a:off x="779630" y="6440648"/>
            <a:ext cx="383540" cy="115416"/>
          </a:xfrm>
        </p:spPr>
        <p:txBody>
          <a:bodyPr/>
          <a:lstStyle/>
          <a:p>
            <a:pPr marL="12700">
              <a:spcBef>
                <a:spcPts val="60"/>
              </a:spcBef>
            </a:pPr>
            <a:r>
              <a:rPr lang="en-IN" dirty="0">
                <a:latin typeface="Georgia" panose="02040502050405020303" pitchFamily="18" charset="0"/>
              </a:rPr>
              <a:t>Page</a:t>
            </a:r>
            <a:r>
              <a:rPr lang="en-IN" spc="-55" dirty="0">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6</a:t>
            </a:fld>
            <a:endParaRPr dirty="0">
              <a:latin typeface="Georgia" panose="02040502050405020303" pitchFamily="18" charset="0"/>
            </a:endParaRPr>
          </a:p>
        </p:txBody>
      </p:sp>
      <p:pic>
        <p:nvPicPr>
          <p:cNvPr id="3" name="Picture 2">
            <a:extLst>
              <a:ext uri="{FF2B5EF4-FFF2-40B4-BE49-F238E27FC236}">
                <a16:creationId xmlns:a16="http://schemas.microsoft.com/office/drawing/2014/main" id="{3AF4C779-2EC1-2346-8B02-49B2DD830A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3840" y="5970648"/>
            <a:ext cx="11826241" cy="95828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EC18F-E00F-8752-2A12-AE5CE7E05912}"/>
            </a:ext>
          </a:extLst>
        </p:cNvPr>
        <p:cNvGrpSpPr/>
        <p:nvPr/>
      </p:nvGrpSpPr>
      <p:grpSpPr>
        <a:xfrm>
          <a:off x="0" y="0"/>
          <a:ext cx="0" cy="0"/>
          <a:chOff x="0" y="0"/>
          <a:chExt cx="0" cy="0"/>
        </a:xfrm>
      </p:grpSpPr>
      <p:sp>
        <p:nvSpPr>
          <p:cNvPr id="7" name="Title 21">
            <a:extLst>
              <a:ext uri="{FF2B5EF4-FFF2-40B4-BE49-F238E27FC236}">
                <a16:creationId xmlns:a16="http://schemas.microsoft.com/office/drawing/2014/main" id="{B3472165-981A-854D-9EB1-5CFE2AE5E3BA}"/>
              </a:ext>
            </a:extLst>
          </p:cNvPr>
          <p:cNvSpPr txBox="1">
            <a:spLocks/>
          </p:cNvSpPr>
          <p:nvPr/>
        </p:nvSpPr>
        <p:spPr>
          <a:xfrm>
            <a:off x="533400" y="152400"/>
            <a:ext cx="10561116" cy="486159"/>
          </a:xfrm>
          <a:prstGeom prst="rect">
            <a:avLst/>
          </a:prstGeom>
        </p:spPr>
        <p:txBody>
          <a:bodyPr/>
          <a:lstStyle>
            <a:lvl1pPr>
              <a:defRPr>
                <a:latin typeface="+mj-lt"/>
                <a:ea typeface="+mj-ea"/>
                <a:cs typeface="+mj-cs"/>
              </a:defRPr>
            </a:lvl1pPr>
          </a:lstStyle>
          <a:p>
            <a:pPr>
              <a:lnSpc>
                <a:spcPct val="150000"/>
              </a:lnSpc>
              <a:spcAft>
                <a:spcPts val="800"/>
              </a:spcAft>
            </a:pPr>
            <a:r>
              <a:rPr lang="en-IN" sz="2400" b="1" dirty="0">
                <a:solidFill>
                  <a:schemeClr val="bg1"/>
                </a:solidFill>
                <a:latin typeface="Georgia" panose="02040502050405020303" pitchFamily="18" charset="0"/>
              </a:rPr>
              <a:t>Key horticulture crops</a:t>
            </a:r>
            <a:endParaRPr lang="en-US" sz="2400" b="1" dirty="0">
              <a:solidFill>
                <a:schemeClr val="bg1"/>
              </a:solidFill>
              <a:latin typeface="Georgia" panose="02040502050405020303" pitchFamily="18" charset="0"/>
            </a:endParaRPr>
          </a:p>
          <a:p>
            <a:pPr>
              <a:lnSpc>
                <a:spcPct val="150000"/>
              </a:lnSpc>
              <a:spcAft>
                <a:spcPts val="800"/>
              </a:spcAft>
            </a:pPr>
            <a:endParaRPr lang="en-US" sz="2400" b="1" dirty="0">
              <a:solidFill>
                <a:schemeClr val="bg1"/>
              </a:solidFill>
              <a:latin typeface="Georgia" panose="02040502050405020303" pitchFamily="18" charset="0"/>
            </a:endParaRPr>
          </a:p>
        </p:txBody>
      </p:sp>
      <p:sp>
        <p:nvSpPr>
          <p:cNvPr id="5" name="Slide Number Placeholder 2">
            <a:extLst>
              <a:ext uri="{FF2B5EF4-FFF2-40B4-BE49-F238E27FC236}">
                <a16:creationId xmlns:a16="http://schemas.microsoft.com/office/drawing/2014/main" id="{8ED48FC5-BB0A-9873-2132-075EC9AEF614}"/>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7</a:t>
            </a:fld>
            <a:endParaRPr dirty="0">
              <a:latin typeface="Georgia" panose="02040502050405020303" pitchFamily="18" charset="0"/>
            </a:endParaRPr>
          </a:p>
        </p:txBody>
      </p:sp>
      <p:grpSp>
        <p:nvGrpSpPr>
          <p:cNvPr id="3" name="Group 2">
            <a:extLst>
              <a:ext uri="{FF2B5EF4-FFF2-40B4-BE49-F238E27FC236}">
                <a16:creationId xmlns:a16="http://schemas.microsoft.com/office/drawing/2014/main" id="{ECB30744-FD53-B1E6-5304-0823EA07CF93}"/>
              </a:ext>
            </a:extLst>
          </p:cNvPr>
          <p:cNvGrpSpPr/>
          <p:nvPr/>
        </p:nvGrpSpPr>
        <p:grpSpPr>
          <a:xfrm>
            <a:off x="457200" y="1066800"/>
            <a:ext cx="11277600" cy="2442899"/>
            <a:chOff x="457200" y="1066800"/>
            <a:chExt cx="11277600" cy="2442899"/>
          </a:xfrm>
        </p:grpSpPr>
        <p:sp>
          <p:nvSpPr>
            <p:cNvPr id="88" name="Shape 59">
              <a:extLst>
                <a:ext uri="{FF2B5EF4-FFF2-40B4-BE49-F238E27FC236}">
                  <a16:creationId xmlns:a16="http://schemas.microsoft.com/office/drawing/2014/main" id="{830C6C7B-C259-4A24-8DFB-281063DB737F}"/>
                </a:ext>
              </a:extLst>
            </p:cNvPr>
            <p:cNvSpPr/>
            <p:nvPr/>
          </p:nvSpPr>
          <p:spPr>
            <a:xfrm>
              <a:off x="6952102" y="1066800"/>
              <a:ext cx="1534007" cy="2440907"/>
            </a:xfrm>
            <a:prstGeom prst="roundRect">
              <a:avLst>
                <a:gd name="adj" fmla="val 2506"/>
              </a:avLst>
            </a:prstGeom>
            <a:solidFill>
              <a:srgbClr val="FFFFFF"/>
            </a:solidFill>
            <a:ln/>
          </p:spPr>
          <p:txBody>
            <a:bodyPr/>
            <a:lstStyle/>
            <a:p>
              <a:endParaRPr lang="en-IN" sz="1200">
                <a:latin typeface="Georgia" panose="02040502050405020303" pitchFamily="18" charset="0"/>
              </a:endParaRPr>
            </a:p>
          </p:txBody>
        </p:sp>
        <p:sp>
          <p:nvSpPr>
            <p:cNvPr id="89" name="Shape 60">
              <a:extLst>
                <a:ext uri="{FF2B5EF4-FFF2-40B4-BE49-F238E27FC236}">
                  <a16:creationId xmlns:a16="http://schemas.microsoft.com/office/drawing/2014/main" id="{D56AD2A4-987F-C35E-CAD8-8AE4FE786869}"/>
                </a:ext>
              </a:extLst>
            </p:cNvPr>
            <p:cNvSpPr/>
            <p:nvPr/>
          </p:nvSpPr>
          <p:spPr>
            <a:xfrm>
              <a:off x="6952102" y="3499736"/>
              <a:ext cx="1534007" cy="9963"/>
            </a:xfrm>
            <a:prstGeom prst="rect">
              <a:avLst/>
            </a:prstGeom>
            <a:solidFill>
              <a:srgbClr val="D9D3C3"/>
            </a:solidFill>
            <a:ln/>
          </p:spPr>
          <p:txBody>
            <a:bodyPr/>
            <a:lstStyle/>
            <a:p>
              <a:endParaRPr lang="en-IN" sz="1200">
                <a:latin typeface="Georgia" panose="02040502050405020303" pitchFamily="18" charset="0"/>
              </a:endParaRPr>
            </a:p>
          </p:txBody>
        </p:sp>
        <p:sp>
          <p:nvSpPr>
            <p:cNvPr id="90" name="Shape 61">
              <a:extLst>
                <a:ext uri="{FF2B5EF4-FFF2-40B4-BE49-F238E27FC236}">
                  <a16:creationId xmlns:a16="http://schemas.microsoft.com/office/drawing/2014/main" id="{57A43B26-AD8F-A3E2-0D41-DB9438EC1AFA}"/>
                </a:ext>
              </a:extLst>
            </p:cNvPr>
            <p:cNvSpPr/>
            <p:nvPr/>
          </p:nvSpPr>
          <p:spPr>
            <a:xfrm>
              <a:off x="6952102" y="1066800"/>
              <a:ext cx="1534007" cy="39852"/>
            </a:xfrm>
            <a:prstGeom prst="rect">
              <a:avLst/>
            </a:prstGeom>
            <a:solidFill>
              <a:srgbClr val="0B6E78"/>
            </a:solidFill>
            <a:ln/>
          </p:spPr>
          <p:txBody>
            <a:bodyPr/>
            <a:lstStyle/>
            <a:p>
              <a:endParaRPr lang="en-IN" sz="1200">
                <a:latin typeface="Georgia" panose="02040502050405020303" pitchFamily="18" charset="0"/>
              </a:endParaRPr>
            </a:p>
          </p:txBody>
        </p:sp>
        <p:grpSp>
          <p:nvGrpSpPr>
            <p:cNvPr id="2" name="Group 1">
              <a:extLst>
                <a:ext uri="{FF2B5EF4-FFF2-40B4-BE49-F238E27FC236}">
                  <a16:creationId xmlns:a16="http://schemas.microsoft.com/office/drawing/2014/main" id="{AF214F24-FDCF-921E-DAF8-3EA88C8A473B}"/>
                </a:ext>
              </a:extLst>
            </p:cNvPr>
            <p:cNvGrpSpPr/>
            <p:nvPr/>
          </p:nvGrpSpPr>
          <p:grpSpPr>
            <a:xfrm>
              <a:off x="457200" y="1066800"/>
              <a:ext cx="6501309" cy="2442899"/>
              <a:chOff x="457200" y="1066800"/>
              <a:chExt cx="6501309" cy="2442899"/>
            </a:xfrm>
          </p:grpSpPr>
          <p:sp>
            <p:nvSpPr>
              <p:cNvPr id="4" name="Shape 7">
                <a:extLst>
                  <a:ext uri="{FF2B5EF4-FFF2-40B4-BE49-F238E27FC236}">
                    <a16:creationId xmlns:a16="http://schemas.microsoft.com/office/drawing/2014/main" id="{CC3C240D-5999-3B37-2393-2D377577E522}"/>
                  </a:ext>
                </a:extLst>
              </p:cNvPr>
              <p:cNvSpPr/>
              <p:nvPr/>
            </p:nvSpPr>
            <p:spPr>
              <a:xfrm>
                <a:off x="457200" y="1066800"/>
                <a:ext cx="1534007" cy="2440907"/>
              </a:xfrm>
              <a:prstGeom prst="roundRect">
                <a:avLst>
                  <a:gd name="adj" fmla="val 2506"/>
                </a:avLst>
              </a:prstGeom>
              <a:solidFill>
                <a:srgbClr val="FFFFFF"/>
              </a:solidFill>
              <a:ln/>
            </p:spPr>
            <p:txBody>
              <a:bodyPr/>
              <a:lstStyle/>
              <a:p>
                <a:endParaRPr lang="en-IN" sz="1200" dirty="0">
                  <a:latin typeface="Georgia" panose="02040502050405020303" pitchFamily="18" charset="0"/>
                </a:endParaRPr>
              </a:p>
            </p:txBody>
          </p:sp>
          <p:sp>
            <p:nvSpPr>
              <p:cNvPr id="6" name="Shape 8">
                <a:extLst>
                  <a:ext uri="{FF2B5EF4-FFF2-40B4-BE49-F238E27FC236}">
                    <a16:creationId xmlns:a16="http://schemas.microsoft.com/office/drawing/2014/main" id="{1C949BCB-F88E-E16C-0949-64AC3D8F3A14}"/>
                  </a:ext>
                </a:extLst>
              </p:cNvPr>
              <p:cNvSpPr/>
              <p:nvPr/>
            </p:nvSpPr>
            <p:spPr>
              <a:xfrm>
                <a:off x="457200" y="3499736"/>
                <a:ext cx="1534007" cy="9963"/>
              </a:xfrm>
              <a:prstGeom prst="rect">
                <a:avLst/>
              </a:prstGeom>
              <a:solidFill>
                <a:srgbClr val="D9D3C3"/>
              </a:solidFill>
              <a:ln/>
            </p:spPr>
            <p:txBody>
              <a:bodyPr/>
              <a:lstStyle/>
              <a:p>
                <a:endParaRPr lang="en-IN" sz="1200">
                  <a:latin typeface="Georgia" panose="02040502050405020303" pitchFamily="18" charset="0"/>
                </a:endParaRPr>
              </a:p>
            </p:txBody>
          </p:sp>
          <p:sp>
            <p:nvSpPr>
              <p:cNvPr id="8" name="Shape 9">
                <a:extLst>
                  <a:ext uri="{FF2B5EF4-FFF2-40B4-BE49-F238E27FC236}">
                    <a16:creationId xmlns:a16="http://schemas.microsoft.com/office/drawing/2014/main" id="{EF7EBF5E-BF64-D45C-9D13-55D1AEE1F99F}"/>
                  </a:ext>
                </a:extLst>
              </p:cNvPr>
              <p:cNvSpPr/>
              <p:nvPr/>
            </p:nvSpPr>
            <p:spPr>
              <a:xfrm>
                <a:off x="457200" y="1066800"/>
                <a:ext cx="1534007" cy="39852"/>
              </a:xfrm>
              <a:prstGeom prst="rect">
                <a:avLst/>
              </a:prstGeom>
              <a:solidFill>
                <a:srgbClr val="0B6E78"/>
              </a:solidFill>
              <a:ln/>
            </p:spPr>
            <p:txBody>
              <a:bodyPr/>
              <a:lstStyle/>
              <a:p>
                <a:endParaRPr lang="en-IN" sz="1200">
                  <a:latin typeface="Georgia" panose="02040502050405020303" pitchFamily="18" charset="0"/>
                </a:endParaRPr>
              </a:p>
            </p:txBody>
          </p:sp>
          <p:sp>
            <p:nvSpPr>
              <p:cNvPr id="9" name="Shape 10">
                <a:extLst>
                  <a:ext uri="{FF2B5EF4-FFF2-40B4-BE49-F238E27FC236}">
                    <a16:creationId xmlns:a16="http://schemas.microsoft.com/office/drawing/2014/main" id="{B9B154C0-9E60-28BA-DFF4-37A61815AE06}"/>
                  </a:ext>
                </a:extLst>
              </p:cNvPr>
              <p:cNvSpPr/>
              <p:nvPr/>
            </p:nvSpPr>
            <p:spPr>
              <a:xfrm>
                <a:off x="457200" y="1066800"/>
                <a:ext cx="6407" cy="2440907"/>
              </a:xfrm>
              <a:prstGeom prst="rect">
                <a:avLst/>
              </a:prstGeom>
              <a:solidFill>
                <a:srgbClr val="D9D3C3"/>
              </a:solidFill>
              <a:ln/>
            </p:spPr>
            <p:txBody>
              <a:bodyPr/>
              <a:lstStyle/>
              <a:p>
                <a:endParaRPr lang="en-IN" sz="1200">
                  <a:latin typeface="Georgia" panose="02040502050405020303" pitchFamily="18" charset="0"/>
                </a:endParaRPr>
              </a:p>
            </p:txBody>
          </p:sp>
          <p:sp>
            <p:nvSpPr>
              <p:cNvPr id="10" name="Shape 11">
                <a:extLst>
                  <a:ext uri="{FF2B5EF4-FFF2-40B4-BE49-F238E27FC236}">
                    <a16:creationId xmlns:a16="http://schemas.microsoft.com/office/drawing/2014/main" id="{FC60EE0B-F2F6-AF75-71A0-606AF9B00298}"/>
                  </a:ext>
                </a:extLst>
              </p:cNvPr>
              <p:cNvSpPr/>
              <p:nvPr/>
            </p:nvSpPr>
            <p:spPr>
              <a:xfrm>
                <a:off x="1986081" y="1066800"/>
                <a:ext cx="6407" cy="2440907"/>
              </a:xfrm>
              <a:prstGeom prst="rect">
                <a:avLst/>
              </a:prstGeom>
              <a:solidFill>
                <a:srgbClr val="D9D3C3"/>
              </a:solidFill>
              <a:ln/>
            </p:spPr>
            <p:txBody>
              <a:bodyPr/>
              <a:lstStyle/>
              <a:p>
                <a:endParaRPr lang="en-IN" sz="1200">
                  <a:latin typeface="Georgia" panose="02040502050405020303" pitchFamily="18" charset="0"/>
                </a:endParaRPr>
              </a:p>
            </p:txBody>
          </p:sp>
          <p:sp>
            <p:nvSpPr>
              <p:cNvPr id="11" name="Text 12">
                <a:extLst>
                  <a:ext uri="{FF2B5EF4-FFF2-40B4-BE49-F238E27FC236}">
                    <a16:creationId xmlns:a16="http://schemas.microsoft.com/office/drawing/2014/main" id="{F81B9309-B6AE-21C1-B6A8-CF2DE873DA0A}"/>
                  </a:ext>
                </a:extLst>
              </p:cNvPr>
              <p:cNvSpPr/>
              <p:nvPr/>
            </p:nvSpPr>
            <p:spPr>
              <a:xfrm>
                <a:off x="577652" y="1325835"/>
                <a:ext cx="1344358" cy="382575"/>
              </a:xfrm>
              <a:prstGeom prst="rect">
                <a:avLst/>
              </a:prstGeom>
              <a:noFill/>
              <a:ln/>
            </p:spPr>
            <p:txBody>
              <a:bodyPr wrap="square" lIns="16933" tIns="16933" rIns="16933" bIns="16933" rtlCol="0" anchor="t">
                <a:normAutofit/>
              </a:bodyPr>
              <a:lstStyle/>
              <a:p>
                <a:r>
                  <a:rPr lang="en-US" sz="1600" b="1" dirty="0">
                    <a:solidFill>
                      <a:srgbClr val="14342B"/>
                    </a:solidFill>
                    <a:latin typeface="Georgia" panose="02040502050405020303" pitchFamily="18" charset="0"/>
                    <a:ea typeface="Arial" pitchFamily="34" charset="-122"/>
                    <a:cs typeface="Arial" pitchFamily="34" charset="-120"/>
                  </a:rPr>
                  <a:t>Onion</a:t>
                </a:r>
                <a:endParaRPr lang="en-US" sz="1600" dirty="0">
                  <a:latin typeface="Georgia" panose="02040502050405020303" pitchFamily="18" charset="0"/>
                </a:endParaRPr>
              </a:p>
            </p:txBody>
          </p:sp>
          <p:sp>
            <p:nvSpPr>
              <p:cNvPr id="12" name="Shape 13">
                <a:extLst>
                  <a:ext uri="{FF2B5EF4-FFF2-40B4-BE49-F238E27FC236}">
                    <a16:creationId xmlns:a16="http://schemas.microsoft.com/office/drawing/2014/main" id="{71EC15F0-E909-1686-799F-7C8F964141A0}"/>
                  </a:ext>
                </a:extLst>
              </p:cNvPr>
              <p:cNvSpPr/>
              <p:nvPr/>
            </p:nvSpPr>
            <p:spPr>
              <a:xfrm>
                <a:off x="577652" y="1788113"/>
                <a:ext cx="1293102" cy="9963"/>
              </a:xfrm>
              <a:prstGeom prst="rect">
                <a:avLst/>
              </a:prstGeom>
              <a:solidFill>
                <a:srgbClr val="D9D3C3"/>
              </a:solidFill>
              <a:ln/>
            </p:spPr>
            <p:txBody>
              <a:bodyPr/>
              <a:lstStyle/>
              <a:p>
                <a:endParaRPr lang="en-IN" sz="1200">
                  <a:latin typeface="Georgia" panose="02040502050405020303" pitchFamily="18" charset="0"/>
                </a:endParaRPr>
              </a:p>
            </p:txBody>
          </p:sp>
          <p:sp>
            <p:nvSpPr>
              <p:cNvPr id="13" name="Text 14">
                <a:extLst>
                  <a:ext uri="{FF2B5EF4-FFF2-40B4-BE49-F238E27FC236}">
                    <a16:creationId xmlns:a16="http://schemas.microsoft.com/office/drawing/2014/main" id="{75B3F8E9-A69A-A85B-ADCD-66DFA5EB612A}"/>
                  </a:ext>
                </a:extLst>
              </p:cNvPr>
              <p:cNvSpPr/>
              <p:nvPr/>
            </p:nvSpPr>
            <p:spPr>
              <a:xfrm>
                <a:off x="577652" y="1917630"/>
                <a:ext cx="1344358" cy="191287"/>
              </a:xfrm>
              <a:prstGeom prst="rect">
                <a:avLst/>
              </a:prstGeom>
              <a:noFill/>
              <a:ln/>
            </p:spPr>
            <p:txBody>
              <a:bodyPr wrap="square" lIns="16933" tIns="16933" rIns="16933" bIns="16933" rtlCol="0" anchor="t">
                <a:normAutofit/>
              </a:bodyPr>
              <a:lstStyle/>
              <a:p>
                <a:r>
                  <a:rPr lang="en-US" sz="900" kern="0" spc="50" dirty="0">
                    <a:solidFill>
                      <a:srgbClr val="6B7A76"/>
                    </a:solidFill>
                    <a:latin typeface="Georgia" panose="02040502050405020303" pitchFamily="18" charset="0"/>
                    <a:ea typeface="Arial" pitchFamily="34" charset="-122"/>
                    <a:cs typeface="Arial" pitchFamily="34" charset="-120"/>
                  </a:rPr>
                  <a:t>PRODUCTION</a:t>
                </a:r>
                <a:endParaRPr lang="en-US" sz="900" dirty="0">
                  <a:latin typeface="Georgia" panose="02040502050405020303" pitchFamily="18" charset="0"/>
                </a:endParaRPr>
              </a:p>
            </p:txBody>
          </p:sp>
          <p:sp>
            <p:nvSpPr>
              <p:cNvPr id="14" name="Text 15">
                <a:extLst>
                  <a:ext uri="{FF2B5EF4-FFF2-40B4-BE49-F238E27FC236}">
                    <a16:creationId xmlns:a16="http://schemas.microsoft.com/office/drawing/2014/main" id="{CF14F932-6882-6E8F-9EE8-D154BE193DF3}"/>
                  </a:ext>
                </a:extLst>
              </p:cNvPr>
              <p:cNvSpPr/>
              <p:nvPr/>
            </p:nvSpPr>
            <p:spPr>
              <a:xfrm>
                <a:off x="577652" y="2069066"/>
                <a:ext cx="1344358" cy="310842"/>
              </a:xfrm>
              <a:prstGeom prst="rect">
                <a:avLst/>
              </a:prstGeom>
              <a:noFill/>
              <a:ln/>
            </p:spPr>
            <p:txBody>
              <a:bodyPr wrap="square" lIns="16933" tIns="16933" rIns="16933" bIns="16933" rtlCol="0" anchor="t">
                <a:normAutofit/>
              </a:bodyPr>
              <a:lstStyle/>
              <a:p>
                <a:r>
                  <a:rPr lang="en-US" sz="1400" b="1" dirty="0">
                    <a:solidFill>
                      <a:srgbClr val="0B6E78"/>
                    </a:solidFill>
                    <a:latin typeface="Georgia" panose="02040502050405020303" pitchFamily="18" charset="0"/>
                    <a:ea typeface="Arial" pitchFamily="34" charset="-122"/>
                    <a:cs typeface="Arial" pitchFamily="34" charset="-120"/>
                  </a:rPr>
                  <a:t>30,13,848 </a:t>
                </a:r>
                <a:r>
                  <a:rPr lang="en-US" sz="1400" dirty="0">
                    <a:solidFill>
                      <a:srgbClr val="6B7A76"/>
                    </a:solidFill>
                    <a:latin typeface="Georgia" panose="02040502050405020303" pitchFamily="18" charset="0"/>
                    <a:ea typeface="Arial" pitchFamily="34" charset="-122"/>
                    <a:cs typeface="Arial" pitchFamily="34" charset="-120"/>
                  </a:rPr>
                  <a:t>MT</a:t>
                </a:r>
                <a:endParaRPr lang="en-US" sz="1400" dirty="0">
                  <a:latin typeface="Georgia" panose="02040502050405020303" pitchFamily="18" charset="0"/>
                </a:endParaRPr>
              </a:p>
            </p:txBody>
          </p:sp>
          <p:sp>
            <p:nvSpPr>
              <p:cNvPr id="15" name="Text 16">
                <a:extLst>
                  <a:ext uri="{FF2B5EF4-FFF2-40B4-BE49-F238E27FC236}">
                    <a16:creationId xmlns:a16="http://schemas.microsoft.com/office/drawing/2014/main" id="{3360323A-6A66-7C56-20A2-C0C047BAD64F}"/>
                  </a:ext>
                </a:extLst>
              </p:cNvPr>
              <p:cNvSpPr/>
              <p:nvPr/>
            </p:nvSpPr>
            <p:spPr>
              <a:xfrm>
                <a:off x="577652" y="2419760"/>
                <a:ext cx="1344358" cy="191287"/>
              </a:xfrm>
              <a:prstGeom prst="rect">
                <a:avLst/>
              </a:prstGeom>
              <a:noFill/>
              <a:ln/>
            </p:spPr>
            <p:txBody>
              <a:bodyPr wrap="square" lIns="16933" tIns="16933" rIns="16933" bIns="16933" rtlCol="0" anchor="t">
                <a:normAutofit/>
              </a:bodyPr>
              <a:lstStyle/>
              <a:p>
                <a:r>
                  <a:rPr lang="en-US" sz="900" kern="0" spc="50" dirty="0">
                    <a:solidFill>
                      <a:srgbClr val="6B7A76"/>
                    </a:solidFill>
                    <a:latin typeface="Georgia" panose="02040502050405020303" pitchFamily="18" charset="0"/>
                    <a:ea typeface="Arial" pitchFamily="34" charset="-122"/>
                    <a:cs typeface="Arial" pitchFamily="34" charset="-120"/>
                  </a:rPr>
                  <a:t>AREA</a:t>
                </a:r>
                <a:endParaRPr lang="en-US" sz="900" dirty="0">
                  <a:latin typeface="Georgia" panose="02040502050405020303" pitchFamily="18" charset="0"/>
                </a:endParaRPr>
              </a:p>
            </p:txBody>
          </p:sp>
          <p:sp>
            <p:nvSpPr>
              <p:cNvPr id="16" name="Text 17">
                <a:extLst>
                  <a:ext uri="{FF2B5EF4-FFF2-40B4-BE49-F238E27FC236}">
                    <a16:creationId xmlns:a16="http://schemas.microsoft.com/office/drawing/2014/main" id="{D5B15AE6-FB4E-3B71-DD90-2971A28FE65F}"/>
                  </a:ext>
                </a:extLst>
              </p:cNvPr>
              <p:cNvSpPr/>
              <p:nvPr/>
            </p:nvSpPr>
            <p:spPr>
              <a:xfrm>
                <a:off x="577652" y="2571196"/>
                <a:ext cx="1344358" cy="278961"/>
              </a:xfrm>
              <a:prstGeom prst="rect">
                <a:avLst/>
              </a:prstGeom>
              <a:noFill/>
              <a:ln/>
            </p:spPr>
            <p:txBody>
              <a:bodyPr wrap="square" lIns="16933" tIns="16933" rIns="16933" bIns="16933" rtlCol="0" anchor="t">
                <a:normAutofit/>
              </a:bodyPr>
              <a:lstStyle/>
              <a:p>
                <a:r>
                  <a:rPr lang="en-US" sz="1400" b="1" dirty="0">
                    <a:solidFill>
                      <a:srgbClr val="14342B"/>
                    </a:solidFill>
                    <a:latin typeface="Georgia" panose="02040502050405020303" pitchFamily="18" charset="0"/>
                    <a:ea typeface="Arial" pitchFamily="34" charset="-122"/>
                    <a:cs typeface="Arial" pitchFamily="34" charset="-120"/>
                  </a:rPr>
                  <a:t>1,65,422 </a:t>
                </a:r>
                <a:r>
                  <a:rPr lang="en-US" sz="1400" b="1" dirty="0">
                    <a:solidFill>
                      <a:srgbClr val="6B7A76"/>
                    </a:solidFill>
                    <a:latin typeface="Georgia" panose="02040502050405020303" pitchFamily="18" charset="0"/>
                    <a:ea typeface="Arial" pitchFamily="34" charset="-122"/>
                    <a:cs typeface="Arial" pitchFamily="34" charset="-120"/>
                  </a:rPr>
                  <a:t>HA</a:t>
                </a:r>
                <a:endParaRPr lang="en-US" sz="1400" dirty="0">
                  <a:latin typeface="Georgia" panose="02040502050405020303" pitchFamily="18" charset="0"/>
                </a:endParaRPr>
              </a:p>
            </p:txBody>
          </p:sp>
          <p:sp>
            <p:nvSpPr>
              <p:cNvPr id="17" name="Shape 20">
                <a:extLst>
                  <a:ext uri="{FF2B5EF4-FFF2-40B4-BE49-F238E27FC236}">
                    <a16:creationId xmlns:a16="http://schemas.microsoft.com/office/drawing/2014/main" id="{660AD00F-B5A8-3B06-DD5D-9318CDB8A35B}"/>
                  </a:ext>
                </a:extLst>
              </p:cNvPr>
              <p:cNvSpPr/>
              <p:nvPr/>
            </p:nvSpPr>
            <p:spPr>
              <a:xfrm>
                <a:off x="2080906" y="1066800"/>
                <a:ext cx="1534007" cy="2440907"/>
              </a:xfrm>
              <a:prstGeom prst="roundRect">
                <a:avLst>
                  <a:gd name="adj" fmla="val 2506"/>
                </a:avLst>
              </a:prstGeom>
              <a:solidFill>
                <a:srgbClr val="FFFFFF"/>
              </a:solidFill>
              <a:ln/>
            </p:spPr>
            <p:txBody>
              <a:bodyPr/>
              <a:lstStyle/>
              <a:p>
                <a:endParaRPr lang="en-IN" sz="1200">
                  <a:latin typeface="Georgia" panose="02040502050405020303" pitchFamily="18" charset="0"/>
                </a:endParaRPr>
              </a:p>
            </p:txBody>
          </p:sp>
          <p:sp>
            <p:nvSpPr>
              <p:cNvPr id="18" name="Shape 21">
                <a:extLst>
                  <a:ext uri="{FF2B5EF4-FFF2-40B4-BE49-F238E27FC236}">
                    <a16:creationId xmlns:a16="http://schemas.microsoft.com/office/drawing/2014/main" id="{AB1A5B03-4AEB-D8AA-F771-45F225ACD3A5}"/>
                  </a:ext>
                </a:extLst>
              </p:cNvPr>
              <p:cNvSpPr/>
              <p:nvPr/>
            </p:nvSpPr>
            <p:spPr>
              <a:xfrm>
                <a:off x="2080906" y="3499736"/>
                <a:ext cx="1534007" cy="9963"/>
              </a:xfrm>
              <a:prstGeom prst="rect">
                <a:avLst/>
              </a:prstGeom>
              <a:solidFill>
                <a:srgbClr val="D9D3C3"/>
              </a:solidFill>
              <a:ln/>
            </p:spPr>
            <p:txBody>
              <a:bodyPr/>
              <a:lstStyle/>
              <a:p>
                <a:endParaRPr lang="en-IN" sz="1200">
                  <a:latin typeface="Georgia" panose="02040502050405020303" pitchFamily="18" charset="0"/>
                </a:endParaRPr>
              </a:p>
            </p:txBody>
          </p:sp>
          <p:sp>
            <p:nvSpPr>
              <p:cNvPr id="19" name="Shape 22">
                <a:extLst>
                  <a:ext uri="{FF2B5EF4-FFF2-40B4-BE49-F238E27FC236}">
                    <a16:creationId xmlns:a16="http://schemas.microsoft.com/office/drawing/2014/main" id="{7BD64681-12A8-6103-D53A-3AB60F07CADC}"/>
                  </a:ext>
                </a:extLst>
              </p:cNvPr>
              <p:cNvSpPr/>
              <p:nvPr/>
            </p:nvSpPr>
            <p:spPr>
              <a:xfrm>
                <a:off x="2080906" y="1066800"/>
                <a:ext cx="1534007" cy="39852"/>
              </a:xfrm>
              <a:prstGeom prst="rect">
                <a:avLst/>
              </a:prstGeom>
              <a:solidFill>
                <a:srgbClr val="0E8B96"/>
              </a:solidFill>
              <a:ln/>
            </p:spPr>
            <p:txBody>
              <a:bodyPr/>
              <a:lstStyle/>
              <a:p>
                <a:endParaRPr lang="en-IN" sz="1200">
                  <a:latin typeface="Georgia" panose="02040502050405020303" pitchFamily="18" charset="0"/>
                </a:endParaRPr>
              </a:p>
            </p:txBody>
          </p:sp>
          <p:sp>
            <p:nvSpPr>
              <p:cNvPr id="20" name="Shape 23">
                <a:extLst>
                  <a:ext uri="{FF2B5EF4-FFF2-40B4-BE49-F238E27FC236}">
                    <a16:creationId xmlns:a16="http://schemas.microsoft.com/office/drawing/2014/main" id="{D01D6CD2-C1BA-BBCE-E1BF-2B70A40D3877}"/>
                  </a:ext>
                </a:extLst>
              </p:cNvPr>
              <p:cNvSpPr/>
              <p:nvPr/>
            </p:nvSpPr>
            <p:spPr>
              <a:xfrm>
                <a:off x="2080906" y="1066800"/>
                <a:ext cx="6407" cy="2440907"/>
              </a:xfrm>
              <a:prstGeom prst="rect">
                <a:avLst/>
              </a:prstGeom>
              <a:solidFill>
                <a:srgbClr val="D9D3C3"/>
              </a:solidFill>
              <a:ln/>
            </p:spPr>
            <p:txBody>
              <a:bodyPr/>
              <a:lstStyle/>
              <a:p>
                <a:endParaRPr lang="en-IN" sz="1200">
                  <a:latin typeface="Georgia" panose="02040502050405020303" pitchFamily="18" charset="0"/>
                </a:endParaRPr>
              </a:p>
            </p:txBody>
          </p:sp>
          <p:sp>
            <p:nvSpPr>
              <p:cNvPr id="21" name="Shape 24">
                <a:extLst>
                  <a:ext uri="{FF2B5EF4-FFF2-40B4-BE49-F238E27FC236}">
                    <a16:creationId xmlns:a16="http://schemas.microsoft.com/office/drawing/2014/main" id="{40020718-3A8C-E30C-C18E-42B0B7823702}"/>
                  </a:ext>
                </a:extLst>
              </p:cNvPr>
              <p:cNvSpPr/>
              <p:nvPr/>
            </p:nvSpPr>
            <p:spPr>
              <a:xfrm>
                <a:off x="3609787" y="1066800"/>
                <a:ext cx="6407" cy="2440907"/>
              </a:xfrm>
              <a:prstGeom prst="rect">
                <a:avLst/>
              </a:prstGeom>
              <a:solidFill>
                <a:srgbClr val="D9D3C3"/>
              </a:solidFill>
              <a:ln/>
            </p:spPr>
            <p:txBody>
              <a:bodyPr/>
              <a:lstStyle/>
              <a:p>
                <a:endParaRPr lang="en-IN" sz="1200">
                  <a:latin typeface="Georgia" panose="02040502050405020303" pitchFamily="18" charset="0"/>
                </a:endParaRPr>
              </a:p>
            </p:txBody>
          </p:sp>
          <p:sp>
            <p:nvSpPr>
              <p:cNvPr id="22" name="Text 25">
                <a:extLst>
                  <a:ext uri="{FF2B5EF4-FFF2-40B4-BE49-F238E27FC236}">
                    <a16:creationId xmlns:a16="http://schemas.microsoft.com/office/drawing/2014/main" id="{05409714-EAAA-0A38-20F3-DF016C8AED17}"/>
                  </a:ext>
                </a:extLst>
              </p:cNvPr>
              <p:cNvSpPr/>
              <p:nvPr/>
            </p:nvSpPr>
            <p:spPr>
              <a:xfrm>
                <a:off x="2201358" y="1325835"/>
                <a:ext cx="1344358" cy="382575"/>
              </a:xfrm>
              <a:prstGeom prst="rect">
                <a:avLst/>
              </a:prstGeom>
              <a:noFill/>
              <a:ln/>
            </p:spPr>
            <p:txBody>
              <a:bodyPr wrap="square" lIns="16933" tIns="16933" rIns="16933" bIns="16933" rtlCol="0" anchor="t">
                <a:normAutofit/>
              </a:bodyPr>
              <a:lstStyle/>
              <a:p>
                <a:r>
                  <a:rPr lang="en-US" sz="1600" b="1" dirty="0">
                    <a:solidFill>
                      <a:srgbClr val="14342B"/>
                    </a:solidFill>
                    <a:latin typeface="Georgia" panose="02040502050405020303" pitchFamily="18" charset="0"/>
                    <a:ea typeface="Arial" pitchFamily="34" charset="-122"/>
                    <a:cs typeface="Arial" pitchFamily="34" charset="-120"/>
                  </a:rPr>
                  <a:t>Tomato</a:t>
                </a:r>
                <a:endParaRPr lang="en-US" sz="1600" dirty="0">
                  <a:latin typeface="Georgia" panose="02040502050405020303" pitchFamily="18" charset="0"/>
                </a:endParaRPr>
              </a:p>
            </p:txBody>
          </p:sp>
          <p:sp>
            <p:nvSpPr>
              <p:cNvPr id="44" name="Shape 26">
                <a:extLst>
                  <a:ext uri="{FF2B5EF4-FFF2-40B4-BE49-F238E27FC236}">
                    <a16:creationId xmlns:a16="http://schemas.microsoft.com/office/drawing/2014/main" id="{5F3DC065-D38A-CCB1-F0FF-0612F49EADF7}"/>
                  </a:ext>
                </a:extLst>
              </p:cNvPr>
              <p:cNvSpPr/>
              <p:nvPr/>
            </p:nvSpPr>
            <p:spPr>
              <a:xfrm>
                <a:off x="2201358" y="1788113"/>
                <a:ext cx="1293102" cy="9963"/>
              </a:xfrm>
              <a:prstGeom prst="rect">
                <a:avLst/>
              </a:prstGeom>
              <a:solidFill>
                <a:srgbClr val="D9D3C3"/>
              </a:solidFill>
              <a:ln/>
            </p:spPr>
            <p:txBody>
              <a:bodyPr/>
              <a:lstStyle/>
              <a:p>
                <a:endParaRPr lang="en-IN" sz="1200">
                  <a:latin typeface="Georgia" panose="02040502050405020303" pitchFamily="18" charset="0"/>
                </a:endParaRPr>
              </a:p>
            </p:txBody>
          </p:sp>
          <p:sp>
            <p:nvSpPr>
              <p:cNvPr id="45" name="Text 27">
                <a:extLst>
                  <a:ext uri="{FF2B5EF4-FFF2-40B4-BE49-F238E27FC236}">
                    <a16:creationId xmlns:a16="http://schemas.microsoft.com/office/drawing/2014/main" id="{DE7307EB-DA89-BCE4-EA3D-C405823A9781}"/>
                  </a:ext>
                </a:extLst>
              </p:cNvPr>
              <p:cNvSpPr/>
              <p:nvPr/>
            </p:nvSpPr>
            <p:spPr>
              <a:xfrm>
                <a:off x="2201358" y="1917630"/>
                <a:ext cx="1344358" cy="191287"/>
              </a:xfrm>
              <a:prstGeom prst="rect">
                <a:avLst/>
              </a:prstGeom>
              <a:noFill/>
              <a:ln/>
            </p:spPr>
            <p:txBody>
              <a:bodyPr wrap="square" lIns="16933" tIns="16933" rIns="16933" bIns="16933" rtlCol="0" anchor="t">
                <a:normAutofit/>
              </a:bodyPr>
              <a:lstStyle/>
              <a:p>
                <a:r>
                  <a:rPr lang="en-US" sz="900" kern="0" spc="50" dirty="0">
                    <a:solidFill>
                      <a:srgbClr val="6B7A76"/>
                    </a:solidFill>
                    <a:latin typeface="Georgia" panose="02040502050405020303" pitchFamily="18" charset="0"/>
                    <a:ea typeface="Arial" pitchFamily="34" charset="-122"/>
                    <a:cs typeface="Arial" pitchFamily="34" charset="-120"/>
                  </a:rPr>
                  <a:t>PRODUCTION</a:t>
                </a:r>
                <a:endParaRPr lang="en-US" sz="900" dirty="0">
                  <a:latin typeface="Georgia" panose="02040502050405020303" pitchFamily="18" charset="0"/>
                </a:endParaRPr>
              </a:p>
            </p:txBody>
          </p:sp>
          <p:sp>
            <p:nvSpPr>
              <p:cNvPr id="46" name="Text 28">
                <a:extLst>
                  <a:ext uri="{FF2B5EF4-FFF2-40B4-BE49-F238E27FC236}">
                    <a16:creationId xmlns:a16="http://schemas.microsoft.com/office/drawing/2014/main" id="{18AC218B-94C0-9475-028E-4ED1C0EE73D1}"/>
                  </a:ext>
                </a:extLst>
              </p:cNvPr>
              <p:cNvSpPr/>
              <p:nvPr/>
            </p:nvSpPr>
            <p:spPr>
              <a:xfrm>
                <a:off x="2201358" y="2069066"/>
                <a:ext cx="1456242" cy="369334"/>
              </a:xfrm>
              <a:prstGeom prst="rect">
                <a:avLst/>
              </a:prstGeom>
              <a:noFill/>
              <a:ln/>
            </p:spPr>
            <p:txBody>
              <a:bodyPr wrap="square" lIns="16933" tIns="16933" rIns="16933" bIns="16933" rtlCol="0" anchor="t">
                <a:noAutofit/>
              </a:bodyPr>
              <a:lstStyle/>
              <a:p>
                <a:r>
                  <a:rPr lang="en-US" sz="1400" b="1" dirty="0">
                    <a:solidFill>
                      <a:srgbClr val="0B6E78"/>
                    </a:solidFill>
                    <a:latin typeface="Georgia" panose="02040502050405020303" pitchFamily="18" charset="0"/>
                    <a:ea typeface="Arial" pitchFamily="34" charset="-122"/>
                    <a:cs typeface="Arial" pitchFamily="34" charset="-120"/>
                  </a:rPr>
                  <a:t>25,64,631 </a:t>
                </a:r>
                <a:r>
                  <a:rPr lang="en-US" sz="1400" dirty="0">
                    <a:solidFill>
                      <a:srgbClr val="6B7A76"/>
                    </a:solidFill>
                    <a:latin typeface="Georgia" panose="02040502050405020303" pitchFamily="18" charset="0"/>
                    <a:ea typeface="Arial" pitchFamily="34" charset="-122"/>
                    <a:cs typeface="Arial" pitchFamily="34" charset="-120"/>
                  </a:rPr>
                  <a:t>MT</a:t>
                </a:r>
                <a:endParaRPr lang="en-US" sz="1400" dirty="0">
                  <a:latin typeface="Georgia" panose="02040502050405020303" pitchFamily="18" charset="0"/>
                </a:endParaRPr>
              </a:p>
            </p:txBody>
          </p:sp>
          <p:sp>
            <p:nvSpPr>
              <p:cNvPr id="47" name="Text 29">
                <a:extLst>
                  <a:ext uri="{FF2B5EF4-FFF2-40B4-BE49-F238E27FC236}">
                    <a16:creationId xmlns:a16="http://schemas.microsoft.com/office/drawing/2014/main" id="{72B1EB56-F503-7984-8617-D0069AB12263}"/>
                  </a:ext>
                </a:extLst>
              </p:cNvPr>
              <p:cNvSpPr/>
              <p:nvPr/>
            </p:nvSpPr>
            <p:spPr>
              <a:xfrm>
                <a:off x="2201358" y="2419760"/>
                <a:ext cx="1344358" cy="191287"/>
              </a:xfrm>
              <a:prstGeom prst="rect">
                <a:avLst/>
              </a:prstGeom>
              <a:noFill/>
              <a:ln/>
            </p:spPr>
            <p:txBody>
              <a:bodyPr wrap="square" lIns="16933" tIns="16933" rIns="16933" bIns="16933" rtlCol="0" anchor="t">
                <a:normAutofit/>
              </a:bodyPr>
              <a:lstStyle/>
              <a:p>
                <a:r>
                  <a:rPr lang="en-US" sz="900" kern="0" spc="50" dirty="0">
                    <a:solidFill>
                      <a:srgbClr val="6B7A76"/>
                    </a:solidFill>
                    <a:latin typeface="Georgia" panose="02040502050405020303" pitchFamily="18" charset="0"/>
                    <a:ea typeface="Arial" pitchFamily="34" charset="-122"/>
                    <a:cs typeface="Arial" pitchFamily="34" charset="-120"/>
                  </a:rPr>
                  <a:t>AREA</a:t>
                </a:r>
                <a:endParaRPr lang="en-US" sz="900" dirty="0">
                  <a:latin typeface="Georgia" panose="02040502050405020303" pitchFamily="18" charset="0"/>
                </a:endParaRPr>
              </a:p>
            </p:txBody>
          </p:sp>
          <p:sp>
            <p:nvSpPr>
              <p:cNvPr id="48" name="Text 30">
                <a:extLst>
                  <a:ext uri="{FF2B5EF4-FFF2-40B4-BE49-F238E27FC236}">
                    <a16:creationId xmlns:a16="http://schemas.microsoft.com/office/drawing/2014/main" id="{586E410B-109A-D483-EA91-2F3AA24F21C2}"/>
                  </a:ext>
                </a:extLst>
              </p:cNvPr>
              <p:cNvSpPr/>
              <p:nvPr/>
            </p:nvSpPr>
            <p:spPr>
              <a:xfrm>
                <a:off x="2201358" y="2571196"/>
                <a:ext cx="1344358" cy="278961"/>
              </a:xfrm>
              <a:prstGeom prst="rect">
                <a:avLst/>
              </a:prstGeom>
              <a:noFill/>
              <a:ln/>
            </p:spPr>
            <p:txBody>
              <a:bodyPr wrap="square" lIns="16933" tIns="16933" rIns="16933" bIns="16933" rtlCol="0" anchor="t">
                <a:normAutofit/>
              </a:bodyPr>
              <a:lstStyle/>
              <a:p>
                <a:r>
                  <a:rPr lang="en-US" sz="1400" b="1" dirty="0">
                    <a:solidFill>
                      <a:srgbClr val="14342B"/>
                    </a:solidFill>
                    <a:latin typeface="Georgia" panose="02040502050405020303" pitchFamily="18" charset="0"/>
                    <a:ea typeface="Arial" pitchFamily="34" charset="-122"/>
                    <a:cs typeface="Arial" pitchFamily="34" charset="-120"/>
                  </a:rPr>
                  <a:t>67,949 </a:t>
                </a:r>
                <a:r>
                  <a:rPr lang="en-US" sz="1400" b="1" dirty="0">
                    <a:solidFill>
                      <a:srgbClr val="6B7A76"/>
                    </a:solidFill>
                    <a:latin typeface="Georgia" panose="02040502050405020303" pitchFamily="18" charset="0"/>
                    <a:ea typeface="Arial" pitchFamily="34" charset="-122"/>
                    <a:cs typeface="Arial" pitchFamily="34" charset="-120"/>
                  </a:rPr>
                  <a:t>HA</a:t>
                </a:r>
                <a:endParaRPr lang="en-US" sz="1400" dirty="0">
                  <a:latin typeface="Georgia" panose="02040502050405020303" pitchFamily="18" charset="0"/>
                </a:endParaRPr>
              </a:p>
            </p:txBody>
          </p:sp>
          <p:sp>
            <p:nvSpPr>
              <p:cNvPr id="49" name="Shape 33">
                <a:extLst>
                  <a:ext uri="{FF2B5EF4-FFF2-40B4-BE49-F238E27FC236}">
                    <a16:creationId xmlns:a16="http://schemas.microsoft.com/office/drawing/2014/main" id="{245FB8AA-3D7A-8531-343B-7535A2F5E591}"/>
                  </a:ext>
                </a:extLst>
              </p:cNvPr>
              <p:cNvSpPr/>
              <p:nvPr/>
            </p:nvSpPr>
            <p:spPr>
              <a:xfrm>
                <a:off x="3704611" y="1066800"/>
                <a:ext cx="1534007" cy="2440907"/>
              </a:xfrm>
              <a:prstGeom prst="roundRect">
                <a:avLst>
                  <a:gd name="adj" fmla="val 2506"/>
                </a:avLst>
              </a:prstGeom>
              <a:solidFill>
                <a:srgbClr val="FFFFFF"/>
              </a:solidFill>
              <a:ln/>
            </p:spPr>
            <p:txBody>
              <a:bodyPr/>
              <a:lstStyle/>
              <a:p>
                <a:endParaRPr lang="en-IN" sz="1600">
                  <a:latin typeface="Georgia" panose="02040502050405020303" pitchFamily="18" charset="0"/>
                </a:endParaRPr>
              </a:p>
            </p:txBody>
          </p:sp>
          <p:sp>
            <p:nvSpPr>
              <p:cNvPr id="50" name="Shape 34">
                <a:extLst>
                  <a:ext uri="{FF2B5EF4-FFF2-40B4-BE49-F238E27FC236}">
                    <a16:creationId xmlns:a16="http://schemas.microsoft.com/office/drawing/2014/main" id="{E57E6A03-AF21-F83F-612B-15F05575A41D}"/>
                  </a:ext>
                </a:extLst>
              </p:cNvPr>
              <p:cNvSpPr/>
              <p:nvPr/>
            </p:nvSpPr>
            <p:spPr>
              <a:xfrm>
                <a:off x="3704611" y="3499736"/>
                <a:ext cx="1534007" cy="9963"/>
              </a:xfrm>
              <a:prstGeom prst="rect">
                <a:avLst/>
              </a:prstGeom>
              <a:solidFill>
                <a:srgbClr val="D9D3C3"/>
              </a:solidFill>
              <a:ln/>
            </p:spPr>
            <p:txBody>
              <a:bodyPr/>
              <a:lstStyle/>
              <a:p>
                <a:endParaRPr lang="en-IN" sz="1200">
                  <a:latin typeface="Georgia" panose="02040502050405020303" pitchFamily="18" charset="0"/>
                </a:endParaRPr>
              </a:p>
            </p:txBody>
          </p:sp>
          <p:sp>
            <p:nvSpPr>
              <p:cNvPr id="51" name="Shape 35">
                <a:extLst>
                  <a:ext uri="{FF2B5EF4-FFF2-40B4-BE49-F238E27FC236}">
                    <a16:creationId xmlns:a16="http://schemas.microsoft.com/office/drawing/2014/main" id="{7DEEE821-4280-3486-3955-4EBE812C729E}"/>
                  </a:ext>
                </a:extLst>
              </p:cNvPr>
              <p:cNvSpPr/>
              <p:nvPr/>
            </p:nvSpPr>
            <p:spPr>
              <a:xfrm>
                <a:off x="3704611" y="1066800"/>
                <a:ext cx="1534007" cy="39852"/>
              </a:xfrm>
              <a:prstGeom prst="rect">
                <a:avLst/>
              </a:prstGeom>
              <a:solidFill>
                <a:srgbClr val="E8A33D"/>
              </a:solidFill>
              <a:ln/>
            </p:spPr>
            <p:txBody>
              <a:bodyPr/>
              <a:lstStyle/>
              <a:p>
                <a:endParaRPr lang="en-IN" sz="1200">
                  <a:latin typeface="Georgia" panose="02040502050405020303" pitchFamily="18" charset="0"/>
                </a:endParaRPr>
              </a:p>
            </p:txBody>
          </p:sp>
          <p:sp>
            <p:nvSpPr>
              <p:cNvPr id="52" name="Shape 36">
                <a:extLst>
                  <a:ext uri="{FF2B5EF4-FFF2-40B4-BE49-F238E27FC236}">
                    <a16:creationId xmlns:a16="http://schemas.microsoft.com/office/drawing/2014/main" id="{045016AA-8386-A7C1-F5FA-A5318D5D5561}"/>
                  </a:ext>
                </a:extLst>
              </p:cNvPr>
              <p:cNvSpPr/>
              <p:nvPr/>
            </p:nvSpPr>
            <p:spPr>
              <a:xfrm>
                <a:off x="3704611" y="1066800"/>
                <a:ext cx="6407" cy="2440907"/>
              </a:xfrm>
              <a:prstGeom prst="rect">
                <a:avLst/>
              </a:prstGeom>
              <a:solidFill>
                <a:srgbClr val="D9D3C3"/>
              </a:solidFill>
              <a:ln/>
            </p:spPr>
            <p:txBody>
              <a:bodyPr/>
              <a:lstStyle/>
              <a:p>
                <a:endParaRPr lang="en-IN" sz="1200">
                  <a:latin typeface="Georgia" panose="02040502050405020303" pitchFamily="18" charset="0"/>
                </a:endParaRPr>
              </a:p>
            </p:txBody>
          </p:sp>
          <p:sp>
            <p:nvSpPr>
              <p:cNvPr id="53" name="Shape 37">
                <a:extLst>
                  <a:ext uri="{FF2B5EF4-FFF2-40B4-BE49-F238E27FC236}">
                    <a16:creationId xmlns:a16="http://schemas.microsoft.com/office/drawing/2014/main" id="{5A48F30F-0501-5443-C038-506557C03C35}"/>
                  </a:ext>
                </a:extLst>
              </p:cNvPr>
              <p:cNvSpPr/>
              <p:nvPr/>
            </p:nvSpPr>
            <p:spPr>
              <a:xfrm>
                <a:off x="5233492" y="1066800"/>
                <a:ext cx="6407" cy="2440907"/>
              </a:xfrm>
              <a:prstGeom prst="rect">
                <a:avLst/>
              </a:prstGeom>
              <a:solidFill>
                <a:srgbClr val="D9D3C3"/>
              </a:solidFill>
              <a:ln/>
            </p:spPr>
            <p:txBody>
              <a:bodyPr/>
              <a:lstStyle/>
              <a:p>
                <a:endParaRPr lang="en-IN" sz="1200">
                  <a:latin typeface="Georgia" panose="02040502050405020303" pitchFamily="18" charset="0"/>
                </a:endParaRPr>
              </a:p>
            </p:txBody>
          </p:sp>
          <p:sp>
            <p:nvSpPr>
              <p:cNvPr id="54" name="Text 38">
                <a:extLst>
                  <a:ext uri="{FF2B5EF4-FFF2-40B4-BE49-F238E27FC236}">
                    <a16:creationId xmlns:a16="http://schemas.microsoft.com/office/drawing/2014/main" id="{5ABFF173-6CE7-E24D-36CC-A05197B0E6C0}"/>
                  </a:ext>
                </a:extLst>
              </p:cNvPr>
              <p:cNvSpPr/>
              <p:nvPr/>
            </p:nvSpPr>
            <p:spPr>
              <a:xfrm>
                <a:off x="3825063" y="1325835"/>
                <a:ext cx="1344358" cy="382575"/>
              </a:xfrm>
              <a:prstGeom prst="rect">
                <a:avLst/>
              </a:prstGeom>
              <a:noFill/>
              <a:ln/>
            </p:spPr>
            <p:txBody>
              <a:bodyPr wrap="square" lIns="16933" tIns="16933" rIns="16933" bIns="16933" rtlCol="0" anchor="t">
                <a:normAutofit/>
              </a:bodyPr>
              <a:lstStyle/>
              <a:p>
                <a:r>
                  <a:rPr lang="en-US" sz="1600" b="1" dirty="0">
                    <a:solidFill>
                      <a:srgbClr val="14342B"/>
                    </a:solidFill>
                    <a:latin typeface="Georgia" panose="02040502050405020303" pitchFamily="18" charset="0"/>
                    <a:ea typeface="Arial" pitchFamily="34" charset="-122"/>
                    <a:cs typeface="Arial" pitchFamily="34" charset="-120"/>
                  </a:rPr>
                  <a:t>Mango</a:t>
                </a:r>
                <a:endParaRPr lang="en-US" sz="1600" dirty="0">
                  <a:latin typeface="Georgia" panose="02040502050405020303" pitchFamily="18" charset="0"/>
                </a:endParaRPr>
              </a:p>
            </p:txBody>
          </p:sp>
          <p:sp>
            <p:nvSpPr>
              <p:cNvPr id="55" name="Shape 39">
                <a:extLst>
                  <a:ext uri="{FF2B5EF4-FFF2-40B4-BE49-F238E27FC236}">
                    <a16:creationId xmlns:a16="http://schemas.microsoft.com/office/drawing/2014/main" id="{1A9B992D-6B2B-3D2D-E844-EA8AD04221C5}"/>
                  </a:ext>
                </a:extLst>
              </p:cNvPr>
              <p:cNvSpPr/>
              <p:nvPr/>
            </p:nvSpPr>
            <p:spPr>
              <a:xfrm>
                <a:off x="3825063" y="1788113"/>
                <a:ext cx="1293102" cy="9963"/>
              </a:xfrm>
              <a:prstGeom prst="rect">
                <a:avLst/>
              </a:prstGeom>
              <a:solidFill>
                <a:srgbClr val="D9D3C3"/>
              </a:solidFill>
              <a:ln/>
            </p:spPr>
            <p:txBody>
              <a:bodyPr/>
              <a:lstStyle/>
              <a:p>
                <a:endParaRPr lang="en-IN" sz="1200">
                  <a:latin typeface="Georgia" panose="02040502050405020303" pitchFamily="18" charset="0"/>
                </a:endParaRPr>
              </a:p>
            </p:txBody>
          </p:sp>
          <p:sp>
            <p:nvSpPr>
              <p:cNvPr id="56" name="Text 40">
                <a:extLst>
                  <a:ext uri="{FF2B5EF4-FFF2-40B4-BE49-F238E27FC236}">
                    <a16:creationId xmlns:a16="http://schemas.microsoft.com/office/drawing/2014/main" id="{04341920-9AB9-AFAD-0CB4-C0C56145BE07}"/>
                  </a:ext>
                </a:extLst>
              </p:cNvPr>
              <p:cNvSpPr/>
              <p:nvPr/>
            </p:nvSpPr>
            <p:spPr>
              <a:xfrm>
                <a:off x="3825063" y="1917630"/>
                <a:ext cx="1344358" cy="191287"/>
              </a:xfrm>
              <a:prstGeom prst="rect">
                <a:avLst/>
              </a:prstGeom>
              <a:noFill/>
              <a:ln/>
            </p:spPr>
            <p:txBody>
              <a:bodyPr wrap="square" lIns="16933" tIns="16933" rIns="16933" bIns="16933" rtlCol="0" anchor="t">
                <a:normAutofit/>
              </a:bodyPr>
              <a:lstStyle/>
              <a:p>
                <a:r>
                  <a:rPr lang="en-US" sz="900" kern="0" spc="50" dirty="0">
                    <a:solidFill>
                      <a:srgbClr val="6B7A76"/>
                    </a:solidFill>
                    <a:latin typeface="Georgia" panose="02040502050405020303" pitchFamily="18" charset="0"/>
                    <a:ea typeface="Arial" pitchFamily="34" charset="-122"/>
                    <a:cs typeface="Arial" pitchFamily="34" charset="-120"/>
                  </a:rPr>
                  <a:t>PRODUCTION</a:t>
                </a:r>
                <a:endParaRPr lang="en-US" sz="900" dirty="0">
                  <a:latin typeface="Georgia" panose="02040502050405020303" pitchFamily="18" charset="0"/>
                </a:endParaRPr>
              </a:p>
            </p:txBody>
          </p:sp>
          <p:sp>
            <p:nvSpPr>
              <p:cNvPr id="57" name="Text 41">
                <a:extLst>
                  <a:ext uri="{FF2B5EF4-FFF2-40B4-BE49-F238E27FC236}">
                    <a16:creationId xmlns:a16="http://schemas.microsoft.com/office/drawing/2014/main" id="{55DCB60F-F247-36DC-39D7-B27E213FF22E}"/>
                  </a:ext>
                </a:extLst>
              </p:cNvPr>
              <p:cNvSpPr/>
              <p:nvPr/>
            </p:nvSpPr>
            <p:spPr>
              <a:xfrm>
                <a:off x="3825063" y="2069066"/>
                <a:ext cx="1344358" cy="310842"/>
              </a:xfrm>
              <a:prstGeom prst="rect">
                <a:avLst/>
              </a:prstGeom>
              <a:noFill/>
              <a:ln/>
            </p:spPr>
            <p:txBody>
              <a:bodyPr wrap="square" lIns="16933" tIns="16933" rIns="16933" bIns="16933" rtlCol="0" anchor="t">
                <a:normAutofit/>
              </a:bodyPr>
              <a:lstStyle/>
              <a:p>
                <a:r>
                  <a:rPr lang="en-US" sz="1400" b="1" dirty="0">
                    <a:solidFill>
                      <a:srgbClr val="0B6E78"/>
                    </a:solidFill>
                    <a:latin typeface="Georgia" panose="02040502050405020303" pitchFamily="18" charset="0"/>
                    <a:ea typeface="Arial" pitchFamily="34" charset="-122"/>
                    <a:cs typeface="Arial" pitchFamily="34" charset="-120"/>
                  </a:rPr>
                  <a:t>14,48,757 </a:t>
                </a:r>
                <a:r>
                  <a:rPr lang="en-US" sz="1400" dirty="0">
                    <a:solidFill>
                      <a:srgbClr val="6B7A76"/>
                    </a:solidFill>
                    <a:latin typeface="Georgia" panose="02040502050405020303" pitchFamily="18" charset="0"/>
                    <a:ea typeface="Arial" pitchFamily="34" charset="-122"/>
                    <a:cs typeface="Arial" pitchFamily="34" charset="-120"/>
                  </a:rPr>
                  <a:t>MT</a:t>
                </a:r>
                <a:endParaRPr lang="en-US" sz="1400" dirty="0">
                  <a:latin typeface="Georgia" panose="02040502050405020303" pitchFamily="18" charset="0"/>
                </a:endParaRPr>
              </a:p>
            </p:txBody>
          </p:sp>
          <p:sp>
            <p:nvSpPr>
              <p:cNvPr id="58" name="Text 42">
                <a:extLst>
                  <a:ext uri="{FF2B5EF4-FFF2-40B4-BE49-F238E27FC236}">
                    <a16:creationId xmlns:a16="http://schemas.microsoft.com/office/drawing/2014/main" id="{C016A0CC-5810-C5DB-EBA5-934D80ED09CD}"/>
                  </a:ext>
                </a:extLst>
              </p:cNvPr>
              <p:cNvSpPr/>
              <p:nvPr/>
            </p:nvSpPr>
            <p:spPr>
              <a:xfrm>
                <a:off x="3825063" y="2419760"/>
                <a:ext cx="1344358" cy="191287"/>
              </a:xfrm>
              <a:prstGeom prst="rect">
                <a:avLst/>
              </a:prstGeom>
              <a:noFill/>
              <a:ln/>
            </p:spPr>
            <p:txBody>
              <a:bodyPr wrap="square" lIns="16933" tIns="16933" rIns="16933" bIns="16933" rtlCol="0" anchor="t">
                <a:normAutofit/>
              </a:bodyPr>
              <a:lstStyle/>
              <a:p>
                <a:r>
                  <a:rPr lang="en-US" sz="900" kern="0" spc="50" dirty="0">
                    <a:solidFill>
                      <a:srgbClr val="6B7A76"/>
                    </a:solidFill>
                    <a:latin typeface="Georgia" panose="02040502050405020303" pitchFamily="18" charset="0"/>
                    <a:ea typeface="Arial" pitchFamily="34" charset="-122"/>
                    <a:cs typeface="Arial" pitchFamily="34" charset="-120"/>
                  </a:rPr>
                  <a:t>AREA</a:t>
                </a:r>
                <a:endParaRPr lang="en-US" sz="900" dirty="0">
                  <a:latin typeface="Georgia" panose="02040502050405020303" pitchFamily="18" charset="0"/>
                </a:endParaRPr>
              </a:p>
            </p:txBody>
          </p:sp>
          <p:sp>
            <p:nvSpPr>
              <p:cNvPr id="76" name="Text 43">
                <a:extLst>
                  <a:ext uri="{FF2B5EF4-FFF2-40B4-BE49-F238E27FC236}">
                    <a16:creationId xmlns:a16="http://schemas.microsoft.com/office/drawing/2014/main" id="{BA77A0ED-3A03-9F82-19F4-5ECF0CF2BADD}"/>
                  </a:ext>
                </a:extLst>
              </p:cNvPr>
              <p:cNvSpPr/>
              <p:nvPr/>
            </p:nvSpPr>
            <p:spPr>
              <a:xfrm>
                <a:off x="3825063" y="2571196"/>
                <a:ext cx="1344358" cy="278961"/>
              </a:xfrm>
              <a:prstGeom prst="rect">
                <a:avLst/>
              </a:prstGeom>
              <a:noFill/>
              <a:ln/>
            </p:spPr>
            <p:txBody>
              <a:bodyPr wrap="square" lIns="16933" tIns="16933" rIns="16933" bIns="16933" rtlCol="0" anchor="t">
                <a:normAutofit/>
              </a:bodyPr>
              <a:lstStyle/>
              <a:p>
                <a:r>
                  <a:rPr lang="en-US" sz="1400" b="1" dirty="0">
                    <a:solidFill>
                      <a:srgbClr val="14342B"/>
                    </a:solidFill>
                    <a:latin typeface="Georgia" panose="02040502050405020303" pitchFamily="18" charset="0"/>
                    <a:ea typeface="Arial" pitchFamily="34" charset="-122"/>
                    <a:cs typeface="Arial" pitchFamily="34" charset="-120"/>
                  </a:rPr>
                  <a:t>1,37,494 </a:t>
                </a:r>
                <a:r>
                  <a:rPr lang="en-US" sz="1400" b="1" dirty="0">
                    <a:solidFill>
                      <a:srgbClr val="6B7A76"/>
                    </a:solidFill>
                    <a:latin typeface="Georgia" panose="02040502050405020303" pitchFamily="18" charset="0"/>
                    <a:ea typeface="Arial" pitchFamily="34" charset="-122"/>
                    <a:cs typeface="Arial" pitchFamily="34" charset="-120"/>
                  </a:rPr>
                  <a:t>HA</a:t>
                </a:r>
                <a:endParaRPr lang="en-US" sz="1400" dirty="0">
                  <a:latin typeface="Georgia" panose="02040502050405020303" pitchFamily="18" charset="0"/>
                </a:endParaRPr>
              </a:p>
            </p:txBody>
          </p:sp>
          <p:sp>
            <p:nvSpPr>
              <p:cNvPr id="77" name="Shape 46">
                <a:extLst>
                  <a:ext uri="{FF2B5EF4-FFF2-40B4-BE49-F238E27FC236}">
                    <a16:creationId xmlns:a16="http://schemas.microsoft.com/office/drawing/2014/main" id="{5B5986CE-348E-355E-3485-C04B39700128}"/>
                  </a:ext>
                </a:extLst>
              </p:cNvPr>
              <p:cNvSpPr/>
              <p:nvPr/>
            </p:nvSpPr>
            <p:spPr>
              <a:xfrm>
                <a:off x="5328317" y="1066800"/>
                <a:ext cx="1534087" cy="2440907"/>
              </a:xfrm>
              <a:prstGeom prst="roundRect">
                <a:avLst>
                  <a:gd name="adj" fmla="val 2506"/>
                </a:avLst>
              </a:prstGeom>
              <a:solidFill>
                <a:srgbClr val="FFFFFF"/>
              </a:solidFill>
              <a:ln/>
            </p:spPr>
            <p:txBody>
              <a:bodyPr/>
              <a:lstStyle/>
              <a:p>
                <a:endParaRPr lang="en-IN" sz="1200">
                  <a:latin typeface="Georgia" panose="02040502050405020303" pitchFamily="18" charset="0"/>
                </a:endParaRPr>
              </a:p>
            </p:txBody>
          </p:sp>
          <p:sp>
            <p:nvSpPr>
              <p:cNvPr id="78" name="Shape 47">
                <a:extLst>
                  <a:ext uri="{FF2B5EF4-FFF2-40B4-BE49-F238E27FC236}">
                    <a16:creationId xmlns:a16="http://schemas.microsoft.com/office/drawing/2014/main" id="{E27C3A02-1138-34C3-C653-22A0A7ADB654}"/>
                  </a:ext>
                </a:extLst>
              </p:cNvPr>
              <p:cNvSpPr/>
              <p:nvPr/>
            </p:nvSpPr>
            <p:spPr>
              <a:xfrm>
                <a:off x="5328317" y="3499736"/>
                <a:ext cx="1534087" cy="9963"/>
              </a:xfrm>
              <a:prstGeom prst="rect">
                <a:avLst/>
              </a:prstGeom>
              <a:solidFill>
                <a:srgbClr val="D9D3C3"/>
              </a:solidFill>
              <a:ln/>
            </p:spPr>
            <p:txBody>
              <a:bodyPr/>
              <a:lstStyle/>
              <a:p>
                <a:endParaRPr lang="en-IN" sz="1200">
                  <a:latin typeface="Georgia" panose="02040502050405020303" pitchFamily="18" charset="0"/>
                </a:endParaRPr>
              </a:p>
            </p:txBody>
          </p:sp>
          <p:sp>
            <p:nvSpPr>
              <p:cNvPr id="79" name="Shape 48">
                <a:extLst>
                  <a:ext uri="{FF2B5EF4-FFF2-40B4-BE49-F238E27FC236}">
                    <a16:creationId xmlns:a16="http://schemas.microsoft.com/office/drawing/2014/main" id="{7D5CFD5D-4B19-2CA0-4BC9-4B1B7B4803DB}"/>
                  </a:ext>
                </a:extLst>
              </p:cNvPr>
              <p:cNvSpPr/>
              <p:nvPr/>
            </p:nvSpPr>
            <p:spPr>
              <a:xfrm>
                <a:off x="5328317" y="1066800"/>
                <a:ext cx="1534087" cy="39852"/>
              </a:xfrm>
              <a:prstGeom prst="rect">
                <a:avLst/>
              </a:prstGeom>
              <a:solidFill>
                <a:srgbClr val="B8652D"/>
              </a:solidFill>
              <a:ln/>
            </p:spPr>
            <p:txBody>
              <a:bodyPr/>
              <a:lstStyle/>
              <a:p>
                <a:endParaRPr lang="en-IN" sz="1200">
                  <a:latin typeface="Georgia" panose="02040502050405020303" pitchFamily="18" charset="0"/>
                </a:endParaRPr>
              </a:p>
            </p:txBody>
          </p:sp>
          <p:sp>
            <p:nvSpPr>
              <p:cNvPr id="80" name="Shape 49">
                <a:extLst>
                  <a:ext uri="{FF2B5EF4-FFF2-40B4-BE49-F238E27FC236}">
                    <a16:creationId xmlns:a16="http://schemas.microsoft.com/office/drawing/2014/main" id="{86F216DC-B846-B1C5-AC7C-EA47E21B3A5B}"/>
                  </a:ext>
                </a:extLst>
              </p:cNvPr>
              <p:cNvSpPr/>
              <p:nvPr/>
            </p:nvSpPr>
            <p:spPr>
              <a:xfrm>
                <a:off x="5328317" y="1066800"/>
                <a:ext cx="6407" cy="2440907"/>
              </a:xfrm>
              <a:prstGeom prst="rect">
                <a:avLst/>
              </a:prstGeom>
              <a:solidFill>
                <a:srgbClr val="D9D3C3"/>
              </a:solidFill>
              <a:ln/>
            </p:spPr>
            <p:txBody>
              <a:bodyPr/>
              <a:lstStyle/>
              <a:p>
                <a:endParaRPr lang="en-IN" sz="1200">
                  <a:latin typeface="Georgia" panose="02040502050405020303" pitchFamily="18" charset="0"/>
                </a:endParaRPr>
              </a:p>
            </p:txBody>
          </p:sp>
          <p:sp>
            <p:nvSpPr>
              <p:cNvPr id="81" name="Shape 50">
                <a:extLst>
                  <a:ext uri="{FF2B5EF4-FFF2-40B4-BE49-F238E27FC236}">
                    <a16:creationId xmlns:a16="http://schemas.microsoft.com/office/drawing/2014/main" id="{94C991D7-5394-FF37-873E-37D4EFA5737C}"/>
                  </a:ext>
                </a:extLst>
              </p:cNvPr>
              <p:cNvSpPr/>
              <p:nvPr/>
            </p:nvSpPr>
            <p:spPr>
              <a:xfrm>
                <a:off x="6857277" y="1066800"/>
                <a:ext cx="6407" cy="2440907"/>
              </a:xfrm>
              <a:prstGeom prst="rect">
                <a:avLst/>
              </a:prstGeom>
              <a:solidFill>
                <a:srgbClr val="D9D3C3"/>
              </a:solidFill>
              <a:ln/>
            </p:spPr>
            <p:txBody>
              <a:bodyPr/>
              <a:lstStyle/>
              <a:p>
                <a:endParaRPr lang="en-IN" sz="1200">
                  <a:latin typeface="Georgia" panose="02040502050405020303" pitchFamily="18" charset="0"/>
                </a:endParaRPr>
              </a:p>
            </p:txBody>
          </p:sp>
          <p:sp>
            <p:nvSpPr>
              <p:cNvPr id="82" name="Text 51">
                <a:extLst>
                  <a:ext uri="{FF2B5EF4-FFF2-40B4-BE49-F238E27FC236}">
                    <a16:creationId xmlns:a16="http://schemas.microsoft.com/office/drawing/2014/main" id="{2AB0DE26-2BBF-7073-101B-D5224CF3A11F}"/>
                  </a:ext>
                </a:extLst>
              </p:cNvPr>
              <p:cNvSpPr/>
              <p:nvPr/>
            </p:nvSpPr>
            <p:spPr>
              <a:xfrm>
                <a:off x="5448768" y="1325835"/>
                <a:ext cx="1344438" cy="382575"/>
              </a:xfrm>
              <a:prstGeom prst="rect">
                <a:avLst/>
              </a:prstGeom>
              <a:noFill/>
              <a:ln/>
            </p:spPr>
            <p:txBody>
              <a:bodyPr wrap="square" lIns="16933" tIns="16933" rIns="16933" bIns="16933" rtlCol="0" anchor="t">
                <a:normAutofit/>
              </a:bodyPr>
              <a:lstStyle/>
              <a:p>
                <a:r>
                  <a:rPr lang="en-US" sz="1600" b="1" dirty="0">
                    <a:solidFill>
                      <a:srgbClr val="14342B"/>
                    </a:solidFill>
                    <a:latin typeface="Georgia" panose="02040502050405020303" pitchFamily="18" charset="0"/>
                    <a:ea typeface="Arial" pitchFamily="34" charset="-122"/>
                    <a:cs typeface="Arial" pitchFamily="34" charset="-120"/>
                  </a:rPr>
                  <a:t>Banana</a:t>
                </a:r>
                <a:endParaRPr lang="en-US" sz="1600" dirty="0">
                  <a:latin typeface="Georgia" panose="02040502050405020303" pitchFamily="18" charset="0"/>
                </a:endParaRPr>
              </a:p>
            </p:txBody>
          </p:sp>
          <p:sp>
            <p:nvSpPr>
              <p:cNvPr id="83" name="Shape 52">
                <a:extLst>
                  <a:ext uri="{FF2B5EF4-FFF2-40B4-BE49-F238E27FC236}">
                    <a16:creationId xmlns:a16="http://schemas.microsoft.com/office/drawing/2014/main" id="{346F363B-617F-C350-80F8-2C566381C3BF}"/>
                  </a:ext>
                </a:extLst>
              </p:cNvPr>
              <p:cNvSpPr/>
              <p:nvPr/>
            </p:nvSpPr>
            <p:spPr>
              <a:xfrm>
                <a:off x="5448768" y="1788113"/>
                <a:ext cx="1293182" cy="9963"/>
              </a:xfrm>
              <a:prstGeom prst="rect">
                <a:avLst/>
              </a:prstGeom>
              <a:solidFill>
                <a:srgbClr val="D9D3C3"/>
              </a:solidFill>
              <a:ln/>
            </p:spPr>
            <p:txBody>
              <a:bodyPr/>
              <a:lstStyle/>
              <a:p>
                <a:endParaRPr lang="en-IN" sz="1200">
                  <a:latin typeface="Georgia" panose="02040502050405020303" pitchFamily="18" charset="0"/>
                </a:endParaRPr>
              </a:p>
            </p:txBody>
          </p:sp>
          <p:sp>
            <p:nvSpPr>
              <p:cNvPr id="84" name="Text 53">
                <a:extLst>
                  <a:ext uri="{FF2B5EF4-FFF2-40B4-BE49-F238E27FC236}">
                    <a16:creationId xmlns:a16="http://schemas.microsoft.com/office/drawing/2014/main" id="{014182D1-6C10-4E14-3494-B85E79934F09}"/>
                  </a:ext>
                </a:extLst>
              </p:cNvPr>
              <p:cNvSpPr/>
              <p:nvPr/>
            </p:nvSpPr>
            <p:spPr>
              <a:xfrm>
                <a:off x="5448768" y="1917630"/>
                <a:ext cx="1344438" cy="191287"/>
              </a:xfrm>
              <a:prstGeom prst="rect">
                <a:avLst/>
              </a:prstGeom>
              <a:noFill/>
              <a:ln/>
            </p:spPr>
            <p:txBody>
              <a:bodyPr wrap="square" lIns="16933" tIns="16933" rIns="16933" bIns="16933" rtlCol="0" anchor="t">
                <a:normAutofit/>
              </a:bodyPr>
              <a:lstStyle/>
              <a:p>
                <a:r>
                  <a:rPr lang="en-US" sz="900" kern="0" spc="50" dirty="0">
                    <a:solidFill>
                      <a:srgbClr val="6B7A76"/>
                    </a:solidFill>
                    <a:latin typeface="Georgia" panose="02040502050405020303" pitchFamily="18" charset="0"/>
                    <a:ea typeface="Arial" pitchFamily="34" charset="-122"/>
                    <a:cs typeface="Arial" pitchFamily="34" charset="-120"/>
                  </a:rPr>
                  <a:t>PRODUCTION</a:t>
                </a:r>
                <a:endParaRPr lang="en-US" sz="900" dirty="0">
                  <a:latin typeface="Georgia" panose="02040502050405020303" pitchFamily="18" charset="0"/>
                </a:endParaRPr>
              </a:p>
            </p:txBody>
          </p:sp>
          <p:sp>
            <p:nvSpPr>
              <p:cNvPr id="85" name="Text 54">
                <a:extLst>
                  <a:ext uri="{FF2B5EF4-FFF2-40B4-BE49-F238E27FC236}">
                    <a16:creationId xmlns:a16="http://schemas.microsoft.com/office/drawing/2014/main" id="{6B849D79-16A3-9049-1B11-FBA104CEFCED}"/>
                  </a:ext>
                </a:extLst>
              </p:cNvPr>
              <p:cNvSpPr/>
              <p:nvPr/>
            </p:nvSpPr>
            <p:spPr>
              <a:xfrm>
                <a:off x="5448768" y="2069066"/>
                <a:ext cx="1344438" cy="310842"/>
              </a:xfrm>
              <a:prstGeom prst="rect">
                <a:avLst/>
              </a:prstGeom>
              <a:noFill/>
              <a:ln/>
            </p:spPr>
            <p:txBody>
              <a:bodyPr wrap="square" lIns="16933" tIns="16933" rIns="16933" bIns="16933" rtlCol="0" anchor="t">
                <a:normAutofit/>
              </a:bodyPr>
              <a:lstStyle/>
              <a:p>
                <a:r>
                  <a:rPr lang="en-US" sz="1400" b="1" dirty="0">
                    <a:solidFill>
                      <a:srgbClr val="0B6E78"/>
                    </a:solidFill>
                    <a:latin typeface="Georgia" panose="02040502050405020303" pitchFamily="18" charset="0"/>
                    <a:ea typeface="Arial" pitchFamily="34" charset="-122"/>
                    <a:cs typeface="Arial" pitchFamily="34" charset="-120"/>
                  </a:rPr>
                  <a:t>12,88,793 </a:t>
                </a:r>
                <a:r>
                  <a:rPr lang="en-US" sz="1400" dirty="0">
                    <a:solidFill>
                      <a:srgbClr val="6B7A76"/>
                    </a:solidFill>
                    <a:latin typeface="Georgia" panose="02040502050405020303" pitchFamily="18" charset="0"/>
                    <a:ea typeface="Arial" pitchFamily="34" charset="-122"/>
                    <a:cs typeface="Arial" pitchFamily="34" charset="-120"/>
                  </a:rPr>
                  <a:t>MT</a:t>
                </a:r>
                <a:endParaRPr lang="en-US" sz="1400" dirty="0">
                  <a:latin typeface="Georgia" panose="02040502050405020303" pitchFamily="18" charset="0"/>
                </a:endParaRPr>
              </a:p>
            </p:txBody>
          </p:sp>
          <p:sp>
            <p:nvSpPr>
              <p:cNvPr id="86" name="Text 55">
                <a:extLst>
                  <a:ext uri="{FF2B5EF4-FFF2-40B4-BE49-F238E27FC236}">
                    <a16:creationId xmlns:a16="http://schemas.microsoft.com/office/drawing/2014/main" id="{6DD9C3AB-34B2-891A-F38C-15A8D3222B16}"/>
                  </a:ext>
                </a:extLst>
              </p:cNvPr>
              <p:cNvSpPr/>
              <p:nvPr/>
            </p:nvSpPr>
            <p:spPr>
              <a:xfrm>
                <a:off x="5448768" y="2419760"/>
                <a:ext cx="1344438" cy="191287"/>
              </a:xfrm>
              <a:prstGeom prst="rect">
                <a:avLst/>
              </a:prstGeom>
              <a:noFill/>
              <a:ln/>
            </p:spPr>
            <p:txBody>
              <a:bodyPr wrap="square" lIns="16933" tIns="16933" rIns="16933" bIns="16933" rtlCol="0" anchor="t">
                <a:normAutofit/>
              </a:bodyPr>
              <a:lstStyle/>
              <a:p>
                <a:r>
                  <a:rPr lang="en-US" sz="900" kern="0" spc="50" dirty="0">
                    <a:solidFill>
                      <a:srgbClr val="6B7A76"/>
                    </a:solidFill>
                    <a:latin typeface="Georgia" panose="02040502050405020303" pitchFamily="18" charset="0"/>
                    <a:ea typeface="Arial" pitchFamily="34" charset="-122"/>
                    <a:cs typeface="Arial" pitchFamily="34" charset="-120"/>
                  </a:rPr>
                  <a:t>AREA</a:t>
                </a:r>
                <a:endParaRPr lang="en-US" sz="900" dirty="0">
                  <a:latin typeface="Georgia" panose="02040502050405020303" pitchFamily="18" charset="0"/>
                </a:endParaRPr>
              </a:p>
            </p:txBody>
          </p:sp>
          <p:sp>
            <p:nvSpPr>
              <p:cNvPr id="87" name="Text 56">
                <a:extLst>
                  <a:ext uri="{FF2B5EF4-FFF2-40B4-BE49-F238E27FC236}">
                    <a16:creationId xmlns:a16="http://schemas.microsoft.com/office/drawing/2014/main" id="{FF30A491-179B-4628-D515-DC6696B8081D}"/>
                  </a:ext>
                </a:extLst>
              </p:cNvPr>
              <p:cNvSpPr/>
              <p:nvPr/>
            </p:nvSpPr>
            <p:spPr>
              <a:xfrm>
                <a:off x="5448768" y="2571196"/>
                <a:ext cx="1344438" cy="278961"/>
              </a:xfrm>
              <a:prstGeom prst="rect">
                <a:avLst/>
              </a:prstGeom>
              <a:noFill/>
              <a:ln/>
            </p:spPr>
            <p:txBody>
              <a:bodyPr wrap="square" lIns="16933" tIns="16933" rIns="16933" bIns="16933" rtlCol="0" anchor="t">
                <a:normAutofit/>
              </a:bodyPr>
              <a:lstStyle/>
              <a:p>
                <a:r>
                  <a:rPr lang="en-US" sz="1400" b="1" dirty="0">
                    <a:solidFill>
                      <a:srgbClr val="14342B"/>
                    </a:solidFill>
                    <a:latin typeface="Georgia" panose="02040502050405020303" pitchFamily="18" charset="0"/>
                    <a:ea typeface="Arial" pitchFamily="34" charset="-122"/>
                    <a:cs typeface="Arial" pitchFamily="34" charset="-120"/>
                  </a:rPr>
                  <a:t>48,853 </a:t>
                </a:r>
                <a:r>
                  <a:rPr lang="en-US" sz="1400" b="1" dirty="0">
                    <a:solidFill>
                      <a:srgbClr val="6B7A76"/>
                    </a:solidFill>
                    <a:latin typeface="Georgia" panose="02040502050405020303" pitchFamily="18" charset="0"/>
                    <a:ea typeface="Arial" pitchFamily="34" charset="-122"/>
                    <a:cs typeface="Arial" pitchFamily="34" charset="-120"/>
                  </a:rPr>
                  <a:t>HA</a:t>
                </a:r>
                <a:endParaRPr lang="en-US" sz="1400" dirty="0">
                  <a:latin typeface="Georgia" panose="02040502050405020303" pitchFamily="18" charset="0"/>
                </a:endParaRPr>
              </a:p>
            </p:txBody>
          </p:sp>
          <p:sp>
            <p:nvSpPr>
              <p:cNvPr id="91" name="Shape 62">
                <a:extLst>
                  <a:ext uri="{FF2B5EF4-FFF2-40B4-BE49-F238E27FC236}">
                    <a16:creationId xmlns:a16="http://schemas.microsoft.com/office/drawing/2014/main" id="{6D906AC4-15FD-5209-F98A-59E5FECD5DB3}"/>
                  </a:ext>
                </a:extLst>
              </p:cNvPr>
              <p:cNvSpPr/>
              <p:nvPr/>
            </p:nvSpPr>
            <p:spPr>
              <a:xfrm>
                <a:off x="6952102" y="1066800"/>
                <a:ext cx="6407" cy="2440907"/>
              </a:xfrm>
              <a:prstGeom prst="rect">
                <a:avLst/>
              </a:prstGeom>
              <a:solidFill>
                <a:srgbClr val="D9D3C3"/>
              </a:solidFill>
              <a:ln/>
            </p:spPr>
            <p:txBody>
              <a:bodyPr/>
              <a:lstStyle/>
              <a:p>
                <a:endParaRPr lang="en-IN" sz="1200">
                  <a:latin typeface="Georgia" panose="02040502050405020303" pitchFamily="18" charset="0"/>
                </a:endParaRPr>
              </a:p>
            </p:txBody>
          </p:sp>
        </p:grpSp>
        <p:sp>
          <p:nvSpPr>
            <p:cNvPr id="92" name="Shape 63">
              <a:extLst>
                <a:ext uri="{FF2B5EF4-FFF2-40B4-BE49-F238E27FC236}">
                  <a16:creationId xmlns:a16="http://schemas.microsoft.com/office/drawing/2014/main" id="{13359903-41BF-0FB4-3A4E-E3CEF636A167}"/>
                </a:ext>
              </a:extLst>
            </p:cNvPr>
            <p:cNvSpPr/>
            <p:nvPr/>
          </p:nvSpPr>
          <p:spPr>
            <a:xfrm>
              <a:off x="8480983" y="1066800"/>
              <a:ext cx="6407" cy="2440907"/>
            </a:xfrm>
            <a:prstGeom prst="rect">
              <a:avLst/>
            </a:prstGeom>
            <a:solidFill>
              <a:srgbClr val="D9D3C3"/>
            </a:solidFill>
            <a:ln/>
          </p:spPr>
          <p:txBody>
            <a:bodyPr/>
            <a:lstStyle/>
            <a:p>
              <a:endParaRPr lang="en-IN" sz="1200">
                <a:latin typeface="Georgia" panose="02040502050405020303" pitchFamily="18" charset="0"/>
              </a:endParaRPr>
            </a:p>
          </p:txBody>
        </p:sp>
        <p:sp>
          <p:nvSpPr>
            <p:cNvPr id="93" name="Text 64">
              <a:extLst>
                <a:ext uri="{FF2B5EF4-FFF2-40B4-BE49-F238E27FC236}">
                  <a16:creationId xmlns:a16="http://schemas.microsoft.com/office/drawing/2014/main" id="{4E39B31E-5D62-5CC0-C4C8-774A0CB2871F}"/>
                </a:ext>
              </a:extLst>
            </p:cNvPr>
            <p:cNvSpPr/>
            <p:nvPr/>
          </p:nvSpPr>
          <p:spPr>
            <a:xfrm>
              <a:off x="7072554" y="1325835"/>
              <a:ext cx="1344358" cy="382575"/>
            </a:xfrm>
            <a:prstGeom prst="rect">
              <a:avLst/>
            </a:prstGeom>
            <a:noFill/>
            <a:ln/>
          </p:spPr>
          <p:txBody>
            <a:bodyPr wrap="square" lIns="16933" tIns="16933" rIns="16933" bIns="16933" rtlCol="0" anchor="t">
              <a:normAutofit/>
            </a:bodyPr>
            <a:lstStyle/>
            <a:p>
              <a:r>
                <a:rPr lang="en-US" sz="1600" b="1" dirty="0">
                  <a:solidFill>
                    <a:srgbClr val="14342B"/>
                  </a:solidFill>
                  <a:latin typeface="Georgia" panose="02040502050405020303" pitchFamily="18" charset="0"/>
                  <a:ea typeface="Arial" pitchFamily="34" charset="-122"/>
                  <a:cs typeface="Arial" pitchFamily="34" charset="-120"/>
                </a:rPr>
                <a:t>Grapes</a:t>
              </a:r>
              <a:endParaRPr lang="en-US" sz="1600" dirty="0">
                <a:latin typeface="Georgia" panose="02040502050405020303" pitchFamily="18" charset="0"/>
              </a:endParaRPr>
            </a:p>
          </p:txBody>
        </p:sp>
        <p:sp>
          <p:nvSpPr>
            <p:cNvPr id="94" name="Shape 65">
              <a:extLst>
                <a:ext uri="{FF2B5EF4-FFF2-40B4-BE49-F238E27FC236}">
                  <a16:creationId xmlns:a16="http://schemas.microsoft.com/office/drawing/2014/main" id="{F22D07C6-19C0-7DB1-D371-75A7ACFFB8E3}"/>
                </a:ext>
              </a:extLst>
            </p:cNvPr>
            <p:cNvSpPr/>
            <p:nvPr/>
          </p:nvSpPr>
          <p:spPr>
            <a:xfrm>
              <a:off x="7072554" y="1788113"/>
              <a:ext cx="1293102" cy="9963"/>
            </a:xfrm>
            <a:prstGeom prst="rect">
              <a:avLst/>
            </a:prstGeom>
            <a:solidFill>
              <a:srgbClr val="D9D3C3"/>
            </a:solidFill>
            <a:ln/>
          </p:spPr>
          <p:txBody>
            <a:bodyPr/>
            <a:lstStyle/>
            <a:p>
              <a:endParaRPr lang="en-IN" sz="1200">
                <a:latin typeface="Georgia" panose="02040502050405020303" pitchFamily="18" charset="0"/>
              </a:endParaRPr>
            </a:p>
          </p:txBody>
        </p:sp>
        <p:sp>
          <p:nvSpPr>
            <p:cNvPr id="95" name="Text 66">
              <a:extLst>
                <a:ext uri="{FF2B5EF4-FFF2-40B4-BE49-F238E27FC236}">
                  <a16:creationId xmlns:a16="http://schemas.microsoft.com/office/drawing/2014/main" id="{C4C7E4B9-D1E0-51D0-68D9-6E3CB99DB067}"/>
                </a:ext>
              </a:extLst>
            </p:cNvPr>
            <p:cNvSpPr/>
            <p:nvPr/>
          </p:nvSpPr>
          <p:spPr>
            <a:xfrm>
              <a:off x="7072554" y="1917630"/>
              <a:ext cx="1344358" cy="191287"/>
            </a:xfrm>
            <a:prstGeom prst="rect">
              <a:avLst/>
            </a:prstGeom>
            <a:noFill/>
            <a:ln/>
          </p:spPr>
          <p:txBody>
            <a:bodyPr wrap="square" lIns="16933" tIns="16933" rIns="16933" bIns="16933" rtlCol="0" anchor="t">
              <a:normAutofit/>
            </a:bodyPr>
            <a:lstStyle/>
            <a:p>
              <a:r>
                <a:rPr lang="en-US" sz="900" kern="0" spc="50" dirty="0">
                  <a:solidFill>
                    <a:srgbClr val="6B7A76"/>
                  </a:solidFill>
                  <a:latin typeface="Georgia" panose="02040502050405020303" pitchFamily="18" charset="0"/>
                  <a:ea typeface="Arial" pitchFamily="34" charset="-122"/>
                  <a:cs typeface="Arial" pitchFamily="34" charset="-120"/>
                </a:rPr>
                <a:t>PRODUCTION</a:t>
              </a:r>
              <a:endParaRPr lang="en-US" sz="900" dirty="0">
                <a:latin typeface="Georgia" panose="02040502050405020303" pitchFamily="18" charset="0"/>
              </a:endParaRPr>
            </a:p>
          </p:txBody>
        </p:sp>
        <p:sp>
          <p:nvSpPr>
            <p:cNvPr id="96" name="Text 67">
              <a:extLst>
                <a:ext uri="{FF2B5EF4-FFF2-40B4-BE49-F238E27FC236}">
                  <a16:creationId xmlns:a16="http://schemas.microsoft.com/office/drawing/2014/main" id="{EAF98DC7-97F6-4F4F-2B56-B9A19A6BE64F}"/>
                </a:ext>
              </a:extLst>
            </p:cNvPr>
            <p:cNvSpPr/>
            <p:nvPr/>
          </p:nvSpPr>
          <p:spPr>
            <a:xfrm>
              <a:off x="7072554" y="2069066"/>
              <a:ext cx="1344358" cy="310842"/>
            </a:xfrm>
            <a:prstGeom prst="rect">
              <a:avLst/>
            </a:prstGeom>
            <a:noFill/>
            <a:ln/>
          </p:spPr>
          <p:txBody>
            <a:bodyPr wrap="square" lIns="16933" tIns="16933" rIns="16933" bIns="16933" rtlCol="0" anchor="t">
              <a:normAutofit/>
            </a:bodyPr>
            <a:lstStyle/>
            <a:p>
              <a:r>
                <a:rPr lang="en-US" sz="1400" b="1" dirty="0">
                  <a:solidFill>
                    <a:srgbClr val="0B6E78"/>
                  </a:solidFill>
                  <a:latin typeface="Georgia" panose="02040502050405020303" pitchFamily="18" charset="0"/>
                  <a:ea typeface="Arial" pitchFamily="34" charset="-122"/>
                  <a:cs typeface="Arial" pitchFamily="34" charset="-120"/>
                </a:rPr>
                <a:t>12,24,666 </a:t>
              </a:r>
              <a:r>
                <a:rPr lang="en-US" sz="1400" dirty="0">
                  <a:solidFill>
                    <a:srgbClr val="6B7A76"/>
                  </a:solidFill>
                  <a:latin typeface="Georgia" panose="02040502050405020303" pitchFamily="18" charset="0"/>
                  <a:ea typeface="Arial" pitchFamily="34" charset="-122"/>
                  <a:cs typeface="Arial" pitchFamily="34" charset="-120"/>
                </a:rPr>
                <a:t>MT</a:t>
              </a:r>
              <a:endParaRPr lang="en-US" sz="1400" dirty="0">
                <a:latin typeface="Georgia" panose="02040502050405020303" pitchFamily="18" charset="0"/>
              </a:endParaRPr>
            </a:p>
          </p:txBody>
        </p:sp>
        <p:sp>
          <p:nvSpPr>
            <p:cNvPr id="97" name="Text 68">
              <a:extLst>
                <a:ext uri="{FF2B5EF4-FFF2-40B4-BE49-F238E27FC236}">
                  <a16:creationId xmlns:a16="http://schemas.microsoft.com/office/drawing/2014/main" id="{31C0C282-48C5-08BE-1EF3-AAAC6F3D067D}"/>
                </a:ext>
              </a:extLst>
            </p:cNvPr>
            <p:cNvSpPr/>
            <p:nvPr/>
          </p:nvSpPr>
          <p:spPr>
            <a:xfrm>
              <a:off x="7072554" y="2419760"/>
              <a:ext cx="1344358" cy="191287"/>
            </a:xfrm>
            <a:prstGeom prst="rect">
              <a:avLst/>
            </a:prstGeom>
            <a:noFill/>
            <a:ln/>
          </p:spPr>
          <p:txBody>
            <a:bodyPr wrap="square" lIns="16933" tIns="16933" rIns="16933" bIns="16933" rtlCol="0" anchor="t">
              <a:normAutofit/>
            </a:bodyPr>
            <a:lstStyle/>
            <a:p>
              <a:r>
                <a:rPr lang="en-US" sz="900" kern="0" spc="50" dirty="0">
                  <a:solidFill>
                    <a:srgbClr val="6B7A76"/>
                  </a:solidFill>
                  <a:latin typeface="Georgia" panose="02040502050405020303" pitchFamily="18" charset="0"/>
                  <a:ea typeface="Arial" pitchFamily="34" charset="-122"/>
                  <a:cs typeface="Arial" pitchFamily="34" charset="-120"/>
                </a:rPr>
                <a:t>AREA</a:t>
              </a:r>
              <a:endParaRPr lang="en-US" sz="900" dirty="0">
                <a:latin typeface="Georgia" panose="02040502050405020303" pitchFamily="18" charset="0"/>
              </a:endParaRPr>
            </a:p>
          </p:txBody>
        </p:sp>
        <p:sp>
          <p:nvSpPr>
            <p:cNvPr id="98" name="Text 69">
              <a:extLst>
                <a:ext uri="{FF2B5EF4-FFF2-40B4-BE49-F238E27FC236}">
                  <a16:creationId xmlns:a16="http://schemas.microsoft.com/office/drawing/2014/main" id="{8F420075-9380-564F-D6FA-CC9882C3D636}"/>
                </a:ext>
              </a:extLst>
            </p:cNvPr>
            <p:cNvSpPr/>
            <p:nvPr/>
          </p:nvSpPr>
          <p:spPr>
            <a:xfrm>
              <a:off x="7072554" y="2571196"/>
              <a:ext cx="1344358" cy="278961"/>
            </a:xfrm>
            <a:prstGeom prst="rect">
              <a:avLst/>
            </a:prstGeom>
            <a:noFill/>
            <a:ln/>
          </p:spPr>
          <p:txBody>
            <a:bodyPr wrap="square" lIns="16933" tIns="16933" rIns="16933" bIns="16933" rtlCol="0" anchor="t">
              <a:normAutofit/>
            </a:bodyPr>
            <a:lstStyle/>
            <a:p>
              <a:r>
                <a:rPr lang="en-US" sz="1400" b="1" dirty="0">
                  <a:solidFill>
                    <a:srgbClr val="14342B"/>
                  </a:solidFill>
                  <a:latin typeface="Georgia" panose="02040502050405020303" pitchFamily="18" charset="0"/>
                  <a:ea typeface="Arial" pitchFamily="34" charset="-122"/>
                  <a:cs typeface="Arial" pitchFamily="34" charset="-120"/>
                </a:rPr>
                <a:t>47,116 </a:t>
              </a:r>
              <a:r>
                <a:rPr lang="en-US" sz="1400" b="1" dirty="0">
                  <a:solidFill>
                    <a:srgbClr val="6B7A76"/>
                  </a:solidFill>
                  <a:latin typeface="Georgia" panose="02040502050405020303" pitchFamily="18" charset="0"/>
                  <a:ea typeface="Arial" pitchFamily="34" charset="-122"/>
                  <a:cs typeface="Arial" pitchFamily="34" charset="-120"/>
                </a:rPr>
                <a:t>HA</a:t>
              </a:r>
              <a:endParaRPr lang="en-US" sz="1400" dirty="0">
                <a:latin typeface="Georgia" panose="02040502050405020303" pitchFamily="18" charset="0"/>
              </a:endParaRPr>
            </a:p>
          </p:txBody>
        </p:sp>
        <p:sp>
          <p:nvSpPr>
            <p:cNvPr id="99" name="Shape 72">
              <a:extLst>
                <a:ext uri="{FF2B5EF4-FFF2-40B4-BE49-F238E27FC236}">
                  <a16:creationId xmlns:a16="http://schemas.microsoft.com/office/drawing/2014/main" id="{DF3BDB78-B666-DFE0-6FE0-22141AA60E97}"/>
                </a:ext>
              </a:extLst>
            </p:cNvPr>
            <p:cNvSpPr/>
            <p:nvPr/>
          </p:nvSpPr>
          <p:spPr>
            <a:xfrm>
              <a:off x="8575807" y="1066800"/>
              <a:ext cx="1534007" cy="2440907"/>
            </a:xfrm>
            <a:prstGeom prst="roundRect">
              <a:avLst>
                <a:gd name="adj" fmla="val 2506"/>
              </a:avLst>
            </a:prstGeom>
            <a:solidFill>
              <a:srgbClr val="FFFFFF"/>
            </a:solidFill>
            <a:ln/>
          </p:spPr>
          <p:txBody>
            <a:bodyPr/>
            <a:lstStyle/>
            <a:p>
              <a:endParaRPr lang="en-IN" sz="900">
                <a:latin typeface="Georgia" panose="02040502050405020303" pitchFamily="18" charset="0"/>
              </a:endParaRPr>
            </a:p>
          </p:txBody>
        </p:sp>
        <p:sp>
          <p:nvSpPr>
            <p:cNvPr id="100" name="Shape 73">
              <a:extLst>
                <a:ext uri="{FF2B5EF4-FFF2-40B4-BE49-F238E27FC236}">
                  <a16:creationId xmlns:a16="http://schemas.microsoft.com/office/drawing/2014/main" id="{1D7E4C2A-2A14-DF70-874A-D507C3027AD8}"/>
                </a:ext>
              </a:extLst>
            </p:cNvPr>
            <p:cNvSpPr/>
            <p:nvPr/>
          </p:nvSpPr>
          <p:spPr>
            <a:xfrm>
              <a:off x="8575807" y="3499736"/>
              <a:ext cx="1534007" cy="9963"/>
            </a:xfrm>
            <a:prstGeom prst="rect">
              <a:avLst/>
            </a:prstGeom>
            <a:solidFill>
              <a:srgbClr val="D9D3C3"/>
            </a:solidFill>
            <a:ln/>
          </p:spPr>
          <p:txBody>
            <a:bodyPr/>
            <a:lstStyle/>
            <a:p>
              <a:endParaRPr lang="en-IN" sz="1200">
                <a:latin typeface="Georgia" panose="02040502050405020303" pitchFamily="18" charset="0"/>
              </a:endParaRPr>
            </a:p>
          </p:txBody>
        </p:sp>
        <p:sp>
          <p:nvSpPr>
            <p:cNvPr id="101" name="Shape 74">
              <a:extLst>
                <a:ext uri="{FF2B5EF4-FFF2-40B4-BE49-F238E27FC236}">
                  <a16:creationId xmlns:a16="http://schemas.microsoft.com/office/drawing/2014/main" id="{A85D90D8-2BC5-C96D-5D43-71FABBD4B5CC}"/>
                </a:ext>
              </a:extLst>
            </p:cNvPr>
            <p:cNvSpPr/>
            <p:nvPr/>
          </p:nvSpPr>
          <p:spPr>
            <a:xfrm>
              <a:off x="8575807" y="1066800"/>
              <a:ext cx="1534007" cy="39852"/>
            </a:xfrm>
            <a:prstGeom prst="rect">
              <a:avLst/>
            </a:prstGeom>
            <a:solidFill>
              <a:srgbClr val="0E8B96"/>
            </a:solidFill>
            <a:ln/>
          </p:spPr>
          <p:txBody>
            <a:bodyPr/>
            <a:lstStyle/>
            <a:p>
              <a:endParaRPr lang="en-IN" sz="1200">
                <a:latin typeface="Georgia" panose="02040502050405020303" pitchFamily="18" charset="0"/>
              </a:endParaRPr>
            </a:p>
          </p:txBody>
        </p:sp>
        <p:sp>
          <p:nvSpPr>
            <p:cNvPr id="102" name="Shape 75">
              <a:extLst>
                <a:ext uri="{FF2B5EF4-FFF2-40B4-BE49-F238E27FC236}">
                  <a16:creationId xmlns:a16="http://schemas.microsoft.com/office/drawing/2014/main" id="{96FE4531-2D31-D15F-C919-AE9125543433}"/>
                </a:ext>
              </a:extLst>
            </p:cNvPr>
            <p:cNvSpPr/>
            <p:nvPr/>
          </p:nvSpPr>
          <p:spPr>
            <a:xfrm>
              <a:off x="8575807" y="1066800"/>
              <a:ext cx="6407" cy="2440907"/>
            </a:xfrm>
            <a:prstGeom prst="rect">
              <a:avLst/>
            </a:prstGeom>
            <a:solidFill>
              <a:srgbClr val="D9D3C3"/>
            </a:solidFill>
            <a:ln/>
          </p:spPr>
          <p:txBody>
            <a:bodyPr/>
            <a:lstStyle/>
            <a:p>
              <a:endParaRPr lang="en-IN" sz="1200">
                <a:latin typeface="Georgia" panose="02040502050405020303" pitchFamily="18" charset="0"/>
              </a:endParaRPr>
            </a:p>
          </p:txBody>
        </p:sp>
        <p:sp>
          <p:nvSpPr>
            <p:cNvPr id="103" name="Shape 76">
              <a:extLst>
                <a:ext uri="{FF2B5EF4-FFF2-40B4-BE49-F238E27FC236}">
                  <a16:creationId xmlns:a16="http://schemas.microsoft.com/office/drawing/2014/main" id="{207985DE-9CD3-2A22-FF72-6D840907070A}"/>
                </a:ext>
              </a:extLst>
            </p:cNvPr>
            <p:cNvSpPr/>
            <p:nvPr/>
          </p:nvSpPr>
          <p:spPr>
            <a:xfrm>
              <a:off x="10104688" y="1066800"/>
              <a:ext cx="6407" cy="2440907"/>
            </a:xfrm>
            <a:prstGeom prst="rect">
              <a:avLst/>
            </a:prstGeom>
            <a:solidFill>
              <a:srgbClr val="D9D3C3"/>
            </a:solidFill>
            <a:ln/>
          </p:spPr>
          <p:txBody>
            <a:bodyPr/>
            <a:lstStyle/>
            <a:p>
              <a:endParaRPr lang="en-IN" sz="1200">
                <a:latin typeface="Georgia" panose="02040502050405020303" pitchFamily="18" charset="0"/>
              </a:endParaRPr>
            </a:p>
          </p:txBody>
        </p:sp>
        <p:sp>
          <p:nvSpPr>
            <p:cNvPr id="104" name="Text 77">
              <a:extLst>
                <a:ext uri="{FF2B5EF4-FFF2-40B4-BE49-F238E27FC236}">
                  <a16:creationId xmlns:a16="http://schemas.microsoft.com/office/drawing/2014/main" id="{4937D6C8-C83B-069E-3597-BB07ADE64FD3}"/>
                </a:ext>
              </a:extLst>
            </p:cNvPr>
            <p:cNvSpPr/>
            <p:nvPr/>
          </p:nvSpPr>
          <p:spPr>
            <a:xfrm>
              <a:off x="8610600" y="1325835"/>
              <a:ext cx="1514540" cy="382575"/>
            </a:xfrm>
            <a:prstGeom prst="rect">
              <a:avLst/>
            </a:prstGeom>
            <a:noFill/>
            <a:ln/>
          </p:spPr>
          <p:txBody>
            <a:bodyPr wrap="square" lIns="16933" tIns="16933" rIns="16933" bIns="16933" rtlCol="0" anchor="t">
              <a:noAutofit/>
            </a:bodyPr>
            <a:lstStyle/>
            <a:p>
              <a:r>
                <a:rPr lang="en-US" sz="1600" b="1" dirty="0">
                  <a:solidFill>
                    <a:srgbClr val="14342B"/>
                  </a:solidFill>
                  <a:latin typeface="Georgia" panose="02040502050405020303" pitchFamily="18" charset="0"/>
                  <a:ea typeface="Arial" pitchFamily="34" charset="-122"/>
                  <a:cs typeface="Arial" pitchFamily="34" charset="-120"/>
                </a:rPr>
                <a:t>Pomegranate</a:t>
              </a:r>
              <a:endParaRPr lang="en-US" sz="1600" dirty="0">
                <a:latin typeface="Georgia" panose="02040502050405020303" pitchFamily="18" charset="0"/>
              </a:endParaRPr>
            </a:p>
          </p:txBody>
        </p:sp>
        <p:sp>
          <p:nvSpPr>
            <p:cNvPr id="105" name="Shape 78">
              <a:extLst>
                <a:ext uri="{FF2B5EF4-FFF2-40B4-BE49-F238E27FC236}">
                  <a16:creationId xmlns:a16="http://schemas.microsoft.com/office/drawing/2014/main" id="{D556F90F-AA7F-123A-5B8B-D89FDC12739E}"/>
                </a:ext>
              </a:extLst>
            </p:cNvPr>
            <p:cNvSpPr/>
            <p:nvPr/>
          </p:nvSpPr>
          <p:spPr>
            <a:xfrm>
              <a:off x="8696260" y="1788113"/>
              <a:ext cx="1293102" cy="9963"/>
            </a:xfrm>
            <a:prstGeom prst="rect">
              <a:avLst/>
            </a:prstGeom>
            <a:solidFill>
              <a:srgbClr val="D9D3C3"/>
            </a:solidFill>
            <a:ln/>
          </p:spPr>
          <p:txBody>
            <a:bodyPr/>
            <a:lstStyle/>
            <a:p>
              <a:endParaRPr lang="en-IN" sz="1200">
                <a:latin typeface="Georgia" panose="02040502050405020303" pitchFamily="18" charset="0"/>
              </a:endParaRPr>
            </a:p>
          </p:txBody>
        </p:sp>
        <p:sp>
          <p:nvSpPr>
            <p:cNvPr id="106" name="Text 79">
              <a:extLst>
                <a:ext uri="{FF2B5EF4-FFF2-40B4-BE49-F238E27FC236}">
                  <a16:creationId xmlns:a16="http://schemas.microsoft.com/office/drawing/2014/main" id="{33970372-D95A-EF29-DD80-23BA38085D88}"/>
                </a:ext>
              </a:extLst>
            </p:cNvPr>
            <p:cNvSpPr/>
            <p:nvPr/>
          </p:nvSpPr>
          <p:spPr>
            <a:xfrm>
              <a:off x="8696260" y="1917630"/>
              <a:ext cx="1344358" cy="191287"/>
            </a:xfrm>
            <a:prstGeom prst="rect">
              <a:avLst/>
            </a:prstGeom>
            <a:noFill/>
            <a:ln/>
          </p:spPr>
          <p:txBody>
            <a:bodyPr wrap="square" lIns="16933" tIns="16933" rIns="16933" bIns="16933" rtlCol="0" anchor="t">
              <a:normAutofit/>
            </a:bodyPr>
            <a:lstStyle/>
            <a:p>
              <a:r>
                <a:rPr lang="en-US" sz="900" kern="0" spc="50" dirty="0">
                  <a:solidFill>
                    <a:srgbClr val="6B7A76"/>
                  </a:solidFill>
                  <a:latin typeface="Georgia" panose="02040502050405020303" pitchFamily="18" charset="0"/>
                  <a:ea typeface="Arial" pitchFamily="34" charset="-122"/>
                  <a:cs typeface="Arial" pitchFamily="34" charset="-120"/>
                </a:rPr>
                <a:t>PRODUCTION</a:t>
              </a:r>
              <a:endParaRPr lang="en-US" sz="900" dirty="0">
                <a:latin typeface="Georgia" panose="02040502050405020303" pitchFamily="18" charset="0"/>
              </a:endParaRPr>
            </a:p>
          </p:txBody>
        </p:sp>
        <p:sp>
          <p:nvSpPr>
            <p:cNvPr id="107" name="Text 80">
              <a:extLst>
                <a:ext uri="{FF2B5EF4-FFF2-40B4-BE49-F238E27FC236}">
                  <a16:creationId xmlns:a16="http://schemas.microsoft.com/office/drawing/2014/main" id="{98F4B08C-5A52-B3EB-F9F0-86610EA24CD0}"/>
                </a:ext>
              </a:extLst>
            </p:cNvPr>
            <p:cNvSpPr/>
            <p:nvPr/>
          </p:nvSpPr>
          <p:spPr>
            <a:xfrm>
              <a:off x="8696260" y="2069066"/>
              <a:ext cx="1344358" cy="310842"/>
            </a:xfrm>
            <a:prstGeom prst="rect">
              <a:avLst/>
            </a:prstGeom>
            <a:noFill/>
            <a:ln/>
          </p:spPr>
          <p:txBody>
            <a:bodyPr wrap="square" lIns="16933" tIns="16933" rIns="16933" bIns="16933" rtlCol="0" anchor="t">
              <a:normAutofit/>
            </a:bodyPr>
            <a:lstStyle/>
            <a:p>
              <a:r>
                <a:rPr lang="en-US" sz="1400" b="1" dirty="0">
                  <a:solidFill>
                    <a:srgbClr val="0B6E78"/>
                  </a:solidFill>
                  <a:latin typeface="Georgia" panose="02040502050405020303" pitchFamily="18" charset="0"/>
                  <a:ea typeface="Arial" pitchFamily="34" charset="-122"/>
                  <a:cs typeface="Arial" pitchFamily="34" charset="-120"/>
                </a:rPr>
                <a:t>2,38,821 </a:t>
              </a:r>
              <a:r>
                <a:rPr lang="en-US" sz="1400" dirty="0">
                  <a:solidFill>
                    <a:srgbClr val="6B7A76"/>
                  </a:solidFill>
                  <a:latin typeface="Georgia" panose="02040502050405020303" pitchFamily="18" charset="0"/>
                  <a:ea typeface="Arial" pitchFamily="34" charset="-122"/>
                  <a:cs typeface="Arial" pitchFamily="34" charset="-120"/>
                </a:rPr>
                <a:t>MT</a:t>
              </a:r>
              <a:endParaRPr lang="en-US" sz="1400" dirty="0">
                <a:latin typeface="Georgia" panose="02040502050405020303" pitchFamily="18" charset="0"/>
              </a:endParaRPr>
            </a:p>
          </p:txBody>
        </p:sp>
        <p:sp>
          <p:nvSpPr>
            <p:cNvPr id="108" name="Text 81">
              <a:extLst>
                <a:ext uri="{FF2B5EF4-FFF2-40B4-BE49-F238E27FC236}">
                  <a16:creationId xmlns:a16="http://schemas.microsoft.com/office/drawing/2014/main" id="{362E4374-711F-0CCD-AB59-E2BFFB42D008}"/>
                </a:ext>
              </a:extLst>
            </p:cNvPr>
            <p:cNvSpPr/>
            <p:nvPr/>
          </p:nvSpPr>
          <p:spPr>
            <a:xfrm>
              <a:off x="8696260" y="2419760"/>
              <a:ext cx="1344358" cy="191287"/>
            </a:xfrm>
            <a:prstGeom prst="rect">
              <a:avLst/>
            </a:prstGeom>
            <a:noFill/>
            <a:ln/>
          </p:spPr>
          <p:txBody>
            <a:bodyPr wrap="square" lIns="16933" tIns="16933" rIns="16933" bIns="16933" rtlCol="0" anchor="t">
              <a:normAutofit/>
            </a:bodyPr>
            <a:lstStyle/>
            <a:p>
              <a:r>
                <a:rPr lang="en-US" sz="900" kern="0" spc="50" dirty="0">
                  <a:solidFill>
                    <a:srgbClr val="6B7A76"/>
                  </a:solidFill>
                  <a:latin typeface="Georgia" panose="02040502050405020303" pitchFamily="18" charset="0"/>
                  <a:ea typeface="Arial" pitchFamily="34" charset="-122"/>
                  <a:cs typeface="Arial" pitchFamily="34" charset="-120"/>
                </a:rPr>
                <a:t>AREA</a:t>
              </a:r>
              <a:endParaRPr lang="en-US" sz="900" dirty="0">
                <a:latin typeface="Georgia" panose="02040502050405020303" pitchFamily="18" charset="0"/>
              </a:endParaRPr>
            </a:p>
          </p:txBody>
        </p:sp>
        <p:sp>
          <p:nvSpPr>
            <p:cNvPr id="109" name="Text 82">
              <a:extLst>
                <a:ext uri="{FF2B5EF4-FFF2-40B4-BE49-F238E27FC236}">
                  <a16:creationId xmlns:a16="http://schemas.microsoft.com/office/drawing/2014/main" id="{3A3F2A42-28B0-27EE-1F3C-FF6C287A3BA7}"/>
                </a:ext>
              </a:extLst>
            </p:cNvPr>
            <p:cNvSpPr/>
            <p:nvPr/>
          </p:nvSpPr>
          <p:spPr>
            <a:xfrm>
              <a:off x="8696260" y="2571196"/>
              <a:ext cx="1344358" cy="278961"/>
            </a:xfrm>
            <a:prstGeom prst="rect">
              <a:avLst/>
            </a:prstGeom>
            <a:noFill/>
            <a:ln/>
          </p:spPr>
          <p:txBody>
            <a:bodyPr wrap="square" lIns="16933" tIns="16933" rIns="16933" bIns="16933" rtlCol="0" anchor="t">
              <a:normAutofit/>
            </a:bodyPr>
            <a:lstStyle/>
            <a:p>
              <a:r>
                <a:rPr lang="en-US" sz="1400" b="1" dirty="0">
                  <a:solidFill>
                    <a:srgbClr val="14342B"/>
                  </a:solidFill>
                  <a:latin typeface="Georgia" panose="02040502050405020303" pitchFamily="18" charset="0"/>
                  <a:ea typeface="Arial" pitchFamily="34" charset="-122"/>
                  <a:cs typeface="Arial" pitchFamily="34" charset="-120"/>
                </a:rPr>
                <a:t>22,970 </a:t>
              </a:r>
              <a:r>
                <a:rPr lang="en-US" sz="1400" b="1" dirty="0">
                  <a:solidFill>
                    <a:srgbClr val="6B7A76"/>
                  </a:solidFill>
                  <a:latin typeface="Georgia" panose="02040502050405020303" pitchFamily="18" charset="0"/>
                  <a:ea typeface="Arial" pitchFamily="34" charset="-122"/>
                  <a:cs typeface="Arial" pitchFamily="34" charset="-120"/>
                </a:rPr>
                <a:t>HA</a:t>
              </a:r>
              <a:endParaRPr lang="en-US" sz="1400" dirty="0">
                <a:latin typeface="Georgia" panose="02040502050405020303" pitchFamily="18" charset="0"/>
              </a:endParaRPr>
            </a:p>
          </p:txBody>
        </p:sp>
        <p:sp>
          <p:nvSpPr>
            <p:cNvPr id="110" name="Shape 85">
              <a:extLst>
                <a:ext uri="{FF2B5EF4-FFF2-40B4-BE49-F238E27FC236}">
                  <a16:creationId xmlns:a16="http://schemas.microsoft.com/office/drawing/2014/main" id="{0EC6409C-1D4D-3B23-0564-A76A38FD1C7F}"/>
                </a:ext>
              </a:extLst>
            </p:cNvPr>
            <p:cNvSpPr/>
            <p:nvPr/>
          </p:nvSpPr>
          <p:spPr>
            <a:xfrm>
              <a:off x="10199512" y="1066800"/>
              <a:ext cx="1534007" cy="2440907"/>
            </a:xfrm>
            <a:prstGeom prst="roundRect">
              <a:avLst>
                <a:gd name="adj" fmla="val 2506"/>
              </a:avLst>
            </a:prstGeom>
            <a:solidFill>
              <a:srgbClr val="FFFFFF"/>
            </a:solidFill>
            <a:ln/>
          </p:spPr>
          <p:txBody>
            <a:bodyPr/>
            <a:lstStyle/>
            <a:p>
              <a:endParaRPr lang="en-IN" sz="1200">
                <a:latin typeface="Georgia" panose="02040502050405020303" pitchFamily="18" charset="0"/>
              </a:endParaRPr>
            </a:p>
          </p:txBody>
        </p:sp>
        <p:sp>
          <p:nvSpPr>
            <p:cNvPr id="111" name="Shape 86">
              <a:extLst>
                <a:ext uri="{FF2B5EF4-FFF2-40B4-BE49-F238E27FC236}">
                  <a16:creationId xmlns:a16="http://schemas.microsoft.com/office/drawing/2014/main" id="{D7B08292-B8B3-5491-B916-E46BF6D23363}"/>
                </a:ext>
              </a:extLst>
            </p:cNvPr>
            <p:cNvSpPr/>
            <p:nvPr/>
          </p:nvSpPr>
          <p:spPr>
            <a:xfrm>
              <a:off x="10199512" y="3499736"/>
              <a:ext cx="1534007" cy="9963"/>
            </a:xfrm>
            <a:prstGeom prst="rect">
              <a:avLst/>
            </a:prstGeom>
            <a:solidFill>
              <a:srgbClr val="D9D3C3"/>
            </a:solidFill>
            <a:ln/>
          </p:spPr>
          <p:txBody>
            <a:bodyPr/>
            <a:lstStyle/>
            <a:p>
              <a:endParaRPr lang="en-IN" sz="900">
                <a:latin typeface="Georgia" panose="02040502050405020303" pitchFamily="18" charset="0"/>
              </a:endParaRPr>
            </a:p>
          </p:txBody>
        </p:sp>
        <p:sp>
          <p:nvSpPr>
            <p:cNvPr id="112" name="Shape 87">
              <a:extLst>
                <a:ext uri="{FF2B5EF4-FFF2-40B4-BE49-F238E27FC236}">
                  <a16:creationId xmlns:a16="http://schemas.microsoft.com/office/drawing/2014/main" id="{684AAF00-56DF-6D3E-1A26-9DE9E99C4FB6}"/>
                </a:ext>
              </a:extLst>
            </p:cNvPr>
            <p:cNvSpPr/>
            <p:nvPr/>
          </p:nvSpPr>
          <p:spPr>
            <a:xfrm>
              <a:off x="10199512" y="1066800"/>
              <a:ext cx="1534007" cy="39852"/>
            </a:xfrm>
            <a:prstGeom prst="rect">
              <a:avLst/>
            </a:prstGeom>
            <a:solidFill>
              <a:srgbClr val="E8A33D"/>
            </a:solidFill>
            <a:ln/>
          </p:spPr>
          <p:txBody>
            <a:bodyPr/>
            <a:lstStyle/>
            <a:p>
              <a:endParaRPr lang="en-IN" sz="1200">
                <a:latin typeface="Georgia" panose="02040502050405020303" pitchFamily="18" charset="0"/>
              </a:endParaRPr>
            </a:p>
          </p:txBody>
        </p:sp>
        <p:sp>
          <p:nvSpPr>
            <p:cNvPr id="113" name="Shape 88">
              <a:extLst>
                <a:ext uri="{FF2B5EF4-FFF2-40B4-BE49-F238E27FC236}">
                  <a16:creationId xmlns:a16="http://schemas.microsoft.com/office/drawing/2014/main" id="{76E9A61B-D433-83C0-3540-D1E1064C73E7}"/>
                </a:ext>
              </a:extLst>
            </p:cNvPr>
            <p:cNvSpPr/>
            <p:nvPr/>
          </p:nvSpPr>
          <p:spPr>
            <a:xfrm>
              <a:off x="10199512" y="1066800"/>
              <a:ext cx="6407" cy="2440907"/>
            </a:xfrm>
            <a:prstGeom prst="rect">
              <a:avLst/>
            </a:prstGeom>
            <a:solidFill>
              <a:srgbClr val="D9D3C3"/>
            </a:solidFill>
            <a:ln/>
          </p:spPr>
          <p:txBody>
            <a:bodyPr/>
            <a:lstStyle/>
            <a:p>
              <a:endParaRPr lang="en-IN" sz="1200">
                <a:latin typeface="Georgia" panose="02040502050405020303" pitchFamily="18" charset="0"/>
              </a:endParaRPr>
            </a:p>
          </p:txBody>
        </p:sp>
        <p:sp>
          <p:nvSpPr>
            <p:cNvPr id="114" name="Shape 89">
              <a:extLst>
                <a:ext uri="{FF2B5EF4-FFF2-40B4-BE49-F238E27FC236}">
                  <a16:creationId xmlns:a16="http://schemas.microsoft.com/office/drawing/2014/main" id="{BDF1BD1D-3B3E-5E28-3894-404B123A4A7C}"/>
                </a:ext>
              </a:extLst>
            </p:cNvPr>
            <p:cNvSpPr/>
            <p:nvPr/>
          </p:nvSpPr>
          <p:spPr>
            <a:xfrm>
              <a:off x="11728393" y="1066800"/>
              <a:ext cx="6407" cy="2440907"/>
            </a:xfrm>
            <a:prstGeom prst="rect">
              <a:avLst/>
            </a:prstGeom>
            <a:solidFill>
              <a:srgbClr val="D9D3C3"/>
            </a:solidFill>
            <a:ln/>
          </p:spPr>
          <p:txBody>
            <a:bodyPr/>
            <a:lstStyle/>
            <a:p>
              <a:endParaRPr lang="en-IN" sz="1200">
                <a:latin typeface="Georgia" panose="02040502050405020303" pitchFamily="18" charset="0"/>
              </a:endParaRPr>
            </a:p>
          </p:txBody>
        </p:sp>
        <p:sp>
          <p:nvSpPr>
            <p:cNvPr id="115" name="Text 90">
              <a:extLst>
                <a:ext uri="{FF2B5EF4-FFF2-40B4-BE49-F238E27FC236}">
                  <a16:creationId xmlns:a16="http://schemas.microsoft.com/office/drawing/2014/main" id="{043FB358-ED1C-C9D1-5369-FFABDD445EEF}"/>
                </a:ext>
              </a:extLst>
            </p:cNvPr>
            <p:cNvSpPr/>
            <p:nvPr/>
          </p:nvSpPr>
          <p:spPr>
            <a:xfrm>
              <a:off x="10319964" y="1325835"/>
              <a:ext cx="1344358" cy="382575"/>
            </a:xfrm>
            <a:prstGeom prst="rect">
              <a:avLst/>
            </a:prstGeom>
            <a:noFill/>
            <a:ln/>
          </p:spPr>
          <p:txBody>
            <a:bodyPr wrap="square" lIns="16933" tIns="16933" rIns="16933" bIns="16933" rtlCol="0" anchor="t">
              <a:normAutofit/>
            </a:bodyPr>
            <a:lstStyle/>
            <a:p>
              <a:r>
                <a:rPr lang="en-US" sz="1600" b="1" dirty="0">
                  <a:solidFill>
                    <a:srgbClr val="14342B"/>
                  </a:solidFill>
                  <a:latin typeface="Georgia" panose="02040502050405020303" pitchFamily="18" charset="0"/>
                  <a:ea typeface="Arial" pitchFamily="34" charset="-122"/>
                  <a:cs typeface="Arial" pitchFamily="34" charset="-120"/>
                </a:rPr>
                <a:t>Pineapple</a:t>
              </a:r>
              <a:endParaRPr lang="en-US" sz="1600" dirty="0">
                <a:latin typeface="Georgia" panose="02040502050405020303" pitchFamily="18" charset="0"/>
              </a:endParaRPr>
            </a:p>
          </p:txBody>
        </p:sp>
        <p:sp>
          <p:nvSpPr>
            <p:cNvPr id="116" name="Shape 91">
              <a:extLst>
                <a:ext uri="{FF2B5EF4-FFF2-40B4-BE49-F238E27FC236}">
                  <a16:creationId xmlns:a16="http://schemas.microsoft.com/office/drawing/2014/main" id="{AE3D124D-291F-35EE-B9E3-CD489A76860E}"/>
                </a:ext>
              </a:extLst>
            </p:cNvPr>
            <p:cNvSpPr/>
            <p:nvPr/>
          </p:nvSpPr>
          <p:spPr>
            <a:xfrm>
              <a:off x="10319964" y="1788113"/>
              <a:ext cx="1293102" cy="9963"/>
            </a:xfrm>
            <a:prstGeom prst="rect">
              <a:avLst/>
            </a:prstGeom>
            <a:solidFill>
              <a:srgbClr val="D9D3C3"/>
            </a:solidFill>
            <a:ln/>
          </p:spPr>
          <p:txBody>
            <a:bodyPr/>
            <a:lstStyle/>
            <a:p>
              <a:endParaRPr lang="en-IN" sz="1200">
                <a:latin typeface="Georgia" panose="02040502050405020303" pitchFamily="18" charset="0"/>
              </a:endParaRPr>
            </a:p>
          </p:txBody>
        </p:sp>
        <p:sp>
          <p:nvSpPr>
            <p:cNvPr id="117" name="Text 92">
              <a:extLst>
                <a:ext uri="{FF2B5EF4-FFF2-40B4-BE49-F238E27FC236}">
                  <a16:creationId xmlns:a16="http://schemas.microsoft.com/office/drawing/2014/main" id="{75C2B6EB-3871-C9F9-8AB7-C8BC36E470D2}"/>
                </a:ext>
              </a:extLst>
            </p:cNvPr>
            <p:cNvSpPr/>
            <p:nvPr/>
          </p:nvSpPr>
          <p:spPr>
            <a:xfrm>
              <a:off x="10319964" y="1917630"/>
              <a:ext cx="1344358" cy="191287"/>
            </a:xfrm>
            <a:prstGeom prst="rect">
              <a:avLst/>
            </a:prstGeom>
            <a:noFill/>
            <a:ln/>
          </p:spPr>
          <p:txBody>
            <a:bodyPr wrap="square" lIns="16933" tIns="16933" rIns="16933" bIns="16933" rtlCol="0" anchor="t">
              <a:normAutofit/>
            </a:bodyPr>
            <a:lstStyle/>
            <a:p>
              <a:r>
                <a:rPr lang="en-US" sz="900" kern="0" spc="50" dirty="0">
                  <a:solidFill>
                    <a:srgbClr val="6B7A76"/>
                  </a:solidFill>
                  <a:latin typeface="Georgia" panose="02040502050405020303" pitchFamily="18" charset="0"/>
                  <a:ea typeface="Arial" pitchFamily="34" charset="-122"/>
                  <a:cs typeface="Arial" pitchFamily="34" charset="-120"/>
                </a:rPr>
                <a:t>PRODUCTION</a:t>
              </a:r>
              <a:endParaRPr lang="en-US" sz="900" dirty="0">
                <a:latin typeface="Georgia" panose="02040502050405020303" pitchFamily="18" charset="0"/>
              </a:endParaRPr>
            </a:p>
          </p:txBody>
        </p:sp>
        <p:sp>
          <p:nvSpPr>
            <p:cNvPr id="118" name="Text 93">
              <a:extLst>
                <a:ext uri="{FF2B5EF4-FFF2-40B4-BE49-F238E27FC236}">
                  <a16:creationId xmlns:a16="http://schemas.microsoft.com/office/drawing/2014/main" id="{981D7AC3-9100-A118-FB55-6F4004F7D282}"/>
                </a:ext>
              </a:extLst>
            </p:cNvPr>
            <p:cNvSpPr/>
            <p:nvPr/>
          </p:nvSpPr>
          <p:spPr>
            <a:xfrm>
              <a:off x="10319964" y="2069066"/>
              <a:ext cx="1344358" cy="310842"/>
            </a:xfrm>
            <a:prstGeom prst="rect">
              <a:avLst/>
            </a:prstGeom>
            <a:noFill/>
            <a:ln/>
          </p:spPr>
          <p:txBody>
            <a:bodyPr wrap="square" lIns="16933" tIns="16933" rIns="16933" bIns="16933" rtlCol="0" anchor="t">
              <a:normAutofit/>
            </a:bodyPr>
            <a:lstStyle/>
            <a:p>
              <a:r>
                <a:rPr lang="en-US" sz="1400" b="1" dirty="0">
                  <a:solidFill>
                    <a:srgbClr val="0B6E78"/>
                  </a:solidFill>
                  <a:latin typeface="Georgia" panose="02040502050405020303" pitchFamily="18" charset="0"/>
                  <a:ea typeface="Arial" pitchFamily="34" charset="-122"/>
                  <a:cs typeface="Arial" pitchFamily="34" charset="-120"/>
                </a:rPr>
                <a:t>70,948 </a:t>
              </a:r>
              <a:r>
                <a:rPr lang="en-US" sz="1400" dirty="0">
                  <a:solidFill>
                    <a:srgbClr val="6B7A76"/>
                  </a:solidFill>
                  <a:latin typeface="Georgia" panose="02040502050405020303" pitchFamily="18" charset="0"/>
                  <a:ea typeface="Arial" pitchFamily="34" charset="-122"/>
                  <a:cs typeface="Arial" pitchFamily="34" charset="-120"/>
                </a:rPr>
                <a:t>MT</a:t>
              </a:r>
              <a:endParaRPr lang="en-US" sz="1400" dirty="0">
                <a:latin typeface="Georgia" panose="02040502050405020303" pitchFamily="18" charset="0"/>
              </a:endParaRPr>
            </a:p>
          </p:txBody>
        </p:sp>
        <p:sp>
          <p:nvSpPr>
            <p:cNvPr id="119" name="Text 94">
              <a:extLst>
                <a:ext uri="{FF2B5EF4-FFF2-40B4-BE49-F238E27FC236}">
                  <a16:creationId xmlns:a16="http://schemas.microsoft.com/office/drawing/2014/main" id="{5638F0D2-C844-464E-3043-09E280692FE7}"/>
                </a:ext>
              </a:extLst>
            </p:cNvPr>
            <p:cNvSpPr/>
            <p:nvPr/>
          </p:nvSpPr>
          <p:spPr>
            <a:xfrm>
              <a:off x="10319964" y="2419760"/>
              <a:ext cx="1344358" cy="191287"/>
            </a:xfrm>
            <a:prstGeom prst="rect">
              <a:avLst/>
            </a:prstGeom>
            <a:noFill/>
            <a:ln/>
          </p:spPr>
          <p:txBody>
            <a:bodyPr wrap="square" lIns="16933" tIns="16933" rIns="16933" bIns="16933" rtlCol="0" anchor="t">
              <a:normAutofit/>
            </a:bodyPr>
            <a:lstStyle/>
            <a:p>
              <a:r>
                <a:rPr lang="en-US" sz="900" kern="0" spc="50" dirty="0">
                  <a:solidFill>
                    <a:srgbClr val="6B7A76"/>
                  </a:solidFill>
                  <a:latin typeface="Georgia" panose="02040502050405020303" pitchFamily="18" charset="0"/>
                  <a:ea typeface="Arial" pitchFamily="34" charset="-122"/>
                  <a:cs typeface="Arial" pitchFamily="34" charset="-120"/>
                </a:rPr>
                <a:t>AREA</a:t>
              </a:r>
              <a:endParaRPr lang="en-US" sz="900" dirty="0">
                <a:latin typeface="Georgia" panose="02040502050405020303" pitchFamily="18" charset="0"/>
              </a:endParaRPr>
            </a:p>
          </p:txBody>
        </p:sp>
        <p:sp>
          <p:nvSpPr>
            <p:cNvPr id="120" name="Text 95">
              <a:extLst>
                <a:ext uri="{FF2B5EF4-FFF2-40B4-BE49-F238E27FC236}">
                  <a16:creationId xmlns:a16="http://schemas.microsoft.com/office/drawing/2014/main" id="{68155642-05A4-C361-86E5-3B7667B2CA92}"/>
                </a:ext>
              </a:extLst>
            </p:cNvPr>
            <p:cNvSpPr/>
            <p:nvPr/>
          </p:nvSpPr>
          <p:spPr>
            <a:xfrm>
              <a:off x="10319964" y="2571196"/>
              <a:ext cx="1344358" cy="278961"/>
            </a:xfrm>
            <a:prstGeom prst="rect">
              <a:avLst/>
            </a:prstGeom>
            <a:noFill/>
            <a:ln/>
          </p:spPr>
          <p:txBody>
            <a:bodyPr wrap="square" lIns="16933" tIns="16933" rIns="16933" bIns="16933" rtlCol="0" anchor="t">
              <a:normAutofit/>
            </a:bodyPr>
            <a:lstStyle/>
            <a:p>
              <a:r>
                <a:rPr lang="en-US" sz="1400" b="1" dirty="0">
                  <a:solidFill>
                    <a:srgbClr val="14342B"/>
                  </a:solidFill>
                  <a:latin typeface="Georgia" panose="02040502050405020303" pitchFamily="18" charset="0"/>
                  <a:ea typeface="Arial" pitchFamily="34" charset="-122"/>
                  <a:cs typeface="Arial" pitchFamily="34" charset="-120"/>
                </a:rPr>
                <a:t>1,207 </a:t>
              </a:r>
              <a:r>
                <a:rPr lang="en-US" sz="1400" b="1" dirty="0">
                  <a:solidFill>
                    <a:srgbClr val="6B7A76"/>
                  </a:solidFill>
                  <a:latin typeface="Georgia" panose="02040502050405020303" pitchFamily="18" charset="0"/>
                  <a:ea typeface="Arial" pitchFamily="34" charset="-122"/>
                  <a:cs typeface="Arial" pitchFamily="34" charset="-120"/>
                </a:rPr>
                <a:t>HA</a:t>
              </a:r>
              <a:endParaRPr lang="en-US" sz="1400" dirty="0">
                <a:latin typeface="Georgia" panose="02040502050405020303" pitchFamily="18" charset="0"/>
              </a:endParaRPr>
            </a:p>
          </p:txBody>
        </p:sp>
      </p:grpSp>
      <p:sp>
        <p:nvSpPr>
          <p:cNvPr id="121" name="Shape 98">
            <a:extLst>
              <a:ext uri="{FF2B5EF4-FFF2-40B4-BE49-F238E27FC236}">
                <a16:creationId xmlns:a16="http://schemas.microsoft.com/office/drawing/2014/main" id="{789D11D8-A71B-48A8-4E34-0405B23CA64B}"/>
              </a:ext>
            </a:extLst>
          </p:cNvPr>
          <p:cNvSpPr/>
          <p:nvPr/>
        </p:nvSpPr>
        <p:spPr>
          <a:xfrm>
            <a:off x="457200" y="3906222"/>
            <a:ext cx="5542093" cy="1884978"/>
          </a:xfrm>
          <a:prstGeom prst="roundRect">
            <a:avLst>
              <a:gd name="adj" fmla="val 3171"/>
            </a:avLst>
          </a:prstGeom>
          <a:solidFill>
            <a:srgbClr val="14342B"/>
          </a:solidFill>
          <a:ln/>
        </p:spPr>
        <p:txBody>
          <a:bodyPr/>
          <a:lstStyle/>
          <a:p>
            <a:endParaRPr lang="en-IN" sz="1200">
              <a:latin typeface="Georgia" panose="02040502050405020303" pitchFamily="18" charset="0"/>
            </a:endParaRPr>
          </a:p>
        </p:txBody>
      </p:sp>
      <p:sp>
        <p:nvSpPr>
          <p:cNvPr id="122" name="Text 99">
            <a:extLst>
              <a:ext uri="{FF2B5EF4-FFF2-40B4-BE49-F238E27FC236}">
                <a16:creationId xmlns:a16="http://schemas.microsoft.com/office/drawing/2014/main" id="{EA09F64B-5F91-19DF-F341-97D5CF95CD86}"/>
              </a:ext>
            </a:extLst>
          </p:cNvPr>
          <p:cNvSpPr/>
          <p:nvPr/>
        </p:nvSpPr>
        <p:spPr>
          <a:xfrm>
            <a:off x="662225" y="4185183"/>
            <a:ext cx="5286004" cy="247080"/>
          </a:xfrm>
          <a:prstGeom prst="rect">
            <a:avLst/>
          </a:prstGeom>
          <a:noFill/>
          <a:ln/>
        </p:spPr>
        <p:txBody>
          <a:bodyPr wrap="square" lIns="16933" tIns="16933" rIns="16933" bIns="16933" rtlCol="0" anchor="t">
            <a:normAutofit/>
          </a:bodyPr>
          <a:lstStyle/>
          <a:p>
            <a:r>
              <a:rPr lang="en-US" sz="1300" b="1" kern="0" spc="100" dirty="0">
                <a:solidFill>
                  <a:srgbClr val="E8A33D"/>
                </a:solidFill>
                <a:latin typeface="Georgia" panose="02040502050405020303" pitchFamily="18" charset="0"/>
                <a:ea typeface="Arial" pitchFamily="34" charset="-122"/>
                <a:cs typeface="Arial" pitchFamily="34" charset="-120"/>
              </a:rPr>
              <a:t>SHARE OF PRODUCTION</a:t>
            </a:r>
            <a:endParaRPr lang="en-US" sz="1300" dirty="0">
              <a:latin typeface="Georgia" panose="02040502050405020303" pitchFamily="18" charset="0"/>
            </a:endParaRPr>
          </a:p>
        </p:txBody>
      </p:sp>
      <p:sp>
        <p:nvSpPr>
          <p:cNvPr id="123" name="Text 100">
            <a:extLst>
              <a:ext uri="{FF2B5EF4-FFF2-40B4-BE49-F238E27FC236}">
                <a16:creationId xmlns:a16="http://schemas.microsoft.com/office/drawing/2014/main" id="{E0DAD15B-55FB-6C28-FA58-55018940D3EA}"/>
              </a:ext>
            </a:extLst>
          </p:cNvPr>
          <p:cNvSpPr/>
          <p:nvPr/>
        </p:nvSpPr>
        <p:spPr>
          <a:xfrm>
            <a:off x="662225" y="4572000"/>
            <a:ext cx="5286004" cy="1079977"/>
          </a:xfrm>
          <a:prstGeom prst="rect">
            <a:avLst/>
          </a:prstGeom>
          <a:noFill/>
          <a:ln/>
        </p:spPr>
        <p:txBody>
          <a:bodyPr wrap="square" lIns="16933" tIns="16933" rIns="16933" bIns="16933" rtlCol="0" anchor="t">
            <a:normAutofit/>
          </a:bodyPr>
          <a:lstStyle/>
          <a:p>
            <a:pPr>
              <a:lnSpc>
                <a:spcPct val="145000"/>
              </a:lnSpc>
            </a:pPr>
            <a:r>
              <a:rPr lang="en-US" sz="1300" dirty="0">
                <a:solidFill>
                  <a:srgbClr val="FAF8F3"/>
                </a:solidFill>
                <a:latin typeface="Georgia" panose="02040502050405020303" pitchFamily="18" charset="0"/>
                <a:ea typeface="Arial" pitchFamily="34" charset="-122"/>
                <a:cs typeface="Arial" pitchFamily="34" charset="-120"/>
              </a:rPr>
              <a:t>These 7 crops represent </a:t>
            </a:r>
            <a:r>
              <a:rPr lang="en-US" sz="1300" b="1" dirty="0">
                <a:solidFill>
                  <a:srgbClr val="E8A33D"/>
                </a:solidFill>
                <a:latin typeface="Georgia" panose="02040502050405020303" pitchFamily="18" charset="0"/>
                <a:ea typeface="Arial" pitchFamily="34" charset="-122"/>
                <a:cs typeface="Arial" pitchFamily="34" charset="-120"/>
              </a:rPr>
              <a:t>73% </a:t>
            </a:r>
            <a:r>
              <a:rPr lang="en-US" sz="1300" dirty="0">
                <a:solidFill>
                  <a:srgbClr val="FAF8F3"/>
                </a:solidFill>
                <a:latin typeface="Georgia" panose="02040502050405020303" pitchFamily="18" charset="0"/>
                <a:ea typeface="Arial" pitchFamily="34" charset="-122"/>
                <a:cs typeface="Arial" pitchFamily="34" charset="-120"/>
              </a:rPr>
              <a:t>of Karnataka's total fruit and vegetable production volume.</a:t>
            </a:r>
            <a:endParaRPr lang="en-US" sz="1300" dirty="0">
              <a:latin typeface="Georgia" panose="02040502050405020303" pitchFamily="18" charset="0"/>
            </a:endParaRPr>
          </a:p>
        </p:txBody>
      </p:sp>
      <p:sp>
        <p:nvSpPr>
          <p:cNvPr id="124" name="Shape 101">
            <a:extLst>
              <a:ext uri="{FF2B5EF4-FFF2-40B4-BE49-F238E27FC236}">
                <a16:creationId xmlns:a16="http://schemas.microsoft.com/office/drawing/2014/main" id="{92979094-3D83-3C41-A04F-564D8C04F844}"/>
              </a:ext>
            </a:extLst>
          </p:cNvPr>
          <p:cNvSpPr/>
          <p:nvPr/>
        </p:nvSpPr>
        <p:spPr>
          <a:xfrm>
            <a:off x="6191505" y="3906222"/>
            <a:ext cx="5542093" cy="1884978"/>
          </a:xfrm>
          <a:prstGeom prst="roundRect">
            <a:avLst>
              <a:gd name="adj" fmla="val 2114"/>
            </a:avLst>
          </a:prstGeom>
          <a:solidFill>
            <a:schemeClr val="bg2">
              <a:lumMod val="75000"/>
            </a:schemeClr>
          </a:solidFill>
          <a:ln/>
        </p:spPr>
        <p:txBody>
          <a:bodyPr/>
          <a:lstStyle/>
          <a:p>
            <a:endParaRPr lang="en-IN" sz="1200">
              <a:latin typeface="Georgia" panose="02040502050405020303" pitchFamily="18" charset="0"/>
            </a:endParaRPr>
          </a:p>
        </p:txBody>
      </p:sp>
      <p:sp>
        <p:nvSpPr>
          <p:cNvPr id="125" name="Shape 102">
            <a:extLst>
              <a:ext uri="{FF2B5EF4-FFF2-40B4-BE49-F238E27FC236}">
                <a16:creationId xmlns:a16="http://schemas.microsoft.com/office/drawing/2014/main" id="{226BC6CC-C2C0-7098-79B6-4F567CA44E4C}"/>
              </a:ext>
            </a:extLst>
          </p:cNvPr>
          <p:cNvSpPr/>
          <p:nvPr/>
        </p:nvSpPr>
        <p:spPr>
          <a:xfrm>
            <a:off x="6191505" y="3906222"/>
            <a:ext cx="25628" cy="1884978"/>
          </a:xfrm>
          <a:prstGeom prst="rect">
            <a:avLst/>
          </a:prstGeom>
          <a:solidFill>
            <a:srgbClr val="E8A33D"/>
          </a:solidFill>
          <a:ln/>
        </p:spPr>
        <p:txBody>
          <a:bodyPr/>
          <a:lstStyle/>
          <a:p>
            <a:endParaRPr lang="en-IN" sz="1200">
              <a:latin typeface="Georgia" panose="02040502050405020303" pitchFamily="18" charset="0"/>
            </a:endParaRPr>
          </a:p>
        </p:txBody>
      </p:sp>
      <p:sp>
        <p:nvSpPr>
          <p:cNvPr id="126" name="Text 103">
            <a:extLst>
              <a:ext uri="{FF2B5EF4-FFF2-40B4-BE49-F238E27FC236}">
                <a16:creationId xmlns:a16="http://schemas.microsoft.com/office/drawing/2014/main" id="{7389FAD0-67DA-729B-E428-51BCFF574F54}"/>
              </a:ext>
            </a:extLst>
          </p:cNvPr>
          <p:cNvSpPr/>
          <p:nvPr/>
        </p:nvSpPr>
        <p:spPr>
          <a:xfrm>
            <a:off x="6422158" y="4185183"/>
            <a:ext cx="5259607" cy="247080"/>
          </a:xfrm>
          <a:prstGeom prst="rect">
            <a:avLst/>
          </a:prstGeom>
          <a:noFill/>
          <a:ln/>
        </p:spPr>
        <p:txBody>
          <a:bodyPr wrap="square" lIns="16933" tIns="16933" rIns="16933" bIns="16933" rtlCol="0" anchor="t">
            <a:normAutofit/>
          </a:bodyPr>
          <a:lstStyle/>
          <a:p>
            <a:r>
              <a:rPr lang="en-US" sz="1300" b="1" kern="0" spc="100" dirty="0">
                <a:solidFill>
                  <a:schemeClr val="bg1"/>
                </a:solidFill>
                <a:latin typeface="Georgia" panose="02040502050405020303" pitchFamily="18" charset="0"/>
                <a:ea typeface="Arial" pitchFamily="34" charset="-122"/>
                <a:cs typeface="Arial" pitchFamily="34" charset="-120"/>
              </a:rPr>
              <a:t>RATIONALE</a:t>
            </a:r>
            <a:endParaRPr lang="en-US" sz="1300" dirty="0">
              <a:solidFill>
                <a:schemeClr val="bg1"/>
              </a:solidFill>
              <a:latin typeface="Georgia" panose="02040502050405020303" pitchFamily="18" charset="0"/>
            </a:endParaRPr>
          </a:p>
        </p:txBody>
      </p:sp>
      <p:sp>
        <p:nvSpPr>
          <p:cNvPr id="127" name="Text 104">
            <a:extLst>
              <a:ext uri="{FF2B5EF4-FFF2-40B4-BE49-F238E27FC236}">
                <a16:creationId xmlns:a16="http://schemas.microsoft.com/office/drawing/2014/main" id="{C447B16C-C4BA-92EE-0E63-111197E589E8}"/>
              </a:ext>
            </a:extLst>
          </p:cNvPr>
          <p:cNvSpPr/>
          <p:nvPr/>
        </p:nvSpPr>
        <p:spPr>
          <a:xfrm>
            <a:off x="6422158" y="4548314"/>
            <a:ext cx="5259607" cy="1079977"/>
          </a:xfrm>
          <a:prstGeom prst="rect">
            <a:avLst/>
          </a:prstGeom>
          <a:noFill/>
          <a:ln/>
        </p:spPr>
        <p:txBody>
          <a:bodyPr wrap="square" lIns="16933" tIns="16933" rIns="16933" bIns="16933" rtlCol="0" anchor="t">
            <a:normAutofit/>
          </a:bodyPr>
          <a:lstStyle/>
          <a:p>
            <a:pPr>
              <a:lnSpc>
                <a:spcPct val="145000"/>
              </a:lnSpc>
            </a:pPr>
            <a:r>
              <a:rPr lang="en-US" sz="1300" dirty="0">
                <a:solidFill>
                  <a:srgbClr val="14342B"/>
                </a:solidFill>
                <a:latin typeface="Georgia" panose="02040502050405020303" pitchFamily="18" charset="0"/>
              </a:rPr>
              <a:t>These crops account for the largest share of horticulture production in the state, making them the highest-impact targets for reducing post-harvest loss in the state.</a:t>
            </a:r>
          </a:p>
          <a:p>
            <a:pPr>
              <a:lnSpc>
                <a:spcPct val="145000"/>
              </a:lnSpc>
            </a:pPr>
            <a:endParaRPr lang="en-US" sz="1300" dirty="0">
              <a:latin typeface="Georgia" panose="02040502050405020303" pitchFamily="18" charset="0"/>
            </a:endParaRPr>
          </a:p>
        </p:txBody>
      </p:sp>
      <p:sp>
        <p:nvSpPr>
          <p:cNvPr id="128" name="TextBox 127">
            <a:extLst>
              <a:ext uri="{FF2B5EF4-FFF2-40B4-BE49-F238E27FC236}">
                <a16:creationId xmlns:a16="http://schemas.microsoft.com/office/drawing/2014/main" id="{04C0FF53-7ED2-5B2F-B783-63D6FBFE8479}"/>
              </a:ext>
            </a:extLst>
          </p:cNvPr>
          <p:cNvSpPr txBox="1"/>
          <p:nvPr/>
        </p:nvSpPr>
        <p:spPr>
          <a:xfrm>
            <a:off x="555594" y="5925979"/>
            <a:ext cx="6094520" cy="246221"/>
          </a:xfrm>
          <a:prstGeom prst="rect">
            <a:avLst/>
          </a:prstGeom>
          <a:noFill/>
        </p:spPr>
        <p:txBody>
          <a:bodyPr wrap="square">
            <a:spAutoFit/>
          </a:bodyPr>
          <a:lstStyle/>
          <a:p>
            <a:r>
              <a:rPr lang="en-IN" sz="1000" i="1" dirty="0">
                <a:latin typeface="Georgia" panose="02040502050405020303" pitchFamily="18" charset="0"/>
              </a:rPr>
              <a:t>Sources: Horticulture crop statistics of Karnataka state at a glance – 2023-24</a:t>
            </a:r>
          </a:p>
        </p:txBody>
      </p:sp>
      <p:pic>
        <p:nvPicPr>
          <p:cNvPr id="23" name="Picture 22">
            <a:extLst>
              <a:ext uri="{FF2B5EF4-FFF2-40B4-BE49-F238E27FC236}">
                <a16:creationId xmlns:a16="http://schemas.microsoft.com/office/drawing/2014/main" id="{E52A9290-7AA4-EC09-15E8-84011B4E2E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57434"/>
            <a:ext cx="12192000" cy="987920"/>
          </a:xfrm>
          <a:prstGeom prst="rect">
            <a:avLst/>
          </a:prstGeom>
        </p:spPr>
      </p:pic>
    </p:spTree>
    <p:extLst>
      <p:ext uri="{BB962C8B-B14F-4D97-AF65-F5344CB8AC3E}">
        <p14:creationId xmlns:p14="http://schemas.microsoft.com/office/powerpoint/2010/main" val="2094440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98D69-507B-7591-4A13-3F6C7B122914}"/>
            </a:ext>
          </a:extLst>
        </p:cNvPr>
        <p:cNvGrpSpPr/>
        <p:nvPr/>
      </p:nvGrpSpPr>
      <p:grpSpPr>
        <a:xfrm>
          <a:off x="0" y="0"/>
          <a:ext cx="0" cy="0"/>
          <a:chOff x="0" y="0"/>
          <a:chExt cx="0" cy="0"/>
        </a:xfrm>
      </p:grpSpPr>
      <p:sp>
        <p:nvSpPr>
          <p:cNvPr id="7" name="Title 21">
            <a:extLst>
              <a:ext uri="{FF2B5EF4-FFF2-40B4-BE49-F238E27FC236}">
                <a16:creationId xmlns:a16="http://schemas.microsoft.com/office/drawing/2014/main" id="{DDCFD7BF-8A5A-2118-CDEE-DB790B894F9D}"/>
              </a:ext>
            </a:extLst>
          </p:cNvPr>
          <p:cNvSpPr txBox="1">
            <a:spLocks/>
          </p:cNvSpPr>
          <p:nvPr/>
        </p:nvSpPr>
        <p:spPr>
          <a:xfrm>
            <a:off x="533400" y="275841"/>
            <a:ext cx="10561116" cy="486159"/>
          </a:xfrm>
          <a:prstGeom prst="rect">
            <a:avLst/>
          </a:prstGeom>
        </p:spPr>
        <p:txBody>
          <a:bodyPr/>
          <a:lstStyle>
            <a:lvl1pPr>
              <a:defRPr>
                <a:latin typeface="+mj-lt"/>
                <a:ea typeface="+mj-ea"/>
                <a:cs typeface="+mj-cs"/>
              </a:defRPr>
            </a:lvl1pPr>
          </a:lstStyle>
          <a:p>
            <a:pPr>
              <a:lnSpc>
                <a:spcPct val="150000"/>
              </a:lnSpc>
              <a:spcAft>
                <a:spcPts val="800"/>
              </a:spcAft>
            </a:pPr>
            <a:r>
              <a:rPr lang="en-US" sz="2400" b="1" dirty="0">
                <a:solidFill>
                  <a:schemeClr val="bg1"/>
                </a:solidFill>
                <a:latin typeface="Georgia" panose="02040502050405020303" pitchFamily="18" charset="0"/>
              </a:rPr>
              <a:t>Karnataka’s major production clusters</a:t>
            </a:r>
          </a:p>
        </p:txBody>
      </p:sp>
      <p:grpSp>
        <p:nvGrpSpPr>
          <p:cNvPr id="4" name="Group 3">
            <a:extLst>
              <a:ext uri="{FF2B5EF4-FFF2-40B4-BE49-F238E27FC236}">
                <a16:creationId xmlns:a16="http://schemas.microsoft.com/office/drawing/2014/main" id="{A3D55217-DA6D-FF4C-DB36-92FD2451619A}"/>
              </a:ext>
            </a:extLst>
          </p:cNvPr>
          <p:cNvGrpSpPr/>
          <p:nvPr/>
        </p:nvGrpSpPr>
        <p:grpSpPr>
          <a:xfrm>
            <a:off x="1541756" y="2573716"/>
            <a:ext cx="10726444" cy="3369884"/>
            <a:chOff x="627356" y="2573283"/>
            <a:chExt cx="11259844" cy="3379850"/>
          </a:xfrm>
        </p:grpSpPr>
        <p:pic>
          <p:nvPicPr>
            <p:cNvPr id="6" name="Picture 5">
              <a:extLst>
                <a:ext uri="{FF2B5EF4-FFF2-40B4-BE49-F238E27FC236}">
                  <a16:creationId xmlns:a16="http://schemas.microsoft.com/office/drawing/2014/main" id="{77BECFCB-459C-EF68-C13E-56844A77A001}"/>
                </a:ext>
              </a:extLst>
            </p:cNvPr>
            <p:cNvPicPr>
              <a:picLocks noChangeAspect="1"/>
            </p:cNvPicPr>
            <p:nvPr/>
          </p:nvPicPr>
          <p:blipFill>
            <a:blip r:embed="rId2" cstate="print">
              <a:extLst>
                <a:ext uri="{28A0092B-C50C-407E-A947-70E740481C1C}">
                  <a14:useLocalDpi xmlns:a14="http://schemas.microsoft.com/office/drawing/2010/main" val="0"/>
                </a:ext>
              </a:extLst>
            </a:blip>
            <a:srcRect t="16924" b="3998"/>
            <a:stretch>
              <a:fillRect/>
            </a:stretch>
          </p:blipFill>
          <p:spPr>
            <a:xfrm>
              <a:off x="627356" y="2573283"/>
              <a:ext cx="3169793" cy="3379850"/>
            </a:xfrm>
            <a:prstGeom prst="rect">
              <a:avLst/>
            </a:prstGeom>
          </p:spPr>
        </p:pic>
        <p:grpSp>
          <p:nvGrpSpPr>
            <p:cNvPr id="2" name="Group 1">
              <a:extLst>
                <a:ext uri="{FF2B5EF4-FFF2-40B4-BE49-F238E27FC236}">
                  <a16:creationId xmlns:a16="http://schemas.microsoft.com/office/drawing/2014/main" id="{17D680BF-856E-DF20-FE7B-476FC32E4ADA}"/>
                </a:ext>
              </a:extLst>
            </p:cNvPr>
            <p:cNvGrpSpPr/>
            <p:nvPr/>
          </p:nvGrpSpPr>
          <p:grpSpPr>
            <a:xfrm>
              <a:off x="3841191" y="2729810"/>
              <a:ext cx="8046009" cy="3083027"/>
              <a:chOff x="4242426" y="7624274"/>
              <a:chExt cx="10829956" cy="5456819"/>
            </a:xfrm>
          </p:grpSpPr>
          <p:sp>
            <p:nvSpPr>
              <p:cNvPr id="23" name="Freeform 31">
                <a:extLst>
                  <a:ext uri="{FF2B5EF4-FFF2-40B4-BE49-F238E27FC236}">
                    <a16:creationId xmlns:a16="http://schemas.microsoft.com/office/drawing/2014/main" id="{BFD64858-48F3-4A9C-ECFB-B976380EB0D0}"/>
                  </a:ext>
                </a:extLst>
              </p:cNvPr>
              <p:cNvSpPr/>
              <p:nvPr/>
            </p:nvSpPr>
            <p:spPr>
              <a:xfrm>
                <a:off x="4517530" y="12695595"/>
                <a:ext cx="385498" cy="385498"/>
              </a:xfrm>
              <a:custGeom>
                <a:avLst/>
                <a:gdLst/>
                <a:ahLst/>
                <a:cxnLst/>
                <a:rect l="l" t="t" r="r" b="b"/>
                <a:pathLst>
                  <a:path w="385498" h="385498">
                    <a:moveTo>
                      <a:pt x="0" y="0"/>
                    </a:moveTo>
                    <a:lnTo>
                      <a:pt x="385497" y="0"/>
                    </a:lnTo>
                    <a:lnTo>
                      <a:pt x="385497" y="385498"/>
                    </a:lnTo>
                    <a:lnTo>
                      <a:pt x="0" y="385498"/>
                    </a:lnTo>
                    <a:lnTo>
                      <a:pt x="0" y="0"/>
                    </a:lnTo>
                    <a:close/>
                  </a:path>
                </a:pathLst>
              </a:custGeom>
              <a:solidFill>
                <a:srgbClr val="E8A33D"/>
              </a:solidFill>
            </p:spPr>
            <p:txBody>
              <a:bodyPr/>
              <a:lstStyle/>
              <a:p>
                <a:endParaRPr lang="en-IN">
                  <a:latin typeface="Georgia" panose="02040502050405020303" pitchFamily="18" charset="0"/>
                </a:endParaRPr>
              </a:p>
            </p:txBody>
          </p:sp>
          <p:sp>
            <p:nvSpPr>
              <p:cNvPr id="24" name="TextBox 32">
                <a:extLst>
                  <a:ext uri="{FF2B5EF4-FFF2-40B4-BE49-F238E27FC236}">
                    <a16:creationId xmlns:a16="http://schemas.microsoft.com/office/drawing/2014/main" id="{6EA5002C-8200-FACA-8ADE-0008A3E99480}"/>
                  </a:ext>
                </a:extLst>
              </p:cNvPr>
              <p:cNvSpPr txBox="1"/>
              <p:nvPr/>
            </p:nvSpPr>
            <p:spPr>
              <a:xfrm>
                <a:off x="4956916" y="12519554"/>
                <a:ext cx="8884681" cy="544751"/>
              </a:xfrm>
              <a:prstGeom prst="rect">
                <a:avLst/>
              </a:prstGeom>
            </p:spPr>
            <p:txBody>
              <a:bodyPr wrap="square" lIns="0" tIns="0" rIns="0" bIns="0" rtlCol="0" anchor="t">
                <a:spAutoFit/>
              </a:bodyPr>
              <a:lstStyle/>
              <a:p>
                <a:pPr algn="l"/>
                <a:r>
                  <a:rPr lang="en-US" sz="1200" b="1" dirty="0">
                    <a:solidFill>
                      <a:srgbClr val="E8A33D"/>
                    </a:solidFill>
                    <a:latin typeface="Georgia" panose="02040502050405020303" pitchFamily="18" charset="0"/>
                    <a:ea typeface="Trebuchet MS"/>
                    <a:cs typeface="Trebuchet MS"/>
                    <a:sym typeface="Trebuchet MS"/>
                  </a:rPr>
                  <a:t>South Karnataka Banana-Tomato-Mango cluster </a:t>
                </a:r>
              </a:p>
              <a:p>
                <a:pPr algn="l"/>
                <a:r>
                  <a:rPr lang="en-US" sz="800" i="1" dirty="0">
                    <a:solidFill>
                      <a:srgbClr val="191919"/>
                    </a:solidFill>
                    <a:latin typeface="Georgia" panose="02040502050405020303" pitchFamily="18" charset="0"/>
                    <a:ea typeface="Trebuchet MS"/>
                    <a:cs typeface="Trebuchet MS"/>
                    <a:sym typeface="Trebuchet MS"/>
                  </a:rPr>
                  <a:t>(</a:t>
                </a:r>
                <a:r>
                  <a:rPr lang="en-IN" sz="800" i="1" dirty="0">
                    <a:latin typeface="Georgia" panose="02040502050405020303" pitchFamily="18" charset="0"/>
                  </a:rPr>
                  <a:t>Mysuru, </a:t>
                </a:r>
                <a:r>
                  <a:rPr lang="en-IN" sz="800" i="1" dirty="0" err="1">
                    <a:latin typeface="Georgia" panose="02040502050405020303" pitchFamily="18" charset="0"/>
                  </a:rPr>
                  <a:t>Mandya</a:t>
                </a:r>
                <a:r>
                  <a:rPr lang="en-IN" sz="800" i="1" dirty="0">
                    <a:latin typeface="Georgia" panose="02040502050405020303" pitchFamily="18" charset="0"/>
                  </a:rPr>
                  <a:t>, </a:t>
                </a:r>
                <a:r>
                  <a:rPr lang="en-IN" sz="800" i="1" dirty="0" err="1">
                    <a:latin typeface="Georgia" panose="02040502050405020303" pitchFamily="18" charset="0"/>
                  </a:rPr>
                  <a:t>Chamarajanagara</a:t>
                </a:r>
                <a:r>
                  <a:rPr lang="en-IN" sz="800" i="1" dirty="0">
                    <a:latin typeface="Georgia" panose="02040502050405020303" pitchFamily="18" charset="0"/>
                  </a:rPr>
                  <a:t>, Hassan, </a:t>
                </a:r>
                <a:r>
                  <a:rPr lang="en-IN" sz="800" i="1" dirty="0" err="1">
                    <a:latin typeface="Georgia" panose="02040502050405020303" pitchFamily="18" charset="0"/>
                  </a:rPr>
                  <a:t>Ramanagara</a:t>
                </a:r>
                <a:r>
                  <a:rPr lang="en-IN" sz="800" i="1" dirty="0">
                    <a:latin typeface="Georgia" panose="02040502050405020303" pitchFamily="18" charset="0"/>
                  </a:rPr>
                  <a:t>) </a:t>
                </a:r>
                <a:endParaRPr lang="en-US" sz="800" dirty="0">
                  <a:solidFill>
                    <a:srgbClr val="191919"/>
                  </a:solidFill>
                  <a:latin typeface="Georgia" panose="02040502050405020303" pitchFamily="18" charset="0"/>
                  <a:ea typeface="Trebuchet MS"/>
                  <a:cs typeface="Trebuchet MS"/>
                  <a:sym typeface="Trebuchet MS"/>
                </a:endParaRPr>
              </a:p>
            </p:txBody>
          </p:sp>
          <p:sp>
            <p:nvSpPr>
              <p:cNvPr id="25" name="TextBox 33">
                <a:extLst>
                  <a:ext uri="{FF2B5EF4-FFF2-40B4-BE49-F238E27FC236}">
                    <a16:creationId xmlns:a16="http://schemas.microsoft.com/office/drawing/2014/main" id="{09E3DF34-32C2-7F6D-1034-3C37FAE05074}"/>
                  </a:ext>
                </a:extLst>
              </p:cNvPr>
              <p:cNvSpPr txBox="1"/>
              <p:nvPr/>
            </p:nvSpPr>
            <p:spPr>
              <a:xfrm>
                <a:off x="4583604" y="12662833"/>
                <a:ext cx="215727" cy="379963"/>
              </a:xfrm>
              <a:prstGeom prst="rect">
                <a:avLst/>
              </a:prstGeom>
            </p:spPr>
            <p:txBody>
              <a:bodyPr lIns="0" tIns="0" rIns="0" bIns="0" rtlCol="0" anchor="t">
                <a:spAutoFit/>
              </a:bodyPr>
              <a:lstStyle/>
              <a:p>
                <a:pPr algn="ctr">
                  <a:lnSpc>
                    <a:spcPts val="1800"/>
                  </a:lnSpc>
                </a:pPr>
                <a:r>
                  <a:rPr lang="en-US" sz="1200" b="1" dirty="0">
                    <a:solidFill>
                      <a:srgbClr val="FFFFFF"/>
                    </a:solidFill>
                    <a:latin typeface="Georgia" panose="02040502050405020303" pitchFamily="18" charset="0"/>
                    <a:ea typeface="Trebuchet MS Bold"/>
                    <a:cs typeface="Trebuchet MS Bold"/>
                    <a:sym typeface="Trebuchet MS Bold"/>
                  </a:rPr>
                  <a:t>4</a:t>
                </a:r>
              </a:p>
            </p:txBody>
          </p:sp>
          <p:sp>
            <p:nvSpPr>
              <p:cNvPr id="26" name="Freeform 34">
                <a:extLst>
                  <a:ext uri="{FF2B5EF4-FFF2-40B4-BE49-F238E27FC236}">
                    <a16:creationId xmlns:a16="http://schemas.microsoft.com/office/drawing/2014/main" id="{9B962004-40EA-0648-198E-F68E8E67683F}"/>
                  </a:ext>
                </a:extLst>
              </p:cNvPr>
              <p:cNvSpPr/>
              <p:nvPr/>
            </p:nvSpPr>
            <p:spPr>
              <a:xfrm>
                <a:off x="4242426" y="7772297"/>
                <a:ext cx="385498" cy="385500"/>
              </a:xfrm>
              <a:custGeom>
                <a:avLst/>
                <a:gdLst/>
                <a:ahLst/>
                <a:cxnLst/>
                <a:rect l="l" t="t" r="r" b="b"/>
                <a:pathLst>
                  <a:path w="385498" h="385498">
                    <a:moveTo>
                      <a:pt x="0" y="0"/>
                    </a:moveTo>
                    <a:lnTo>
                      <a:pt x="385497" y="0"/>
                    </a:lnTo>
                    <a:lnTo>
                      <a:pt x="385497" y="385498"/>
                    </a:lnTo>
                    <a:lnTo>
                      <a:pt x="0" y="385498"/>
                    </a:lnTo>
                    <a:lnTo>
                      <a:pt x="0" y="0"/>
                    </a:lnTo>
                    <a:close/>
                  </a:path>
                </a:pathLst>
              </a:custGeom>
              <a:solidFill>
                <a:srgbClr val="14342B"/>
              </a:solidFill>
            </p:spPr>
            <p:txBody>
              <a:bodyPr/>
              <a:lstStyle/>
              <a:p>
                <a:endParaRPr lang="en-IN" dirty="0">
                  <a:latin typeface="Georgia" panose="02040502050405020303" pitchFamily="18" charset="0"/>
                </a:endParaRPr>
              </a:p>
            </p:txBody>
          </p:sp>
          <p:sp>
            <p:nvSpPr>
              <p:cNvPr id="27" name="TextBox 35">
                <a:extLst>
                  <a:ext uri="{FF2B5EF4-FFF2-40B4-BE49-F238E27FC236}">
                    <a16:creationId xmlns:a16="http://schemas.microsoft.com/office/drawing/2014/main" id="{519D921B-38CD-56F4-9730-2FC5259ADE8D}"/>
                  </a:ext>
                </a:extLst>
              </p:cNvPr>
              <p:cNvSpPr txBox="1"/>
              <p:nvPr/>
            </p:nvSpPr>
            <p:spPr>
              <a:xfrm>
                <a:off x="4328496" y="7647974"/>
                <a:ext cx="215727" cy="379963"/>
              </a:xfrm>
              <a:prstGeom prst="rect">
                <a:avLst/>
              </a:prstGeom>
            </p:spPr>
            <p:txBody>
              <a:bodyPr lIns="0" tIns="0" rIns="0" bIns="0" rtlCol="0" anchor="t">
                <a:spAutoFit/>
              </a:bodyPr>
              <a:lstStyle/>
              <a:p>
                <a:pPr algn="ctr">
                  <a:lnSpc>
                    <a:spcPts val="1800"/>
                  </a:lnSpc>
                </a:pPr>
                <a:r>
                  <a:rPr lang="en-US" sz="1200" b="1" dirty="0">
                    <a:solidFill>
                      <a:srgbClr val="FFFFFF"/>
                    </a:solidFill>
                    <a:latin typeface="Georgia" panose="02040502050405020303" pitchFamily="18" charset="0"/>
                    <a:ea typeface="Trebuchet MS Bold"/>
                    <a:cs typeface="Trebuchet MS Bold"/>
                    <a:sym typeface="Trebuchet MS Bold"/>
                  </a:rPr>
                  <a:t>3</a:t>
                </a:r>
              </a:p>
            </p:txBody>
          </p:sp>
          <p:sp>
            <p:nvSpPr>
              <p:cNvPr id="28" name="TextBox 36">
                <a:extLst>
                  <a:ext uri="{FF2B5EF4-FFF2-40B4-BE49-F238E27FC236}">
                    <a16:creationId xmlns:a16="http://schemas.microsoft.com/office/drawing/2014/main" id="{CD9E784E-681E-8752-E39D-88661DB4112F}"/>
                  </a:ext>
                </a:extLst>
              </p:cNvPr>
              <p:cNvSpPr txBox="1"/>
              <p:nvPr/>
            </p:nvSpPr>
            <p:spPr>
              <a:xfrm>
                <a:off x="4674748" y="7624274"/>
                <a:ext cx="7218105" cy="544751"/>
              </a:xfrm>
              <a:prstGeom prst="rect">
                <a:avLst/>
              </a:prstGeom>
            </p:spPr>
            <p:txBody>
              <a:bodyPr wrap="square" lIns="0" tIns="0" rIns="0" bIns="0" rtlCol="0" anchor="ctr">
                <a:spAutoFit/>
              </a:bodyPr>
              <a:lstStyle/>
              <a:p>
                <a:pPr algn="l"/>
                <a:r>
                  <a:rPr lang="en-US" sz="1200" b="1" dirty="0">
                    <a:solidFill>
                      <a:srgbClr val="14342B"/>
                    </a:solidFill>
                    <a:latin typeface="Georgia" panose="02040502050405020303" pitchFamily="18" charset="0"/>
                    <a:ea typeface="Trebuchet MS"/>
                    <a:cs typeface="Trebuchet MS"/>
                    <a:sym typeface="Trebuchet MS"/>
                  </a:rPr>
                  <a:t>Kalyana Karnataka Onion-Tomato cluster </a:t>
                </a:r>
              </a:p>
              <a:p>
                <a:pPr algn="l"/>
                <a:r>
                  <a:rPr lang="en-US" sz="800" i="1" dirty="0">
                    <a:solidFill>
                      <a:srgbClr val="191919"/>
                    </a:solidFill>
                    <a:latin typeface="Georgia" panose="02040502050405020303" pitchFamily="18" charset="0"/>
                    <a:ea typeface="Trebuchet MS"/>
                    <a:cs typeface="Trebuchet MS"/>
                    <a:sym typeface="Trebuchet MS"/>
                  </a:rPr>
                  <a:t>(</a:t>
                </a:r>
                <a:r>
                  <a:rPr lang="en-IN" sz="800" i="1" dirty="0">
                    <a:latin typeface="Georgia" panose="02040502050405020303" pitchFamily="18" charset="0"/>
                  </a:rPr>
                  <a:t>Raichur, Yadgiri, Kalaburagi, Bidar) </a:t>
                </a:r>
                <a:endParaRPr lang="en-US" sz="800" dirty="0">
                  <a:solidFill>
                    <a:srgbClr val="191919"/>
                  </a:solidFill>
                  <a:latin typeface="Georgia" panose="02040502050405020303" pitchFamily="18" charset="0"/>
                  <a:ea typeface="Trebuchet MS"/>
                  <a:cs typeface="Trebuchet MS"/>
                  <a:sym typeface="Trebuchet MS"/>
                </a:endParaRPr>
              </a:p>
            </p:txBody>
          </p:sp>
          <p:sp>
            <p:nvSpPr>
              <p:cNvPr id="29" name="Freeform 37">
                <a:extLst>
                  <a:ext uri="{FF2B5EF4-FFF2-40B4-BE49-F238E27FC236}">
                    <a16:creationId xmlns:a16="http://schemas.microsoft.com/office/drawing/2014/main" id="{0588F9A4-24EC-621A-BFFA-B7172851968D}"/>
                  </a:ext>
                </a:extLst>
              </p:cNvPr>
              <p:cNvSpPr/>
              <p:nvPr/>
            </p:nvSpPr>
            <p:spPr>
              <a:xfrm>
                <a:off x="4886329" y="8676936"/>
                <a:ext cx="385498" cy="385500"/>
              </a:xfrm>
              <a:custGeom>
                <a:avLst/>
                <a:gdLst/>
                <a:ahLst/>
                <a:cxnLst/>
                <a:rect l="l" t="t" r="r" b="b"/>
                <a:pathLst>
                  <a:path w="385498" h="385498">
                    <a:moveTo>
                      <a:pt x="0" y="0"/>
                    </a:moveTo>
                    <a:lnTo>
                      <a:pt x="385498" y="0"/>
                    </a:lnTo>
                    <a:lnTo>
                      <a:pt x="385498" y="385498"/>
                    </a:lnTo>
                    <a:lnTo>
                      <a:pt x="0" y="385498"/>
                    </a:lnTo>
                    <a:lnTo>
                      <a:pt x="0" y="0"/>
                    </a:lnTo>
                    <a:close/>
                  </a:path>
                </a:pathLst>
              </a:custGeom>
              <a:solidFill>
                <a:srgbClr val="9C3237"/>
              </a:solidFill>
            </p:spPr>
            <p:txBody>
              <a:bodyPr/>
              <a:lstStyle/>
              <a:p>
                <a:endParaRPr lang="en-IN">
                  <a:latin typeface="Georgia" panose="02040502050405020303" pitchFamily="18" charset="0"/>
                </a:endParaRPr>
              </a:p>
            </p:txBody>
          </p:sp>
          <p:sp>
            <p:nvSpPr>
              <p:cNvPr id="30" name="TextBox 38">
                <a:extLst>
                  <a:ext uri="{FF2B5EF4-FFF2-40B4-BE49-F238E27FC236}">
                    <a16:creationId xmlns:a16="http://schemas.microsoft.com/office/drawing/2014/main" id="{731E3DC6-3D20-666A-C05E-11383513B9A7}"/>
                  </a:ext>
                </a:extLst>
              </p:cNvPr>
              <p:cNvSpPr txBox="1"/>
              <p:nvPr/>
            </p:nvSpPr>
            <p:spPr>
              <a:xfrm>
                <a:off x="5308704" y="8515262"/>
                <a:ext cx="9329516" cy="544751"/>
              </a:xfrm>
              <a:prstGeom prst="rect">
                <a:avLst/>
              </a:prstGeom>
            </p:spPr>
            <p:txBody>
              <a:bodyPr wrap="square" lIns="0" tIns="0" rIns="0" bIns="0" rtlCol="0" anchor="t">
                <a:spAutoFit/>
              </a:bodyPr>
              <a:lstStyle/>
              <a:p>
                <a:pPr algn="l"/>
                <a:r>
                  <a:rPr lang="en-US" sz="1200" b="1" dirty="0">
                    <a:solidFill>
                      <a:srgbClr val="9C3237"/>
                    </a:solidFill>
                    <a:latin typeface="Georgia" panose="02040502050405020303" pitchFamily="18" charset="0"/>
                    <a:ea typeface="Trebuchet MS"/>
                    <a:cs typeface="Trebuchet MS"/>
                    <a:sym typeface="Trebuchet MS"/>
                  </a:rPr>
                  <a:t>North Karnataka Onion-Grape-Raisin-Pomegranate cluster </a:t>
                </a:r>
              </a:p>
              <a:p>
                <a:pPr algn="l"/>
                <a:r>
                  <a:rPr lang="en-IN" sz="800" i="1" dirty="0">
                    <a:latin typeface="Georgia" panose="02040502050405020303" pitchFamily="18" charset="0"/>
                  </a:rPr>
                  <a:t>(Vijayapura, Belagavi, </a:t>
                </a:r>
                <a:r>
                  <a:rPr lang="en-IN" sz="800" i="1" dirty="0" err="1">
                    <a:latin typeface="Georgia" panose="02040502050405020303" pitchFamily="18" charset="0"/>
                  </a:rPr>
                  <a:t>Bagalkote</a:t>
                </a:r>
                <a:r>
                  <a:rPr lang="en-IN" sz="800" i="1" dirty="0">
                    <a:latin typeface="Georgia" panose="02040502050405020303" pitchFamily="18" charset="0"/>
                  </a:rPr>
                  <a:t>, </a:t>
                </a:r>
                <a:r>
                  <a:rPr lang="en-IN" sz="800" i="1" dirty="0" err="1">
                    <a:latin typeface="Georgia" panose="02040502050405020303" pitchFamily="18" charset="0"/>
                  </a:rPr>
                  <a:t>Gadag</a:t>
                </a:r>
                <a:r>
                  <a:rPr lang="en-IN" sz="800" i="1" dirty="0">
                    <a:latin typeface="Georgia" panose="02040502050405020303" pitchFamily="18" charset="0"/>
                  </a:rPr>
                  <a:t>)</a:t>
                </a:r>
                <a:endParaRPr lang="en-US" sz="800" dirty="0">
                  <a:solidFill>
                    <a:srgbClr val="191919"/>
                  </a:solidFill>
                  <a:latin typeface="Georgia" panose="02040502050405020303" pitchFamily="18" charset="0"/>
                  <a:ea typeface="Trebuchet MS"/>
                  <a:cs typeface="Trebuchet MS"/>
                  <a:sym typeface="Trebuchet MS"/>
                </a:endParaRPr>
              </a:p>
            </p:txBody>
          </p:sp>
          <p:sp>
            <p:nvSpPr>
              <p:cNvPr id="31" name="TextBox 39">
                <a:extLst>
                  <a:ext uri="{FF2B5EF4-FFF2-40B4-BE49-F238E27FC236}">
                    <a16:creationId xmlns:a16="http://schemas.microsoft.com/office/drawing/2014/main" id="{B58E1085-0D87-BA47-D4AC-21D91466B54E}"/>
                  </a:ext>
                </a:extLst>
              </p:cNvPr>
              <p:cNvSpPr txBox="1"/>
              <p:nvPr/>
            </p:nvSpPr>
            <p:spPr>
              <a:xfrm>
                <a:off x="4956916" y="8592068"/>
                <a:ext cx="206433" cy="379963"/>
              </a:xfrm>
              <a:prstGeom prst="rect">
                <a:avLst/>
              </a:prstGeom>
            </p:spPr>
            <p:txBody>
              <a:bodyPr lIns="0" tIns="0" rIns="0" bIns="0" rtlCol="0" anchor="t">
                <a:spAutoFit/>
              </a:bodyPr>
              <a:lstStyle/>
              <a:p>
                <a:pPr algn="ctr">
                  <a:lnSpc>
                    <a:spcPts val="1800"/>
                  </a:lnSpc>
                </a:pPr>
                <a:r>
                  <a:rPr lang="en-US" sz="1200" b="1" dirty="0">
                    <a:solidFill>
                      <a:srgbClr val="FFFFFF"/>
                    </a:solidFill>
                    <a:latin typeface="Georgia" panose="02040502050405020303" pitchFamily="18" charset="0"/>
                    <a:ea typeface="Trebuchet MS Bold"/>
                    <a:cs typeface="Trebuchet MS Bold"/>
                    <a:sym typeface="Trebuchet MS Bold"/>
                  </a:rPr>
                  <a:t>1</a:t>
                </a:r>
              </a:p>
            </p:txBody>
          </p:sp>
          <p:sp>
            <p:nvSpPr>
              <p:cNvPr id="32" name="Freeform 40">
                <a:extLst>
                  <a:ext uri="{FF2B5EF4-FFF2-40B4-BE49-F238E27FC236}">
                    <a16:creationId xmlns:a16="http://schemas.microsoft.com/office/drawing/2014/main" id="{2287CB55-CE86-8627-90CA-ECFE30720E19}"/>
                  </a:ext>
                </a:extLst>
              </p:cNvPr>
              <p:cNvSpPr/>
              <p:nvPr/>
            </p:nvSpPr>
            <p:spPr>
              <a:xfrm>
                <a:off x="5647887" y="9506246"/>
                <a:ext cx="385498" cy="376075"/>
              </a:xfrm>
              <a:custGeom>
                <a:avLst/>
                <a:gdLst/>
                <a:ahLst/>
                <a:cxnLst/>
                <a:rect l="l" t="t" r="r" b="b"/>
                <a:pathLst>
                  <a:path w="385498" h="376074">
                    <a:moveTo>
                      <a:pt x="0" y="0"/>
                    </a:moveTo>
                    <a:lnTo>
                      <a:pt x="385497" y="0"/>
                    </a:lnTo>
                    <a:lnTo>
                      <a:pt x="385497" y="376074"/>
                    </a:lnTo>
                    <a:lnTo>
                      <a:pt x="0" y="376074"/>
                    </a:lnTo>
                    <a:lnTo>
                      <a:pt x="0" y="0"/>
                    </a:lnTo>
                    <a:close/>
                  </a:path>
                </a:pathLst>
              </a:custGeom>
              <a:solidFill>
                <a:srgbClr val="0070C0"/>
              </a:solidFill>
            </p:spPr>
            <p:txBody>
              <a:bodyPr/>
              <a:lstStyle/>
              <a:p>
                <a:endParaRPr lang="en-IN">
                  <a:latin typeface="Georgia" panose="02040502050405020303" pitchFamily="18" charset="0"/>
                </a:endParaRPr>
              </a:p>
            </p:txBody>
          </p:sp>
          <p:sp>
            <p:nvSpPr>
              <p:cNvPr id="33" name="TextBox 41">
                <a:extLst>
                  <a:ext uri="{FF2B5EF4-FFF2-40B4-BE49-F238E27FC236}">
                    <a16:creationId xmlns:a16="http://schemas.microsoft.com/office/drawing/2014/main" id="{C166D7FE-23D9-B3AD-9F9C-8131C18B30C2}"/>
                  </a:ext>
                </a:extLst>
              </p:cNvPr>
              <p:cNvSpPr txBox="1"/>
              <p:nvPr/>
            </p:nvSpPr>
            <p:spPr>
              <a:xfrm>
                <a:off x="5718558" y="9528981"/>
                <a:ext cx="206433" cy="379963"/>
              </a:xfrm>
              <a:prstGeom prst="rect">
                <a:avLst/>
              </a:prstGeom>
            </p:spPr>
            <p:txBody>
              <a:bodyPr lIns="0" tIns="0" rIns="0" bIns="0" rtlCol="0" anchor="t">
                <a:spAutoFit/>
              </a:bodyPr>
              <a:lstStyle/>
              <a:p>
                <a:pPr algn="ctr">
                  <a:lnSpc>
                    <a:spcPts val="1800"/>
                  </a:lnSpc>
                </a:pPr>
                <a:r>
                  <a:rPr lang="en-US" sz="1400" b="1" dirty="0">
                    <a:solidFill>
                      <a:srgbClr val="FFFFFF"/>
                    </a:solidFill>
                    <a:latin typeface="Georgia" panose="02040502050405020303" pitchFamily="18" charset="0"/>
                    <a:ea typeface="Trebuchet MS Bold"/>
                    <a:cs typeface="Trebuchet MS Bold"/>
                    <a:sym typeface="Trebuchet MS Bold"/>
                  </a:rPr>
                  <a:t>2</a:t>
                </a:r>
              </a:p>
            </p:txBody>
          </p:sp>
          <p:sp>
            <p:nvSpPr>
              <p:cNvPr id="34" name="TextBox 42">
                <a:extLst>
                  <a:ext uri="{FF2B5EF4-FFF2-40B4-BE49-F238E27FC236}">
                    <a16:creationId xmlns:a16="http://schemas.microsoft.com/office/drawing/2014/main" id="{A4C275E6-C572-DD6C-F5E0-70927652674C}"/>
                  </a:ext>
                </a:extLst>
              </p:cNvPr>
              <p:cNvSpPr txBox="1"/>
              <p:nvPr/>
            </p:nvSpPr>
            <p:spPr>
              <a:xfrm>
                <a:off x="6071367" y="9340130"/>
                <a:ext cx="8187337" cy="544751"/>
              </a:xfrm>
              <a:prstGeom prst="rect">
                <a:avLst/>
              </a:prstGeom>
            </p:spPr>
            <p:txBody>
              <a:bodyPr wrap="square" lIns="0" tIns="0" rIns="0" bIns="0" rtlCol="0" anchor="t">
                <a:spAutoFit/>
              </a:bodyPr>
              <a:lstStyle/>
              <a:p>
                <a:pPr algn="l"/>
                <a:r>
                  <a:rPr lang="en-US" sz="1200" b="1" dirty="0">
                    <a:solidFill>
                      <a:srgbClr val="0070C0"/>
                    </a:solidFill>
                    <a:latin typeface="Georgia" panose="02040502050405020303" pitchFamily="18" charset="0"/>
                    <a:ea typeface="Trebuchet MS"/>
                    <a:cs typeface="Trebuchet MS"/>
                    <a:sym typeface="Trebuchet MS"/>
                  </a:rPr>
                  <a:t>Central Karnataka Onion-Pomegranate cluster </a:t>
                </a:r>
              </a:p>
              <a:p>
                <a:pPr algn="l"/>
                <a:r>
                  <a:rPr lang="it-IT" sz="800" i="1" dirty="0">
                    <a:latin typeface="Georgia" panose="02040502050405020303" pitchFamily="18" charset="0"/>
                  </a:rPr>
                  <a:t>(Chitradurga, Davanagere, Koppal, Ballari, Vijayanagara)</a:t>
                </a:r>
                <a:endParaRPr lang="en-US" sz="800" dirty="0">
                  <a:solidFill>
                    <a:srgbClr val="191919"/>
                  </a:solidFill>
                  <a:latin typeface="Georgia" panose="02040502050405020303" pitchFamily="18" charset="0"/>
                  <a:ea typeface="Trebuchet MS"/>
                  <a:cs typeface="Trebuchet MS"/>
                  <a:sym typeface="Trebuchet MS"/>
                </a:endParaRPr>
              </a:p>
            </p:txBody>
          </p:sp>
          <p:sp>
            <p:nvSpPr>
              <p:cNvPr id="35" name="Freeform 43">
                <a:extLst>
                  <a:ext uri="{FF2B5EF4-FFF2-40B4-BE49-F238E27FC236}">
                    <a16:creationId xmlns:a16="http://schemas.microsoft.com/office/drawing/2014/main" id="{F9DEB457-9BED-3D1E-4A3A-286661F290A9}"/>
                  </a:ext>
                </a:extLst>
              </p:cNvPr>
              <p:cNvSpPr/>
              <p:nvPr/>
            </p:nvSpPr>
            <p:spPr>
              <a:xfrm>
                <a:off x="5685870" y="10899760"/>
                <a:ext cx="385498" cy="385498"/>
              </a:xfrm>
              <a:custGeom>
                <a:avLst/>
                <a:gdLst/>
                <a:ahLst/>
                <a:cxnLst/>
                <a:rect l="l" t="t" r="r" b="b"/>
                <a:pathLst>
                  <a:path w="385498" h="385498">
                    <a:moveTo>
                      <a:pt x="0" y="0"/>
                    </a:moveTo>
                    <a:lnTo>
                      <a:pt x="385497" y="0"/>
                    </a:lnTo>
                    <a:lnTo>
                      <a:pt x="385497" y="385498"/>
                    </a:lnTo>
                    <a:lnTo>
                      <a:pt x="0" y="385498"/>
                    </a:lnTo>
                    <a:lnTo>
                      <a:pt x="0" y="0"/>
                    </a:lnTo>
                    <a:close/>
                  </a:path>
                </a:pathLst>
              </a:custGeom>
              <a:solidFill>
                <a:srgbClr val="0B6E78"/>
              </a:solidFill>
            </p:spPr>
            <p:txBody>
              <a:bodyPr/>
              <a:lstStyle/>
              <a:p>
                <a:endParaRPr lang="en-IN">
                  <a:latin typeface="Georgia" panose="02040502050405020303" pitchFamily="18" charset="0"/>
                </a:endParaRPr>
              </a:p>
            </p:txBody>
          </p:sp>
          <p:sp>
            <p:nvSpPr>
              <p:cNvPr id="36" name="TextBox 44">
                <a:extLst>
                  <a:ext uri="{FF2B5EF4-FFF2-40B4-BE49-F238E27FC236}">
                    <a16:creationId xmlns:a16="http://schemas.microsoft.com/office/drawing/2014/main" id="{4020ACAF-7075-F2AE-6BF1-E6A82268E35D}"/>
                  </a:ext>
                </a:extLst>
              </p:cNvPr>
              <p:cNvSpPr txBox="1"/>
              <p:nvPr/>
            </p:nvSpPr>
            <p:spPr>
              <a:xfrm>
                <a:off x="6130648" y="10728242"/>
                <a:ext cx="8633451" cy="544751"/>
              </a:xfrm>
              <a:prstGeom prst="rect">
                <a:avLst/>
              </a:prstGeom>
            </p:spPr>
            <p:txBody>
              <a:bodyPr wrap="square" lIns="0" tIns="0" rIns="0" bIns="0" rtlCol="0" anchor="t">
                <a:spAutoFit/>
              </a:bodyPr>
              <a:lstStyle/>
              <a:p>
                <a:pPr algn="l"/>
                <a:r>
                  <a:rPr lang="en-US" sz="1200" b="1" dirty="0">
                    <a:solidFill>
                      <a:srgbClr val="0B6E78"/>
                    </a:solidFill>
                    <a:latin typeface="Georgia" panose="02040502050405020303" pitchFamily="18" charset="0"/>
                    <a:ea typeface="Trebuchet MS"/>
                    <a:cs typeface="Trebuchet MS"/>
                    <a:sym typeface="Trebuchet MS"/>
                  </a:rPr>
                  <a:t>Western Ghats Banana-Pineapple cluster </a:t>
                </a:r>
              </a:p>
              <a:p>
                <a:pPr algn="l"/>
                <a:r>
                  <a:rPr lang="en-US" sz="800" i="1" dirty="0">
                    <a:solidFill>
                      <a:srgbClr val="191919"/>
                    </a:solidFill>
                    <a:latin typeface="Georgia" panose="02040502050405020303" pitchFamily="18" charset="0"/>
                    <a:ea typeface="Trebuchet MS"/>
                    <a:cs typeface="Trebuchet MS"/>
                    <a:sym typeface="Trebuchet MS"/>
                  </a:rPr>
                  <a:t>(</a:t>
                </a:r>
                <a:r>
                  <a:rPr lang="en-IN" sz="800" i="1" dirty="0">
                    <a:latin typeface="Georgia" panose="02040502050405020303" pitchFamily="18" charset="0"/>
                  </a:rPr>
                  <a:t>Shivamogga, </a:t>
                </a:r>
                <a:r>
                  <a:rPr lang="en-IN" sz="800" i="1" dirty="0" err="1">
                    <a:latin typeface="Georgia" panose="02040502050405020303" pitchFamily="18" charset="0"/>
                  </a:rPr>
                  <a:t>Chikkamagaluru</a:t>
                </a:r>
                <a:r>
                  <a:rPr lang="en-IN" sz="800" i="1" dirty="0">
                    <a:latin typeface="Georgia" panose="02040502050405020303" pitchFamily="18" charset="0"/>
                  </a:rPr>
                  <a:t>, Kodagu, Dakshina Kannada, Udupi)</a:t>
                </a:r>
                <a:endParaRPr lang="en-US" sz="800" dirty="0">
                  <a:solidFill>
                    <a:srgbClr val="191919"/>
                  </a:solidFill>
                  <a:latin typeface="Georgia" panose="02040502050405020303" pitchFamily="18" charset="0"/>
                  <a:ea typeface="Trebuchet MS"/>
                  <a:cs typeface="Trebuchet MS"/>
                  <a:sym typeface="Trebuchet MS"/>
                </a:endParaRPr>
              </a:p>
            </p:txBody>
          </p:sp>
          <p:sp>
            <p:nvSpPr>
              <p:cNvPr id="37" name="TextBox 45">
                <a:extLst>
                  <a:ext uri="{FF2B5EF4-FFF2-40B4-BE49-F238E27FC236}">
                    <a16:creationId xmlns:a16="http://schemas.microsoft.com/office/drawing/2014/main" id="{CF82F132-26EA-59B5-44B9-F2F3E51087A9}"/>
                  </a:ext>
                </a:extLst>
              </p:cNvPr>
              <p:cNvSpPr txBox="1"/>
              <p:nvPr/>
            </p:nvSpPr>
            <p:spPr>
              <a:xfrm>
                <a:off x="5747057" y="10774645"/>
                <a:ext cx="255618" cy="379963"/>
              </a:xfrm>
              <a:prstGeom prst="rect">
                <a:avLst/>
              </a:prstGeom>
            </p:spPr>
            <p:txBody>
              <a:bodyPr wrap="square" lIns="0" tIns="0" rIns="0" bIns="0" rtlCol="0" anchor="t">
                <a:spAutoFit/>
              </a:bodyPr>
              <a:lstStyle/>
              <a:p>
                <a:pPr algn="ctr">
                  <a:lnSpc>
                    <a:spcPts val="1800"/>
                  </a:lnSpc>
                </a:pPr>
                <a:r>
                  <a:rPr lang="en-US" sz="1200" b="1" dirty="0">
                    <a:solidFill>
                      <a:srgbClr val="FFFFFF"/>
                    </a:solidFill>
                    <a:latin typeface="Georgia" panose="02040502050405020303" pitchFamily="18" charset="0"/>
                    <a:ea typeface="Trebuchet MS Bold"/>
                    <a:cs typeface="Trebuchet MS Bold"/>
                    <a:sym typeface="Trebuchet MS Bold"/>
                  </a:rPr>
                  <a:t>7</a:t>
                </a:r>
              </a:p>
            </p:txBody>
          </p:sp>
          <p:sp>
            <p:nvSpPr>
              <p:cNvPr id="38" name="Freeform 46">
                <a:extLst>
                  <a:ext uri="{FF2B5EF4-FFF2-40B4-BE49-F238E27FC236}">
                    <a16:creationId xmlns:a16="http://schemas.microsoft.com/office/drawing/2014/main" id="{E355EAEC-5C0F-F392-A2BB-83BCE1F7216F}"/>
                  </a:ext>
                </a:extLst>
              </p:cNvPr>
              <p:cNvSpPr/>
              <p:nvPr/>
            </p:nvSpPr>
            <p:spPr>
              <a:xfrm>
                <a:off x="5764895" y="10215053"/>
                <a:ext cx="385498" cy="385498"/>
              </a:xfrm>
              <a:custGeom>
                <a:avLst/>
                <a:gdLst/>
                <a:ahLst/>
                <a:cxnLst/>
                <a:rect l="l" t="t" r="r" b="b"/>
                <a:pathLst>
                  <a:path w="385498" h="385498">
                    <a:moveTo>
                      <a:pt x="0" y="0"/>
                    </a:moveTo>
                    <a:lnTo>
                      <a:pt x="385498" y="0"/>
                    </a:lnTo>
                    <a:lnTo>
                      <a:pt x="385498" y="385498"/>
                    </a:lnTo>
                    <a:lnTo>
                      <a:pt x="0" y="385498"/>
                    </a:lnTo>
                    <a:lnTo>
                      <a:pt x="0" y="0"/>
                    </a:lnTo>
                    <a:close/>
                  </a:path>
                </a:pathLst>
              </a:custGeom>
              <a:solidFill>
                <a:srgbClr val="4B4B4D"/>
              </a:solidFill>
            </p:spPr>
            <p:txBody>
              <a:bodyPr/>
              <a:lstStyle/>
              <a:p>
                <a:endParaRPr lang="en-IN">
                  <a:latin typeface="Georgia" panose="02040502050405020303" pitchFamily="18" charset="0"/>
                </a:endParaRPr>
              </a:p>
            </p:txBody>
          </p:sp>
          <p:sp>
            <p:nvSpPr>
              <p:cNvPr id="39" name="TextBox 47">
                <a:extLst>
                  <a:ext uri="{FF2B5EF4-FFF2-40B4-BE49-F238E27FC236}">
                    <a16:creationId xmlns:a16="http://schemas.microsoft.com/office/drawing/2014/main" id="{98D40814-2B8B-562B-19F3-65909E319062}"/>
                  </a:ext>
                </a:extLst>
              </p:cNvPr>
              <p:cNvSpPr txBox="1"/>
              <p:nvPr/>
            </p:nvSpPr>
            <p:spPr>
              <a:xfrm>
                <a:off x="6196489" y="10067943"/>
                <a:ext cx="6176403" cy="544751"/>
              </a:xfrm>
              <a:prstGeom prst="rect">
                <a:avLst/>
              </a:prstGeom>
            </p:spPr>
            <p:txBody>
              <a:bodyPr wrap="square" lIns="0" tIns="0" rIns="0" bIns="0" rtlCol="0" anchor="t">
                <a:spAutoFit/>
              </a:bodyPr>
              <a:lstStyle/>
              <a:p>
                <a:pPr algn="l"/>
                <a:r>
                  <a:rPr lang="en-US" sz="1200" b="1" dirty="0">
                    <a:solidFill>
                      <a:srgbClr val="4B4B4D"/>
                    </a:solidFill>
                    <a:latin typeface="Georgia" panose="02040502050405020303" pitchFamily="18" charset="0"/>
                    <a:ea typeface="Trebuchet MS"/>
                    <a:cs typeface="Trebuchet MS"/>
                    <a:sym typeface="Trebuchet MS"/>
                  </a:rPr>
                  <a:t>Northwest Karnataka multi-crop cluster </a:t>
                </a:r>
              </a:p>
              <a:p>
                <a:pPr algn="l"/>
                <a:r>
                  <a:rPr lang="en-US" sz="800" i="1" dirty="0">
                    <a:solidFill>
                      <a:srgbClr val="191919"/>
                    </a:solidFill>
                    <a:latin typeface="Georgia" panose="02040502050405020303" pitchFamily="18" charset="0"/>
                    <a:ea typeface="Trebuchet MS"/>
                    <a:cs typeface="Trebuchet MS"/>
                    <a:sym typeface="Trebuchet MS"/>
                  </a:rPr>
                  <a:t>(</a:t>
                </a:r>
                <a:r>
                  <a:rPr lang="en-IN" sz="800" i="1" dirty="0">
                    <a:latin typeface="Georgia" panose="02040502050405020303" pitchFamily="18" charset="0"/>
                  </a:rPr>
                  <a:t>Dharwad, Haveri, Uttara Kannada)</a:t>
                </a:r>
                <a:endParaRPr lang="en-US" sz="800" dirty="0">
                  <a:solidFill>
                    <a:srgbClr val="191919"/>
                  </a:solidFill>
                  <a:latin typeface="Georgia" panose="02040502050405020303" pitchFamily="18" charset="0"/>
                  <a:ea typeface="Trebuchet MS"/>
                  <a:cs typeface="Trebuchet MS"/>
                  <a:sym typeface="Trebuchet MS"/>
                </a:endParaRPr>
              </a:p>
            </p:txBody>
          </p:sp>
          <p:sp>
            <p:nvSpPr>
              <p:cNvPr id="40" name="TextBox 48">
                <a:extLst>
                  <a:ext uri="{FF2B5EF4-FFF2-40B4-BE49-F238E27FC236}">
                    <a16:creationId xmlns:a16="http://schemas.microsoft.com/office/drawing/2014/main" id="{9FF19466-832F-8DF7-C4F9-A27929D5C1CD}"/>
                  </a:ext>
                </a:extLst>
              </p:cNvPr>
              <p:cNvSpPr txBox="1"/>
              <p:nvPr/>
            </p:nvSpPr>
            <p:spPr>
              <a:xfrm>
                <a:off x="5796610" y="10230910"/>
                <a:ext cx="255618" cy="379963"/>
              </a:xfrm>
              <a:prstGeom prst="rect">
                <a:avLst/>
              </a:prstGeom>
            </p:spPr>
            <p:txBody>
              <a:bodyPr lIns="0" tIns="0" rIns="0" bIns="0" rtlCol="0" anchor="t">
                <a:spAutoFit/>
              </a:bodyPr>
              <a:lstStyle/>
              <a:p>
                <a:pPr algn="ctr">
                  <a:lnSpc>
                    <a:spcPts val="1800"/>
                  </a:lnSpc>
                </a:pPr>
                <a:r>
                  <a:rPr lang="en-US" sz="1200" b="1" dirty="0">
                    <a:solidFill>
                      <a:srgbClr val="FFFFFF"/>
                    </a:solidFill>
                    <a:latin typeface="Georgia" panose="02040502050405020303" pitchFamily="18" charset="0"/>
                    <a:ea typeface="Trebuchet MS Bold"/>
                    <a:cs typeface="Trebuchet MS Bold"/>
                    <a:sym typeface="Trebuchet MS Bold"/>
                  </a:rPr>
                  <a:t>6</a:t>
                </a:r>
              </a:p>
            </p:txBody>
          </p:sp>
          <p:sp>
            <p:nvSpPr>
              <p:cNvPr id="41" name="Freeform 49">
                <a:extLst>
                  <a:ext uri="{FF2B5EF4-FFF2-40B4-BE49-F238E27FC236}">
                    <a16:creationId xmlns:a16="http://schemas.microsoft.com/office/drawing/2014/main" id="{DF99FF05-6CDA-F8A8-668C-B34BBBE03C5A}"/>
                  </a:ext>
                </a:extLst>
              </p:cNvPr>
              <p:cNvSpPr/>
              <p:nvPr/>
            </p:nvSpPr>
            <p:spPr>
              <a:xfrm>
                <a:off x="4956916" y="11861229"/>
                <a:ext cx="385498" cy="385498"/>
              </a:xfrm>
              <a:custGeom>
                <a:avLst/>
                <a:gdLst/>
                <a:ahLst/>
                <a:cxnLst/>
                <a:rect l="l" t="t" r="r" b="b"/>
                <a:pathLst>
                  <a:path w="385498" h="385498">
                    <a:moveTo>
                      <a:pt x="0" y="0"/>
                    </a:moveTo>
                    <a:lnTo>
                      <a:pt x="385497" y="0"/>
                    </a:lnTo>
                    <a:lnTo>
                      <a:pt x="385497" y="385497"/>
                    </a:lnTo>
                    <a:lnTo>
                      <a:pt x="0" y="385497"/>
                    </a:lnTo>
                    <a:lnTo>
                      <a:pt x="0" y="0"/>
                    </a:lnTo>
                    <a:close/>
                  </a:path>
                </a:pathLst>
              </a:custGeom>
              <a:solidFill>
                <a:srgbClr val="44546A"/>
              </a:solidFill>
            </p:spPr>
            <p:txBody>
              <a:bodyPr/>
              <a:lstStyle/>
              <a:p>
                <a:endParaRPr lang="en-IN">
                  <a:latin typeface="Georgia" panose="02040502050405020303" pitchFamily="18" charset="0"/>
                </a:endParaRPr>
              </a:p>
            </p:txBody>
          </p:sp>
          <p:sp>
            <p:nvSpPr>
              <p:cNvPr id="42" name="TextBox 50">
                <a:extLst>
                  <a:ext uri="{FF2B5EF4-FFF2-40B4-BE49-F238E27FC236}">
                    <a16:creationId xmlns:a16="http://schemas.microsoft.com/office/drawing/2014/main" id="{126DBD19-E64B-BD74-1F92-4DD38595EAC7}"/>
                  </a:ext>
                </a:extLst>
              </p:cNvPr>
              <p:cNvSpPr txBox="1"/>
              <p:nvPr/>
            </p:nvSpPr>
            <p:spPr>
              <a:xfrm>
                <a:off x="5391967" y="11687365"/>
                <a:ext cx="9680415" cy="544751"/>
              </a:xfrm>
              <a:prstGeom prst="rect">
                <a:avLst/>
              </a:prstGeom>
            </p:spPr>
            <p:txBody>
              <a:bodyPr wrap="square" lIns="0" tIns="0" rIns="0" bIns="0" rtlCol="0" anchor="t">
                <a:spAutoFit/>
              </a:bodyPr>
              <a:lstStyle/>
              <a:p>
                <a:pPr algn="l"/>
                <a:r>
                  <a:rPr lang="en-US" sz="1200" b="1" dirty="0">
                    <a:solidFill>
                      <a:srgbClr val="44546A"/>
                    </a:solidFill>
                    <a:latin typeface="Georgia" panose="02040502050405020303" pitchFamily="18" charset="0"/>
                    <a:ea typeface="Trebuchet MS"/>
                    <a:cs typeface="Trebuchet MS"/>
                    <a:sym typeface="Trebuchet MS"/>
                  </a:rPr>
                  <a:t>East Karnataka Tomato-Mango processing cluster </a:t>
                </a:r>
              </a:p>
              <a:p>
                <a:pPr algn="l"/>
                <a:r>
                  <a:rPr lang="en-US" sz="800" i="1" dirty="0">
                    <a:solidFill>
                      <a:srgbClr val="191919"/>
                    </a:solidFill>
                    <a:latin typeface="Georgia" panose="02040502050405020303" pitchFamily="18" charset="0"/>
                    <a:ea typeface="Trebuchet MS"/>
                    <a:cs typeface="Trebuchet MS"/>
                    <a:sym typeface="Trebuchet MS"/>
                  </a:rPr>
                  <a:t>(</a:t>
                </a:r>
                <a:r>
                  <a:rPr lang="en-IN" sz="800" i="1" dirty="0">
                    <a:latin typeface="Georgia" panose="02040502050405020303" pitchFamily="18" charset="0"/>
                  </a:rPr>
                  <a:t>Kolar, </a:t>
                </a:r>
                <a:r>
                  <a:rPr lang="en-IN" sz="800" i="1" dirty="0" err="1">
                    <a:latin typeface="Georgia" panose="02040502050405020303" pitchFamily="18" charset="0"/>
                  </a:rPr>
                  <a:t>Chikkaballapura</a:t>
                </a:r>
                <a:r>
                  <a:rPr lang="en-IN" sz="800" i="1" dirty="0">
                    <a:latin typeface="Georgia" panose="02040502050405020303" pitchFamily="18" charset="0"/>
                  </a:rPr>
                  <a:t>, Bengaluru (urban), Bengaluru (rural), </a:t>
                </a:r>
                <a:r>
                  <a:rPr lang="en-IN" sz="800" i="1" dirty="0" err="1">
                    <a:latin typeface="Georgia" panose="02040502050405020303" pitchFamily="18" charset="0"/>
                  </a:rPr>
                  <a:t>Tumakuru</a:t>
                </a:r>
                <a:r>
                  <a:rPr lang="en-IN" sz="800" i="1" dirty="0">
                    <a:latin typeface="Georgia" panose="02040502050405020303" pitchFamily="18" charset="0"/>
                  </a:rPr>
                  <a:t>)</a:t>
                </a:r>
                <a:endParaRPr lang="en-US" sz="800" dirty="0">
                  <a:solidFill>
                    <a:srgbClr val="191919"/>
                  </a:solidFill>
                  <a:latin typeface="Georgia" panose="02040502050405020303" pitchFamily="18" charset="0"/>
                  <a:ea typeface="Trebuchet MS"/>
                  <a:cs typeface="Trebuchet MS"/>
                  <a:sym typeface="Trebuchet MS"/>
                </a:endParaRPr>
              </a:p>
            </p:txBody>
          </p:sp>
          <p:sp>
            <p:nvSpPr>
              <p:cNvPr id="43" name="TextBox 51">
                <a:extLst>
                  <a:ext uri="{FF2B5EF4-FFF2-40B4-BE49-F238E27FC236}">
                    <a16:creationId xmlns:a16="http://schemas.microsoft.com/office/drawing/2014/main" id="{75AEC4B1-B6B4-3E57-7D4E-53A582725354}"/>
                  </a:ext>
                </a:extLst>
              </p:cNvPr>
              <p:cNvSpPr txBox="1"/>
              <p:nvPr/>
            </p:nvSpPr>
            <p:spPr>
              <a:xfrm>
                <a:off x="5006469" y="11828961"/>
                <a:ext cx="255082" cy="379963"/>
              </a:xfrm>
              <a:prstGeom prst="rect">
                <a:avLst/>
              </a:prstGeom>
            </p:spPr>
            <p:txBody>
              <a:bodyPr lIns="0" tIns="0" rIns="0" bIns="0" rtlCol="0" anchor="t">
                <a:spAutoFit/>
              </a:bodyPr>
              <a:lstStyle/>
              <a:p>
                <a:pPr algn="ctr">
                  <a:lnSpc>
                    <a:spcPts val="1800"/>
                  </a:lnSpc>
                </a:pPr>
                <a:r>
                  <a:rPr lang="en-US" sz="1200" b="1" dirty="0">
                    <a:solidFill>
                      <a:srgbClr val="FFFFFF"/>
                    </a:solidFill>
                    <a:latin typeface="Georgia" panose="02040502050405020303" pitchFamily="18" charset="0"/>
                    <a:ea typeface="Trebuchet MS Bold"/>
                    <a:cs typeface="Trebuchet MS Bold"/>
                    <a:sym typeface="Trebuchet MS Bold"/>
                  </a:rPr>
                  <a:t>5</a:t>
                </a:r>
              </a:p>
            </p:txBody>
          </p:sp>
        </p:grpSp>
        <p:grpSp>
          <p:nvGrpSpPr>
            <p:cNvPr id="74" name="Group 73">
              <a:extLst>
                <a:ext uri="{FF2B5EF4-FFF2-40B4-BE49-F238E27FC236}">
                  <a16:creationId xmlns:a16="http://schemas.microsoft.com/office/drawing/2014/main" id="{C3036086-23E4-C349-1C82-4B4DBE4C090B}"/>
                </a:ext>
              </a:extLst>
            </p:cNvPr>
            <p:cNvGrpSpPr/>
            <p:nvPr/>
          </p:nvGrpSpPr>
          <p:grpSpPr>
            <a:xfrm>
              <a:off x="1496546" y="2861303"/>
              <a:ext cx="3475747" cy="2879531"/>
              <a:chOff x="2112372" y="2625147"/>
              <a:chExt cx="3965058" cy="3064813"/>
            </a:xfrm>
          </p:grpSpPr>
          <p:sp>
            <p:nvSpPr>
              <p:cNvPr id="60" name="Freeform 17">
                <a:extLst>
                  <a:ext uri="{FF2B5EF4-FFF2-40B4-BE49-F238E27FC236}">
                    <a16:creationId xmlns:a16="http://schemas.microsoft.com/office/drawing/2014/main" id="{E3EE46C8-0800-E7A0-6206-321FEC9E47FF}"/>
                  </a:ext>
                </a:extLst>
              </p:cNvPr>
              <p:cNvSpPr/>
              <p:nvPr/>
            </p:nvSpPr>
            <p:spPr>
              <a:xfrm>
                <a:off x="3167963" y="2625147"/>
                <a:ext cx="148405" cy="113025"/>
              </a:xfrm>
              <a:custGeom>
                <a:avLst/>
                <a:gdLst/>
                <a:ahLst/>
                <a:cxnLst/>
                <a:rect l="l" t="t" r="r" b="b"/>
                <a:pathLst>
                  <a:path w="199754" h="199754">
                    <a:moveTo>
                      <a:pt x="0" y="0"/>
                    </a:moveTo>
                    <a:lnTo>
                      <a:pt x="199755" y="0"/>
                    </a:lnTo>
                    <a:lnTo>
                      <a:pt x="199755" y="199754"/>
                    </a:lnTo>
                    <a:lnTo>
                      <a:pt x="0" y="1997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latin typeface="Georgia" panose="02040502050405020303" pitchFamily="18" charset="0"/>
                </a:endParaRPr>
              </a:p>
            </p:txBody>
          </p:sp>
          <p:sp>
            <p:nvSpPr>
              <p:cNvPr id="61" name="Freeform 17">
                <a:extLst>
                  <a:ext uri="{FF2B5EF4-FFF2-40B4-BE49-F238E27FC236}">
                    <a16:creationId xmlns:a16="http://schemas.microsoft.com/office/drawing/2014/main" id="{D00220C0-3A4B-DB3D-7FBD-D4439B9E4F98}"/>
                  </a:ext>
                </a:extLst>
              </p:cNvPr>
              <p:cNvSpPr/>
              <p:nvPr/>
            </p:nvSpPr>
            <p:spPr>
              <a:xfrm>
                <a:off x="2619323" y="3153531"/>
                <a:ext cx="148405" cy="113025"/>
              </a:xfrm>
              <a:custGeom>
                <a:avLst/>
                <a:gdLst/>
                <a:ahLst/>
                <a:cxnLst/>
                <a:rect l="l" t="t" r="r" b="b"/>
                <a:pathLst>
                  <a:path w="199754" h="199754">
                    <a:moveTo>
                      <a:pt x="0" y="0"/>
                    </a:moveTo>
                    <a:lnTo>
                      <a:pt x="199755" y="0"/>
                    </a:lnTo>
                    <a:lnTo>
                      <a:pt x="199755" y="199754"/>
                    </a:lnTo>
                    <a:lnTo>
                      <a:pt x="0" y="1997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latin typeface="Georgia" panose="02040502050405020303" pitchFamily="18" charset="0"/>
                </a:endParaRPr>
              </a:p>
            </p:txBody>
          </p:sp>
          <p:sp>
            <p:nvSpPr>
              <p:cNvPr id="62" name="Freeform 17">
                <a:extLst>
                  <a:ext uri="{FF2B5EF4-FFF2-40B4-BE49-F238E27FC236}">
                    <a16:creationId xmlns:a16="http://schemas.microsoft.com/office/drawing/2014/main" id="{67CFA6B1-BCCF-3E27-7962-F379797FF2B9}"/>
                  </a:ext>
                </a:extLst>
              </p:cNvPr>
              <p:cNvSpPr/>
              <p:nvPr/>
            </p:nvSpPr>
            <p:spPr>
              <a:xfrm>
                <a:off x="2112372" y="4082245"/>
                <a:ext cx="148405" cy="113025"/>
              </a:xfrm>
              <a:custGeom>
                <a:avLst/>
                <a:gdLst/>
                <a:ahLst/>
                <a:cxnLst/>
                <a:rect l="l" t="t" r="r" b="b"/>
                <a:pathLst>
                  <a:path w="199754" h="199754">
                    <a:moveTo>
                      <a:pt x="0" y="0"/>
                    </a:moveTo>
                    <a:lnTo>
                      <a:pt x="199755" y="0"/>
                    </a:lnTo>
                    <a:lnTo>
                      <a:pt x="199755" y="199754"/>
                    </a:lnTo>
                    <a:lnTo>
                      <a:pt x="0" y="1997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latin typeface="Georgia" panose="02040502050405020303" pitchFamily="18" charset="0"/>
                </a:endParaRPr>
              </a:p>
            </p:txBody>
          </p:sp>
          <p:sp>
            <p:nvSpPr>
              <p:cNvPr id="63" name="Freeform 17">
                <a:extLst>
                  <a:ext uri="{FF2B5EF4-FFF2-40B4-BE49-F238E27FC236}">
                    <a16:creationId xmlns:a16="http://schemas.microsoft.com/office/drawing/2014/main" id="{06BA0217-8720-1D2B-BA94-2CB9877B10B9}"/>
                  </a:ext>
                </a:extLst>
              </p:cNvPr>
              <p:cNvSpPr/>
              <p:nvPr/>
            </p:nvSpPr>
            <p:spPr>
              <a:xfrm>
                <a:off x="2916897" y="3680017"/>
                <a:ext cx="148405" cy="113025"/>
              </a:xfrm>
              <a:custGeom>
                <a:avLst/>
                <a:gdLst/>
                <a:ahLst/>
                <a:cxnLst/>
                <a:rect l="l" t="t" r="r" b="b"/>
                <a:pathLst>
                  <a:path w="199754" h="199754">
                    <a:moveTo>
                      <a:pt x="0" y="0"/>
                    </a:moveTo>
                    <a:lnTo>
                      <a:pt x="199755" y="0"/>
                    </a:lnTo>
                    <a:lnTo>
                      <a:pt x="199755" y="199754"/>
                    </a:lnTo>
                    <a:lnTo>
                      <a:pt x="0" y="1997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latin typeface="Georgia" panose="02040502050405020303" pitchFamily="18" charset="0"/>
                </a:endParaRPr>
              </a:p>
            </p:txBody>
          </p:sp>
          <p:sp>
            <p:nvSpPr>
              <p:cNvPr id="64" name="Freeform 17">
                <a:extLst>
                  <a:ext uri="{FF2B5EF4-FFF2-40B4-BE49-F238E27FC236}">
                    <a16:creationId xmlns:a16="http://schemas.microsoft.com/office/drawing/2014/main" id="{A4D2EBA8-8DAA-BF70-B184-E87A0479BFE7}"/>
                  </a:ext>
                </a:extLst>
              </p:cNvPr>
              <p:cNvSpPr/>
              <p:nvPr/>
            </p:nvSpPr>
            <p:spPr>
              <a:xfrm>
                <a:off x="2210482" y="4537684"/>
                <a:ext cx="148405" cy="113025"/>
              </a:xfrm>
              <a:custGeom>
                <a:avLst/>
                <a:gdLst/>
                <a:ahLst/>
                <a:cxnLst/>
                <a:rect l="l" t="t" r="r" b="b"/>
                <a:pathLst>
                  <a:path w="199754" h="199754">
                    <a:moveTo>
                      <a:pt x="0" y="0"/>
                    </a:moveTo>
                    <a:lnTo>
                      <a:pt x="199755" y="0"/>
                    </a:lnTo>
                    <a:lnTo>
                      <a:pt x="199755" y="199754"/>
                    </a:lnTo>
                    <a:lnTo>
                      <a:pt x="0" y="1997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latin typeface="Georgia" panose="02040502050405020303" pitchFamily="18" charset="0"/>
                </a:endParaRPr>
              </a:p>
            </p:txBody>
          </p:sp>
          <p:sp>
            <p:nvSpPr>
              <p:cNvPr id="65" name="Freeform 17">
                <a:extLst>
                  <a:ext uri="{FF2B5EF4-FFF2-40B4-BE49-F238E27FC236}">
                    <a16:creationId xmlns:a16="http://schemas.microsoft.com/office/drawing/2014/main" id="{2D243B59-080C-CEF0-233F-CCC0423C73FA}"/>
                  </a:ext>
                </a:extLst>
              </p:cNvPr>
              <p:cNvSpPr/>
              <p:nvPr/>
            </p:nvSpPr>
            <p:spPr>
              <a:xfrm>
                <a:off x="3538294" y="5055229"/>
                <a:ext cx="148405" cy="113025"/>
              </a:xfrm>
              <a:custGeom>
                <a:avLst/>
                <a:gdLst/>
                <a:ahLst/>
                <a:cxnLst/>
                <a:rect l="l" t="t" r="r" b="b"/>
                <a:pathLst>
                  <a:path w="199754" h="199754">
                    <a:moveTo>
                      <a:pt x="0" y="0"/>
                    </a:moveTo>
                    <a:lnTo>
                      <a:pt x="199755" y="0"/>
                    </a:lnTo>
                    <a:lnTo>
                      <a:pt x="199755" y="199754"/>
                    </a:lnTo>
                    <a:lnTo>
                      <a:pt x="0" y="1997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dirty="0">
                  <a:latin typeface="Georgia" panose="02040502050405020303" pitchFamily="18" charset="0"/>
                </a:endParaRPr>
              </a:p>
            </p:txBody>
          </p:sp>
          <p:sp>
            <p:nvSpPr>
              <p:cNvPr id="66" name="Freeform 17">
                <a:extLst>
                  <a:ext uri="{FF2B5EF4-FFF2-40B4-BE49-F238E27FC236}">
                    <a16:creationId xmlns:a16="http://schemas.microsoft.com/office/drawing/2014/main" id="{E6A1BEA0-DA1F-5BEC-F8B2-86C53A602295}"/>
                  </a:ext>
                </a:extLst>
              </p:cNvPr>
              <p:cNvSpPr/>
              <p:nvPr/>
            </p:nvSpPr>
            <p:spPr>
              <a:xfrm>
                <a:off x="3384623" y="5576935"/>
                <a:ext cx="148405" cy="113025"/>
              </a:xfrm>
              <a:custGeom>
                <a:avLst/>
                <a:gdLst/>
                <a:ahLst/>
                <a:cxnLst/>
                <a:rect l="l" t="t" r="r" b="b"/>
                <a:pathLst>
                  <a:path w="199754" h="199754">
                    <a:moveTo>
                      <a:pt x="0" y="0"/>
                    </a:moveTo>
                    <a:lnTo>
                      <a:pt x="199755" y="0"/>
                    </a:lnTo>
                    <a:lnTo>
                      <a:pt x="199755" y="199754"/>
                    </a:lnTo>
                    <a:lnTo>
                      <a:pt x="0" y="1997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latin typeface="Georgia" panose="02040502050405020303" pitchFamily="18" charset="0"/>
                </a:endParaRPr>
              </a:p>
            </p:txBody>
          </p:sp>
          <p:sp>
            <p:nvSpPr>
              <p:cNvPr id="67" name="Freeform 19">
                <a:extLst>
                  <a:ext uri="{FF2B5EF4-FFF2-40B4-BE49-F238E27FC236}">
                    <a16:creationId xmlns:a16="http://schemas.microsoft.com/office/drawing/2014/main" id="{75B8962A-AA62-E181-BA5D-C911D9BFC015}"/>
                  </a:ext>
                </a:extLst>
              </p:cNvPr>
              <p:cNvSpPr/>
              <p:nvPr/>
            </p:nvSpPr>
            <p:spPr>
              <a:xfrm>
                <a:off x="3316368" y="2686578"/>
                <a:ext cx="1557179" cy="7072"/>
              </a:xfrm>
              <a:custGeom>
                <a:avLst/>
                <a:gdLst/>
                <a:ahLst/>
                <a:cxnLst/>
                <a:rect l="l" t="t" r="r" b="b"/>
                <a:pathLst>
                  <a:path w="108645673" h="198854">
                    <a:moveTo>
                      <a:pt x="108553660" y="4177"/>
                    </a:moveTo>
                    <a:lnTo>
                      <a:pt x="102291035" y="4177"/>
                    </a:lnTo>
                    <a:lnTo>
                      <a:pt x="73949013" y="4177"/>
                    </a:lnTo>
                    <a:lnTo>
                      <a:pt x="39561146" y="4177"/>
                    </a:lnTo>
                    <a:lnTo>
                      <a:pt x="9827149" y="4177"/>
                    </a:lnTo>
                    <a:cubicBezTo>
                      <a:pt x="5020535" y="4177"/>
                      <a:pt x="350203" y="-5221"/>
                      <a:pt x="102553" y="4177"/>
                    </a:cubicBezTo>
                    <a:cubicBezTo>
                      <a:pt x="98997" y="4304"/>
                      <a:pt x="95568" y="4177"/>
                      <a:pt x="92012" y="4177"/>
                    </a:cubicBezTo>
                    <a:cubicBezTo>
                      <a:pt x="-30543" y="4177"/>
                      <a:pt x="-30797" y="194677"/>
                      <a:pt x="92012" y="194677"/>
                    </a:cubicBezTo>
                    <a:lnTo>
                      <a:pt x="7075233" y="194677"/>
                    </a:lnTo>
                    <a:lnTo>
                      <a:pt x="35417256" y="194677"/>
                    </a:lnTo>
                    <a:lnTo>
                      <a:pt x="69805123" y="194677"/>
                    </a:lnTo>
                    <a:lnTo>
                      <a:pt x="99539122" y="194677"/>
                    </a:lnTo>
                    <a:cubicBezTo>
                      <a:pt x="104345731" y="194677"/>
                      <a:pt x="108295468" y="204075"/>
                      <a:pt x="108543118" y="194677"/>
                    </a:cubicBezTo>
                    <a:cubicBezTo>
                      <a:pt x="108546678" y="194550"/>
                      <a:pt x="108550101" y="194677"/>
                      <a:pt x="108553660" y="194677"/>
                    </a:cubicBezTo>
                    <a:cubicBezTo>
                      <a:pt x="108676220" y="194677"/>
                      <a:pt x="108676468" y="4177"/>
                      <a:pt x="108553660" y="4177"/>
                    </a:cubicBezTo>
                    <a:close/>
                  </a:path>
                </a:pathLst>
              </a:custGeom>
              <a:solidFill>
                <a:srgbClr val="191919"/>
              </a:solidFill>
            </p:spPr>
            <p:txBody>
              <a:bodyPr/>
              <a:lstStyle/>
              <a:p>
                <a:endParaRPr lang="en-IN">
                  <a:latin typeface="Georgia" panose="02040502050405020303" pitchFamily="18" charset="0"/>
                </a:endParaRPr>
              </a:p>
            </p:txBody>
          </p:sp>
          <p:sp>
            <p:nvSpPr>
              <p:cNvPr id="68" name="Freeform 19">
                <a:extLst>
                  <a:ext uri="{FF2B5EF4-FFF2-40B4-BE49-F238E27FC236}">
                    <a16:creationId xmlns:a16="http://schemas.microsoft.com/office/drawing/2014/main" id="{FA97C1D2-7FC4-443E-0A63-5B14A2D82E8A}"/>
                  </a:ext>
                </a:extLst>
              </p:cNvPr>
              <p:cNvSpPr/>
              <p:nvPr/>
            </p:nvSpPr>
            <p:spPr>
              <a:xfrm>
                <a:off x="2767728" y="3219623"/>
                <a:ext cx="2627739" cy="7072"/>
              </a:xfrm>
              <a:custGeom>
                <a:avLst/>
                <a:gdLst/>
                <a:ahLst/>
                <a:cxnLst/>
                <a:rect l="l" t="t" r="r" b="b"/>
                <a:pathLst>
                  <a:path w="108645673" h="198854">
                    <a:moveTo>
                      <a:pt x="108553660" y="4177"/>
                    </a:moveTo>
                    <a:lnTo>
                      <a:pt x="102291035" y="4177"/>
                    </a:lnTo>
                    <a:lnTo>
                      <a:pt x="73949013" y="4177"/>
                    </a:lnTo>
                    <a:lnTo>
                      <a:pt x="39561146" y="4177"/>
                    </a:lnTo>
                    <a:lnTo>
                      <a:pt x="9827149" y="4177"/>
                    </a:lnTo>
                    <a:cubicBezTo>
                      <a:pt x="5020535" y="4177"/>
                      <a:pt x="350203" y="-5221"/>
                      <a:pt x="102553" y="4177"/>
                    </a:cubicBezTo>
                    <a:cubicBezTo>
                      <a:pt x="98997" y="4304"/>
                      <a:pt x="95568" y="4177"/>
                      <a:pt x="92012" y="4177"/>
                    </a:cubicBezTo>
                    <a:cubicBezTo>
                      <a:pt x="-30543" y="4177"/>
                      <a:pt x="-30797" y="194677"/>
                      <a:pt x="92012" y="194677"/>
                    </a:cubicBezTo>
                    <a:lnTo>
                      <a:pt x="7075233" y="194677"/>
                    </a:lnTo>
                    <a:lnTo>
                      <a:pt x="35417256" y="194677"/>
                    </a:lnTo>
                    <a:lnTo>
                      <a:pt x="69805123" y="194677"/>
                    </a:lnTo>
                    <a:lnTo>
                      <a:pt x="99539122" y="194677"/>
                    </a:lnTo>
                    <a:cubicBezTo>
                      <a:pt x="104345731" y="194677"/>
                      <a:pt x="108295468" y="204075"/>
                      <a:pt x="108543118" y="194677"/>
                    </a:cubicBezTo>
                    <a:cubicBezTo>
                      <a:pt x="108546678" y="194550"/>
                      <a:pt x="108550101" y="194677"/>
                      <a:pt x="108553660" y="194677"/>
                    </a:cubicBezTo>
                    <a:cubicBezTo>
                      <a:pt x="108676220" y="194677"/>
                      <a:pt x="108676468" y="4177"/>
                      <a:pt x="108553660" y="4177"/>
                    </a:cubicBezTo>
                    <a:close/>
                  </a:path>
                </a:pathLst>
              </a:custGeom>
              <a:solidFill>
                <a:srgbClr val="191919"/>
              </a:solidFill>
            </p:spPr>
            <p:txBody>
              <a:bodyPr/>
              <a:lstStyle/>
              <a:p>
                <a:endParaRPr lang="en-IN">
                  <a:latin typeface="Georgia" panose="02040502050405020303" pitchFamily="18" charset="0"/>
                </a:endParaRPr>
              </a:p>
            </p:txBody>
          </p:sp>
          <p:sp>
            <p:nvSpPr>
              <p:cNvPr id="69" name="Freeform 19">
                <a:extLst>
                  <a:ext uri="{FF2B5EF4-FFF2-40B4-BE49-F238E27FC236}">
                    <a16:creationId xmlns:a16="http://schemas.microsoft.com/office/drawing/2014/main" id="{05DBDBF8-0245-94E4-80C7-AA6748BFB54A}"/>
                  </a:ext>
                </a:extLst>
              </p:cNvPr>
              <p:cNvSpPr/>
              <p:nvPr/>
            </p:nvSpPr>
            <p:spPr>
              <a:xfrm>
                <a:off x="3059674" y="3737035"/>
                <a:ext cx="2926080" cy="7071"/>
              </a:xfrm>
              <a:custGeom>
                <a:avLst/>
                <a:gdLst/>
                <a:ahLst/>
                <a:cxnLst/>
                <a:rect l="l" t="t" r="r" b="b"/>
                <a:pathLst>
                  <a:path w="108645673" h="198854">
                    <a:moveTo>
                      <a:pt x="108553660" y="4177"/>
                    </a:moveTo>
                    <a:lnTo>
                      <a:pt x="102291035" y="4177"/>
                    </a:lnTo>
                    <a:lnTo>
                      <a:pt x="73949013" y="4177"/>
                    </a:lnTo>
                    <a:lnTo>
                      <a:pt x="39561146" y="4177"/>
                    </a:lnTo>
                    <a:lnTo>
                      <a:pt x="9827149" y="4177"/>
                    </a:lnTo>
                    <a:cubicBezTo>
                      <a:pt x="5020535" y="4177"/>
                      <a:pt x="350203" y="-5221"/>
                      <a:pt x="102553" y="4177"/>
                    </a:cubicBezTo>
                    <a:cubicBezTo>
                      <a:pt x="98997" y="4304"/>
                      <a:pt x="95568" y="4177"/>
                      <a:pt x="92012" y="4177"/>
                    </a:cubicBezTo>
                    <a:cubicBezTo>
                      <a:pt x="-30543" y="4177"/>
                      <a:pt x="-30797" y="194677"/>
                      <a:pt x="92012" y="194677"/>
                    </a:cubicBezTo>
                    <a:lnTo>
                      <a:pt x="7075233" y="194677"/>
                    </a:lnTo>
                    <a:lnTo>
                      <a:pt x="35417256" y="194677"/>
                    </a:lnTo>
                    <a:lnTo>
                      <a:pt x="69805123" y="194677"/>
                    </a:lnTo>
                    <a:lnTo>
                      <a:pt x="99539122" y="194677"/>
                    </a:lnTo>
                    <a:cubicBezTo>
                      <a:pt x="104345731" y="194677"/>
                      <a:pt x="108295468" y="204075"/>
                      <a:pt x="108543118" y="194677"/>
                    </a:cubicBezTo>
                    <a:cubicBezTo>
                      <a:pt x="108546678" y="194550"/>
                      <a:pt x="108550101" y="194677"/>
                      <a:pt x="108553660" y="194677"/>
                    </a:cubicBezTo>
                    <a:cubicBezTo>
                      <a:pt x="108676220" y="194677"/>
                      <a:pt x="108676468" y="4177"/>
                      <a:pt x="108553660" y="4177"/>
                    </a:cubicBezTo>
                    <a:close/>
                  </a:path>
                </a:pathLst>
              </a:custGeom>
              <a:solidFill>
                <a:srgbClr val="191919"/>
              </a:solidFill>
            </p:spPr>
            <p:txBody>
              <a:bodyPr/>
              <a:lstStyle/>
              <a:p>
                <a:endParaRPr lang="en-IN">
                  <a:latin typeface="Georgia" panose="02040502050405020303" pitchFamily="18" charset="0"/>
                </a:endParaRPr>
              </a:p>
            </p:txBody>
          </p:sp>
          <p:sp>
            <p:nvSpPr>
              <p:cNvPr id="70" name="Freeform 19">
                <a:extLst>
                  <a:ext uri="{FF2B5EF4-FFF2-40B4-BE49-F238E27FC236}">
                    <a16:creationId xmlns:a16="http://schemas.microsoft.com/office/drawing/2014/main" id="{920860B0-A643-18EA-9A8F-555772E6429F}"/>
                  </a:ext>
                </a:extLst>
              </p:cNvPr>
              <p:cNvSpPr/>
              <p:nvPr/>
            </p:nvSpPr>
            <p:spPr>
              <a:xfrm>
                <a:off x="2236950" y="4140150"/>
                <a:ext cx="3840480" cy="7071"/>
              </a:xfrm>
              <a:custGeom>
                <a:avLst/>
                <a:gdLst/>
                <a:ahLst/>
                <a:cxnLst/>
                <a:rect l="l" t="t" r="r" b="b"/>
                <a:pathLst>
                  <a:path w="108645673" h="198854">
                    <a:moveTo>
                      <a:pt x="108553660" y="4177"/>
                    </a:moveTo>
                    <a:lnTo>
                      <a:pt x="102291035" y="4177"/>
                    </a:lnTo>
                    <a:lnTo>
                      <a:pt x="73949013" y="4177"/>
                    </a:lnTo>
                    <a:lnTo>
                      <a:pt x="39561146" y="4177"/>
                    </a:lnTo>
                    <a:lnTo>
                      <a:pt x="9827149" y="4177"/>
                    </a:lnTo>
                    <a:cubicBezTo>
                      <a:pt x="5020535" y="4177"/>
                      <a:pt x="350203" y="-5221"/>
                      <a:pt x="102553" y="4177"/>
                    </a:cubicBezTo>
                    <a:cubicBezTo>
                      <a:pt x="98997" y="4304"/>
                      <a:pt x="95568" y="4177"/>
                      <a:pt x="92012" y="4177"/>
                    </a:cubicBezTo>
                    <a:cubicBezTo>
                      <a:pt x="-30543" y="4177"/>
                      <a:pt x="-30797" y="194677"/>
                      <a:pt x="92012" y="194677"/>
                    </a:cubicBezTo>
                    <a:lnTo>
                      <a:pt x="7075233" y="194677"/>
                    </a:lnTo>
                    <a:lnTo>
                      <a:pt x="35417256" y="194677"/>
                    </a:lnTo>
                    <a:lnTo>
                      <a:pt x="69805123" y="194677"/>
                    </a:lnTo>
                    <a:lnTo>
                      <a:pt x="99539122" y="194677"/>
                    </a:lnTo>
                    <a:cubicBezTo>
                      <a:pt x="104345731" y="194677"/>
                      <a:pt x="108295468" y="204075"/>
                      <a:pt x="108543118" y="194677"/>
                    </a:cubicBezTo>
                    <a:cubicBezTo>
                      <a:pt x="108546678" y="194550"/>
                      <a:pt x="108550101" y="194677"/>
                      <a:pt x="108553660" y="194677"/>
                    </a:cubicBezTo>
                    <a:cubicBezTo>
                      <a:pt x="108676220" y="194677"/>
                      <a:pt x="108676468" y="4177"/>
                      <a:pt x="108553660" y="4177"/>
                    </a:cubicBezTo>
                    <a:close/>
                  </a:path>
                </a:pathLst>
              </a:custGeom>
              <a:solidFill>
                <a:srgbClr val="191919"/>
              </a:solidFill>
            </p:spPr>
            <p:txBody>
              <a:bodyPr/>
              <a:lstStyle/>
              <a:p>
                <a:endParaRPr lang="en-IN">
                  <a:latin typeface="Georgia" panose="02040502050405020303" pitchFamily="18" charset="0"/>
                </a:endParaRPr>
              </a:p>
            </p:txBody>
          </p:sp>
          <p:sp>
            <p:nvSpPr>
              <p:cNvPr id="71" name="Freeform 19">
                <a:extLst>
                  <a:ext uri="{FF2B5EF4-FFF2-40B4-BE49-F238E27FC236}">
                    <a16:creationId xmlns:a16="http://schemas.microsoft.com/office/drawing/2014/main" id="{31BCA746-4433-FE61-2515-F07BC92EDDFC}"/>
                  </a:ext>
                </a:extLst>
              </p:cNvPr>
              <p:cNvSpPr/>
              <p:nvPr/>
            </p:nvSpPr>
            <p:spPr>
              <a:xfrm>
                <a:off x="2358887" y="4584599"/>
                <a:ext cx="3657098" cy="7071"/>
              </a:xfrm>
              <a:custGeom>
                <a:avLst/>
                <a:gdLst/>
                <a:ahLst/>
                <a:cxnLst/>
                <a:rect l="l" t="t" r="r" b="b"/>
                <a:pathLst>
                  <a:path w="108645673" h="198854">
                    <a:moveTo>
                      <a:pt x="108553660" y="4177"/>
                    </a:moveTo>
                    <a:lnTo>
                      <a:pt x="102291035" y="4177"/>
                    </a:lnTo>
                    <a:lnTo>
                      <a:pt x="73949013" y="4177"/>
                    </a:lnTo>
                    <a:lnTo>
                      <a:pt x="39561146" y="4177"/>
                    </a:lnTo>
                    <a:lnTo>
                      <a:pt x="9827149" y="4177"/>
                    </a:lnTo>
                    <a:cubicBezTo>
                      <a:pt x="5020535" y="4177"/>
                      <a:pt x="350203" y="-5221"/>
                      <a:pt x="102553" y="4177"/>
                    </a:cubicBezTo>
                    <a:cubicBezTo>
                      <a:pt x="98997" y="4304"/>
                      <a:pt x="95568" y="4177"/>
                      <a:pt x="92012" y="4177"/>
                    </a:cubicBezTo>
                    <a:cubicBezTo>
                      <a:pt x="-30543" y="4177"/>
                      <a:pt x="-30797" y="194677"/>
                      <a:pt x="92012" y="194677"/>
                    </a:cubicBezTo>
                    <a:lnTo>
                      <a:pt x="7075233" y="194677"/>
                    </a:lnTo>
                    <a:lnTo>
                      <a:pt x="35417256" y="194677"/>
                    </a:lnTo>
                    <a:lnTo>
                      <a:pt x="69805123" y="194677"/>
                    </a:lnTo>
                    <a:lnTo>
                      <a:pt x="99539122" y="194677"/>
                    </a:lnTo>
                    <a:cubicBezTo>
                      <a:pt x="104345731" y="194677"/>
                      <a:pt x="108295468" y="204075"/>
                      <a:pt x="108543118" y="194677"/>
                    </a:cubicBezTo>
                    <a:cubicBezTo>
                      <a:pt x="108546678" y="194550"/>
                      <a:pt x="108550101" y="194677"/>
                      <a:pt x="108553660" y="194677"/>
                    </a:cubicBezTo>
                    <a:cubicBezTo>
                      <a:pt x="108676220" y="194677"/>
                      <a:pt x="108676468" y="4177"/>
                      <a:pt x="108553660" y="4177"/>
                    </a:cubicBezTo>
                    <a:close/>
                  </a:path>
                </a:pathLst>
              </a:custGeom>
              <a:solidFill>
                <a:srgbClr val="191919"/>
              </a:solidFill>
            </p:spPr>
            <p:txBody>
              <a:bodyPr/>
              <a:lstStyle/>
              <a:p>
                <a:endParaRPr lang="en-IN">
                  <a:latin typeface="Georgia" panose="02040502050405020303" pitchFamily="18" charset="0"/>
                </a:endParaRPr>
              </a:p>
            </p:txBody>
          </p:sp>
          <p:sp>
            <p:nvSpPr>
              <p:cNvPr id="72" name="Freeform 19">
                <a:extLst>
                  <a:ext uri="{FF2B5EF4-FFF2-40B4-BE49-F238E27FC236}">
                    <a16:creationId xmlns:a16="http://schemas.microsoft.com/office/drawing/2014/main" id="{37FF5B20-8FBA-6F62-7A3E-18FFBC15C256}"/>
                  </a:ext>
                </a:extLst>
              </p:cNvPr>
              <p:cNvSpPr/>
              <p:nvPr/>
            </p:nvSpPr>
            <p:spPr>
              <a:xfrm>
                <a:off x="3686699" y="5133138"/>
                <a:ext cx="1751826" cy="7072"/>
              </a:xfrm>
              <a:custGeom>
                <a:avLst/>
                <a:gdLst/>
                <a:ahLst/>
                <a:cxnLst/>
                <a:rect l="l" t="t" r="r" b="b"/>
                <a:pathLst>
                  <a:path w="108645673" h="198854">
                    <a:moveTo>
                      <a:pt x="108553660" y="4177"/>
                    </a:moveTo>
                    <a:lnTo>
                      <a:pt x="102291035" y="4177"/>
                    </a:lnTo>
                    <a:lnTo>
                      <a:pt x="73949013" y="4177"/>
                    </a:lnTo>
                    <a:lnTo>
                      <a:pt x="39561146" y="4177"/>
                    </a:lnTo>
                    <a:lnTo>
                      <a:pt x="9827149" y="4177"/>
                    </a:lnTo>
                    <a:cubicBezTo>
                      <a:pt x="5020535" y="4177"/>
                      <a:pt x="350203" y="-5221"/>
                      <a:pt x="102553" y="4177"/>
                    </a:cubicBezTo>
                    <a:cubicBezTo>
                      <a:pt x="98997" y="4304"/>
                      <a:pt x="95568" y="4177"/>
                      <a:pt x="92012" y="4177"/>
                    </a:cubicBezTo>
                    <a:cubicBezTo>
                      <a:pt x="-30543" y="4177"/>
                      <a:pt x="-30797" y="194677"/>
                      <a:pt x="92012" y="194677"/>
                    </a:cubicBezTo>
                    <a:lnTo>
                      <a:pt x="7075233" y="194677"/>
                    </a:lnTo>
                    <a:lnTo>
                      <a:pt x="35417256" y="194677"/>
                    </a:lnTo>
                    <a:lnTo>
                      <a:pt x="69805123" y="194677"/>
                    </a:lnTo>
                    <a:lnTo>
                      <a:pt x="99539122" y="194677"/>
                    </a:lnTo>
                    <a:cubicBezTo>
                      <a:pt x="104345731" y="194677"/>
                      <a:pt x="108295468" y="204075"/>
                      <a:pt x="108543118" y="194677"/>
                    </a:cubicBezTo>
                    <a:cubicBezTo>
                      <a:pt x="108546678" y="194550"/>
                      <a:pt x="108550101" y="194677"/>
                      <a:pt x="108553660" y="194677"/>
                    </a:cubicBezTo>
                    <a:cubicBezTo>
                      <a:pt x="108676220" y="194677"/>
                      <a:pt x="108676468" y="4177"/>
                      <a:pt x="108553660" y="4177"/>
                    </a:cubicBezTo>
                    <a:close/>
                  </a:path>
                </a:pathLst>
              </a:custGeom>
              <a:solidFill>
                <a:srgbClr val="191919"/>
              </a:solidFill>
            </p:spPr>
            <p:txBody>
              <a:bodyPr/>
              <a:lstStyle/>
              <a:p>
                <a:endParaRPr lang="en-IN">
                  <a:latin typeface="Georgia" panose="02040502050405020303" pitchFamily="18" charset="0"/>
                </a:endParaRPr>
              </a:p>
            </p:txBody>
          </p:sp>
          <p:sp>
            <p:nvSpPr>
              <p:cNvPr id="73" name="Freeform 19">
                <a:extLst>
                  <a:ext uri="{FF2B5EF4-FFF2-40B4-BE49-F238E27FC236}">
                    <a16:creationId xmlns:a16="http://schemas.microsoft.com/office/drawing/2014/main" id="{0563C62E-0BB9-10DB-2B50-1BD965A0AC63}"/>
                  </a:ext>
                </a:extLst>
              </p:cNvPr>
              <p:cNvSpPr/>
              <p:nvPr/>
            </p:nvSpPr>
            <p:spPr>
              <a:xfrm>
                <a:off x="3533905" y="5650689"/>
                <a:ext cx="1557179" cy="7072"/>
              </a:xfrm>
              <a:custGeom>
                <a:avLst/>
                <a:gdLst/>
                <a:ahLst/>
                <a:cxnLst/>
                <a:rect l="l" t="t" r="r" b="b"/>
                <a:pathLst>
                  <a:path w="108645673" h="198854">
                    <a:moveTo>
                      <a:pt x="108553660" y="4177"/>
                    </a:moveTo>
                    <a:lnTo>
                      <a:pt x="102291035" y="4177"/>
                    </a:lnTo>
                    <a:lnTo>
                      <a:pt x="73949013" y="4177"/>
                    </a:lnTo>
                    <a:lnTo>
                      <a:pt x="39561146" y="4177"/>
                    </a:lnTo>
                    <a:lnTo>
                      <a:pt x="9827149" y="4177"/>
                    </a:lnTo>
                    <a:cubicBezTo>
                      <a:pt x="5020535" y="4177"/>
                      <a:pt x="350203" y="-5221"/>
                      <a:pt x="102553" y="4177"/>
                    </a:cubicBezTo>
                    <a:cubicBezTo>
                      <a:pt x="98997" y="4304"/>
                      <a:pt x="95568" y="4177"/>
                      <a:pt x="92012" y="4177"/>
                    </a:cubicBezTo>
                    <a:cubicBezTo>
                      <a:pt x="-30543" y="4177"/>
                      <a:pt x="-30797" y="194677"/>
                      <a:pt x="92012" y="194677"/>
                    </a:cubicBezTo>
                    <a:lnTo>
                      <a:pt x="7075233" y="194677"/>
                    </a:lnTo>
                    <a:lnTo>
                      <a:pt x="35417256" y="194677"/>
                    </a:lnTo>
                    <a:lnTo>
                      <a:pt x="69805123" y="194677"/>
                    </a:lnTo>
                    <a:lnTo>
                      <a:pt x="99539122" y="194677"/>
                    </a:lnTo>
                    <a:cubicBezTo>
                      <a:pt x="104345731" y="194677"/>
                      <a:pt x="108295468" y="204075"/>
                      <a:pt x="108543118" y="194677"/>
                    </a:cubicBezTo>
                    <a:cubicBezTo>
                      <a:pt x="108546678" y="194550"/>
                      <a:pt x="108550101" y="194677"/>
                      <a:pt x="108553660" y="194677"/>
                    </a:cubicBezTo>
                    <a:cubicBezTo>
                      <a:pt x="108676220" y="194677"/>
                      <a:pt x="108676468" y="4177"/>
                      <a:pt x="108553660" y="4177"/>
                    </a:cubicBezTo>
                    <a:close/>
                  </a:path>
                </a:pathLst>
              </a:custGeom>
              <a:solidFill>
                <a:srgbClr val="191919"/>
              </a:solidFill>
            </p:spPr>
            <p:txBody>
              <a:bodyPr/>
              <a:lstStyle/>
              <a:p>
                <a:endParaRPr lang="en-IN">
                  <a:latin typeface="Georgia" panose="02040502050405020303" pitchFamily="18" charset="0"/>
                </a:endParaRPr>
              </a:p>
            </p:txBody>
          </p:sp>
        </p:grpSp>
      </p:grpSp>
      <p:graphicFrame>
        <p:nvGraphicFramePr>
          <p:cNvPr id="75" name="Table 74">
            <a:extLst>
              <a:ext uri="{FF2B5EF4-FFF2-40B4-BE49-F238E27FC236}">
                <a16:creationId xmlns:a16="http://schemas.microsoft.com/office/drawing/2014/main" id="{AAEC27BD-12E9-C09B-A411-57BAF82463E6}"/>
              </a:ext>
            </a:extLst>
          </p:cNvPr>
          <p:cNvGraphicFramePr>
            <a:graphicFrameLocks noGrp="1"/>
          </p:cNvGraphicFramePr>
          <p:nvPr>
            <p:extLst>
              <p:ext uri="{D42A27DB-BD31-4B8C-83A1-F6EECF244321}">
                <p14:modId xmlns:p14="http://schemas.microsoft.com/office/powerpoint/2010/main" val="642433416"/>
              </p:ext>
            </p:extLst>
          </p:nvPr>
        </p:nvGraphicFramePr>
        <p:xfrm>
          <a:off x="533400" y="924366"/>
          <a:ext cx="10369119" cy="1352504"/>
        </p:xfrm>
        <a:graphic>
          <a:graphicData uri="http://schemas.openxmlformats.org/drawingml/2006/table">
            <a:tbl>
              <a:tblPr firstRow="1" bandRow="1">
                <a:tableStyleId>{21E4AEA4-8DFA-4A89-87EB-49C32662AFE0}</a:tableStyleId>
              </a:tblPr>
              <a:tblGrid>
                <a:gridCol w="10369119">
                  <a:extLst>
                    <a:ext uri="{9D8B030D-6E8A-4147-A177-3AD203B41FA5}">
                      <a16:colId xmlns:a16="http://schemas.microsoft.com/office/drawing/2014/main" val="666387526"/>
                    </a:ext>
                  </a:extLst>
                </a:gridCol>
              </a:tblGrid>
              <a:tr h="407624">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dirty="0">
                          <a:latin typeface="Georgia" panose="02040502050405020303" pitchFamily="18" charset="0"/>
                        </a:rPr>
                        <a:t>Basis of clustering</a:t>
                      </a:r>
                      <a:endParaRPr lang="en-US" sz="1600" b="1" dirty="0">
                        <a:solidFill>
                          <a:schemeClr val="bg1"/>
                        </a:solidFill>
                        <a:latin typeface="Georgia" panose="02040502050405020303" pitchFamily="18" charset="0"/>
                      </a:endParaRPr>
                    </a:p>
                  </a:txBody>
                  <a:tcPr anchor="ctr">
                    <a:solidFill>
                      <a:srgbClr val="14342B"/>
                    </a:solidFill>
                  </a:tcPr>
                </a:tc>
                <a:extLst>
                  <a:ext uri="{0D108BD9-81ED-4DB2-BD59-A6C34878D82A}">
                    <a16:rowId xmlns:a16="http://schemas.microsoft.com/office/drawing/2014/main" val="212070772"/>
                  </a:ext>
                </a:extLst>
              </a:tr>
              <a:tr h="942094">
                <a:tc>
                  <a:txBody>
                    <a:bodyPr/>
                    <a:lstStyle/>
                    <a:p>
                      <a:pPr marL="0" marR="0" lvl="0" indent="0" algn="l"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dirty="0">
                          <a:solidFill>
                            <a:schemeClr val="tx1"/>
                          </a:solidFill>
                          <a:effectLst/>
                          <a:latin typeface="Georgia" panose="02040502050405020303" pitchFamily="18" charset="0"/>
                          <a:ea typeface="+mn-ea"/>
                          <a:cs typeface="+mn-cs"/>
                        </a:rPr>
                        <a:t>District-level production and infrastructure data from Karnataka government departments was </a:t>
                      </a:r>
                      <a:r>
                        <a:rPr lang="en-US" sz="1400" b="0" dirty="0" err="1">
                          <a:solidFill>
                            <a:schemeClr val="tx1"/>
                          </a:solidFill>
                          <a:effectLst/>
                          <a:latin typeface="Georgia" panose="02040502050405020303" pitchFamily="18" charset="0"/>
                          <a:ea typeface="+mn-ea"/>
                          <a:cs typeface="+mn-cs"/>
                        </a:rPr>
                        <a:t>analysed</a:t>
                      </a:r>
                      <a:r>
                        <a:rPr lang="en-US" sz="1400" b="0" dirty="0">
                          <a:solidFill>
                            <a:schemeClr val="tx1"/>
                          </a:solidFill>
                          <a:effectLst/>
                          <a:latin typeface="Georgia" panose="02040502050405020303" pitchFamily="18" charset="0"/>
                          <a:ea typeface="+mn-ea"/>
                          <a:cs typeface="+mn-cs"/>
                        </a:rPr>
                        <a:t> across all 31 districts. Districts were grouped based on their relative crop concentration compared to the state average, with geographic contiguity as a binding constraint. This yielded 7 clusters, each with a distinct crop identity and a documented gap between production scale and processing capacity.</a:t>
                      </a:r>
                    </a:p>
                  </a:txBody>
                  <a:tcPr>
                    <a:solidFill>
                      <a:schemeClr val="bg2">
                        <a:lumMod val="90000"/>
                      </a:schemeClr>
                    </a:solidFill>
                  </a:tcPr>
                </a:tc>
                <a:extLst>
                  <a:ext uri="{0D108BD9-81ED-4DB2-BD59-A6C34878D82A}">
                    <a16:rowId xmlns:a16="http://schemas.microsoft.com/office/drawing/2014/main" val="793391984"/>
                  </a:ext>
                </a:extLst>
              </a:tr>
            </a:tbl>
          </a:graphicData>
        </a:graphic>
      </p:graphicFrame>
      <p:sp>
        <p:nvSpPr>
          <p:cNvPr id="5" name="Slide Number Placeholder 2">
            <a:extLst>
              <a:ext uri="{FF2B5EF4-FFF2-40B4-BE49-F238E27FC236}">
                <a16:creationId xmlns:a16="http://schemas.microsoft.com/office/drawing/2014/main" id="{526CC3D7-ACE1-0B3E-330A-CAB69352FD6F}"/>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8</a:t>
            </a:fld>
            <a:endParaRPr dirty="0">
              <a:latin typeface="Georgia" panose="02040502050405020303" pitchFamily="18" charset="0"/>
            </a:endParaRPr>
          </a:p>
        </p:txBody>
      </p:sp>
      <p:sp>
        <p:nvSpPr>
          <p:cNvPr id="3" name="TextBox 2">
            <a:extLst>
              <a:ext uri="{FF2B5EF4-FFF2-40B4-BE49-F238E27FC236}">
                <a16:creationId xmlns:a16="http://schemas.microsoft.com/office/drawing/2014/main" id="{EE4584E5-8CB2-461E-3F27-DEF92A77C661}"/>
              </a:ext>
            </a:extLst>
          </p:cNvPr>
          <p:cNvSpPr txBox="1"/>
          <p:nvPr/>
        </p:nvSpPr>
        <p:spPr>
          <a:xfrm>
            <a:off x="569043" y="2260849"/>
            <a:ext cx="3612796" cy="214809"/>
          </a:xfrm>
          <a:prstGeom prst="rect">
            <a:avLst/>
          </a:prstGeom>
          <a:noFill/>
        </p:spPr>
        <p:txBody>
          <a:bodyPr wrap="square" rtlCol="0">
            <a:spAutoFit/>
          </a:bodyPr>
          <a:lstStyle/>
          <a:p>
            <a:r>
              <a:rPr lang="en-IN" sz="800" i="1" dirty="0">
                <a:latin typeface="Georgia" panose="02040502050405020303" pitchFamily="18" charset="0"/>
              </a:rPr>
              <a:t>* </a:t>
            </a:r>
            <a:r>
              <a:rPr lang="en-US" sz="800" i="1" dirty="0">
                <a:latin typeface="Georgia" panose="02040502050405020303" pitchFamily="18" charset="0"/>
              </a:rPr>
              <a:t>The clustering methodology is detailed in the annexures</a:t>
            </a:r>
            <a:endParaRPr lang="en-IN" sz="800" i="1" dirty="0">
              <a:latin typeface="Georgia" panose="02040502050405020303" pitchFamily="18" charset="0"/>
            </a:endParaRPr>
          </a:p>
        </p:txBody>
      </p:sp>
      <p:pic>
        <p:nvPicPr>
          <p:cNvPr id="8" name="Picture 7">
            <a:extLst>
              <a:ext uri="{FF2B5EF4-FFF2-40B4-BE49-F238E27FC236}">
                <a16:creationId xmlns:a16="http://schemas.microsoft.com/office/drawing/2014/main" id="{8DC5361A-9B6C-0EE4-1794-E2FA611367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857434"/>
            <a:ext cx="12192000" cy="987920"/>
          </a:xfrm>
          <a:prstGeom prst="rect">
            <a:avLst/>
          </a:prstGeom>
        </p:spPr>
      </p:pic>
    </p:spTree>
    <p:extLst>
      <p:ext uri="{BB962C8B-B14F-4D97-AF65-F5344CB8AC3E}">
        <p14:creationId xmlns:p14="http://schemas.microsoft.com/office/powerpoint/2010/main" val="2473569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870E0-E764-91BA-3BCB-647935DCF62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FEBD479-1904-7830-9F94-C22BA4BB832F}"/>
              </a:ext>
            </a:extLst>
          </p:cNvPr>
          <p:cNvSpPr>
            <a:spLocks noGrp="1"/>
          </p:cNvSpPr>
          <p:nvPr>
            <p:ph type="sldNum" sz="quarter" idx="7"/>
          </p:nvPr>
        </p:nvSpPr>
        <p:spPr>
          <a:xfrm>
            <a:off x="805814" y="6400800"/>
            <a:ext cx="383540" cy="115416"/>
          </a:xfrm>
        </p:spPr>
        <p:txBody>
          <a:bodyPr/>
          <a:lstStyle/>
          <a:p>
            <a:pPr marL="12700">
              <a:lnSpc>
                <a:spcPct val="100000"/>
              </a:lnSpc>
              <a:spcBef>
                <a:spcPts val="60"/>
              </a:spcBef>
            </a:pPr>
            <a:r>
              <a:rPr lang="en-IN" dirty="0">
                <a:latin typeface="Georgia" panose="02040502050405020303" pitchFamily="18" charset="0"/>
              </a:rPr>
              <a:t>Page</a:t>
            </a:r>
            <a:r>
              <a:rPr lang="en-IN" spc="-55" dirty="0">
                <a:latin typeface="Georgia" panose="02040502050405020303" pitchFamily="18" charset="0"/>
              </a:rPr>
              <a:t> </a:t>
            </a:r>
            <a:fld id="{81D60167-4931-47E6-BA6A-407CBD079E47}" type="slidenum">
              <a:rPr smtClean="0">
                <a:latin typeface="Georgia" panose="02040502050405020303" pitchFamily="18" charset="0"/>
              </a:rPr>
              <a:t>9</a:t>
            </a:fld>
            <a:endParaRPr dirty="0">
              <a:latin typeface="Georgia" panose="02040502050405020303" pitchFamily="18" charset="0"/>
            </a:endParaRPr>
          </a:p>
        </p:txBody>
      </p:sp>
      <p:sp>
        <p:nvSpPr>
          <p:cNvPr id="45" name="TextBox 44">
            <a:extLst>
              <a:ext uri="{FF2B5EF4-FFF2-40B4-BE49-F238E27FC236}">
                <a16:creationId xmlns:a16="http://schemas.microsoft.com/office/drawing/2014/main" id="{497D6539-4B92-74F4-751D-55D4B41B30A2}"/>
              </a:ext>
            </a:extLst>
          </p:cNvPr>
          <p:cNvSpPr txBox="1"/>
          <p:nvPr/>
        </p:nvSpPr>
        <p:spPr>
          <a:xfrm>
            <a:off x="726965" y="3427323"/>
            <a:ext cx="3792452" cy="200055"/>
          </a:xfrm>
          <a:prstGeom prst="rect">
            <a:avLst/>
          </a:prstGeom>
          <a:noFill/>
        </p:spPr>
        <p:txBody>
          <a:bodyPr wrap="square" rtlCol="0">
            <a:spAutoFit/>
          </a:bodyPr>
          <a:lstStyle/>
          <a:p>
            <a:r>
              <a:rPr lang="en-IN" sz="700" i="1" dirty="0">
                <a:latin typeface="Georgia" panose="02040502050405020303" pitchFamily="18" charset="0"/>
              </a:rPr>
              <a:t>Source: Horticulture Crop Statistics of Karnataka State at a Glance – 2023-24</a:t>
            </a:r>
          </a:p>
        </p:txBody>
      </p:sp>
      <p:cxnSp>
        <p:nvCxnSpPr>
          <p:cNvPr id="62" name="Straight Connector 61">
            <a:extLst>
              <a:ext uri="{FF2B5EF4-FFF2-40B4-BE49-F238E27FC236}">
                <a16:creationId xmlns:a16="http://schemas.microsoft.com/office/drawing/2014/main" id="{2745D203-0CFF-112F-F799-1263A502A6D7}"/>
              </a:ext>
            </a:extLst>
          </p:cNvPr>
          <p:cNvCxnSpPr>
            <a:cxnSpLocks/>
          </p:cNvCxnSpPr>
          <p:nvPr/>
        </p:nvCxnSpPr>
        <p:spPr>
          <a:xfrm>
            <a:off x="4871238" y="1077972"/>
            <a:ext cx="26544" cy="2880000"/>
          </a:xfrm>
          <a:prstGeom prst="line">
            <a:avLst/>
          </a:prstGeom>
          <a:ln>
            <a:solidFill>
              <a:srgbClr val="A9ABAE"/>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10351F6-827B-1539-2CA5-540D3781F7C4}"/>
              </a:ext>
            </a:extLst>
          </p:cNvPr>
          <p:cNvCxnSpPr>
            <a:cxnSpLocks/>
          </p:cNvCxnSpPr>
          <p:nvPr/>
        </p:nvCxnSpPr>
        <p:spPr>
          <a:xfrm>
            <a:off x="685800" y="4114800"/>
            <a:ext cx="10844586" cy="18735"/>
          </a:xfrm>
          <a:prstGeom prst="line">
            <a:avLst/>
          </a:prstGeom>
          <a:ln>
            <a:solidFill>
              <a:srgbClr val="A9ABAE"/>
            </a:solidFill>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ED4699FB-1848-6D4B-9407-DCEE09BCDBB7}"/>
              </a:ext>
            </a:extLst>
          </p:cNvPr>
          <p:cNvGrpSpPr/>
          <p:nvPr/>
        </p:nvGrpSpPr>
        <p:grpSpPr>
          <a:xfrm>
            <a:off x="702404" y="3927902"/>
            <a:ext cx="10844586" cy="1649664"/>
            <a:chOff x="668905" y="2595665"/>
            <a:chExt cx="5731895" cy="2978085"/>
          </a:xfrm>
        </p:grpSpPr>
        <p:sp>
          <p:nvSpPr>
            <p:cNvPr id="59" name="Rectangle 58">
              <a:extLst>
                <a:ext uri="{FF2B5EF4-FFF2-40B4-BE49-F238E27FC236}">
                  <a16:creationId xmlns:a16="http://schemas.microsoft.com/office/drawing/2014/main" id="{B5A60B91-E6A5-BF80-7AE6-1D308FA2D836}"/>
                </a:ext>
              </a:extLst>
            </p:cNvPr>
            <p:cNvSpPr/>
            <p:nvPr/>
          </p:nvSpPr>
          <p:spPr>
            <a:xfrm>
              <a:off x="668905" y="2595665"/>
              <a:ext cx="5731895" cy="2978085"/>
            </a:xfrm>
            <a:prstGeom prst="rect">
              <a:avLst/>
            </a:prstGeom>
            <a:solidFill>
              <a:srgbClr val="EFF5FB"/>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Georgia" panose="02040502050405020303" pitchFamily="18" charset="0"/>
              </a:endParaRPr>
            </a:p>
          </p:txBody>
        </p:sp>
        <p:sp>
          <p:nvSpPr>
            <p:cNvPr id="4" name="TextBox 3">
              <a:extLst>
                <a:ext uri="{FF2B5EF4-FFF2-40B4-BE49-F238E27FC236}">
                  <a16:creationId xmlns:a16="http://schemas.microsoft.com/office/drawing/2014/main" id="{067AD3A9-5121-938C-2368-853DCE56CD7F}"/>
                </a:ext>
              </a:extLst>
            </p:cNvPr>
            <p:cNvSpPr txBox="1"/>
            <p:nvPr/>
          </p:nvSpPr>
          <p:spPr>
            <a:xfrm>
              <a:off x="691931" y="3137850"/>
              <a:ext cx="5708869" cy="833429"/>
            </a:xfrm>
            <a:prstGeom prst="rect">
              <a:avLst/>
            </a:prstGeom>
            <a:noFill/>
          </p:spPr>
          <p:txBody>
            <a:bodyPr wrap="square">
              <a:spAutoFit/>
            </a:bodyPr>
            <a:lstStyle/>
            <a:p>
              <a:r>
                <a:rPr lang="en-US" sz="1200" dirty="0">
                  <a:latin typeface="Georgia" panose="02040502050405020303" pitchFamily="18" charset="0"/>
                </a:rPr>
                <a:t>Post-harvest losses across Grape, Pomegranate, Tomato, Onion, Banana, and Mango in North Karnataka are primarily attributed to infrastructure</a:t>
              </a:r>
              <a:r>
                <a:rPr lang="en-US" sz="1200" i="1" dirty="0">
                  <a:latin typeface="Georgia" panose="02040502050405020303" pitchFamily="18" charset="0"/>
                </a:rPr>
                <a:t>. </a:t>
              </a:r>
            </a:p>
            <a:p>
              <a:r>
                <a:rPr lang="en-US" sz="1200" i="1" dirty="0">
                  <a:latin typeface="Georgia" panose="02040502050405020303" pitchFamily="18" charset="0"/>
                </a:rPr>
                <a:t>Key issues reported by various district officials include</a:t>
              </a:r>
            </a:p>
          </p:txBody>
        </p:sp>
        <p:sp>
          <p:nvSpPr>
            <p:cNvPr id="9" name="TextBox 8">
              <a:extLst>
                <a:ext uri="{FF2B5EF4-FFF2-40B4-BE49-F238E27FC236}">
                  <a16:creationId xmlns:a16="http://schemas.microsoft.com/office/drawing/2014/main" id="{6136F855-058C-3ED8-6493-C0C78BF17D3D}"/>
                </a:ext>
              </a:extLst>
            </p:cNvPr>
            <p:cNvSpPr txBox="1"/>
            <p:nvPr/>
          </p:nvSpPr>
          <p:spPr>
            <a:xfrm>
              <a:off x="762390" y="3927377"/>
              <a:ext cx="5384408" cy="1625185"/>
            </a:xfrm>
            <a:prstGeom prst="rect">
              <a:avLst/>
            </a:prstGeom>
            <a:noFill/>
          </p:spPr>
          <p:txBody>
            <a:bodyPr wrap="square">
              <a:spAutoFit/>
            </a:bodyPr>
            <a:lstStyle/>
            <a:p>
              <a:pPr marL="171450" indent="-171450">
                <a:buFont typeface="Arial" panose="020B0604020202020204" pitchFamily="34" charset="0"/>
                <a:buChar char="•"/>
              </a:pPr>
              <a:r>
                <a:rPr lang="en-US" sz="1050" i="1" dirty="0">
                  <a:solidFill>
                    <a:srgbClr val="9C3234"/>
                  </a:solidFill>
                  <a:latin typeface="Georgia" panose="02040502050405020303" pitchFamily="18" charset="0"/>
                </a:rPr>
                <a:t>Grape (Bagalkot, Belagavi) suffer from gray mold, moisture loss, and lack of pre-cooling facilities.</a:t>
              </a:r>
            </a:p>
            <a:p>
              <a:pPr marL="171450" indent="-171450">
                <a:buFont typeface="Arial" panose="020B0604020202020204" pitchFamily="34" charset="0"/>
                <a:buChar char="•"/>
              </a:pPr>
              <a:r>
                <a:rPr lang="en-US" sz="1050" i="1" dirty="0">
                  <a:solidFill>
                    <a:srgbClr val="9C3234"/>
                  </a:solidFill>
                  <a:latin typeface="Georgia" panose="02040502050405020303" pitchFamily="18" charset="0"/>
                </a:rPr>
                <a:t>Pomegranate (Bagalkot, Gadag) are damaged by bacterial blight, wilt disease, and moisture-induced shriveling.</a:t>
              </a:r>
            </a:p>
            <a:p>
              <a:pPr marL="171450" indent="-171450">
                <a:buFont typeface="Arial" panose="020B0604020202020204" pitchFamily="34" charset="0"/>
                <a:buChar char="•"/>
              </a:pPr>
              <a:r>
                <a:rPr lang="en-US" sz="1050" i="1" dirty="0">
                  <a:solidFill>
                    <a:srgbClr val="9C3234"/>
                  </a:solidFill>
                  <a:latin typeface="Georgia" panose="02040502050405020303" pitchFamily="18" charset="0"/>
                </a:rPr>
                <a:t>Onion (Bagalkot) suffer from improper curing, high moisture content, and inadequate storage facilities.</a:t>
              </a:r>
            </a:p>
            <a:p>
              <a:pPr marL="171450" indent="-171450">
                <a:buFont typeface="Arial" panose="020B0604020202020204" pitchFamily="34" charset="0"/>
                <a:buChar char="•"/>
              </a:pPr>
              <a:r>
                <a:rPr lang="en-US" sz="1050" i="1" dirty="0">
                  <a:solidFill>
                    <a:srgbClr val="9C3234"/>
                  </a:solidFill>
                  <a:latin typeface="Georgia" panose="02040502050405020303" pitchFamily="18" charset="0"/>
                </a:rPr>
                <a:t>Banana (Gadag) experience labour shortage, poor handling, and lack of ripening and storage facilities.</a:t>
              </a:r>
            </a:p>
            <a:p>
              <a:pPr marL="171450" indent="-171450">
                <a:buFont typeface="Arial" panose="020B0604020202020204" pitchFamily="34" charset="0"/>
                <a:buChar char="•"/>
              </a:pPr>
              <a:r>
                <a:rPr lang="en-US" sz="1050" i="1" dirty="0">
                  <a:solidFill>
                    <a:srgbClr val="9C3234"/>
                  </a:solidFill>
                  <a:latin typeface="Georgia" panose="02040502050405020303" pitchFamily="18" charset="0"/>
                </a:rPr>
                <a:t>Mango (Belagavi) suffer from weather stress, fruit fly infestation, and fungal diseases.</a:t>
              </a:r>
              <a:endParaRPr lang="en-IN" sz="1050" i="1" dirty="0">
                <a:solidFill>
                  <a:srgbClr val="9C3234"/>
                </a:solidFill>
                <a:latin typeface="Georgia" panose="02040502050405020303" pitchFamily="18" charset="0"/>
              </a:endParaRPr>
            </a:p>
          </p:txBody>
        </p:sp>
      </p:grpSp>
      <p:sp>
        <p:nvSpPr>
          <p:cNvPr id="22" name="TextBox 21">
            <a:extLst>
              <a:ext uri="{FF2B5EF4-FFF2-40B4-BE49-F238E27FC236}">
                <a16:creationId xmlns:a16="http://schemas.microsoft.com/office/drawing/2014/main" id="{7E796933-05E0-3CA5-E2EE-D0803E2E4710}"/>
              </a:ext>
            </a:extLst>
          </p:cNvPr>
          <p:cNvSpPr txBox="1"/>
          <p:nvPr/>
        </p:nvSpPr>
        <p:spPr>
          <a:xfrm>
            <a:off x="6781801" y="5370493"/>
            <a:ext cx="4941002" cy="200055"/>
          </a:xfrm>
          <a:prstGeom prst="rect">
            <a:avLst/>
          </a:prstGeom>
          <a:noFill/>
        </p:spPr>
        <p:txBody>
          <a:bodyPr wrap="square" rtlCol="0">
            <a:spAutoFit/>
          </a:bodyPr>
          <a:lstStyle/>
          <a:p>
            <a:r>
              <a:rPr lang="en-IN" sz="700" i="1" dirty="0">
                <a:latin typeface="Georgia" panose="02040502050405020303" pitchFamily="18" charset="0"/>
              </a:rPr>
              <a:t>Source: As reported by district officials of Horticulture Department, Government of Karnataka, as of March 2026</a:t>
            </a:r>
          </a:p>
        </p:txBody>
      </p:sp>
      <p:graphicFrame>
        <p:nvGraphicFramePr>
          <p:cNvPr id="2" name="Chart 1">
            <a:extLst>
              <a:ext uri="{FF2B5EF4-FFF2-40B4-BE49-F238E27FC236}">
                <a16:creationId xmlns:a16="http://schemas.microsoft.com/office/drawing/2014/main" id="{94AB182C-4FFE-D8B5-EB51-F6DD577638DF}"/>
              </a:ext>
            </a:extLst>
          </p:cNvPr>
          <p:cNvGraphicFramePr>
            <a:graphicFrameLocks/>
          </p:cNvGraphicFramePr>
          <p:nvPr>
            <p:extLst>
              <p:ext uri="{D42A27DB-BD31-4B8C-83A1-F6EECF244321}">
                <p14:modId xmlns:p14="http://schemas.microsoft.com/office/powerpoint/2010/main" val="546629348"/>
              </p:ext>
            </p:extLst>
          </p:nvPr>
        </p:nvGraphicFramePr>
        <p:xfrm>
          <a:off x="636144" y="1900922"/>
          <a:ext cx="4515859" cy="1569780"/>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a:extLst>
              <a:ext uri="{FF2B5EF4-FFF2-40B4-BE49-F238E27FC236}">
                <a16:creationId xmlns:a16="http://schemas.microsoft.com/office/drawing/2014/main" id="{B8D34F4B-DF3D-50FF-3FCD-15905AF7A02F}"/>
              </a:ext>
            </a:extLst>
          </p:cNvPr>
          <p:cNvSpPr txBox="1"/>
          <p:nvPr/>
        </p:nvSpPr>
        <p:spPr>
          <a:xfrm>
            <a:off x="659536" y="5604302"/>
            <a:ext cx="7112864" cy="415498"/>
          </a:xfrm>
          <a:prstGeom prst="rect">
            <a:avLst/>
          </a:prstGeom>
          <a:noFill/>
        </p:spPr>
        <p:txBody>
          <a:bodyPr wrap="square" rtlCol="0">
            <a:spAutoFit/>
          </a:bodyPr>
          <a:lstStyle/>
          <a:p>
            <a:r>
              <a:rPr lang="en-US" sz="700" i="1" dirty="0">
                <a:latin typeface="Georgia" panose="02040502050405020303" pitchFamily="18" charset="0"/>
              </a:rPr>
              <a:t>Data sources: As per the internal data shared by the following departments under Government of Karnataka, as of March 2026:</a:t>
            </a:r>
          </a:p>
          <a:p>
            <a:pPr marL="93663" indent="-93663">
              <a:buFont typeface="Arial" panose="020B0604020202020204" pitchFamily="34" charset="0"/>
              <a:buChar char="•"/>
            </a:pPr>
            <a:r>
              <a:rPr lang="en-IN" sz="700" i="1" dirty="0">
                <a:latin typeface="Georgia" panose="02040502050405020303" pitchFamily="18" charset="0"/>
              </a:rPr>
              <a:t>KAPPEC – Processing infrastructure &amp; Watershed Development Department (</a:t>
            </a:r>
            <a:r>
              <a:rPr lang="en-IN" sz="700" i="1" dirty="0" err="1">
                <a:latin typeface="Georgia" panose="02040502050405020303" pitchFamily="18" charset="0"/>
              </a:rPr>
              <a:t>WDD</a:t>
            </a:r>
            <a:r>
              <a:rPr lang="en-IN" sz="700" i="1" dirty="0">
                <a:latin typeface="Georgia" panose="02040502050405020303" pitchFamily="18" charset="0"/>
              </a:rPr>
              <a:t>) FPOs</a:t>
            </a:r>
          </a:p>
          <a:p>
            <a:pPr marL="93663" indent="-93663">
              <a:buFont typeface="Arial" panose="020B0604020202020204" pitchFamily="34" charset="0"/>
              <a:buChar char="•"/>
            </a:pPr>
            <a:r>
              <a:rPr lang="en-IN" sz="700" i="1" dirty="0">
                <a:latin typeface="Georgia" panose="02040502050405020303" pitchFamily="18" charset="0"/>
              </a:rPr>
              <a:t>Directorate of Horticulture – Cold storage infrastructure, Horticulture farms/nurseries, Horticulture Department FPOs</a:t>
            </a:r>
          </a:p>
        </p:txBody>
      </p:sp>
      <p:sp>
        <p:nvSpPr>
          <p:cNvPr id="63" name="Title 1">
            <a:extLst>
              <a:ext uri="{FF2B5EF4-FFF2-40B4-BE49-F238E27FC236}">
                <a16:creationId xmlns:a16="http://schemas.microsoft.com/office/drawing/2014/main" id="{F42052A0-B5D9-95D8-7C6D-F60D72875523}"/>
              </a:ext>
            </a:extLst>
          </p:cNvPr>
          <p:cNvSpPr txBox="1">
            <a:spLocks/>
          </p:cNvSpPr>
          <p:nvPr/>
        </p:nvSpPr>
        <p:spPr>
          <a:xfrm>
            <a:off x="497967" y="360402"/>
            <a:ext cx="10561116" cy="553998"/>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000" b="1" i="0" kern="1200">
                <a:solidFill>
                  <a:srgbClr val="9C3134"/>
                </a:solidFill>
                <a:latin typeface="Trebuchet MS"/>
                <a:ea typeface="+mj-ea"/>
                <a:cs typeface="Trebuchet MS"/>
              </a:defRPr>
            </a:lvl1pPr>
          </a:lstStyle>
          <a:p>
            <a:r>
              <a:rPr lang="en-US" sz="1800" dirty="0">
                <a:solidFill>
                  <a:srgbClr val="E8A33D"/>
                </a:solidFill>
                <a:latin typeface="Georgia" panose="02040502050405020303" pitchFamily="18" charset="0"/>
              </a:rPr>
              <a:t>North Karnataka Onion-Grape-Raisin-Pomegranate cluster</a:t>
            </a:r>
            <a:br>
              <a:rPr lang="en-US" sz="1000" dirty="0">
                <a:latin typeface="Georgia" panose="02040502050405020303" pitchFamily="18" charset="0"/>
              </a:rPr>
            </a:br>
            <a:r>
              <a:rPr lang="en-US" sz="1000" i="1" dirty="0">
                <a:solidFill>
                  <a:schemeClr val="bg1"/>
                </a:solidFill>
                <a:latin typeface="Georgia" panose="02040502050405020303" pitchFamily="18" charset="0"/>
              </a:rPr>
              <a:t>(Vijayapura, Belagavi, Bagalkot, Gadag)</a:t>
            </a:r>
            <a:endParaRPr lang="en-IN" sz="1000" i="1" dirty="0">
              <a:solidFill>
                <a:schemeClr val="bg1"/>
              </a:solidFill>
              <a:latin typeface="Georgia" panose="02040502050405020303" pitchFamily="18" charset="0"/>
            </a:endParaRPr>
          </a:p>
        </p:txBody>
      </p:sp>
      <p:sp>
        <p:nvSpPr>
          <p:cNvPr id="7" name="TextBox 6">
            <a:extLst>
              <a:ext uri="{FF2B5EF4-FFF2-40B4-BE49-F238E27FC236}">
                <a16:creationId xmlns:a16="http://schemas.microsoft.com/office/drawing/2014/main" id="{BD654AE0-25DC-9F8C-ED9D-168CA75C65DD}"/>
              </a:ext>
            </a:extLst>
          </p:cNvPr>
          <p:cNvSpPr txBox="1"/>
          <p:nvPr/>
        </p:nvSpPr>
        <p:spPr>
          <a:xfrm>
            <a:off x="381000" y="-108746"/>
            <a:ext cx="9852872" cy="579069"/>
          </a:xfrm>
          <a:prstGeom prst="rect">
            <a:avLst/>
          </a:prstGeom>
          <a:noFill/>
        </p:spPr>
        <p:txBody>
          <a:bodyPr wrap="square">
            <a:spAutoFit/>
          </a:bodyPr>
          <a:lstStyle/>
          <a:p>
            <a:pPr>
              <a:lnSpc>
                <a:spcPct val="150000"/>
              </a:lnSpc>
              <a:spcAft>
                <a:spcPts val="800"/>
              </a:spcAft>
            </a:pPr>
            <a:r>
              <a:rPr lang="en-IN" sz="2400" b="1" i="1" dirty="0">
                <a:solidFill>
                  <a:schemeClr val="bg1"/>
                </a:solidFill>
                <a:latin typeface="Georgia" panose="02040502050405020303" pitchFamily="18" charset="0"/>
              </a:rPr>
              <a:t>Challenge category 1: Post-harvest value chain solutions</a:t>
            </a:r>
          </a:p>
        </p:txBody>
      </p:sp>
      <p:sp>
        <p:nvSpPr>
          <p:cNvPr id="8" name="TextBox 7">
            <a:extLst>
              <a:ext uri="{FF2B5EF4-FFF2-40B4-BE49-F238E27FC236}">
                <a16:creationId xmlns:a16="http://schemas.microsoft.com/office/drawing/2014/main" id="{30112232-BF11-2008-D083-21A364A2EB31}"/>
              </a:ext>
            </a:extLst>
          </p:cNvPr>
          <p:cNvSpPr txBox="1"/>
          <p:nvPr/>
        </p:nvSpPr>
        <p:spPr>
          <a:xfrm>
            <a:off x="487216" y="1265905"/>
            <a:ext cx="4311370" cy="646331"/>
          </a:xfrm>
          <a:prstGeom prst="rect">
            <a:avLst/>
          </a:prstGeom>
          <a:noFill/>
        </p:spPr>
        <p:txBody>
          <a:bodyPr wrap="square">
            <a:spAutoFit/>
          </a:bodyPr>
          <a:lstStyle/>
          <a:p>
            <a:pPr>
              <a:buNone/>
            </a:pPr>
            <a:r>
              <a:rPr lang="en-US" sz="1200" b="1" dirty="0">
                <a:solidFill>
                  <a:srgbClr val="9C3237"/>
                </a:solidFill>
                <a:latin typeface="Georgia" panose="02040502050405020303" pitchFamily="18" charset="0"/>
              </a:rPr>
              <a:t>Out of the total fruits &amp; vegetables production of 40 million MT in this cluster, the seven crop-specific production accounted for approximately 76.7%.</a:t>
            </a:r>
          </a:p>
        </p:txBody>
      </p:sp>
      <p:sp>
        <p:nvSpPr>
          <p:cNvPr id="13" name="TextBox 12">
            <a:extLst>
              <a:ext uri="{FF2B5EF4-FFF2-40B4-BE49-F238E27FC236}">
                <a16:creationId xmlns:a16="http://schemas.microsoft.com/office/drawing/2014/main" id="{B026C0B2-856D-75C6-81E0-55768D7D34D3}"/>
              </a:ext>
            </a:extLst>
          </p:cNvPr>
          <p:cNvSpPr txBox="1"/>
          <p:nvPr/>
        </p:nvSpPr>
        <p:spPr>
          <a:xfrm>
            <a:off x="6244491" y="846148"/>
            <a:ext cx="3583805" cy="338554"/>
          </a:xfrm>
          <a:prstGeom prst="rect">
            <a:avLst/>
          </a:prstGeom>
          <a:noFill/>
        </p:spPr>
        <p:txBody>
          <a:bodyPr wrap="square">
            <a:spAutoFit/>
          </a:bodyPr>
          <a:lstStyle/>
          <a:p>
            <a:pPr algn="ctr"/>
            <a:r>
              <a:rPr lang="en-US" sz="1600" b="1" dirty="0">
                <a:latin typeface="Georgia" panose="02040502050405020303" pitchFamily="18" charset="0"/>
              </a:rPr>
              <a:t>Existing Ecosystem</a:t>
            </a:r>
          </a:p>
        </p:txBody>
      </p:sp>
      <p:sp>
        <p:nvSpPr>
          <p:cNvPr id="18" name="TextBox 17">
            <a:extLst>
              <a:ext uri="{FF2B5EF4-FFF2-40B4-BE49-F238E27FC236}">
                <a16:creationId xmlns:a16="http://schemas.microsoft.com/office/drawing/2014/main" id="{F403C243-92BC-4680-7182-3C2736D1E658}"/>
              </a:ext>
            </a:extLst>
          </p:cNvPr>
          <p:cNvSpPr txBox="1"/>
          <p:nvPr/>
        </p:nvSpPr>
        <p:spPr>
          <a:xfrm>
            <a:off x="2209800" y="3927902"/>
            <a:ext cx="6097604" cy="338554"/>
          </a:xfrm>
          <a:prstGeom prst="rect">
            <a:avLst/>
          </a:prstGeom>
          <a:noFill/>
        </p:spPr>
        <p:txBody>
          <a:bodyPr wrap="square">
            <a:spAutoFit/>
          </a:bodyPr>
          <a:lstStyle/>
          <a:p>
            <a:pPr algn="ctr"/>
            <a:r>
              <a:rPr lang="en-US" sz="1600" b="1" dirty="0">
                <a:latin typeface="Georgia" panose="02040502050405020303" pitchFamily="18" charset="0"/>
              </a:rPr>
              <a:t>Challenges reported</a:t>
            </a:r>
          </a:p>
        </p:txBody>
      </p:sp>
      <p:sp>
        <p:nvSpPr>
          <p:cNvPr id="20" name="TextBox 19">
            <a:extLst>
              <a:ext uri="{FF2B5EF4-FFF2-40B4-BE49-F238E27FC236}">
                <a16:creationId xmlns:a16="http://schemas.microsoft.com/office/drawing/2014/main" id="{1FED0D7D-153C-CD81-1DFA-29808C27E0BA}"/>
              </a:ext>
            </a:extLst>
          </p:cNvPr>
          <p:cNvSpPr txBox="1"/>
          <p:nvPr/>
        </p:nvSpPr>
        <p:spPr>
          <a:xfrm>
            <a:off x="1749858" y="879902"/>
            <a:ext cx="1576398" cy="338554"/>
          </a:xfrm>
          <a:prstGeom prst="rect">
            <a:avLst/>
          </a:prstGeom>
          <a:noFill/>
        </p:spPr>
        <p:txBody>
          <a:bodyPr wrap="square">
            <a:spAutoFit/>
          </a:bodyPr>
          <a:lstStyle/>
          <a:p>
            <a:pPr algn="ctr"/>
            <a:r>
              <a:rPr lang="en-US" sz="1600" b="1" dirty="0">
                <a:latin typeface="Georgia" panose="02040502050405020303" pitchFamily="18" charset="0"/>
              </a:rPr>
              <a:t>Production</a:t>
            </a:r>
          </a:p>
        </p:txBody>
      </p:sp>
      <p:grpSp>
        <p:nvGrpSpPr>
          <p:cNvPr id="19" name="Group 18">
            <a:extLst>
              <a:ext uri="{FF2B5EF4-FFF2-40B4-BE49-F238E27FC236}">
                <a16:creationId xmlns:a16="http://schemas.microsoft.com/office/drawing/2014/main" id="{CF440794-A4C6-27CE-E46D-3639D84E75D8}"/>
              </a:ext>
            </a:extLst>
          </p:cNvPr>
          <p:cNvGrpSpPr/>
          <p:nvPr/>
        </p:nvGrpSpPr>
        <p:grpSpPr>
          <a:xfrm>
            <a:off x="5181600" y="1641902"/>
            <a:ext cx="6512431" cy="646331"/>
            <a:chOff x="5181600" y="1948190"/>
            <a:chExt cx="6512431" cy="646331"/>
          </a:xfrm>
        </p:grpSpPr>
        <p:sp>
          <p:nvSpPr>
            <p:cNvPr id="46" name="TextBox 45">
              <a:extLst>
                <a:ext uri="{FF2B5EF4-FFF2-40B4-BE49-F238E27FC236}">
                  <a16:creationId xmlns:a16="http://schemas.microsoft.com/office/drawing/2014/main" id="{D251B779-A5C7-9E3F-3406-BE5D4F797472}"/>
                </a:ext>
              </a:extLst>
            </p:cNvPr>
            <p:cNvSpPr txBox="1">
              <a:spLocks/>
            </p:cNvSpPr>
            <p:nvPr/>
          </p:nvSpPr>
          <p:spPr>
            <a:xfrm>
              <a:off x="5610050" y="1948190"/>
              <a:ext cx="6083981" cy="646331"/>
            </a:xfrm>
            <a:prstGeom prst="rect">
              <a:avLst/>
            </a:prstGeom>
            <a:noFill/>
          </p:spPr>
          <p:txBody>
            <a:bodyPr wrap="square">
              <a:spAutoFit/>
            </a:bodyPr>
            <a:lstStyle/>
            <a:p>
              <a:r>
                <a:rPr lang="en-US" sz="1200" dirty="0">
                  <a:latin typeface="Georgia" panose="02040502050405020303" pitchFamily="18" charset="0"/>
                </a:rPr>
                <a:t>Cold storage units with 1,31,996 MT capacity cover other fruits and vegetables like Lemon, Potato and Beetroot. A new cold storage (12,000 MT) unit is coming up in Vijayapura.</a:t>
              </a:r>
              <a:endParaRPr lang="en-IN" sz="1200" dirty="0">
                <a:latin typeface="Georgia" panose="02040502050405020303" pitchFamily="18" charset="0"/>
              </a:endParaRPr>
            </a:p>
          </p:txBody>
        </p:sp>
        <p:pic>
          <p:nvPicPr>
            <p:cNvPr id="27" name="Graphic 26" descr="Thermometer with solid fill">
              <a:extLst>
                <a:ext uri="{FF2B5EF4-FFF2-40B4-BE49-F238E27FC236}">
                  <a16:creationId xmlns:a16="http://schemas.microsoft.com/office/drawing/2014/main" id="{86D9EF16-55DD-4A55-3A5A-28D5C60599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81600" y="1981200"/>
              <a:ext cx="350584" cy="350584"/>
            </a:xfrm>
            <a:prstGeom prst="rect">
              <a:avLst/>
            </a:prstGeom>
          </p:spPr>
        </p:pic>
      </p:grpSp>
      <p:grpSp>
        <p:nvGrpSpPr>
          <p:cNvPr id="14" name="Group 13">
            <a:extLst>
              <a:ext uri="{FF2B5EF4-FFF2-40B4-BE49-F238E27FC236}">
                <a16:creationId xmlns:a16="http://schemas.microsoft.com/office/drawing/2014/main" id="{95F313ED-1BF9-793D-285A-6371A0876946}"/>
              </a:ext>
            </a:extLst>
          </p:cNvPr>
          <p:cNvGrpSpPr/>
          <p:nvPr/>
        </p:nvGrpSpPr>
        <p:grpSpPr>
          <a:xfrm>
            <a:off x="5195221" y="1232980"/>
            <a:ext cx="6098638" cy="461665"/>
            <a:chOff x="5195221" y="1419878"/>
            <a:chExt cx="6098638" cy="461665"/>
          </a:xfrm>
        </p:grpSpPr>
        <p:sp>
          <p:nvSpPr>
            <p:cNvPr id="39" name="TextBox 38">
              <a:extLst>
                <a:ext uri="{FF2B5EF4-FFF2-40B4-BE49-F238E27FC236}">
                  <a16:creationId xmlns:a16="http://schemas.microsoft.com/office/drawing/2014/main" id="{E85CA9E4-3FC5-21AA-4581-EEFECB6BBD07}"/>
                </a:ext>
              </a:extLst>
            </p:cNvPr>
            <p:cNvSpPr txBox="1">
              <a:spLocks/>
            </p:cNvSpPr>
            <p:nvPr/>
          </p:nvSpPr>
          <p:spPr>
            <a:xfrm>
              <a:off x="5610051" y="1419878"/>
              <a:ext cx="5683808" cy="461665"/>
            </a:xfrm>
            <a:prstGeom prst="rect">
              <a:avLst/>
            </a:prstGeom>
            <a:noFill/>
          </p:spPr>
          <p:txBody>
            <a:bodyPr wrap="square">
              <a:spAutoFit/>
            </a:bodyPr>
            <a:lstStyle/>
            <a:p>
              <a:r>
                <a:rPr lang="en-US" sz="1200" dirty="0">
                  <a:latin typeface="Georgia" panose="02040502050405020303" pitchFamily="18" charset="0"/>
                </a:rPr>
                <a:t>Cold storage units with 1,11,359 MT capacity exist for Grapes and Pomegranate. Production exceeds the cold storage capacity. </a:t>
              </a:r>
              <a:endParaRPr lang="en-IN" sz="1200" dirty="0">
                <a:latin typeface="Georgia" panose="02040502050405020303" pitchFamily="18" charset="0"/>
              </a:endParaRPr>
            </a:p>
          </p:txBody>
        </p:sp>
        <p:pic>
          <p:nvPicPr>
            <p:cNvPr id="30" name="Graphic 29" descr="Warehouse with solid fill">
              <a:extLst>
                <a:ext uri="{FF2B5EF4-FFF2-40B4-BE49-F238E27FC236}">
                  <a16:creationId xmlns:a16="http://schemas.microsoft.com/office/drawing/2014/main" id="{0F1E2E02-63F9-4462-5AC0-438D252D84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95221" y="1461421"/>
              <a:ext cx="291179" cy="291179"/>
            </a:xfrm>
            <a:prstGeom prst="rect">
              <a:avLst/>
            </a:prstGeom>
          </p:spPr>
        </p:pic>
      </p:grpSp>
      <p:grpSp>
        <p:nvGrpSpPr>
          <p:cNvPr id="5" name="Group 4">
            <a:extLst>
              <a:ext uri="{FF2B5EF4-FFF2-40B4-BE49-F238E27FC236}">
                <a16:creationId xmlns:a16="http://schemas.microsoft.com/office/drawing/2014/main" id="{2AD8978E-4D4F-3987-FDA6-22EF10401C7F}"/>
              </a:ext>
            </a:extLst>
          </p:cNvPr>
          <p:cNvGrpSpPr/>
          <p:nvPr/>
        </p:nvGrpSpPr>
        <p:grpSpPr>
          <a:xfrm>
            <a:off x="5238246" y="2708702"/>
            <a:ext cx="6316838" cy="1086371"/>
            <a:chOff x="5210402" y="2911667"/>
            <a:chExt cx="6512418" cy="1086371"/>
          </a:xfrm>
        </p:grpSpPr>
        <p:sp>
          <p:nvSpPr>
            <p:cNvPr id="41" name="TextBox 40">
              <a:extLst>
                <a:ext uri="{FF2B5EF4-FFF2-40B4-BE49-F238E27FC236}">
                  <a16:creationId xmlns:a16="http://schemas.microsoft.com/office/drawing/2014/main" id="{8887AE7B-3CD5-B918-3669-62FE09502743}"/>
                </a:ext>
              </a:extLst>
            </p:cNvPr>
            <p:cNvSpPr txBox="1">
              <a:spLocks/>
            </p:cNvSpPr>
            <p:nvPr/>
          </p:nvSpPr>
          <p:spPr>
            <a:xfrm>
              <a:off x="5466240" y="2911667"/>
              <a:ext cx="6206183" cy="646331"/>
            </a:xfrm>
            <a:prstGeom prst="rect">
              <a:avLst/>
            </a:prstGeom>
            <a:noFill/>
          </p:spPr>
          <p:txBody>
            <a:bodyPr wrap="square">
              <a:spAutoFit/>
            </a:bodyPr>
            <a:lstStyle/>
            <a:p>
              <a:pPr marL="114300"/>
              <a:r>
                <a:rPr lang="en-US" sz="1200" dirty="0">
                  <a:latin typeface="Georgia" panose="02040502050405020303" pitchFamily="18" charset="0"/>
                </a:rPr>
                <a:t>42 WDD FPOs recorded ₹11 Cr in transactions during FY 23-24, primarily focusing on Onion, Banana and Tomato, while 64 WDD FPOs operated across all fruits and vegetables with ₹19 Cr total transactions in FY 23-24.</a:t>
              </a:r>
            </a:p>
          </p:txBody>
        </p:sp>
        <p:pic>
          <p:nvPicPr>
            <p:cNvPr id="26" name="Graphic 25" descr="Rupee with solid fill">
              <a:extLst>
                <a:ext uri="{FF2B5EF4-FFF2-40B4-BE49-F238E27FC236}">
                  <a16:creationId xmlns:a16="http://schemas.microsoft.com/office/drawing/2014/main" id="{A0AC1924-8641-2B94-8CD6-89CC308F3D8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32285" y="3634178"/>
              <a:ext cx="271433" cy="271433"/>
            </a:xfrm>
            <a:prstGeom prst="rect">
              <a:avLst/>
            </a:prstGeom>
          </p:spPr>
        </p:pic>
        <p:pic>
          <p:nvPicPr>
            <p:cNvPr id="31" name="Graphic 30" descr="Users with solid fill">
              <a:extLst>
                <a:ext uri="{FF2B5EF4-FFF2-40B4-BE49-F238E27FC236}">
                  <a16:creationId xmlns:a16="http://schemas.microsoft.com/office/drawing/2014/main" id="{878BDBE6-1B78-29F0-A0AC-8014FCFD221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10402" y="3048000"/>
              <a:ext cx="334397" cy="334397"/>
            </a:xfrm>
            <a:prstGeom prst="rect">
              <a:avLst/>
            </a:prstGeom>
          </p:spPr>
        </p:pic>
        <p:sp>
          <p:nvSpPr>
            <p:cNvPr id="6" name="TextBox 5">
              <a:extLst>
                <a:ext uri="{FF2B5EF4-FFF2-40B4-BE49-F238E27FC236}">
                  <a16:creationId xmlns:a16="http://schemas.microsoft.com/office/drawing/2014/main" id="{27F9B1BD-8F69-0577-7D1F-0E4DE1663AAD}"/>
                </a:ext>
              </a:extLst>
            </p:cNvPr>
            <p:cNvSpPr txBox="1"/>
            <p:nvPr/>
          </p:nvSpPr>
          <p:spPr>
            <a:xfrm>
              <a:off x="5387680" y="3536373"/>
              <a:ext cx="6335140" cy="461665"/>
            </a:xfrm>
            <a:prstGeom prst="rect">
              <a:avLst/>
            </a:prstGeom>
            <a:noFill/>
          </p:spPr>
          <p:txBody>
            <a:bodyPr wrap="square">
              <a:spAutoFit/>
            </a:bodyPr>
            <a:lstStyle/>
            <a:p>
              <a:pPr marL="171450"/>
              <a:r>
                <a:rPr lang="en-US" sz="1200" dirty="0">
                  <a:effectLst/>
                  <a:latin typeface="Georgia" panose="02040502050405020303" pitchFamily="18" charset="0"/>
                </a:rPr>
                <a:t>FPOs supported by the Horticulture Department recorded</a:t>
              </a:r>
              <a:r>
                <a:rPr lang="en-US" sz="1200" dirty="0">
                  <a:solidFill>
                    <a:srgbClr val="FF0000"/>
                  </a:solidFill>
                  <a:effectLst/>
                  <a:latin typeface="Georgia" panose="02040502050405020303" pitchFamily="18" charset="0"/>
                </a:rPr>
                <a:t> </a:t>
              </a:r>
              <a:r>
                <a:rPr lang="en-US" sz="1200" dirty="0">
                  <a:effectLst/>
                  <a:latin typeface="Georgia" panose="02040502050405020303" pitchFamily="18" charset="0"/>
                </a:rPr>
                <a:t>₹24 crores in transactions in FY 23-24 for Onion</a:t>
              </a:r>
              <a:r>
                <a:rPr lang="en-US" sz="1200" dirty="0">
                  <a:latin typeface="Georgia" panose="02040502050405020303" pitchFamily="18" charset="0"/>
                </a:rPr>
                <a:t>, Grapes, Pomegranate, Lemon, Sweet potato etc.</a:t>
              </a:r>
              <a:endParaRPr lang="en-US" sz="1200" dirty="0">
                <a:effectLst/>
                <a:latin typeface="Georgia" panose="02040502050405020303" pitchFamily="18" charset="0"/>
              </a:endParaRPr>
            </a:p>
          </p:txBody>
        </p:sp>
      </p:grpSp>
      <p:grpSp>
        <p:nvGrpSpPr>
          <p:cNvPr id="10" name="Group 9">
            <a:extLst>
              <a:ext uri="{FF2B5EF4-FFF2-40B4-BE49-F238E27FC236}">
                <a16:creationId xmlns:a16="http://schemas.microsoft.com/office/drawing/2014/main" id="{B2A3FC09-4D9F-2550-F914-75E4C03BF764}"/>
              </a:ext>
            </a:extLst>
          </p:cNvPr>
          <p:cNvGrpSpPr/>
          <p:nvPr/>
        </p:nvGrpSpPr>
        <p:grpSpPr>
          <a:xfrm>
            <a:off x="5173936" y="2251502"/>
            <a:ext cx="6408465" cy="461665"/>
            <a:chOff x="4954803" y="3565587"/>
            <a:chExt cx="6408465" cy="461665"/>
          </a:xfrm>
        </p:grpSpPr>
        <p:sp>
          <p:nvSpPr>
            <p:cNvPr id="11" name="TextBox 10">
              <a:extLst>
                <a:ext uri="{FF2B5EF4-FFF2-40B4-BE49-F238E27FC236}">
                  <a16:creationId xmlns:a16="http://schemas.microsoft.com/office/drawing/2014/main" id="{71B7CFC5-9197-E42B-9C28-CD5C40514C37}"/>
                </a:ext>
              </a:extLst>
            </p:cNvPr>
            <p:cNvSpPr txBox="1">
              <a:spLocks/>
            </p:cNvSpPr>
            <p:nvPr/>
          </p:nvSpPr>
          <p:spPr>
            <a:xfrm>
              <a:off x="5267268" y="3565587"/>
              <a:ext cx="6096000" cy="461665"/>
            </a:xfrm>
            <a:prstGeom prst="rect">
              <a:avLst/>
            </a:prstGeom>
            <a:noFill/>
          </p:spPr>
          <p:txBody>
            <a:bodyPr wrap="square">
              <a:spAutoFit/>
            </a:bodyPr>
            <a:lstStyle/>
            <a:p>
              <a:pPr marL="114300"/>
              <a:r>
                <a:rPr lang="en-US" sz="1200" dirty="0">
                  <a:latin typeface="Georgia" panose="02040502050405020303" pitchFamily="18" charset="0"/>
                </a:rPr>
                <a:t>7 seed production centers covering 70 hectares, 45 horticulture farms and nurseries across 692 acres and 3 agricultural training centers</a:t>
              </a:r>
              <a:endParaRPr lang="en-IN" sz="1200" dirty="0">
                <a:latin typeface="Georgia" panose="02040502050405020303" pitchFamily="18" charset="0"/>
              </a:endParaRPr>
            </a:p>
          </p:txBody>
        </p:sp>
        <p:pic>
          <p:nvPicPr>
            <p:cNvPr id="12" name="Graphic 11" descr="Schoolhouse outline">
              <a:extLst>
                <a:ext uri="{FF2B5EF4-FFF2-40B4-BE49-F238E27FC236}">
                  <a16:creationId xmlns:a16="http://schemas.microsoft.com/office/drawing/2014/main" id="{349327DC-FF25-3272-170B-BCFC323C3D1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54803" y="3575630"/>
              <a:ext cx="429772" cy="429772"/>
            </a:xfrm>
            <a:prstGeom prst="rect">
              <a:avLst/>
            </a:prstGeom>
          </p:spPr>
        </p:pic>
      </p:grpSp>
      <p:pic>
        <p:nvPicPr>
          <p:cNvPr id="16" name="Picture 15">
            <a:extLst>
              <a:ext uri="{FF2B5EF4-FFF2-40B4-BE49-F238E27FC236}">
                <a16:creationId xmlns:a16="http://schemas.microsoft.com/office/drawing/2014/main" id="{B69492AC-1E7E-99DA-55B0-E6DD7E63ED06}"/>
              </a:ext>
            </a:extLst>
          </p:cNvPr>
          <p:cNvPicPr>
            <a:picLocks noChangeAspect="1"/>
          </p:cNvPicPr>
          <p:nvPr/>
        </p:nvPicPr>
        <p:blipFill>
          <a:blip r:embed="rId8" cstate="print">
            <a:extLst>
              <a:ext uri="{28A0092B-C50C-407E-A947-70E740481C1C}">
                <a14:useLocalDpi xmlns:a14="http://schemas.microsoft.com/office/drawing/2010/main" val="0"/>
              </a:ext>
            </a:extLst>
          </a:blip>
          <a:srcRect t="4377" b="6971"/>
          <a:stretch>
            <a:fillRect/>
          </a:stretch>
        </p:blipFill>
        <p:spPr>
          <a:xfrm>
            <a:off x="10872564" y="167820"/>
            <a:ext cx="1133564" cy="1246801"/>
          </a:xfrm>
          <a:prstGeom prst="rect">
            <a:avLst/>
          </a:prstGeom>
        </p:spPr>
      </p:pic>
      <p:pic>
        <p:nvPicPr>
          <p:cNvPr id="17" name="Picture 16">
            <a:extLst>
              <a:ext uri="{FF2B5EF4-FFF2-40B4-BE49-F238E27FC236}">
                <a16:creationId xmlns:a16="http://schemas.microsoft.com/office/drawing/2014/main" id="{4FCEAAFF-2ECF-52B5-F2B1-C00A72890202}"/>
              </a:ext>
            </a:extLst>
          </p:cNvPr>
          <p:cNvPicPr>
            <a:picLocks noChangeAspect="1"/>
          </p:cNvPicPr>
          <p:nvPr/>
        </p:nvPicPr>
        <p:blipFill>
          <a:blip r:embed="rId9">
            <a:extLst>
              <a:ext uri="{28A0092B-C50C-407E-A947-70E740481C1C}">
                <a14:useLocalDpi xmlns:a14="http://schemas.microsoft.com/office/drawing/2010/main" val="0"/>
              </a:ext>
            </a:extLst>
          </a:blip>
          <a:srcRect t="9695" b="1"/>
          <a:stretch>
            <a:fillRect/>
          </a:stretch>
        </p:blipFill>
        <p:spPr>
          <a:xfrm>
            <a:off x="14582" y="5994201"/>
            <a:ext cx="12192000" cy="892129"/>
          </a:xfrm>
          <a:prstGeom prst="rect">
            <a:avLst/>
          </a:prstGeom>
        </p:spPr>
      </p:pic>
    </p:spTree>
    <p:extLst>
      <p:ext uri="{BB962C8B-B14F-4D97-AF65-F5344CB8AC3E}">
        <p14:creationId xmlns:p14="http://schemas.microsoft.com/office/powerpoint/2010/main" val="3574625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AD9EC-5849-E360-5B11-1AB873A3BF0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8AFB256-1D26-0D01-89DA-A2CC0A876405}"/>
              </a:ext>
            </a:extLst>
          </p:cNvPr>
          <p:cNvSpPr>
            <a:spLocks noGrp="1"/>
          </p:cNvSpPr>
          <p:nvPr>
            <p:ph type="sldNum" sz="quarter" idx="7"/>
          </p:nvPr>
        </p:nvSpPr>
        <p:spPr>
          <a:xfrm>
            <a:off x="805814" y="6400800"/>
            <a:ext cx="383540" cy="115416"/>
          </a:xfrm>
        </p:spPr>
        <p:txBody>
          <a:bodyPr/>
          <a:lstStyle/>
          <a:p>
            <a:pPr marL="12700">
              <a:lnSpc>
                <a:spcPct val="100000"/>
              </a:lnSpc>
              <a:spcBef>
                <a:spcPts val="60"/>
              </a:spcBef>
            </a:pPr>
            <a:r>
              <a:rPr lang="en-IN" dirty="0">
                <a:latin typeface="Georgia" panose="02040502050405020303" pitchFamily="18" charset="0"/>
              </a:rPr>
              <a:t>Page</a:t>
            </a:r>
            <a:r>
              <a:rPr lang="en-IN" spc="-55" dirty="0">
                <a:latin typeface="Georgia" panose="02040502050405020303" pitchFamily="18" charset="0"/>
              </a:rPr>
              <a:t> </a:t>
            </a:r>
            <a:fld id="{81D60167-4931-47E6-BA6A-407CBD079E47}" type="slidenum">
              <a:rPr smtClean="0">
                <a:latin typeface="Georgia" panose="02040502050405020303" pitchFamily="18" charset="0"/>
              </a:rPr>
              <a:t>10</a:t>
            </a:fld>
            <a:endParaRPr dirty="0">
              <a:latin typeface="Georgia" panose="02040502050405020303" pitchFamily="18" charset="0"/>
            </a:endParaRPr>
          </a:p>
        </p:txBody>
      </p:sp>
      <p:cxnSp>
        <p:nvCxnSpPr>
          <p:cNvPr id="62" name="Straight Connector 61">
            <a:extLst>
              <a:ext uri="{FF2B5EF4-FFF2-40B4-BE49-F238E27FC236}">
                <a16:creationId xmlns:a16="http://schemas.microsoft.com/office/drawing/2014/main" id="{9BF75E8B-9224-85F2-4927-4DE2E5D467FE}"/>
              </a:ext>
            </a:extLst>
          </p:cNvPr>
          <p:cNvCxnSpPr>
            <a:cxnSpLocks/>
          </p:cNvCxnSpPr>
          <p:nvPr/>
        </p:nvCxnSpPr>
        <p:spPr>
          <a:xfrm>
            <a:off x="4850256" y="1013684"/>
            <a:ext cx="26544" cy="2669195"/>
          </a:xfrm>
          <a:prstGeom prst="line">
            <a:avLst/>
          </a:prstGeom>
          <a:ln>
            <a:solidFill>
              <a:srgbClr val="A9ABAE"/>
            </a:solidFill>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44A24BC0-31C7-B7FC-CD6E-96C8B5173720}"/>
              </a:ext>
            </a:extLst>
          </p:cNvPr>
          <p:cNvGrpSpPr/>
          <p:nvPr/>
        </p:nvGrpSpPr>
        <p:grpSpPr>
          <a:xfrm>
            <a:off x="702403" y="3781701"/>
            <a:ext cx="10861429" cy="1767092"/>
            <a:chOff x="668905" y="2584515"/>
            <a:chExt cx="5731895" cy="2978085"/>
          </a:xfrm>
        </p:grpSpPr>
        <p:sp>
          <p:nvSpPr>
            <p:cNvPr id="59" name="Rectangle 58">
              <a:extLst>
                <a:ext uri="{FF2B5EF4-FFF2-40B4-BE49-F238E27FC236}">
                  <a16:creationId xmlns:a16="http://schemas.microsoft.com/office/drawing/2014/main" id="{2FA747F3-FB6C-3F2F-1B25-96B859888308}"/>
                </a:ext>
              </a:extLst>
            </p:cNvPr>
            <p:cNvSpPr/>
            <p:nvPr/>
          </p:nvSpPr>
          <p:spPr>
            <a:xfrm>
              <a:off x="668905" y="2584515"/>
              <a:ext cx="5731895" cy="2978085"/>
            </a:xfrm>
            <a:prstGeom prst="rect">
              <a:avLst/>
            </a:prstGeom>
            <a:solidFill>
              <a:srgbClr val="EFF5FB"/>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Georgia" panose="02040502050405020303" pitchFamily="18" charset="0"/>
              </a:endParaRPr>
            </a:p>
          </p:txBody>
        </p:sp>
        <p:sp>
          <p:nvSpPr>
            <p:cNvPr id="4" name="TextBox 3">
              <a:extLst>
                <a:ext uri="{FF2B5EF4-FFF2-40B4-BE49-F238E27FC236}">
                  <a16:creationId xmlns:a16="http://schemas.microsoft.com/office/drawing/2014/main" id="{2CFB91F4-7937-BFC6-A30D-9B13D2F8F20A}"/>
                </a:ext>
              </a:extLst>
            </p:cNvPr>
            <p:cNvSpPr txBox="1"/>
            <p:nvPr/>
          </p:nvSpPr>
          <p:spPr>
            <a:xfrm>
              <a:off x="691931" y="3150977"/>
              <a:ext cx="5608115" cy="778045"/>
            </a:xfrm>
            <a:prstGeom prst="rect">
              <a:avLst/>
            </a:prstGeom>
            <a:noFill/>
          </p:spPr>
          <p:txBody>
            <a:bodyPr wrap="square">
              <a:spAutoFit/>
            </a:bodyPr>
            <a:lstStyle/>
            <a:p>
              <a:r>
                <a:rPr lang="en-US" sz="1200" dirty="0">
                  <a:latin typeface="Georgia" panose="02040502050405020303" pitchFamily="18" charset="0"/>
                </a:rPr>
                <a:t>Post-harvest losses in Onion, Pomegranate, and Banana in Central Karnataka are primarily attributed to infrastructure and handling practices. </a:t>
              </a:r>
            </a:p>
            <a:p>
              <a:r>
                <a:rPr lang="en-US" sz="1200" i="1" dirty="0">
                  <a:latin typeface="Georgia" panose="02040502050405020303" pitchFamily="18" charset="0"/>
                </a:rPr>
                <a:t>Key issues reported by various district officials include</a:t>
              </a:r>
              <a:endParaRPr lang="en-US" sz="1200" dirty="0">
                <a:latin typeface="Georgia" panose="02040502050405020303" pitchFamily="18" charset="0"/>
              </a:endParaRPr>
            </a:p>
          </p:txBody>
        </p:sp>
        <p:sp>
          <p:nvSpPr>
            <p:cNvPr id="9" name="TextBox 8">
              <a:extLst>
                <a:ext uri="{FF2B5EF4-FFF2-40B4-BE49-F238E27FC236}">
                  <a16:creationId xmlns:a16="http://schemas.microsoft.com/office/drawing/2014/main" id="{CCFF1A93-79EE-EE81-10FA-652B0B9C717B}"/>
                </a:ext>
              </a:extLst>
            </p:cNvPr>
            <p:cNvSpPr txBox="1"/>
            <p:nvPr/>
          </p:nvSpPr>
          <p:spPr>
            <a:xfrm>
              <a:off x="691931" y="3858268"/>
              <a:ext cx="5631140" cy="1629637"/>
            </a:xfrm>
            <a:prstGeom prst="rect">
              <a:avLst/>
            </a:prstGeom>
            <a:noFill/>
          </p:spPr>
          <p:txBody>
            <a:bodyPr wrap="square">
              <a:spAutoFit/>
            </a:bodyPr>
            <a:lstStyle/>
            <a:p>
              <a:pPr marL="171450" indent="-171450">
                <a:buFont typeface="Arial" panose="020B0604020202020204" pitchFamily="34" charset="0"/>
                <a:buChar char="•"/>
              </a:pPr>
              <a:r>
                <a:rPr lang="en-US" sz="1050" i="1" dirty="0">
                  <a:solidFill>
                    <a:srgbClr val="9C3234"/>
                  </a:solidFill>
                  <a:latin typeface="Georgia" panose="02040502050405020303" pitchFamily="18" charset="0"/>
                </a:rPr>
                <a:t>Onions (Chitradurga) suffer from improper curing methods and lack of adequate storage facilities, with prolonged storage periods exacerbated by market price fluctuations.</a:t>
              </a:r>
            </a:p>
            <a:p>
              <a:pPr marL="171450" indent="-171450">
                <a:buFont typeface="Arial" panose="020B0604020202020204" pitchFamily="34" charset="0"/>
                <a:buChar char="•"/>
              </a:pPr>
              <a:r>
                <a:rPr lang="en-US" sz="1050" i="1" dirty="0">
                  <a:solidFill>
                    <a:srgbClr val="9C3234"/>
                  </a:solidFill>
                  <a:latin typeface="Georgia" panose="02040502050405020303" pitchFamily="18" charset="0"/>
                </a:rPr>
                <a:t>Pomegranates (Chitradurga) are damaged by sun scorching during harvest, bacterial blight infection, fruit cracking, and poor handling practices during transport.</a:t>
              </a:r>
            </a:p>
            <a:p>
              <a:pPr marL="171450" indent="-171450">
                <a:buFont typeface="Arial" panose="020B0604020202020204" pitchFamily="34" charset="0"/>
                <a:buChar char="•"/>
              </a:pPr>
              <a:r>
                <a:rPr lang="en-US" sz="1050" i="1" dirty="0">
                  <a:solidFill>
                    <a:srgbClr val="9C3234"/>
                  </a:solidFill>
                  <a:latin typeface="Georgia" panose="02040502050405020303" pitchFamily="18" charset="0"/>
                </a:rPr>
                <a:t>Bananas (Ballari) experience sun scorching due to lack of bunch covering, bruising during harvest operations, and absence of pre-cooling facilities before storage and transport.</a:t>
              </a:r>
            </a:p>
          </p:txBody>
        </p:sp>
      </p:grpSp>
      <p:sp>
        <p:nvSpPr>
          <p:cNvPr id="22" name="TextBox 21">
            <a:extLst>
              <a:ext uri="{FF2B5EF4-FFF2-40B4-BE49-F238E27FC236}">
                <a16:creationId xmlns:a16="http://schemas.microsoft.com/office/drawing/2014/main" id="{3E88C242-C84A-68E1-ABED-B0DC3F799B97}"/>
              </a:ext>
            </a:extLst>
          </p:cNvPr>
          <p:cNvSpPr txBox="1"/>
          <p:nvPr/>
        </p:nvSpPr>
        <p:spPr>
          <a:xfrm>
            <a:off x="6857976" y="5328047"/>
            <a:ext cx="4876824" cy="200055"/>
          </a:xfrm>
          <a:prstGeom prst="rect">
            <a:avLst/>
          </a:prstGeom>
          <a:noFill/>
        </p:spPr>
        <p:txBody>
          <a:bodyPr wrap="square" rtlCol="0">
            <a:spAutoFit/>
          </a:bodyPr>
          <a:lstStyle/>
          <a:p>
            <a:r>
              <a:rPr lang="en-IN" sz="700" i="1" dirty="0">
                <a:latin typeface="Georgia" panose="02040502050405020303" pitchFamily="18" charset="0"/>
              </a:rPr>
              <a:t>Source: As reported by district officials of Horticulture Department, Government of Karnataka, as of March 2026</a:t>
            </a:r>
          </a:p>
        </p:txBody>
      </p:sp>
      <p:sp>
        <p:nvSpPr>
          <p:cNvPr id="39" name="TextBox 38">
            <a:extLst>
              <a:ext uri="{FF2B5EF4-FFF2-40B4-BE49-F238E27FC236}">
                <a16:creationId xmlns:a16="http://schemas.microsoft.com/office/drawing/2014/main" id="{719236A8-9749-9E24-E866-77B96E75FF99}"/>
              </a:ext>
            </a:extLst>
          </p:cNvPr>
          <p:cNvSpPr txBox="1">
            <a:spLocks/>
          </p:cNvSpPr>
          <p:nvPr/>
        </p:nvSpPr>
        <p:spPr>
          <a:xfrm>
            <a:off x="5316063" y="1232980"/>
            <a:ext cx="5466991" cy="646331"/>
          </a:xfrm>
          <a:prstGeom prst="rect">
            <a:avLst/>
          </a:prstGeom>
          <a:noFill/>
        </p:spPr>
        <p:txBody>
          <a:bodyPr wrap="square">
            <a:spAutoFit/>
          </a:bodyPr>
          <a:lstStyle/>
          <a:p>
            <a:pPr marL="114300"/>
            <a:r>
              <a:rPr lang="en-US" sz="1200" dirty="0">
                <a:latin typeface="Georgia" panose="02040502050405020303" pitchFamily="18" charset="0"/>
              </a:rPr>
              <a:t>Cold storage units with 6269 MT capacity exist specifically for Mango, Onion, Grapes, and Pomegranate. However, production exceeds the cold storage capacity.</a:t>
            </a:r>
          </a:p>
        </p:txBody>
      </p:sp>
      <p:sp>
        <p:nvSpPr>
          <p:cNvPr id="46" name="TextBox 45">
            <a:extLst>
              <a:ext uri="{FF2B5EF4-FFF2-40B4-BE49-F238E27FC236}">
                <a16:creationId xmlns:a16="http://schemas.microsoft.com/office/drawing/2014/main" id="{66DC8635-D376-9014-DCFC-78B1E668B496}"/>
              </a:ext>
            </a:extLst>
          </p:cNvPr>
          <p:cNvSpPr txBox="1">
            <a:spLocks/>
          </p:cNvSpPr>
          <p:nvPr/>
        </p:nvSpPr>
        <p:spPr>
          <a:xfrm>
            <a:off x="5316063" y="1866037"/>
            <a:ext cx="5683808" cy="461665"/>
          </a:xfrm>
          <a:prstGeom prst="rect">
            <a:avLst/>
          </a:prstGeom>
          <a:noFill/>
        </p:spPr>
        <p:txBody>
          <a:bodyPr wrap="square">
            <a:spAutoFit/>
          </a:bodyPr>
          <a:lstStyle/>
          <a:p>
            <a:pPr marL="114300"/>
            <a:r>
              <a:rPr lang="en-US" sz="1200" dirty="0">
                <a:latin typeface="Georgia" panose="02040502050405020303" pitchFamily="18" charset="0"/>
              </a:rPr>
              <a:t>Cold storage units with 2,47,252 MT capacity are available for all fruits and vegetables</a:t>
            </a:r>
          </a:p>
        </p:txBody>
      </p:sp>
      <p:sp>
        <p:nvSpPr>
          <p:cNvPr id="7" name="TextBox 6">
            <a:extLst>
              <a:ext uri="{FF2B5EF4-FFF2-40B4-BE49-F238E27FC236}">
                <a16:creationId xmlns:a16="http://schemas.microsoft.com/office/drawing/2014/main" id="{676C6580-10F4-E6B0-C4D9-F774CCE572A2}"/>
              </a:ext>
            </a:extLst>
          </p:cNvPr>
          <p:cNvSpPr txBox="1"/>
          <p:nvPr/>
        </p:nvSpPr>
        <p:spPr>
          <a:xfrm>
            <a:off x="381000" y="-121869"/>
            <a:ext cx="9700472" cy="579069"/>
          </a:xfrm>
          <a:prstGeom prst="rect">
            <a:avLst/>
          </a:prstGeom>
          <a:noFill/>
        </p:spPr>
        <p:txBody>
          <a:bodyPr wrap="square">
            <a:spAutoFit/>
          </a:bodyPr>
          <a:lstStyle/>
          <a:p>
            <a:pPr>
              <a:lnSpc>
                <a:spcPct val="150000"/>
              </a:lnSpc>
              <a:spcAft>
                <a:spcPts val="800"/>
              </a:spcAft>
            </a:pPr>
            <a:r>
              <a:rPr lang="en-IN" sz="2400" b="1" i="1" dirty="0">
                <a:solidFill>
                  <a:schemeClr val="bg1"/>
                </a:solidFill>
                <a:latin typeface="Georgia" panose="02040502050405020303" pitchFamily="18" charset="0"/>
              </a:rPr>
              <a:t>Challenge category 1: Post-harvest value chain solutions</a:t>
            </a:r>
          </a:p>
        </p:txBody>
      </p:sp>
      <p:sp>
        <p:nvSpPr>
          <p:cNvPr id="18" name="TextBox 17">
            <a:extLst>
              <a:ext uri="{FF2B5EF4-FFF2-40B4-BE49-F238E27FC236}">
                <a16:creationId xmlns:a16="http://schemas.microsoft.com/office/drawing/2014/main" id="{1F4A2246-1081-571B-A0D8-8DF8ACCEB539}"/>
              </a:ext>
            </a:extLst>
          </p:cNvPr>
          <p:cNvSpPr txBox="1"/>
          <p:nvPr/>
        </p:nvSpPr>
        <p:spPr>
          <a:xfrm>
            <a:off x="2209800" y="3775502"/>
            <a:ext cx="6097604" cy="338554"/>
          </a:xfrm>
          <a:prstGeom prst="rect">
            <a:avLst/>
          </a:prstGeom>
          <a:noFill/>
        </p:spPr>
        <p:txBody>
          <a:bodyPr wrap="square">
            <a:spAutoFit/>
          </a:bodyPr>
          <a:lstStyle/>
          <a:p>
            <a:pPr algn="ctr"/>
            <a:r>
              <a:rPr lang="en-US" sz="1600" b="1" dirty="0">
                <a:latin typeface="Georgia" panose="02040502050405020303" pitchFamily="18" charset="0"/>
              </a:rPr>
              <a:t>Challenges reported</a:t>
            </a:r>
          </a:p>
        </p:txBody>
      </p:sp>
      <p:sp>
        <p:nvSpPr>
          <p:cNvPr id="5" name="Title 1">
            <a:extLst>
              <a:ext uri="{FF2B5EF4-FFF2-40B4-BE49-F238E27FC236}">
                <a16:creationId xmlns:a16="http://schemas.microsoft.com/office/drawing/2014/main" id="{2D0973AA-6B0C-8D4B-BB30-040EED5F955A}"/>
              </a:ext>
            </a:extLst>
          </p:cNvPr>
          <p:cNvSpPr>
            <a:spLocks noGrp="1"/>
          </p:cNvSpPr>
          <p:nvPr>
            <p:ph type="title"/>
          </p:nvPr>
        </p:nvSpPr>
        <p:spPr>
          <a:xfrm>
            <a:off x="487884" y="407313"/>
            <a:ext cx="10561116" cy="430887"/>
          </a:xfrm>
        </p:spPr>
        <p:txBody>
          <a:bodyPr/>
          <a:lstStyle/>
          <a:p>
            <a:r>
              <a:rPr lang="en-US" sz="1800" dirty="0">
                <a:solidFill>
                  <a:srgbClr val="E8A33D"/>
                </a:solidFill>
                <a:latin typeface="Georgia" panose="02040502050405020303" pitchFamily="18" charset="0"/>
              </a:rPr>
              <a:t>Central Karnataka Onion-Pomegranate cluster</a:t>
            </a:r>
            <a:br>
              <a:rPr lang="en-US" sz="2400" dirty="0">
                <a:solidFill>
                  <a:schemeClr val="bg1"/>
                </a:solidFill>
                <a:latin typeface="Georgia" panose="02040502050405020303" pitchFamily="18" charset="0"/>
              </a:rPr>
            </a:br>
            <a:r>
              <a:rPr lang="en-US" sz="1000" i="1" dirty="0">
                <a:solidFill>
                  <a:schemeClr val="bg1"/>
                </a:solidFill>
                <a:latin typeface="Georgia" panose="02040502050405020303" pitchFamily="18" charset="0"/>
              </a:rPr>
              <a:t>(</a:t>
            </a:r>
            <a:r>
              <a:rPr lang="it-IT" sz="1000" i="1" dirty="0">
                <a:solidFill>
                  <a:schemeClr val="bg1"/>
                </a:solidFill>
                <a:latin typeface="Georgia" panose="02040502050405020303" pitchFamily="18" charset="0"/>
              </a:rPr>
              <a:t>Chitradurga, Davanagere, Koppal, Ballari, Vijayanagara)</a:t>
            </a:r>
            <a:endParaRPr lang="en-IN" sz="1000" i="1" dirty="0">
              <a:solidFill>
                <a:schemeClr val="bg1"/>
              </a:solidFill>
              <a:latin typeface="Georgia" panose="02040502050405020303" pitchFamily="18" charset="0"/>
            </a:endParaRPr>
          </a:p>
        </p:txBody>
      </p:sp>
      <p:graphicFrame>
        <p:nvGraphicFramePr>
          <p:cNvPr id="10" name="Chart 9">
            <a:extLst>
              <a:ext uri="{FF2B5EF4-FFF2-40B4-BE49-F238E27FC236}">
                <a16:creationId xmlns:a16="http://schemas.microsoft.com/office/drawing/2014/main" id="{CB7CF7D7-B342-3743-7B64-E4072BE9E41F}"/>
              </a:ext>
            </a:extLst>
          </p:cNvPr>
          <p:cNvGraphicFramePr>
            <a:graphicFrameLocks/>
          </p:cNvGraphicFramePr>
          <p:nvPr>
            <p:extLst>
              <p:ext uri="{D42A27DB-BD31-4B8C-83A1-F6EECF244321}">
                <p14:modId xmlns:p14="http://schemas.microsoft.com/office/powerpoint/2010/main" val="2310371622"/>
              </p:ext>
            </p:extLst>
          </p:nvPr>
        </p:nvGraphicFramePr>
        <p:xfrm>
          <a:off x="968535" y="1940265"/>
          <a:ext cx="3529470" cy="1272481"/>
        </p:xfrm>
        <a:graphic>
          <a:graphicData uri="http://schemas.openxmlformats.org/drawingml/2006/chart">
            <c:chart xmlns:c="http://schemas.openxmlformats.org/drawingml/2006/chart" xmlns:r="http://schemas.openxmlformats.org/officeDocument/2006/relationships" r:id="rId3"/>
          </a:graphicData>
        </a:graphic>
      </p:graphicFrame>
      <p:pic>
        <p:nvPicPr>
          <p:cNvPr id="12" name="Graphic 11" descr="Warehouse with solid fill">
            <a:extLst>
              <a:ext uri="{FF2B5EF4-FFF2-40B4-BE49-F238E27FC236}">
                <a16:creationId xmlns:a16="http://schemas.microsoft.com/office/drawing/2014/main" id="{31185203-52CC-13CC-8E0C-BA78C6FC2A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42821" y="1321986"/>
            <a:ext cx="291179" cy="291179"/>
          </a:xfrm>
          <a:prstGeom prst="rect">
            <a:avLst/>
          </a:prstGeom>
        </p:spPr>
      </p:pic>
      <p:pic>
        <p:nvPicPr>
          <p:cNvPr id="16" name="Graphic 15" descr="Thermometer with solid fill">
            <a:extLst>
              <a:ext uri="{FF2B5EF4-FFF2-40B4-BE49-F238E27FC236}">
                <a16:creationId xmlns:a16="http://schemas.microsoft.com/office/drawing/2014/main" id="{D9844759-F717-480E-4BF0-E2B9D832182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29200" y="1870502"/>
            <a:ext cx="350584" cy="350584"/>
          </a:xfrm>
          <a:prstGeom prst="rect">
            <a:avLst/>
          </a:prstGeom>
        </p:spPr>
      </p:pic>
      <p:grpSp>
        <p:nvGrpSpPr>
          <p:cNvPr id="8" name="Group 7">
            <a:extLst>
              <a:ext uri="{FF2B5EF4-FFF2-40B4-BE49-F238E27FC236}">
                <a16:creationId xmlns:a16="http://schemas.microsoft.com/office/drawing/2014/main" id="{6CFD3D00-E276-666D-CC3F-33606D2DF9C5}"/>
              </a:ext>
            </a:extLst>
          </p:cNvPr>
          <p:cNvGrpSpPr/>
          <p:nvPr/>
        </p:nvGrpSpPr>
        <p:grpSpPr>
          <a:xfrm>
            <a:off x="4980428" y="2251502"/>
            <a:ext cx="6290548" cy="461665"/>
            <a:chOff x="4979297" y="3478629"/>
            <a:chExt cx="6290548" cy="461665"/>
          </a:xfrm>
        </p:grpSpPr>
        <p:sp>
          <p:nvSpPr>
            <p:cNvPr id="44" name="TextBox 43">
              <a:extLst>
                <a:ext uri="{FF2B5EF4-FFF2-40B4-BE49-F238E27FC236}">
                  <a16:creationId xmlns:a16="http://schemas.microsoft.com/office/drawing/2014/main" id="{6F7B40E7-7048-0DBF-88B4-5C7894E4314B}"/>
                </a:ext>
              </a:extLst>
            </p:cNvPr>
            <p:cNvSpPr txBox="1">
              <a:spLocks/>
            </p:cNvSpPr>
            <p:nvPr/>
          </p:nvSpPr>
          <p:spPr>
            <a:xfrm>
              <a:off x="5331382" y="3478629"/>
              <a:ext cx="5938463" cy="461665"/>
            </a:xfrm>
            <a:prstGeom prst="rect">
              <a:avLst/>
            </a:prstGeom>
            <a:noFill/>
          </p:spPr>
          <p:txBody>
            <a:bodyPr wrap="square">
              <a:spAutoFit/>
            </a:bodyPr>
            <a:lstStyle/>
            <a:p>
              <a:pPr marL="114300"/>
              <a:r>
                <a:rPr lang="en-US" sz="1200" dirty="0">
                  <a:latin typeface="Georgia" panose="02040502050405020303" pitchFamily="18" charset="0"/>
                </a:rPr>
                <a:t>11 seed production centers covering 241 hectares ,45 horticulture farms and nurseries across 1,324 acres and 4 agricultural training centers.</a:t>
              </a:r>
              <a:endParaRPr lang="en-IN" sz="1200" dirty="0">
                <a:latin typeface="Georgia" panose="02040502050405020303" pitchFamily="18" charset="0"/>
              </a:endParaRPr>
            </a:p>
          </p:txBody>
        </p:sp>
        <p:pic>
          <p:nvPicPr>
            <p:cNvPr id="19" name="Graphic 18" descr="Schoolhouse outline">
              <a:extLst>
                <a:ext uri="{FF2B5EF4-FFF2-40B4-BE49-F238E27FC236}">
                  <a16:creationId xmlns:a16="http://schemas.microsoft.com/office/drawing/2014/main" id="{C3F02600-6449-7773-6B7A-A08B19B58B8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79297" y="3478629"/>
              <a:ext cx="429772" cy="429772"/>
            </a:xfrm>
            <a:prstGeom prst="rect">
              <a:avLst/>
            </a:prstGeom>
          </p:spPr>
        </p:pic>
      </p:grpSp>
      <p:sp>
        <p:nvSpPr>
          <p:cNvPr id="2" name="TextBox 1">
            <a:extLst>
              <a:ext uri="{FF2B5EF4-FFF2-40B4-BE49-F238E27FC236}">
                <a16:creationId xmlns:a16="http://schemas.microsoft.com/office/drawing/2014/main" id="{CE9F137B-2795-ECDB-03D8-FC302A297653}"/>
              </a:ext>
            </a:extLst>
          </p:cNvPr>
          <p:cNvSpPr txBox="1"/>
          <p:nvPr/>
        </p:nvSpPr>
        <p:spPr>
          <a:xfrm>
            <a:off x="609601" y="1300371"/>
            <a:ext cx="4191000" cy="646331"/>
          </a:xfrm>
          <a:prstGeom prst="rect">
            <a:avLst/>
          </a:prstGeom>
          <a:noFill/>
        </p:spPr>
        <p:txBody>
          <a:bodyPr wrap="square">
            <a:spAutoFit/>
          </a:bodyPr>
          <a:lstStyle/>
          <a:p>
            <a:pPr>
              <a:buNone/>
            </a:pPr>
            <a:r>
              <a:rPr lang="en-US" sz="1200" b="1" dirty="0">
                <a:solidFill>
                  <a:srgbClr val="9C3237"/>
                </a:solidFill>
                <a:latin typeface="Georgia" panose="02040502050405020303" pitchFamily="18" charset="0"/>
              </a:rPr>
              <a:t>Out of the total fruits &amp; vegetables production of 18 million MT in this cluster, the seven crop-specific production accounted for approximately 74.1%.</a:t>
            </a:r>
          </a:p>
        </p:txBody>
      </p:sp>
      <p:sp>
        <p:nvSpPr>
          <p:cNvPr id="11" name="TextBox 10">
            <a:extLst>
              <a:ext uri="{FF2B5EF4-FFF2-40B4-BE49-F238E27FC236}">
                <a16:creationId xmlns:a16="http://schemas.microsoft.com/office/drawing/2014/main" id="{4FB6061D-4F28-3FD7-57CF-413B00827510}"/>
              </a:ext>
            </a:extLst>
          </p:cNvPr>
          <p:cNvSpPr txBox="1"/>
          <p:nvPr/>
        </p:nvSpPr>
        <p:spPr>
          <a:xfrm>
            <a:off x="855748" y="3194447"/>
            <a:ext cx="3792452" cy="200055"/>
          </a:xfrm>
          <a:prstGeom prst="rect">
            <a:avLst/>
          </a:prstGeom>
          <a:noFill/>
        </p:spPr>
        <p:txBody>
          <a:bodyPr wrap="square" rtlCol="0">
            <a:spAutoFit/>
          </a:bodyPr>
          <a:lstStyle/>
          <a:p>
            <a:r>
              <a:rPr lang="en-IN" sz="700" i="1" dirty="0">
                <a:latin typeface="Georgia" panose="02040502050405020303" pitchFamily="18" charset="0"/>
              </a:rPr>
              <a:t>Source: Horticulture Crop Statistics of Karnataka State at a Glance – 2023-24</a:t>
            </a:r>
          </a:p>
        </p:txBody>
      </p:sp>
      <p:sp>
        <p:nvSpPr>
          <p:cNvPr id="23" name="TextBox 22">
            <a:extLst>
              <a:ext uri="{FF2B5EF4-FFF2-40B4-BE49-F238E27FC236}">
                <a16:creationId xmlns:a16="http://schemas.microsoft.com/office/drawing/2014/main" id="{0629E3E3-1838-028A-06D8-84903FF145E1}"/>
              </a:ext>
            </a:extLst>
          </p:cNvPr>
          <p:cNvSpPr txBox="1"/>
          <p:nvPr/>
        </p:nvSpPr>
        <p:spPr>
          <a:xfrm>
            <a:off x="659536" y="5604302"/>
            <a:ext cx="7112864" cy="415498"/>
          </a:xfrm>
          <a:prstGeom prst="rect">
            <a:avLst/>
          </a:prstGeom>
          <a:noFill/>
        </p:spPr>
        <p:txBody>
          <a:bodyPr wrap="square" rtlCol="0">
            <a:spAutoFit/>
          </a:bodyPr>
          <a:lstStyle/>
          <a:p>
            <a:r>
              <a:rPr lang="en-US" sz="700" i="1" dirty="0">
                <a:latin typeface="Georgia" panose="02040502050405020303" pitchFamily="18" charset="0"/>
              </a:rPr>
              <a:t>Data sources: As per the internal data shared by the following departments under Government of Karnataka, as of March 2026:</a:t>
            </a:r>
          </a:p>
          <a:p>
            <a:pPr marL="93663" indent="-93663">
              <a:buFont typeface="Arial" panose="020B0604020202020204" pitchFamily="34" charset="0"/>
              <a:buChar char="•"/>
            </a:pPr>
            <a:r>
              <a:rPr lang="en-IN" sz="700" i="1" dirty="0">
                <a:latin typeface="Georgia" panose="02040502050405020303" pitchFamily="18" charset="0"/>
              </a:rPr>
              <a:t>KAPPEC – Processing infrastructure &amp; Watershed Development Department (</a:t>
            </a:r>
            <a:r>
              <a:rPr lang="en-IN" sz="700" i="1" dirty="0" err="1">
                <a:latin typeface="Georgia" panose="02040502050405020303" pitchFamily="18" charset="0"/>
              </a:rPr>
              <a:t>WDD</a:t>
            </a:r>
            <a:r>
              <a:rPr lang="en-IN" sz="700" i="1" dirty="0">
                <a:latin typeface="Georgia" panose="02040502050405020303" pitchFamily="18" charset="0"/>
              </a:rPr>
              <a:t>) FPOs</a:t>
            </a:r>
          </a:p>
          <a:p>
            <a:pPr marL="93663" indent="-93663">
              <a:buFont typeface="Arial" panose="020B0604020202020204" pitchFamily="34" charset="0"/>
              <a:buChar char="•"/>
            </a:pPr>
            <a:r>
              <a:rPr lang="en-IN" sz="700" i="1" dirty="0">
                <a:latin typeface="Georgia" panose="02040502050405020303" pitchFamily="18" charset="0"/>
              </a:rPr>
              <a:t>Directorate of Horticulture – Cold storage infrastructure, Horticulture farms/nurseries, Horticulture Department FPOs</a:t>
            </a:r>
          </a:p>
        </p:txBody>
      </p:sp>
      <p:grpSp>
        <p:nvGrpSpPr>
          <p:cNvPr id="6" name="Group 5">
            <a:extLst>
              <a:ext uri="{FF2B5EF4-FFF2-40B4-BE49-F238E27FC236}">
                <a16:creationId xmlns:a16="http://schemas.microsoft.com/office/drawing/2014/main" id="{29FF99E6-3205-2185-3174-C8FDB55CBE5B}"/>
              </a:ext>
            </a:extLst>
          </p:cNvPr>
          <p:cNvGrpSpPr/>
          <p:nvPr/>
        </p:nvGrpSpPr>
        <p:grpSpPr>
          <a:xfrm>
            <a:off x="5029200" y="2708702"/>
            <a:ext cx="6482310" cy="1055957"/>
            <a:chOff x="5023890" y="2484881"/>
            <a:chExt cx="6482310" cy="1055957"/>
          </a:xfrm>
        </p:grpSpPr>
        <p:sp>
          <p:nvSpPr>
            <p:cNvPr id="40" name="TextBox 39">
              <a:extLst>
                <a:ext uri="{FF2B5EF4-FFF2-40B4-BE49-F238E27FC236}">
                  <a16:creationId xmlns:a16="http://schemas.microsoft.com/office/drawing/2014/main" id="{8EFC1541-FB2C-9532-3E01-686B961308E4}"/>
                </a:ext>
              </a:extLst>
            </p:cNvPr>
            <p:cNvSpPr txBox="1">
              <a:spLocks/>
            </p:cNvSpPr>
            <p:nvPr/>
          </p:nvSpPr>
          <p:spPr>
            <a:xfrm>
              <a:off x="5282263" y="2484881"/>
              <a:ext cx="6223937" cy="646331"/>
            </a:xfrm>
            <a:prstGeom prst="rect">
              <a:avLst/>
            </a:prstGeom>
            <a:noFill/>
          </p:spPr>
          <p:txBody>
            <a:bodyPr wrap="square">
              <a:spAutoFit/>
            </a:bodyPr>
            <a:lstStyle/>
            <a:p>
              <a:pPr marL="171450"/>
              <a:r>
                <a:rPr lang="en-US" sz="1200" dirty="0">
                  <a:latin typeface="Georgia" panose="02040502050405020303" pitchFamily="18" charset="0"/>
                </a:rPr>
                <a:t>58 WDD FPOs recorded ₹23 Cr in transactions during FY 23-24, primarily focusing on Onion, Tomato and Pomegranate, while 62 WDD FPOs operated across all fruits and vegetables with ₹29 Cr total transactions in FY 23-24.</a:t>
              </a:r>
            </a:p>
          </p:txBody>
        </p:sp>
        <p:pic>
          <p:nvPicPr>
            <p:cNvPr id="14" name="Graphic 13" descr="Users with solid fill">
              <a:extLst>
                <a:ext uri="{FF2B5EF4-FFF2-40B4-BE49-F238E27FC236}">
                  <a16:creationId xmlns:a16="http://schemas.microsoft.com/office/drawing/2014/main" id="{1F91CFC3-02AE-F977-9F6B-2410215178E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23890" y="2629191"/>
              <a:ext cx="334397" cy="334397"/>
            </a:xfrm>
            <a:prstGeom prst="rect">
              <a:avLst/>
            </a:prstGeom>
          </p:spPr>
        </p:pic>
        <p:grpSp>
          <p:nvGrpSpPr>
            <p:cNvPr id="25" name="Group 24">
              <a:extLst>
                <a:ext uri="{FF2B5EF4-FFF2-40B4-BE49-F238E27FC236}">
                  <a16:creationId xmlns:a16="http://schemas.microsoft.com/office/drawing/2014/main" id="{41FF08CD-BB92-0311-6A7E-9C7E848823B4}"/>
                </a:ext>
              </a:extLst>
            </p:cNvPr>
            <p:cNvGrpSpPr/>
            <p:nvPr/>
          </p:nvGrpSpPr>
          <p:grpSpPr>
            <a:xfrm>
              <a:off x="5100090" y="3079173"/>
              <a:ext cx="6333372" cy="461665"/>
              <a:chOff x="5379375" y="3079173"/>
              <a:chExt cx="6333372" cy="461665"/>
            </a:xfrm>
          </p:grpSpPr>
          <p:pic>
            <p:nvPicPr>
              <p:cNvPr id="15" name="Graphic 14" descr="Rupee with solid fill">
                <a:extLst>
                  <a:ext uri="{FF2B5EF4-FFF2-40B4-BE49-F238E27FC236}">
                    <a16:creationId xmlns:a16="http://schemas.microsoft.com/office/drawing/2014/main" id="{81FC4356-D483-15CB-37A4-DBB3D48D42F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79375" y="3176978"/>
                <a:ext cx="271433" cy="271433"/>
              </a:xfrm>
              <a:prstGeom prst="rect">
                <a:avLst/>
              </a:prstGeom>
            </p:spPr>
          </p:pic>
          <p:sp>
            <p:nvSpPr>
              <p:cNvPr id="24" name="TextBox 23">
                <a:extLst>
                  <a:ext uri="{FF2B5EF4-FFF2-40B4-BE49-F238E27FC236}">
                    <a16:creationId xmlns:a16="http://schemas.microsoft.com/office/drawing/2014/main" id="{B1FA995D-985E-E083-37AD-28774453AC1B}"/>
                  </a:ext>
                </a:extLst>
              </p:cNvPr>
              <p:cNvSpPr txBox="1"/>
              <p:nvPr/>
            </p:nvSpPr>
            <p:spPr>
              <a:xfrm>
                <a:off x="5613285" y="3079173"/>
                <a:ext cx="6099462" cy="461665"/>
              </a:xfrm>
              <a:prstGeom prst="rect">
                <a:avLst/>
              </a:prstGeom>
              <a:noFill/>
            </p:spPr>
            <p:txBody>
              <a:bodyPr wrap="square">
                <a:spAutoFit/>
              </a:bodyPr>
              <a:lstStyle/>
              <a:p>
                <a:pPr marL="114300"/>
                <a:r>
                  <a:rPr lang="en-US" sz="1200" dirty="0">
                    <a:effectLst/>
                    <a:latin typeface="Georgia" panose="02040502050405020303" pitchFamily="18" charset="0"/>
                  </a:rPr>
                  <a:t>FPOs supported by the Horticulture Department recorded</a:t>
                </a:r>
                <a:r>
                  <a:rPr lang="en-US" sz="1200" dirty="0">
                    <a:solidFill>
                      <a:srgbClr val="FF0000"/>
                    </a:solidFill>
                    <a:effectLst/>
                    <a:latin typeface="Georgia" panose="02040502050405020303" pitchFamily="18" charset="0"/>
                  </a:rPr>
                  <a:t> </a:t>
                </a:r>
                <a:r>
                  <a:rPr lang="en-US" sz="1200" dirty="0">
                    <a:effectLst/>
                    <a:latin typeface="Georgia" panose="02040502050405020303" pitchFamily="18" charset="0"/>
                  </a:rPr>
                  <a:t>₹48 lakhs in transactions in FY 23-24.</a:t>
                </a:r>
              </a:p>
            </p:txBody>
          </p:sp>
        </p:grpSp>
      </p:grpSp>
      <p:pic>
        <p:nvPicPr>
          <p:cNvPr id="26" name="Picture 25">
            <a:extLst>
              <a:ext uri="{FF2B5EF4-FFF2-40B4-BE49-F238E27FC236}">
                <a16:creationId xmlns:a16="http://schemas.microsoft.com/office/drawing/2014/main" id="{EAB15A51-A5E1-2C8E-7A8B-1D511CC95C95}"/>
              </a:ext>
            </a:extLst>
          </p:cNvPr>
          <p:cNvPicPr>
            <a:picLocks noChangeAspect="1"/>
          </p:cNvPicPr>
          <p:nvPr/>
        </p:nvPicPr>
        <p:blipFill>
          <a:blip r:embed="rId9" cstate="print">
            <a:extLst>
              <a:ext uri="{28A0092B-C50C-407E-A947-70E740481C1C}">
                <a14:useLocalDpi xmlns:a14="http://schemas.microsoft.com/office/drawing/2010/main" val="0"/>
              </a:ext>
            </a:extLst>
          </a:blip>
          <a:srcRect l="6026" t="5108" b="11111"/>
          <a:stretch>
            <a:fillRect/>
          </a:stretch>
        </p:blipFill>
        <p:spPr>
          <a:xfrm>
            <a:off x="10841802" y="160982"/>
            <a:ext cx="1213242" cy="1280005"/>
          </a:xfrm>
          <a:prstGeom prst="rect">
            <a:avLst/>
          </a:prstGeom>
        </p:spPr>
      </p:pic>
      <p:sp>
        <p:nvSpPr>
          <p:cNvPr id="17" name="TextBox 16">
            <a:extLst>
              <a:ext uri="{FF2B5EF4-FFF2-40B4-BE49-F238E27FC236}">
                <a16:creationId xmlns:a16="http://schemas.microsoft.com/office/drawing/2014/main" id="{3AF642AA-E926-8ADE-C8A3-C8D07F5CB811}"/>
              </a:ext>
            </a:extLst>
          </p:cNvPr>
          <p:cNvSpPr txBox="1"/>
          <p:nvPr/>
        </p:nvSpPr>
        <p:spPr>
          <a:xfrm>
            <a:off x="1749858" y="879902"/>
            <a:ext cx="1576398" cy="338554"/>
          </a:xfrm>
          <a:prstGeom prst="rect">
            <a:avLst/>
          </a:prstGeom>
          <a:noFill/>
        </p:spPr>
        <p:txBody>
          <a:bodyPr wrap="square">
            <a:spAutoFit/>
          </a:bodyPr>
          <a:lstStyle/>
          <a:p>
            <a:pPr algn="ctr"/>
            <a:r>
              <a:rPr lang="en-US" sz="1600" b="1" dirty="0">
                <a:latin typeface="Georgia" panose="02040502050405020303" pitchFamily="18" charset="0"/>
              </a:rPr>
              <a:t>Production</a:t>
            </a:r>
          </a:p>
        </p:txBody>
      </p:sp>
      <p:sp>
        <p:nvSpPr>
          <p:cNvPr id="27" name="TextBox 26">
            <a:extLst>
              <a:ext uri="{FF2B5EF4-FFF2-40B4-BE49-F238E27FC236}">
                <a16:creationId xmlns:a16="http://schemas.microsoft.com/office/drawing/2014/main" id="{68426C39-2095-BBBD-C7B7-D7024A63367A}"/>
              </a:ext>
            </a:extLst>
          </p:cNvPr>
          <p:cNvSpPr txBox="1"/>
          <p:nvPr/>
        </p:nvSpPr>
        <p:spPr>
          <a:xfrm>
            <a:off x="6244491" y="846148"/>
            <a:ext cx="3583805" cy="338554"/>
          </a:xfrm>
          <a:prstGeom prst="rect">
            <a:avLst/>
          </a:prstGeom>
          <a:noFill/>
        </p:spPr>
        <p:txBody>
          <a:bodyPr wrap="square">
            <a:spAutoFit/>
          </a:bodyPr>
          <a:lstStyle/>
          <a:p>
            <a:pPr algn="ctr"/>
            <a:r>
              <a:rPr lang="en-US" sz="1600" b="1" dirty="0">
                <a:latin typeface="Georgia" panose="02040502050405020303" pitchFamily="18" charset="0"/>
              </a:rPr>
              <a:t>Existing Ecosystem</a:t>
            </a:r>
          </a:p>
        </p:txBody>
      </p:sp>
      <p:pic>
        <p:nvPicPr>
          <p:cNvPr id="20" name="Picture 19">
            <a:extLst>
              <a:ext uri="{FF2B5EF4-FFF2-40B4-BE49-F238E27FC236}">
                <a16:creationId xmlns:a16="http://schemas.microsoft.com/office/drawing/2014/main" id="{B25D6C91-4955-4653-CE23-6B7DFA2BBFB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5870080"/>
            <a:ext cx="12192000" cy="987920"/>
          </a:xfrm>
          <a:prstGeom prst="rect">
            <a:avLst/>
          </a:prstGeom>
        </p:spPr>
      </p:pic>
    </p:spTree>
    <p:extLst>
      <p:ext uri="{BB962C8B-B14F-4D97-AF65-F5344CB8AC3E}">
        <p14:creationId xmlns:p14="http://schemas.microsoft.com/office/powerpoint/2010/main" val="3566131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C07AF-387A-2DAE-288B-471226F79EB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A96683B-F931-87B2-8292-170540CAC0EC}"/>
              </a:ext>
            </a:extLst>
          </p:cNvPr>
          <p:cNvSpPr>
            <a:spLocks noGrp="1"/>
          </p:cNvSpPr>
          <p:nvPr>
            <p:ph type="sldNum" sz="quarter" idx="7"/>
          </p:nvPr>
        </p:nvSpPr>
        <p:spPr>
          <a:xfrm>
            <a:off x="805814" y="6400800"/>
            <a:ext cx="383540" cy="115416"/>
          </a:xfrm>
        </p:spPr>
        <p:txBody>
          <a:bodyPr/>
          <a:lstStyle/>
          <a:p>
            <a:pPr marL="12700">
              <a:lnSpc>
                <a:spcPct val="100000"/>
              </a:lnSpc>
              <a:spcBef>
                <a:spcPts val="60"/>
              </a:spcBef>
            </a:pPr>
            <a:r>
              <a:rPr lang="en-IN" dirty="0">
                <a:latin typeface="Georgia" panose="02040502050405020303" pitchFamily="18" charset="0"/>
              </a:rPr>
              <a:t>Page</a:t>
            </a:r>
            <a:r>
              <a:rPr lang="en-IN" spc="-55" dirty="0">
                <a:latin typeface="Georgia" panose="02040502050405020303" pitchFamily="18" charset="0"/>
              </a:rPr>
              <a:t> </a:t>
            </a:r>
            <a:fld id="{81D60167-4931-47E6-BA6A-407CBD079E47}" type="slidenum">
              <a:rPr smtClean="0">
                <a:latin typeface="Georgia" panose="02040502050405020303" pitchFamily="18" charset="0"/>
              </a:rPr>
              <a:t>11</a:t>
            </a:fld>
            <a:endParaRPr dirty="0">
              <a:latin typeface="Georgia" panose="02040502050405020303" pitchFamily="18" charset="0"/>
            </a:endParaRPr>
          </a:p>
        </p:txBody>
      </p:sp>
      <p:cxnSp>
        <p:nvCxnSpPr>
          <p:cNvPr id="62" name="Straight Connector 61">
            <a:extLst>
              <a:ext uri="{FF2B5EF4-FFF2-40B4-BE49-F238E27FC236}">
                <a16:creationId xmlns:a16="http://schemas.microsoft.com/office/drawing/2014/main" id="{EAB2D833-53BA-BC0E-58A7-ABE7B90D7079}"/>
              </a:ext>
            </a:extLst>
          </p:cNvPr>
          <p:cNvCxnSpPr>
            <a:cxnSpLocks/>
          </p:cNvCxnSpPr>
          <p:nvPr/>
        </p:nvCxnSpPr>
        <p:spPr>
          <a:xfrm>
            <a:off x="5002656" y="1052563"/>
            <a:ext cx="26544" cy="2669195"/>
          </a:xfrm>
          <a:prstGeom prst="line">
            <a:avLst/>
          </a:prstGeom>
          <a:ln>
            <a:solidFill>
              <a:srgbClr val="A9ABAE"/>
            </a:solidFill>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8121A24F-3F44-0CC5-25C4-BB67F622B8D2}"/>
              </a:ext>
            </a:extLst>
          </p:cNvPr>
          <p:cNvGrpSpPr/>
          <p:nvPr/>
        </p:nvGrpSpPr>
        <p:grpSpPr>
          <a:xfrm>
            <a:off x="839576" y="3893467"/>
            <a:ext cx="10692499" cy="1758765"/>
            <a:chOff x="668905" y="2584515"/>
            <a:chExt cx="5751034" cy="2978085"/>
          </a:xfrm>
        </p:grpSpPr>
        <p:sp>
          <p:nvSpPr>
            <p:cNvPr id="59" name="Rectangle 58">
              <a:extLst>
                <a:ext uri="{FF2B5EF4-FFF2-40B4-BE49-F238E27FC236}">
                  <a16:creationId xmlns:a16="http://schemas.microsoft.com/office/drawing/2014/main" id="{2904D748-640C-890A-0938-D3191D232733}"/>
                </a:ext>
              </a:extLst>
            </p:cNvPr>
            <p:cNvSpPr/>
            <p:nvPr/>
          </p:nvSpPr>
          <p:spPr>
            <a:xfrm>
              <a:off x="668905" y="2584515"/>
              <a:ext cx="5731895" cy="2978085"/>
            </a:xfrm>
            <a:prstGeom prst="rect">
              <a:avLst/>
            </a:prstGeom>
            <a:solidFill>
              <a:srgbClr val="EFF5FB"/>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Georgia" panose="02040502050405020303" pitchFamily="18" charset="0"/>
              </a:endParaRPr>
            </a:p>
          </p:txBody>
        </p:sp>
        <p:sp>
          <p:nvSpPr>
            <p:cNvPr id="4" name="TextBox 3">
              <a:extLst>
                <a:ext uri="{FF2B5EF4-FFF2-40B4-BE49-F238E27FC236}">
                  <a16:creationId xmlns:a16="http://schemas.microsoft.com/office/drawing/2014/main" id="{B4EEE006-ADC7-07B8-3175-5189C60BB3CF}"/>
                </a:ext>
              </a:extLst>
            </p:cNvPr>
            <p:cNvSpPr txBox="1"/>
            <p:nvPr/>
          </p:nvSpPr>
          <p:spPr>
            <a:xfrm>
              <a:off x="709150" y="3038052"/>
              <a:ext cx="5710789" cy="777867"/>
            </a:xfrm>
            <a:prstGeom prst="rect">
              <a:avLst/>
            </a:prstGeom>
            <a:noFill/>
          </p:spPr>
          <p:txBody>
            <a:bodyPr wrap="square">
              <a:spAutoFit/>
            </a:bodyPr>
            <a:lstStyle/>
            <a:p>
              <a:r>
                <a:rPr lang="en-US" sz="1200" dirty="0">
                  <a:latin typeface="Georgia" panose="02040502050405020303" pitchFamily="18" charset="0"/>
                </a:rPr>
                <a:t>Post-harvest losses in Onion, Pomegranate, Mango and Banana in Kalyana Karnataka are primarily attributed to infrastructure and handling practices.</a:t>
              </a:r>
            </a:p>
            <a:p>
              <a:r>
                <a:rPr lang="en-US" sz="1200" i="1" dirty="0">
                  <a:latin typeface="Georgia" panose="02040502050405020303" pitchFamily="18" charset="0"/>
                </a:rPr>
                <a:t>Key issues reported by various district officials include</a:t>
              </a:r>
            </a:p>
          </p:txBody>
        </p:sp>
        <p:sp>
          <p:nvSpPr>
            <p:cNvPr id="9" name="TextBox 8">
              <a:extLst>
                <a:ext uri="{FF2B5EF4-FFF2-40B4-BE49-F238E27FC236}">
                  <a16:creationId xmlns:a16="http://schemas.microsoft.com/office/drawing/2014/main" id="{25354D0C-36E5-5D6F-1DB6-0F9BCC4CC4DD}"/>
                </a:ext>
              </a:extLst>
            </p:cNvPr>
            <p:cNvSpPr txBox="1"/>
            <p:nvPr/>
          </p:nvSpPr>
          <p:spPr>
            <a:xfrm>
              <a:off x="753409" y="3842093"/>
              <a:ext cx="5384408" cy="1460347"/>
            </a:xfrm>
            <a:prstGeom prst="rect">
              <a:avLst/>
            </a:prstGeom>
            <a:noFill/>
          </p:spPr>
          <p:txBody>
            <a:bodyPr wrap="square">
              <a:spAutoFit/>
            </a:bodyPr>
            <a:lstStyle/>
            <a:p>
              <a:pPr marL="171450" indent="-171450">
                <a:buFont typeface="Arial" panose="020B0604020202020204" pitchFamily="34" charset="0"/>
                <a:buChar char="•"/>
              </a:pPr>
              <a:r>
                <a:rPr lang="en-US" sz="1050" i="1" dirty="0">
                  <a:solidFill>
                    <a:srgbClr val="9C3234"/>
                  </a:solidFill>
                  <a:latin typeface="Georgia" panose="02040502050405020303" pitchFamily="18" charset="0"/>
                </a:rPr>
                <a:t>Pomegranate (Raichur, Yadgiri) suffer from bacterial blight, wilt disease, poor market access, and inadequate storage facilities.</a:t>
              </a:r>
            </a:p>
            <a:p>
              <a:pPr marL="171450" indent="-171450">
                <a:buFont typeface="Arial" panose="020B0604020202020204" pitchFamily="34" charset="0"/>
                <a:buChar char="•"/>
              </a:pPr>
              <a:r>
                <a:rPr lang="en-US" sz="1050" i="1" dirty="0">
                  <a:solidFill>
                    <a:srgbClr val="9C3234"/>
                  </a:solidFill>
                  <a:latin typeface="Georgia" panose="02040502050405020303" pitchFamily="18" charset="0"/>
                </a:rPr>
                <a:t>Mango (Raichur, Bidar) face unseasonal rainfall, mango hopper infestation, price volatility, and improper harvesting practices causing major pre- and post-harvest losses.</a:t>
              </a:r>
            </a:p>
            <a:p>
              <a:pPr marL="171450" indent="-171450">
                <a:buFont typeface="Arial" panose="020B0604020202020204" pitchFamily="34" charset="0"/>
                <a:buChar char="•"/>
              </a:pPr>
              <a:r>
                <a:rPr lang="en-US" sz="1050" i="1" dirty="0">
                  <a:solidFill>
                    <a:srgbClr val="9C3234"/>
                  </a:solidFill>
                  <a:latin typeface="Georgia" panose="02040502050405020303" pitchFamily="18" charset="0"/>
                </a:rPr>
                <a:t>Onion (Yadgiri, Bidar) suffer from purple blotch disease, bulb rotting, handling damage, and inadequate storage infrastructure, leading to higher crop losses.</a:t>
              </a:r>
            </a:p>
            <a:p>
              <a:pPr marL="171450" indent="-171450">
                <a:buFont typeface="Arial" panose="020B0604020202020204" pitchFamily="34" charset="0"/>
                <a:buChar char="•"/>
              </a:pPr>
              <a:r>
                <a:rPr lang="en-US" sz="1050" i="1" dirty="0">
                  <a:solidFill>
                    <a:srgbClr val="9C3234"/>
                  </a:solidFill>
                  <a:latin typeface="Georgia" panose="02040502050405020303" pitchFamily="18" charset="0"/>
                </a:rPr>
                <a:t>Banana (Kalaburagi) face poor post-harvest handling, over-ripening during storage and transport, and inadequate packing standards.</a:t>
              </a:r>
            </a:p>
          </p:txBody>
        </p:sp>
      </p:grpSp>
      <p:sp>
        <p:nvSpPr>
          <p:cNvPr id="22" name="TextBox 21">
            <a:extLst>
              <a:ext uri="{FF2B5EF4-FFF2-40B4-BE49-F238E27FC236}">
                <a16:creationId xmlns:a16="http://schemas.microsoft.com/office/drawing/2014/main" id="{DA4A797D-6654-607E-A009-B884E4494220}"/>
              </a:ext>
            </a:extLst>
          </p:cNvPr>
          <p:cNvSpPr txBox="1"/>
          <p:nvPr/>
        </p:nvSpPr>
        <p:spPr>
          <a:xfrm>
            <a:off x="6794851" y="5474710"/>
            <a:ext cx="4858752" cy="200055"/>
          </a:xfrm>
          <a:prstGeom prst="rect">
            <a:avLst/>
          </a:prstGeom>
          <a:noFill/>
        </p:spPr>
        <p:txBody>
          <a:bodyPr wrap="square" rtlCol="0">
            <a:spAutoFit/>
          </a:bodyPr>
          <a:lstStyle/>
          <a:p>
            <a:r>
              <a:rPr lang="en-IN" sz="700" i="1" dirty="0">
                <a:latin typeface="Georgia" panose="02040502050405020303" pitchFamily="18" charset="0"/>
              </a:rPr>
              <a:t>Source: As reported by district officials of Horticulture Department, Government of Karnataka, as of March 2026</a:t>
            </a:r>
          </a:p>
        </p:txBody>
      </p:sp>
      <p:sp>
        <p:nvSpPr>
          <p:cNvPr id="39" name="TextBox 38">
            <a:extLst>
              <a:ext uri="{FF2B5EF4-FFF2-40B4-BE49-F238E27FC236}">
                <a16:creationId xmlns:a16="http://schemas.microsoft.com/office/drawing/2014/main" id="{3EE2C5C8-2A32-5821-EA5D-7030253F9941}"/>
              </a:ext>
            </a:extLst>
          </p:cNvPr>
          <p:cNvSpPr txBox="1">
            <a:spLocks/>
          </p:cNvSpPr>
          <p:nvPr/>
        </p:nvSpPr>
        <p:spPr>
          <a:xfrm>
            <a:off x="5610051" y="1267478"/>
            <a:ext cx="5683808" cy="461665"/>
          </a:xfrm>
          <a:prstGeom prst="rect">
            <a:avLst/>
          </a:prstGeom>
          <a:noFill/>
        </p:spPr>
        <p:txBody>
          <a:bodyPr wrap="square">
            <a:spAutoFit/>
          </a:bodyPr>
          <a:lstStyle/>
          <a:p>
            <a:r>
              <a:rPr lang="en-US" sz="1200" dirty="0">
                <a:latin typeface="Georgia" panose="02040502050405020303" pitchFamily="18" charset="0"/>
              </a:rPr>
              <a:t>Cold storage units with 6121 MT capacity exists for key crops like Grapes and Pomegranate in Kalyana Karnataka. </a:t>
            </a:r>
          </a:p>
        </p:txBody>
      </p:sp>
      <p:sp>
        <p:nvSpPr>
          <p:cNvPr id="46" name="TextBox 45">
            <a:extLst>
              <a:ext uri="{FF2B5EF4-FFF2-40B4-BE49-F238E27FC236}">
                <a16:creationId xmlns:a16="http://schemas.microsoft.com/office/drawing/2014/main" id="{CD797EFC-21F5-046A-C05F-0C449AB2DBAA}"/>
              </a:ext>
            </a:extLst>
          </p:cNvPr>
          <p:cNvSpPr txBox="1">
            <a:spLocks/>
          </p:cNvSpPr>
          <p:nvPr/>
        </p:nvSpPr>
        <p:spPr>
          <a:xfrm>
            <a:off x="5610051" y="1690473"/>
            <a:ext cx="5683808" cy="461665"/>
          </a:xfrm>
          <a:prstGeom prst="rect">
            <a:avLst/>
          </a:prstGeom>
          <a:noFill/>
        </p:spPr>
        <p:txBody>
          <a:bodyPr wrap="square">
            <a:spAutoFit/>
          </a:bodyPr>
          <a:lstStyle/>
          <a:p>
            <a:r>
              <a:rPr lang="en-US" sz="1200" dirty="0">
                <a:latin typeface="Georgia" panose="02040502050405020303" pitchFamily="18" charset="0"/>
              </a:rPr>
              <a:t>Cold storage units with 1,28,573 MT capacity are available across all fruits and vegetables.</a:t>
            </a:r>
          </a:p>
        </p:txBody>
      </p:sp>
      <p:sp>
        <p:nvSpPr>
          <p:cNvPr id="7" name="TextBox 6">
            <a:extLst>
              <a:ext uri="{FF2B5EF4-FFF2-40B4-BE49-F238E27FC236}">
                <a16:creationId xmlns:a16="http://schemas.microsoft.com/office/drawing/2014/main" id="{1215A371-927B-A109-5BBF-1601E7DAD2D7}"/>
              </a:ext>
            </a:extLst>
          </p:cNvPr>
          <p:cNvSpPr txBox="1"/>
          <p:nvPr/>
        </p:nvSpPr>
        <p:spPr>
          <a:xfrm>
            <a:off x="434128" y="-152400"/>
            <a:ext cx="10005272" cy="579069"/>
          </a:xfrm>
          <a:prstGeom prst="rect">
            <a:avLst/>
          </a:prstGeom>
          <a:noFill/>
        </p:spPr>
        <p:txBody>
          <a:bodyPr wrap="square">
            <a:spAutoFit/>
          </a:bodyPr>
          <a:lstStyle/>
          <a:p>
            <a:pPr>
              <a:lnSpc>
                <a:spcPct val="150000"/>
              </a:lnSpc>
              <a:spcAft>
                <a:spcPts val="800"/>
              </a:spcAft>
            </a:pPr>
            <a:r>
              <a:rPr lang="en-IN" sz="2400" b="1" i="1" dirty="0">
                <a:solidFill>
                  <a:schemeClr val="bg1"/>
                </a:solidFill>
                <a:latin typeface="Georgia" panose="02040502050405020303" pitchFamily="18" charset="0"/>
              </a:rPr>
              <a:t>Challenge category 1: Post-harvest value chain solutions</a:t>
            </a:r>
          </a:p>
        </p:txBody>
      </p:sp>
      <p:sp>
        <p:nvSpPr>
          <p:cNvPr id="18" name="TextBox 17">
            <a:extLst>
              <a:ext uri="{FF2B5EF4-FFF2-40B4-BE49-F238E27FC236}">
                <a16:creationId xmlns:a16="http://schemas.microsoft.com/office/drawing/2014/main" id="{683E4960-8B3B-7AB3-DB16-8EC679A56014}"/>
              </a:ext>
            </a:extLst>
          </p:cNvPr>
          <p:cNvSpPr txBox="1"/>
          <p:nvPr/>
        </p:nvSpPr>
        <p:spPr>
          <a:xfrm>
            <a:off x="2667000" y="3886200"/>
            <a:ext cx="6097604" cy="338554"/>
          </a:xfrm>
          <a:prstGeom prst="rect">
            <a:avLst/>
          </a:prstGeom>
          <a:noFill/>
        </p:spPr>
        <p:txBody>
          <a:bodyPr wrap="square">
            <a:spAutoFit/>
          </a:bodyPr>
          <a:lstStyle/>
          <a:p>
            <a:pPr algn="ctr"/>
            <a:r>
              <a:rPr lang="en-US" sz="1600" b="1" dirty="0">
                <a:latin typeface="Georgia" panose="02040502050405020303" pitchFamily="18" charset="0"/>
              </a:rPr>
              <a:t>Challenges reported</a:t>
            </a:r>
          </a:p>
        </p:txBody>
      </p:sp>
      <p:sp>
        <p:nvSpPr>
          <p:cNvPr id="5" name="Title 1">
            <a:extLst>
              <a:ext uri="{FF2B5EF4-FFF2-40B4-BE49-F238E27FC236}">
                <a16:creationId xmlns:a16="http://schemas.microsoft.com/office/drawing/2014/main" id="{69B7B1FE-ADF5-F557-6844-E5035A5BADC9}"/>
              </a:ext>
            </a:extLst>
          </p:cNvPr>
          <p:cNvSpPr txBox="1">
            <a:spLocks/>
          </p:cNvSpPr>
          <p:nvPr/>
        </p:nvSpPr>
        <p:spPr>
          <a:xfrm>
            <a:off x="557539" y="407313"/>
            <a:ext cx="10561116" cy="430887"/>
          </a:xfrm>
          <a:prstGeom prst="rect">
            <a:avLst/>
          </a:prstGeom>
        </p:spPr>
        <p:txBody>
          <a:bodyPr wrap="square" lIns="0" tIns="0" rIns="0" bIns="0">
            <a:spAutoFit/>
          </a:bodyPr>
          <a:lstStyle>
            <a:lvl1pPr>
              <a:defRPr sz="2000" b="1" i="0">
                <a:solidFill>
                  <a:srgbClr val="9C3134"/>
                </a:solidFill>
                <a:latin typeface="Trebuchet MS"/>
                <a:ea typeface="+mj-ea"/>
                <a:cs typeface="Trebuchet MS"/>
              </a:defRPr>
            </a:lvl1pPr>
          </a:lstStyle>
          <a:p>
            <a:r>
              <a:rPr lang="en-US" sz="1800" kern="0" dirty="0">
                <a:solidFill>
                  <a:srgbClr val="E8A33D"/>
                </a:solidFill>
                <a:latin typeface="Georgia" panose="02040502050405020303" pitchFamily="18" charset="0"/>
              </a:rPr>
              <a:t>Kalyana Karnataka Onion-Tomato cluster</a:t>
            </a:r>
            <a:br>
              <a:rPr lang="en-US" sz="1800" kern="0" dirty="0">
                <a:solidFill>
                  <a:srgbClr val="E8A33D"/>
                </a:solidFill>
                <a:latin typeface="Georgia" panose="02040502050405020303" pitchFamily="18" charset="0"/>
              </a:rPr>
            </a:br>
            <a:r>
              <a:rPr lang="en-US" sz="1000" i="1" kern="0" dirty="0">
                <a:solidFill>
                  <a:schemeClr val="bg1"/>
                </a:solidFill>
                <a:latin typeface="Georgia" panose="02040502050405020303" pitchFamily="18" charset="0"/>
                <a:ea typeface="Trebuchet MS"/>
                <a:sym typeface="Trebuchet MS"/>
              </a:rPr>
              <a:t>(</a:t>
            </a:r>
            <a:r>
              <a:rPr lang="en-IN" sz="1000" i="1" kern="0" dirty="0">
                <a:solidFill>
                  <a:schemeClr val="bg1"/>
                </a:solidFill>
                <a:latin typeface="Georgia" panose="02040502050405020303" pitchFamily="18" charset="0"/>
              </a:rPr>
              <a:t>Raichur, Yadgiri, Kalaburagi, Bidar) </a:t>
            </a:r>
          </a:p>
        </p:txBody>
      </p:sp>
      <p:graphicFrame>
        <p:nvGraphicFramePr>
          <p:cNvPr id="10" name="Chart 9">
            <a:extLst>
              <a:ext uri="{FF2B5EF4-FFF2-40B4-BE49-F238E27FC236}">
                <a16:creationId xmlns:a16="http://schemas.microsoft.com/office/drawing/2014/main" id="{68F95111-E190-6627-A0E9-AF36FF354AF3}"/>
              </a:ext>
            </a:extLst>
          </p:cNvPr>
          <p:cNvGraphicFramePr>
            <a:graphicFrameLocks/>
          </p:cNvGraphicFramePr>
          <p:nvPr>
            <p:extLst>
              <p:ext uri="{D42A27DB-BD31-4B8C-83A1-F6EECF244321}">
                <p14:modId xmlns:p14="http://schemas.microsoft.com/office/powerpoint/2010/main" val="1333857864"/>
              </p:ext>
            </p:extLst>
          </p:nvPr>
        </p:nvGraphicFramePr>
        <p:xfrm>
          <a:off x="700939" y="1697087"/>
          <a:ext cx="4145304" cy="1456428"/>
        </p:xfrm>
        <a:graphic>
          <a:graphicData uri="http://schemas.openxmlformats.org/drawingml/2006/chart">
            <c:chart xmlns:c="http://schemas.openxmlformats.org/drawingml/2006/chart" xmlns:r="http://schemas.openxmlformats.org/officeDocument/2006/relationships" r:id="rId3"/>
          </a:graphicData>
        </a:graphic>
      </p:graphicFrame>
      <p:pic>
        <p:nvPicPr>
          <p:cNvPr id="12" name="Graphic 11" descr="Thermometer with solid fill">
            <a:extLst>
              <a:ext uri="{FF2B5EF4-FFF2-40B4-BE49-F238E27FC236}">
                <a16:creationId xmlns:a16="http://schemas.microsoft.com/office/drawing/2014/main" id="{371E5895-5DF0-D854-D0C4-F7F8BA598D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35816" y="1783016"/>
            <a:ext cx="350584" cy="350584"/>
          </a:xfrm>
          <a:prstGeom prst="rect">
            <a:avLst/>
          </a:prstGeom>
        </p:spPr>
      </p:pic>
      <p:sp>
        <p:nvSpPr>
          <p:cNvPr id="43" name="TextBox 42">
            <a:extLst>
              <a:ext uri="{FF2B5EF4-FFF2-40B4-BE49-F238E27FC236}">
                <a16:creationId xmlns:a16="http://schemas.microsoft.com/office/drawing/2014/main" id="{4BBF2FA0-802E-D41D-3227-D57E14B2D6ED}"/>
              </a:ext>
            </a:extLst>
          </p:cNvPr>
          <p:cNvSpPr txBox="1">
            <a:spLocks/>
          </p:cNvSpPr>
          <p:nvPr/>
        </p:nvSpPr>
        <p:spPr>
          <a:xfrm>
            <a:off x="5597787" y="2209800"/>
            <a:ext cx="5893275" cy="461665"/>
          </a:xfrm>
          <a:prstGeom prst="rect">
            <a:avLst/>
          </a:prstGeom>
          <a:noFill/>
        </p:spPr>
        <p:txBody>
          <a:bodyPr wrap="square">
            <a:spAutoFit/>
          </a:bodyPr>
          <a:lstStyle/>
          <a:p>
            <a:r>
              <a:rPr lang="en-US" sz="1200" dirty="0">
                <a:latin typeface="Georgia" panose="02040502050405020303" pitchFamily="18" charset="0"/>
              </a:rPr>
              <a:t>9 seed production centers covering 70 hectares, 47 horticulture farms and nurseries across 1,154 acres and 3 agricultural training centers.</a:t>
            </a:r>
            <a:endParaRPr lang="en-IN" sz="1200" dirty="0">
              <a:latin typeface="Georgia" panose="02040502050405020303" pitchFamily="18" charset="0"/>
            </a:endParaRPr>
          </a:p>
        </p:txBody>
      </p:sp>
      <p:pic>
        <p:nvPicPr>
          <p:cNvPr id="16" name="Graphic 15" descr="Warehouse with solid fill">
            <a:extLst>
              <a:ext uri="{FF2B5EF4-FFF2-40B4-BE49-F238E27FC236}">
                <a16:creationId xmlns:a16="http://schemas.microsoft.com/office/drawing/2014/main" id="{2C834B2F-D022-FA39-4C69-79461DD0F05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95221" y="1344017"/>
            <a:ext cx="291179" cy="291179"/>
          </a:xfrm>
          <a:prstGeom prst="rect">
            <a:avLst/>
          </a:prstGeom>
        </p:spPr>
      </p:pic>
      <p:grpSp>
        <p:nvGrpSpPr>
          <p:cNvPr id="6" name="Group 5">
            <a:extLst>
              <a:ext uri="{FF2B5EF4-FFF2-40B4-BE49-F238E27FC236}">
                <a16:creationId xmlns:a16="http://schemas.microsoft.com/office/drawing/2014/main" id="{4197BC2A-5C45-6F84-528A-712D518C0CF1}"/>
              </a:ext>
            </a:extLst>
          </p:cNvPr>
          <p:cNvGrpSpPr/>
          <p:nvPr/>
        </p:nvGrpSpPr>
        <p:grpSpPr>
          <a:xfrm>
            <a:off x="5185614" y="2680941"/>
            <a:ext cx="6706832" cy="1106887"/>
            <a:chOff x="5152003" y="2284736"/>
            <a:chExt cx="6706832" cy="1106887"/>
          </a:xfrm>
        </p:grpSpPr>
        <p:sp>
          <p:nvSpPr>
            <p:cNvPr id="40" name="TextBox 39">
              <a:extLst>
                <a:ext uri="{FF2B5EF4-FFF2-40B4-BE49-F238E27FC236}">
                  <a16:creationId xmlns:a16="http://schemas.microsoft.com/office/drawing/2014/main" id="{D99B764C-8186-1B8D-E5D7-B2F38A677DFE}"/>
                </a:ext>
              </a:extLst>
            </p:cNvPr>
            <p:cNvSpPr txBox="1">
              <a:spLocks/>
            </p:cNvSpPr>
            <p:nvPr/>
          </p:nvSpPr>
          <p:spPr>
            <a:xfrm>
              <a:off x="5610051" y="2284736"/>
              <a:ext cx="5945806" cy="646331"/>
            </a:xfrm>
            <a:prstGeom prst="rect">
              <a:avLst/>
            </a:prstGeom>
            <a:noFill/>
          </p:spPr>
          <p:txBody>
            <a:bodyPr wrap="square">
              <a:spAutoFit/>
            </a:bodyPr>
            <a:lstStyle/>
            <a:p>
              <a:r>
                <a:rPr lang="en-US" sz="1200" dirty="0">
                  <a:latin typeface="Georgia" panose="02040502050405020303" pitchFamily="18" charset="0"/>
                </a:rPr>
                <a:t>20 WDD FPOs recorded ₹2 Cr in transactions during FY 23-24, primarily focusing on Onion and Pomegranate, while 41 </a:t>
              </a:r>
              <a:r>
                <a:rPr lang="en-US" sz="1200" dirty="0" err="1">
                  <a:latin typeface="Georgia" panose="02040502050405020303" pitchFamily="18" charset="0"/>
                </a:rPr>
                <a:t>WDD</a:t>
              </a:r>
              <a:r>
                <a:rPr lang="en-US" sz="1200" dirty="0">
                  <a:latin typeface="Georgia" panose="02040502050405020303" pitchFamily="18" charset="0"/>
                </a:rPr>
                <a:t> FPOs operated across all fruits and vegetables with ₹13 Cr total transactions in FY 23-24.</a:t>
              </a:r>
            </a:p>
          </p:txBody>
        </p:sp>
        <p:sp>
          <p:nvSpPr>
            <p:cNvPr id="44" name="TextBox 43">
              <a:extLst>
                <a:ext uri="{FF2B5EF4-FFF2-40B4-BE49-F238E27FC236}">
                  <a16:creationId xmlns:a16="http://schemas.microsoft.com/office/drawing/2014/main" id="{00EF28D8-6D14-B213-F412-7A7A491E3438}"/>
                </a:ext>
              </a:extLst>
            </p:cNvPr>
            <p:cNvSpPr txBox="1">
              <a:spLocks/>
            </p:cNvSpPr>
            <p:nvPr/>
          </p:nvSpPr>
          <p:spPr>
            <a:xfrm>
              <a:off x="5638800" y="2929958"/>
              <a:ext cx="6220035" cy="461665"/>
            </a:xfrm>
            <a:prstGeom prst="rect">
              <a:avLst/>
            </a:prstGeom>
            <a:noFill/>
          </p:spPr>
          <p:txBody>
            <a:bodyPr wrap="square">
              <a:spAutoFit/>
            </a:bodyPr>
            <a:lstStyle/>
            <a:p>
              <a:r>
                <a:rPr lang="en-US" sz="1200" dirty="0">
                  <a:latin typeface="Georgia" panose="02040502050405020303" pitchFamily="18" charset="0"/>
                </a:rPr>
                <a:t>FPOs supported by the Horticulture Department recorded ₹ 1.23 crores in transactions in FY 23-24 for onion, tomato, watermelon, guava and cabbage</a:t>
              </a:r>
              <a:endParaRPr lang="en-IN" sz="1200" dirty="0">
                <a:latin typeface="Georgia" panose="02040502050405020303" pitchFamily="18" charset="0"/>
              </a:endParaRPr>
            </a:p>
          </p:txBody>
        </p:sp>
        <p:pic>
          <p:nvPicPr>
            <p:cNvPr id="11" name="Graphic 10" descr="Rupee with solid fill">
              <a:extLst>
                <a:ext uri="{FF2B5EF4-FFF2-40B4-BE49-F238E27FC236}">
                  <a16:creationId xmlns:a16="http://schemas.microsoft.com/office/drawing/2014/main" id="{A9EBB07A-709D-DE7B-61E5-CB500E4EA1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00851" y="2958685"/>
              <a:ext cx="352879" cy="352879"/>
            </a:xfrm>
            <a:prstGeom prst="rect">
              <a:avLst/>
            </a:prstGeom>
          </p:spPr>
        </p:pic>
        <p:pic>
          <p:nvPicPr>
            <p:cNvPr id="17" name="Graphic 16" descr="Users with solid fill">
              <a:extLst>
                <a:ext uri="{FF2B5EF4-FFF2-40B4-BE49-F238E27FC236}">
                  <a16:creationId xmlns:a16="http://schemas.microsoft.com/office/drawing/2014/main" id="{33AB1C5F-F2AB-F923-B40D-2B2A23EE457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52003" y="2452579"/>
              <a:ext cx="334397" cy="334397"/>
            </a:xfrm>
            <a:prstGeom prst="rect">
              <a:avLst/>
            </a:prstGeom>
          </p:spPr>
        </p:pic>
      </p:grpSp>
      <p:sp>
        <p:nvSpPr>
          <p:cNvPr id="19" name="TextBox 18">
            <a:extLst>
              <a:ext uri="{FF2B5EF4-FFF2-40B4-BE49-F238E27FC236}">
                <a16:creationId xmlns:a16="http://schemas.microsoft.com/office/drawing/2014/main" id="{EB742105-07B1-7664-4BEF-6CCD1CF67CD9}"/>
              </a:ext>
            </a:extLst>
          </p:cNvPr>
          <p:cNvSpPr txBox="1"/>
          <p:nvPr/>
        </p:nvSpPr>
        <p:spPr>
          <a:xfrm>
            <a:off x="652953" y="1253601"/>
            <a:ext cx="4482863" cy="646331"/>
          </a:xfrm>
          <a:prstGeom prst="rect">
            <a:avLst/>
          </a:prstGeom>
          <a:noFill/>
        </p:spPr>
        <p:txBody>
          <a:bodyPr wrap="square">
            <a:spAutoFit/>
          </a:bodyPr>
          <a:lstStyle/>
          <a:p>
            <a:pPr>
              <a:buNone/>
            </a:pPr>
            <a:r>
              <a:rPr lang="en-US" sz="1200" b="1" dirty="0">
                <a:solidFill>
                  <a:srgbClr val="9C3237"/>
                </a:solidFill>
                <a:latin typeface="Georgia" panose="02040502050405020303" pitchFamily="18" charset="0"/>
              </a:rPr>
              <a:t>Out of the total fruits &amp; vegetables production of 0.7 million MT in this cluster, the seven crop-specific production accounted for approximately 76.7%.</a:t>
            </a:r>
          </a:p>
        </p:txBody>
      </p:sp>
      <p:sp>
        <p:nvSpPr>
          <p:cNvPr id="26" name="TextBox 25">
            <a:extLst>
              <a:ext uri="{FF2B5EF4-FFF2-40B4-BE49-F238E27FC236}">
                <a16:creationId xmlns:a16="http://schemas.microsoft.com/office/drawing/2014/main" id="{4E3E8A8B-DFCF-CEE0-6094-0BE19200B47B}"/>
              </a:ext>
            </a:extLst>
          </p:cNvPr>
          <p:cNvSpPr txBox="1"/>
          <p:nvPr/>
        </p:nvSpPr>
        <p:spPr>
          <a:xfrm>
            <a:off x="762000" y="5680502"/>
            <a:ext cx="7112864" cy="415498"/>
          </a:xfrm>
          <a:prstGeom prst="rect">
            <a:avLst/>
          </a:prstGeom>
          <a:noFill/>
        </p:spPr>
        <p:txBody>
          <a:bodyPr wrap="square" rtlCol="0">
            <a:spAutoFit/>
          </a:bodyPr>
          <a:lstStyle/>
          <a:p>
            <a:r>
              <a:rPr lang="en-US" sz="700" i="1" dirty="0">
                <a:latin typeface="Georgia" panose="02040502050405020303" pitchFamily="18" charset="0"/>
              </a:rPr>
              <a:t>Data sources: As per the internal data shared by the following departments under Government of Karnataka, as of March 2026:</a:t>
            </a:r>
          </a:p>
          <a:p>
            <a:pPr marL="93663" indent="-93663">
              <a:buFont typeface="Arial" panose="020B0604020202020204" pitchFamily="34" charset="0"/>
              <a:buChar char="•"/>
            </a:pPr>
            <a:r>
              <a:rPr lang="en-IN" sz="700" i="1" dirty="0">
                <a:latin typeface="Georgia" panose="02040502050405020303" pitchFamily="18" charset="0"/>
              </a:rPr>
              <a:t>KAPPEC – Processing infrastructure &amp; Watershed Development Department (</a:t>
            </a:r>
            <a:r>
              <a:rPr lang="en-IN" sz="700" i="1" dirty="0" err="1">
                <a:latin typeface="Georgia" panose="02040502050405020303" pitchFamily="18" charset="0"/>
              </a:rPr>
              <a:t>WDD</a:t>
            </a:r>
            <a:r>
              <a:rPr lang="en-IN" sz="700" i="1" dirty="0">
                <a:latin typeface="Georgia" panose="02040502050405020303" pitchFamily="18" charset="0"/>
              </a:rPr>
              <a:t>) FPOs</a:t>
            </a:r>
          </a:p>
          <a:p>
            <a:pPr marL="93663" indent="-93663">
              <a:buFont typeface="Arial" panose="020B0604020202020204" pitchFamily="34" charset="0"/>
              <a:buChar char="•"/>
            </a:pPr>
            <a:r>
              <a:rPr lang="en-IN" sz="700" i="1" dirty="0">
                <a:latin typeface="Georgia" panose="02040502050405020303" pitchFamily="18" charset="0"/>
              </a:rPr>
              <a:t>Directorate of Horticulture – Cold storage infrastructure, Horticulture farms/nurseries, Horticulture Department FPOs</a:t>
            </a:r>
          </a:p>
        </p:txBody>
      </p:sp>
      <p:sp>
        <p:nvSpPr>
          <p:cNvPr id="27" name="TextBox 26">
            <a:extLst>
              <a:ext uri="{FF2B5EF4-FFF2-40B4-BE49-F238E27FC236}">
                <a16:creationId xmlns:a16="http://schemas.microsoft.com/office/drawing/2014/main" id="{E23F716A-7EF9-959B-2484-7D08AA009C1E}"/>
              </a:ext>
            </a:extLst>
          </p:cNvPr>
          <p:cNvSpPr txBox="1"/>
          <p:nvPr/>
        </p:nvSpPr>
        <p:spPr>
          <a:xfrm>
            <a:off x="855748" y="3228945"/>
            <a:ext cx="3792452" cy="200055"/>
          </a:xfrm>
          <a:prstGeom prst="rect">
            <a:avLst/>
          </a:prstGeom>
          <a:noFill/>
        </p:spPr>
        <p:txBody>
          <a:bodyPr wrap="square" rtlCol="0">
            <a:spAutoFit/>
          </a:bodyPr>
          <a:lstStyle/>
          <a:p>
            <a:r>
              <a:rPr lang="en-IN" sz="700" i="1" dirty="0">
                <a:latin typeface="Georgia" panose="02040502050405020303" pitchFamily="18" charset="0"/>
              </a:rPr>
              <a:t>Source: Horticulture Crop Statistics of Karnataka State at a Glance – 2023-24</a:t>
            </a:r>
          </a:p>
        </p:txBody>
      </p:sp>
      <p:pic>
        <p:nvPicPr>
          <p:cNvPr id="8" name="Picture 7">
            <a:extLst>
              <a:ext uri="{FF2B5EF4-FFF2-40B4-BE49-F238E27FC236}">
                <a16:creationId xmlns:a16="http://schemas.microsoft.com/office/drawing/2014/main" id="{DE840A26-2589-11BD-485F-279EEBC1B89A}"/>
              </a:ext>
            </a:extLst>
          </p:cNvPr>
          <p:cNvPicPr>
            <a:picLocks noChangeAspect="1"/>
          </p:cNvPicPr>
          <p:nvPr/>
        </p:nvPicPr>
        <p:blipFill>
          <a:blip r:embed="rId8" cstate="print">
            <a:extLst>
              <a:ext uri="{28A0092B-C50C-407E-A947-70E740481C1C}">
                <a14:useLocalDpi xmlns:a14="http://schemas.microsoft.com/office/drawing/2010/main" val="0"/>
              </a:ext>
            </a:extLst>
          </a:blip>
          <a:srcRect l="7165" t="4595" r="10510" b="7627"/>
          <a:stretch>
            <a:fillRect/>
          </a:stretch>
        </p:blipFill>
        <p:spPr>
          <a:xfrm>
            <a:off x="10936972" y="191840"/>
            <a:ext cx="1034312" cy="1121561"/>
          </a:xfrm>
          <a:prstGeom prst="rect">
            <a:avLst/>
          </a:prstGeom>
        </p:spPr>
      </p:pic>
      <p:pic>
        <p:nvPicPr>
          <p:cNvPr id="15" name="Graphic 14" descr="Schoolhouse outline">
            <a:extLst>
              <a:ext uri="{FF2B5EF4-FFF2-40B4-BE49-F238E27FC236}">
                <a16:creationId xmlns:a16="http://schemas.microsoft.com/office/drawing/2014/main" id="{447D9E77-E7ED-06D5-6118-6074ADCB19E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137926" y="2231420"/>
            <a:ext cx="429772" cy="429772"/>
          </a:xfrm>
          <a:prstGeom prst="rect">
            <a:avLst/>
          </a:prstGeom>
        </p:spPr>
      </p:pic>
      <p:sp>
        <p:nvSpPr>
          <p:cNvPr id="2" name="TextBox 1">
            <a:extLst>
              <a:ext uri="{FF2B5EF4-FFF2-40B4-BE49-F238E27FC236}">
                <a16:creationId xmlns:a16="http://schemas.microsoft.com/office/drawing/2014/main" id="{0DF53798-87AA-26D3-E2E6-CAAD29AA2A78}"/>
              </a:ext>
            </a:extLst>
          </p:cNvPr>
          <p:cNvSpPr txBox="1"/>
          <p:nvPr/>
        </p:nvSpPr>
        <p:spPr>
          <a:xfrm>
            <a:off x="1749858" y="914400"/>
            <a:ext cx="1576398" cy="338554"/>
          </a:xfrm>
          <a:prstGeom prst="rect">
            <a:avLst/>
          </a:prstGeom>
          <a:noFill/>
        </p:spPr>
        <p:txBody>
          <a:bodyPr wrap="square">
            <a:spAutoFit/>
          </a:bodyPr>
          <a:lstStyle/>
          <a:p>
            <a:pPr algn="ctr"/>
            <a:r>
              <a:rPr lang="en-US" sz="1600" b="1" dirty="0">
                <a:latin typeface="Georgia" panose="02040502050405020303" pitchFamily="18" charset="0"/>
              </a:rPr>
              <a:t>Production</a:t>
            </a:r>
          </a:p>
        </p:txBody>
      </p:sp>
      <p:sp>
        <p:nvSpPr>
          <p:cNvPr id="14" name="TextBox 13">
            <a:extLst>
              <a:ext uri="{FF2B5EF4-FFF2-40B4-BE49-F238E27FC236}">
                <a16:creationId xmlns:a16="http://schemas.microsoft.com/office/drawing/2014/main" id="{F4D49BDB-D3F8-2E9A-86F1-BAFC3DC84051}"/>
              </a:ext>
            </a:extLst>
          </p:cNvPr>
          <p:cNvSpPr txBox="1"/>
          <p:nvPr/>
        </p:nvSpPr>
        <p:spPr>
          <a:xfrm>
            <a:off x="6244491" y="880646"/>
            <a:ext cx="3583805" cy="338554"/>
          </a:xfrm>
          <a:prstGeom prst="rect">
            <a:avLst/>
          </a:prstGeom>
          <a:noFill/>
        </p:spPr>
        <p:txBody>
          <a:bodyPr wrap="square">
            <a:spAutoFit/>
          </a:bodyPr>
          <a:lstStyle/>
          <a:p>
            <a:pPr algn="ctr"/>
            <a:r>
              <a:rPr lang="en-US" sz="1600" b="1" dirty="0">
                <a:latin typeface="Georgia" panose="02040502050405020303" pitchFamily="18" charset="0"/>
              </a:rPr>
              <a:t>Existing Ecosystem</a:t>
            </a:r>
          </a:p>
        </p:txBody>
      </p:sp>
      <p:pic>
        <p:nvPicPr>
          <p:cNvPr id="13" name="Picture 12">
            <a:extLst>
              <a:ext uri="{FF2B5EF4-FFF2-40B4-BE49-F238E27FC236}">
                <a16:creationId xmlns:a16="http://schemas.microsoft.com/office/drawing/2014/main" id="{4AE5D8D3-719A-BD6B-EB7F-570C8B0F9AB6}"/>
              </a:ext>
            </a:extLst>
          </p:cNvPr>
          <p:cNvPicPr>
            <a:picLocks noChangeAspect="1"/>
          </p:cNvPicPr>
          <p:nvPr/>
        </p:nvPicPr>
        <p:blipFill>
          <a:blip r:embed="rId10">
            <a:extLst>
              <a:ext uri="{28A0092B-C50C-407E-A947-70E740481C1C}">
                <a14:useLocalDpi xmlns:a14="http://schemas.microsoft.com/office/drawing/2010/main" val="0"/>
              </a:ext>
            </a:extLst>
          </a:blip>
          <a:srcRect t="6006"/>
          <a:stretch>
            <a:fillRect/>
          </a:stretch>
        </p:blipFill>
        <p:spPr>
          <a:xfrm>
            <a:off x="327927" y="6050516"/>
            <a:ext cx="11887200" cy="905367"/>
          </a:xfrm>
          <a:prstGeom prst="rect">
            <a:avLst/>
          </a:prstGeom>
        </p:spPr>
      </p:pic>
    </p:spTree>
    <p:extLst>
      <p:ext uri="{BB962C8B-B14F-4D97-AF65-F5344CB8AC3E}">
        <p14:creationId xmlns:p14="http://schemas.microsoft.com/office/powerpoint/2010/main" val="3627141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91DEA-59B0-4F36-3688-0538D04BC80F}"/>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00930235-9A14-E23D-2E87-A49A166BA9AE}"/>
              </a:ext>
            </a:extLst>
          </p:cNvPr>
          <p:cNvSpPr/>
          <p:nvPr/>
        </p:nvSpPr>
        <p:spPr>
          <a:xfrm>
            <a:off x="55513" y="6246661"/>
            <a:ext cx="12573000" cy="914400"/>
          </a:xfrm>
          <a:prstGeom prst="rect">
            <a:avLst/>
          </a:prstGeom>
          <a:solidFill>
            <a:srgbClr val="EEECE1"/>
          </a:solidFill>
          <a:ln>
            <a:solidFill>
              <a:srgbClr val="EEEC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0F26F360-A5A0-AD73-90B9-672523C370C6}"/>
              </a:ext>
            </a:extLst>
          </p:cNvPr>
          <p:cNvSpPr/>
          <p:nvPr/>
        </p:nvSpPr>
        <p:spPr>
          <a:xfrm>
            <a:off x="535032" y="4240716"/>
            <a:ext cx="11463807" cy="1622577"/>
          </a:xfrm>
          <a:prstGeom prst="rect">
            <a:avLst/>
          </a:prstGeom>
          <a:solidFill>
            <a:srgbClr val="EFF5FB"/>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Georgia" panose="02040502050405020303" pitchFamily="18" charset="0"/>
            </a:endParaRPr>
          </a:p>
        </p:txBody>
      </p:sp>
      <p:cxnSp>
        <p:nvCxnSpPr>
          <p:cNvPr id="62" name="Straight Connector 61">
            <a:extLst>
              <a:ext uri="{FF2B5EF4-FFF2-40B4-BE49-F238E27FC236}">
                <a16:creationId xmlns:a16="http://schemas.microsoft.com/office/drawing/2014/main" id="{C0D1C85B-E3B7-7847-142E-67C08866D8D3}"/>
              </a:ext>
            </a:extLst>
          </p:cNvPr>
          <p:cNvCxnSpPr>
            <a:cxnSpLocks/>
          </p:cNvCxnSpPr>
          <p:nvPr/>
        </p:nvCxnSpPr>
        <p:spPr>
          <a:xfrm>
            <a:off x="5181600" y="1219200"/>
            <a:ext cx="0" cy="2880000"/>
          </a:xfrm>
          <a:prstGeom prst="line">
            <a:avLst/>
          </a:prstGeom>
          <a:ln>
            <a:solidFill>
              <a:srgbClr val="A9ABAE"/>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8DFCE50-22E9-DD99-9978-F197EA7FD4A4}"/>
              </a:ext>
            </a:extLst>
          </p:cNvPr>
          <p:cNvSpPr txBox="1"/>
          <p:nvPr/>
        </p:nvSpPr>
        <p:spPr>
          <a:xfrm>
            <a:off x="620474" y="4491335"/>
            <a:ext cx="11443078" cy="461665"/>
          </a:xfrm>
          <a:prstGeom prst="rect">
            <a:avLst/>
          </a:prstGeom>
          <a:noFill/>
        </p:spPr>
        <p:txBody>
          <a:bodyPr wrap="square">
            <a:spAutoFit/>
          </a:bodyPr>
          <a:lstStyle/>
          <a:p>
            <a:r>
              <a:rPr lang="en-US" sz="1200" dirty="0">
                <a:latin typeface="Georgia" panose="02040502050405020303" pitchFamily="18" charset="0"/>
              </a:rPr>
              <a:t>Post-harvest losses in Onion, Mango, and Banana in South Karnataka are primarily attributed to infrastructure and handling practices. </a:t>
            </a:r>
          </a:p>
          <a:p>
            <a:r>
              <a:rPr lang="en-US" sz="1200" i="1" dirty="0">
                <a:latin typeface="Georgia" panose="02040502050405020303" pitchFamily="18" charset="0"/>
              </a:rPr>
              <a:t>Key issues reported by various district officials include</a:t>
            </a:r>
          </a:p>
        </p:txBody>
      </p:sp>
      <p:sp>
        <p:nvSpPr>
          <p:cNvPr id="9" name="TextBox 8">
            <a:extLst>
              <a:ext uri="{FF2B5EF4-FFF2-40B4-BE49-F238E27FC236}">
                <a16:creationId xmlns:a16="http://schemas.microsoft.com/office/drawing/2014/main" id="{B5887F73-126B-45F1-504E-07202551E0F4}"/>
              </a:ext>
            </a:extLst>
          </p:cNvPr>
          <p:cNvSpPr txBox="1"/>
          <p:nvPr/>
        </p:nvSpPr>
        <p:spPr>
          <a:xfrm>
            <a:off x="533400" y="4876800"/>
            <a:ext cx="11463807" cy="900246"/>
          </a:xfrm>
          <a:prstGeom prst="rect">
            <a:avLst/>
          </a:prstGeom>
          <a:noFill/>
        </p:spPr>
        <p:txBody>
          <a:bodyPr wrap="square">
            <a:spAutoFit/>
          </a:bodyPr>
          <a:lstStyle/>
          <a:p>
            <a:pPr marL="171450" indent="-171450">
              <a:buFont typeface="Arial" panose="020B0604020202020204" pitchFamily="34" charset="0"/>
              <a:buChar char="•"/>
            </a:pPr>
            <a:r>
              <a:rPr lang="en-US" sz="1050" i="1" dirty="0">
                <a:solidFill>
                  <a:srgbClr val="9C3237"/>
                </a:solidFill>
                <a:latin typeface="Georgia" panose="02040502050405020303" pitchFamily="18" charset="0"/>
              </a:rPr>
              <a:t>Banana (Mysuru, Chamarajanagara) suffer from improper harvesting techniques, lack of disease-free planting material, rough handling during collection, lack of ventilated transport facilities, and poor sorting and grading practices.</a:t>
            </a:r>
          </a:p>
          <a:p>
            <a:pPr marL="171450" indent="-171450">
              <a:buFont typeface="Arial" panose="020B0604020202020204" pitchFamily="34" charset="0"/>
              <a:buChar char="•"/>
            </a:pPr>
            <a:r>
              <a:rPr lang="en-US" sz="1050" i="1" dirty="0">
                <a:solidFill>
                  <a:srgbClr val="9C3237"/>
                </a:solidFill>
                <a:latin typeface="Georgia" panose="02040502050405020303" pitchFamily="18" charset="0"/>
              </a:rPr>
              <a:t>Mango (Mysuru) experience unseasonal rainfall patterns, hailstorm damage, lack of adequate processing infrastructure, and price fluctuation pressures that exacerbate both pre-harvest and post-harvest losses.</a:t>
            </a:r>
          </a:p>
          <a:p>
            <a:pPr marL="171450" indent="-171450">
              <a:buFont typeface="Arial" panose="020B0604020202020204" pitchFamily="34" charset="0"/>
              <a:buChar char="•"/>
            </a:pPr>
            <a:r>
              <a:rPr lang="en-US" sz="1050" i="1" dirty="0">
                <a:solidFill>
                  <a:srgbClr val="9C3237"/>
                </a:solidFill>
                <a:latin typeface="Georgia" panose="02040502050405020303" pitchFamily="18" charset="0"/>
              </a:rPr>
              <a:t>Onion (Mandya) suffer from time-consuming grading operations, size variation challenges, and non-uniformity in produce quality.</a:t>
            </a:r>
          </a:p>
        </p:txBody>
      </p:sp>
      <p:sp>
        <p:nvSpPr>
          <p:cNvPr id="6" name="Title 1">
            <a:extLst>
              <a:ext uri="{FF2B5EF4-FFF2-40B4-BE49-F238E27FC236}">
                <a16:creationId xmlns:a16="http://schemas.microsoft.com/office/drawing/2014/main" id="{D28D4947-45AD-44E0-9816-AC7665F96CAC}"/>
              </a:ext>
            </a:extLst>
          </p:cNvPr>
          <p:cNvSpPr>
            <a:spLocks noGrp="1"/>
          </p:cNvSpPr>
          <p:nvPr>
            <p:ph type="title"/>
          </p:nvPr>
        </p:nvSpPr>
        <p:spPr>
          <a:xfrm>
            <a:off x="638956" y="407313"/>
            <a:ext cx="7895444" cy="430887"/>
          </a:xfrm>
        </p:spPr>
        <p:txBody>
          <a:bodyPr/>
          <a:lstStyle/>
          <a:p>
            <a:r>
              <a:rPr lang="en-US" sz="1800" dirty="0">
                <a:solidFill>
                  <a:srgbClr val="E8A33D"/>
                </a:solidFill>
                <a:latin typeface="Georgia" panose="02040502050405020303" pitchFamily="18" charset="0"/>
              </a:rPr>
              <a:t>South Karnataka Banana-Tomato-Mango cluster</a:t>
            </a:r>
            <a:br>
              <a:rPr lang="en-US" sz="1800" dirty="0">
                <a:latin typeface="Georgia" panose="02040502050405020303" pitchFamily="18" charset="0"/>
              </a:rPr>
            </a:br>
            <a:r>
              <a:rPr lang="en-US" sz="1000" i="1" dirty="0">
                <a:solidFill>
                  <a:schemeClr val="bg1"/>
                </a:solidFill>
                <a:latin typeface="Georgia" panose="02040502050405020303" pitchFamily="18" charset="0"/>
                <a:ea typeface="Trebuchet MS"/>
                <a:sym typeface="Trebuchet MS"/>
              </a:rPr>
              <a:t>(</a:t>
            </a:r>
            <a:r>
              <a:rPr lang="en-IN" sz="1000" i="1" dirty="0">
                <a:solidFill>
                  <a:schemeClr val="bg1"/>
                </a:solidFill>
                <a:latin typeface="Georgia" panose="02040502050405020303" pitchFamily="18" charset="0"/>
              </a:rPr>
              <a:t>Mysuru, Mandya, Chamarajanagara, Hassan, Ramanagara)</a:t>
            </a:r>
          </a:p>
        </p:txBody>
      </p:sp>
      <p:graphicFrame>
        <p:nvGraphicFramePr>
          <p:cNvPr id="8" name="Chart 7">
            <a:extLst>
              <a:ext uri="{FF2B5EF4-FFF2-40B4-BE49-F238E27FC236}">
                <a16:creationId xmlns:a16="http://schemas.microsoft.com/office/drawing/2014/main" id="{68C78489-4676-FCB4-A244-1EAA51BB2699}"/>
              </a:ext>
            </a:extLst>
          </p:cNvPr>
          <p:cNvGraphicFramePr>
            <a:graphicFrameLocks/>
          </p:cNvGraphicFramePr>
          <p:nvPr>
            <p:extLst>
              <p:ext uri="{D42A27DB-BD31-4B8C-83A1-F6EECF244321}">
                <p14:modId xmlns:p14="http://schemas.microsoft.com/office/powerpoint/2010/main" val="106695624"/>
              </p:ext>
            </p:extLst>
          </p:nvPr>
        </p:nvGraphicFramePr>
        <p:xfrm>
          <a:off x="553859" y="1942246"/>
          <a:ext cx="4729104" cy="1180049"/>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342CDEA1-419F-C7FB-7736-A1920A53AC19}"/>
              </a:ext>
            </a:extLst>
          </p:cNvPr>
          <p:cNvSpPr txBox="1"/>
          <p:nvPr/>
        </p:nvSpPr>
        <p:spPr>
          <a:xfrm>
            <a:off x="457200" y="-152400"/>
            <a:ext cx="9982200" cy="579069"/>
          </a:xfrm>
          <a:prstGeom prst="rect">
            <a:avLst/>
          </a:prstGeom>
          <a:noFill/>
        </p:spPr>
        <p:txBody>
          <a:bodyPr wrap="square">
            <a:spAutoFit/>
          </a:bodyPr>
          <a:lstStyle/>
          <a:p>
            <a:pPr>
              <a:lnSpc>
                <a:spcPct val="150000"/>
              </a:lnSpc>
              <a:spcAft>
                <a:spcPts val="800"/>
              </a:spcAft>
            </a:pPr>
            <a:r>
              <a:rPr lang="en-IN" sz="2400" b="1" i="1" dirty="0">
                <a:solidFill>
                  <a:schemeClr val="bg1"/>
                </a:solidFill>
                <a:latin typeface="Georgia" panose="02040502050405020303" pitchFamily="18" charset="0"/>
              </a:rPr>
              <a:t>Challenge category 1: Post-harvest value chain solutions</a:t>
            </a:r>
          </a:p>
        </p:txBody>
      </p:sp>
      <p:sp>
        <p:nvSpPr>
          <p:cNvPr id="2" name="TextBox 1">
            <a:extLst>
              <a:ext uri="{FF2B5EF4-FFF2-40B4-BE49-F238E27FC236}">
                <a16:creationId xmlns:a16="http://schemas.microsoft.com/office/drawing/2014/main" id="{48144AF1-57BA-17E7-7A4E-7D3E233F5A9C}"/>
              </a:ext>
            </a:extLst>
          </p:cNvPr>
          <p:cNvSpPr txBox="1"/>
          <p:nvPr/>
        </p:nvSpPr>
        <p:spPr>
          <a:xfrm>
            <a:off x="583691" y="1371600"/>
            <a:ext cx="4626924" cy="646331"/>
          </a:xfrm>
          <a:prstGeom prst="rect">
            <a:avLst/>
          </a:prstGeom>
          <a:noFill/>
        </p:spPr>
        <p:txBody>
          <a:bodyPr wrap="square">
            <a:spAutoFit/>
          </a:bodyPr>
          <a:lstStyle/>
          <a:p>
            <a:pPr>
              <a:buNone/>
            </a:pPr>
            <a:r>
              <a:rPr lang="en-US" sz="1200" b="1" dirty="0">
                <a:solidFill>
                  <a:srgbClr val="9C3237"/>
                </a:solidFill>
                <a:latin typeface="Georgia" panose="02040502050405020303" pitchFamily="18" charset="0"/>
              </a:rPr>
              <a:t>Out of the total fruits &amp; vegetables production of 22 million MT in this cluster, the seven crop-specific production accounted for approximately 78.6%.</a:t>
            </a:r>
          </a:p>
        </p:txBody>
      </p:sp>
      <p:sp>
        <p:nvSpPr>
          <p:cNvPr id="12" name="TextBox 11">
            <a:extLst>
              <a:ext uri="{FF2B5EF4-FFF2-40B4-BE49-F238E27FC236}">
                <a16:creationId xmlns:a16="http://schemas.microsoft.com/office/drawing/2014/main" id="{CEB4A9CD-52ED-3788-670D-89DC8F16C379}"/>
              </a:ext>
            </a:extLst>
          </p:cNvPr>
          <p:cNvSpPr txBox="1"/>
          <p:nvPr/>
        </p:nvSpPr>
        <p:spPr>
          <a:xfrm>
            <a:off x="653333" y="3150503"/>
            <a:ext cx="3792452" cy="200055"/>
          </a:xfrm>
          <a:prstGeom prst="rect">
            <a:avLst/>
          </a:prstGeom>
          <a:noFill/>
        </p:spPr>
        <p:txBody>
          <a:bodyPr wrap="square" rtlCol="0">
            <a:spAutoFit/>
          </a:bodyPr>
          <a:lstStyle/>
          <a:p>
            <a:r>
              <a:rPr lang="en-IN" sz="700" i="1" dirty="0">
                <a:latin typeface="Georgia" panose="02040502050405020303" pitchFamily="18" charset="0"/>
              </a:rPr>
              <a:t>Source: Horticulture Crop Statistics of Karnataka State at a Glance – 2023-24</a:t>
            </a:r>
          </a:p>
        </p:txBody>
      </p:sp>
      <p:sp>
        <p:nvSpPr>
          <p:cNvPr id="36" name="TextBox 35">
            <a:extLst>
              <a:ext uri="{FF2B5EF4-FFF2-40B4-BE49-F238E27FC236}">
                <a16:creationId xmlns:a16="http://schemas.microsoft.com/office/drawing/2014/main" id="{077C49CE-6687-16A6-BC6D-6B272311AF4E}"/>
              </a:ext>
            </a:extLst>
          </p:cNvPr>
          <p:cNvSpPr txBox="1"/>
          <p:nvPr/>
        </p:nvSpPr>
        <p:spPr>
          <a:xfrm>
            <a:off x="2666198" y="4233446"/>
            <a:ext cx="6097604" cy="338554"/>
          </a:xfrm>
          <a:prstGeom prst="rect">
            <a:avLst/>
          </a:prstGeom>
          <a:noFill/>
        </p:spPr>
        <p:txBody>
          <a:bodyPr wrap="square">
            <a:spAutoFit/>
          </a:bodyPr>
          <a:lstStyle/>
          <a:p>
            <a:pPr algn="ctr"/>
            <a:r>
              <a:rPr lang="en-US" sz="1600" b="1" dirty="0">
                <a:latin typeface="Georgia" panose="02040502050405020303" pitchFamily="18" charset="0"/>
              </a:rPr>
              <a:t>Challenges reported</a:t>
            </a:r>
          </a:p>
        </p:txBody>
      </p:sp>
      <p:grpSp>
        <p:nvGrpSpPr>
          <p:cNvPr id="5" name="Group 4">
            <a:extLst>
              <a:ext uri="{FF2B5EF4-FFF2-40B4-BE49-F238E27FC236}">
                <a16:creationId xmlns:a16="http://schemas.microsoft.com/office/drawing/2014/main" id="{891157DB-919C-7FD6-7839-D3C3A3A6DA72}"/>
              </a:ext>
            </a:extLst>
          </p:cNvPr>
          <p:cNvGrpSpPr/>
          <p:nvPr/>
        </p:nvGrpSpPr>
        <p:grpSpPr>
          <a:xfrm>
            <a:off x="5330900" y="1464984"/>
            <a:ext cx="6406999" cy="2741349"/>
            <a:chOff x="5534103" y="1489058"/>
            <a:chExt cx="6406999" cy="2741349"/>
          </a:xfrm>
        </p:grpSpPr>
        <p:sp>
          <p:nvSpPr>
            <p:cNvPr id="44" name="TextBox 43">
              <a:extLst>
                <a:ext uri="{FF2B5EF4-FFF2-40B4-BE49-F238E27FC236}">
                  <a16:creationId xmlns:a16="http://schemas.microsoft.com/office/drawing/2014/main" id="{52BE409F-E420-2E15-BF6D-1AC988B45B3F}"/>
                </a:ext>
              </a:extLst>
            </p:cNvPr>
            <p:cNvSpPr txBox="1">
              <a:spLocks/>
            </p:cNvSpPr>
            <p:nvPr/>
          </p:nvSpPr>
          <p:spPr>
            <a:xfrm>
              <a:off x="5882508" y="2743200"/>
              <a:ext cx="6058594" cy="646331"/>
            </a:xfrm>
            <a:prstGeom prst="rect">
              <a:avLst/>
            </a:prstGeom>
            <a:noFill/>
          </p:spPr>
          <p:txBody>
            <a:bodyPr wrap="square">
              <a:spAutoFit/>
            </a:bodyPr>
            <a:lstStyle/>
            <a:p>
              <a:r>
                <a:rPr lang="en-US" sz="1200" dirty="0">
                  <a:latin typeface="Georgia" panose="02040502050405020303" pitchFamily="18" charset="0"/>
                </a:rPr>
                <a:t>5 seed production centers (46 hectares) and 93 horticulture farms and nurseries (4,433 acres) support agricultural development, with training centers in Hassan, Mandya, and Mysuru.</a:t>
              </a:r>
              <a:endParaRPr lang="en-IN" sz="1200" dirty="0">
                <a:latin typeface="Georgia" panose="02040502050405020303" pitchFamily="18" charset="0"/>
              </a:endParaRPr>
            </a:p>
          </p:txBody>
        </p:sp>
        <p:pic>
          <p:nvPicPr>
            <p:cNvPr id="13" name="Graphic 12" descr="Warehouse with solid fill">
              <a:extLst>
                <a:ext uri="{FF2B5EF4-FFF2-40B4-BE49-F238E27FC236}">
                  <a16:creationId xmlns:a16="http://schemas.microsoft.com/office/drawing/2014/main" id="{5C6FBB50-AE66-DF5D-467D-CC27A4007F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0795" y="1524000"/>
              <a:ext cx="291179" cy="291179"/>
            </a:xfrm>
            <a:prstGeom prst="rect">
              <a:avLst/>
            </a:prstGeom>
          </p:spPr>
        </p:pic>
        <p:sp>
          <p:nvSpPr>
            <p:cNvPr id="16" name="TextBox 15">
              <a:extLst>
                <a:ext uri="{FF2B5EF4-FFF2-40B4-BE49-F238E27FC236}">
                  <a16:creationId xmlns:a16="http://schemas.microsoft.com/office/drawing/2014/main" id="{EE2A499D-227C-85B2-28AD-72EEC2F64CF1}"/>
                </a:ext>
              </a:extLst>
            </p:cNvPr>
            <p:cNvSpPr txBox="1"/>
            <p:nvPr/>
          </p:nvSpPr>
          <p:spPr>
            <a:xfrm>
              <a:off x="5887495" y="1489058"/>
              <a:ext cx="5750645" cy="461665"/>
            </a:xfrm>
            <a:prstGeom prst="rect">
              <a:avLst/>
            </a:prstGeom>
            <a:noFill/>
          </p:spPr>
          <p:txBody>
            <a:bodyPr wrap="square">
              <a:spAutoFit/>
            </a:bodyPr>
            <a:lstStyle/>
            <a:p>
              <a:r>
                <a:rPr lang="en-US" sz="1200" dirty="0">
                  <a:latin typeface="Georgia" panose="02040502050405020303" pitchFamily="18" charset="0"/>
                </a:rPr>
                <a:t>Cold storage units with 9142 MT capacity exist for key crops like Banana and Mango in South Karnataka.</a:t>
              </a:r>
              <a:endParaRPr lang="en-US" sz="1200" dirty="0"/>
            </a:p>
          </p:txBody>
        </p:sp>
        <p:pic>
          <p:nvPicPr>
            <p:cNvPr id="17" name="Graphic 16" descr="Thermometer with solid fill">
              <a:extLst>
                <a:ext uri="{FF2B5EF4-FFF2-40B4-BE49-F238E27FC236}">
                  <a16:creationId xmlns:a16="http://schemas.microsoft.com/office/drawing/2014/main" id="{BFB37227-3BEB-AC42-411F-C02C460742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93016" y="1935416"/>
              <a:ext cx="350584" cy="350584"/>
            </a:xfrm>
            <a:prstGeom prst="rect">
              <a:avLst/>
            </a:prstGeom>
          </p:spPr>
        </p:pic>
        <p:sp>
          <p:nvSpPr>
            <p:cNvPr id="21" name="TextBox 20">
              <a:extLst>
                <a:ext uri="{FF2B5EF4-FFF2-40B4-BE49-F238E27FC236}">
                  <a16:creationId xmlns:a16="http://schemas.microsoft.com/office/drawing/2014/main" id="{563C1C33-EC77-953E-712E-69FB9F2435BF}"/>
                </a:ext>
              </a:extLst>
            </p:cNvPr>
            <p:cNvSpPr txBox="1"/>
            <p:nvPr/>
          </p:nvSpPr>
          <p:spPr>
            <a:xfrm>
              <a:off x="5887496" y="1905000"/>
              <a:ext cx="5907252" cy="461665"/>
            </a:xfrm>
            <a:prstGeom prst="rect">
              <a:avLst/>
            </a:prstGeom>
            <a:noFill/>
          </p:spPr>
          <p:txBody>
            <a:bodyPr wrap="square">
              <a:spAutoFit/>
            </a:bodyPr>
            <a:lstStyle/>
            <a:p>
              <a:r>
                <a:rPr lang="en-US" sz="1200" dirty="0">
                  <a:latin typeface="Georgia" panose="02040502050405020303" pitchFamily="18" charset="0"/>
                </a:rPr>
                <a:t>Cold storage units with 78,692 MT capacity are available across all fruits and vegetables. Upcoming units in Hassan (2000 MT) and </a:t>
              </a:r>
              <a:r>
                <a:rPr lang="en-US" sz="1200" dirty="0" err="1">
                  <a:latin typeface="Georgia" panose="02040502050405020303" pitchFamily="18" charset="0"/>
                </a:rPr>
                <a:t>Mandya</a:t>
              </a:r>
              <a:r>
                <a:rPr lang="en-US" sz="1200" dirty="0">
                  <a:latin typeface="Georgia" panose="02040502050405020303" pitchFamily="18" charset="0"/>
                </a:rPr>
                <a:t> (2000 MT).</a:t>
              </a:r>
              <a:endParaRPr lang="en-US" sz="1200" dirty="0"/>
            </a:p>
          </p:txBody>
        </p:sp>
        <p:pic>
          <p:nvPicPr>
            <p:cNvPr id="26" name="Graphic 25" descr="Users with solid fill">
              <a:extLst>
                <a:ext uri="{FF2B5EF4-FFF2-40B4-BE49-F238E27FC236}">
                  <a16:creationId xmlns:a16="http://schemas.microsoft.com/office/drawing/2014/main" id="{8FFF7155-0FC6-33DC-D19F-3942E73CB26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62600" y="3399403"/>
              <a:ext cx="334397" cy="334397"/>
            </a:xfrm>
            <a:prstGeom prst="rect">
              <a:avLst/>
            </a:prstGeom>
          </p:spPr>
        </p:pic>
        <p:sp>
          <p:nvSpPr>
            <p:cNvPr id="28" name="TextBox 27">
              <a:extLst>
                <a:ext uri="{FF2B5EF4-FFF2-40B4-BE49-F238E27FC236}">
                  <a16:creationId xmlns:a16="http://schemas.microsoft.com/office/drawing/2014/main" id="{9185DE8E-C1B9-EAAB-5A9D-932596E6D658}"/>
                </a:ext>
              </a:extLst>
            </p:cNvPr>
            <p:cNvSpPr txBox="1"/>
            <p:nvPr/>
          </p:nvSpPr>
          <p:spPr>
            <a:xfrm>
              <a:off x="5895772" y="3352800"/>
              <a:ext cx="6034489" cy="461665"/>
            </a:xfrm>
            <a:prstGeom prst="rect">
              <a:avLst/>
            </a:prstGeom>
            <a:noFill/>
          </p:spPr>
          <p:txBody>
            <a:bodyPr wrap="square">
              <a:spAutoFit/>
            </a:bodyPr>
            <a:lstStyle/>
            <a:p>
              <a:r>
                <a:rPr lang="en-US" sz="1200" dirty="0">
                  <a:latin typeface="Georgia" panose="02040502050405020303" pitchFamily="18" charset="0"/>
                </a:rPr>
                <a:t>58 WDD FPOs recorded ₹18 Cr in transactions during FY 23-24, primarily focusing on Banana, Mango, Tomato, Pomegranate.</a:t>
              </a:r>
              <a:endParaRPr lang="en-US" sz="1200" dirty="0"/>
            </a:p>
          </p:txBody>
        </p:sp>
        <p:sp>
          <p:nvSpPr>
            <p:cNvPr id="31" name="TextBox 30">
              <a:extLst>
                <a:ext uri="{FF2B5EF4-FFF2-40B4-BE49-F238E27FC236}">
                  <a16:creationId xmlns:a16="http://schemas.microsoft.com/office/drawing/2014/main" id="{6DBB7952-070E-41F1-1B0A-CC90E58125AE}"/>
                </a:ext>
              </a:extLst>
            </p:cNvPr>
            <p:cNvSpPr txBox="1"/>
            <p:nvPr/>
          </p:nvSpPr>
          <p:spPr>
            <a:xfrm>
              <a:off x="5893131" y="3768742"/>
              <a:ext cx="6034489" cy="461665"/>
            </a:xfrm>
            <a:prstGeom prst="rect">
              <a:avLst/>
            </a:prstGeom>
            <a:noFill/>
          </p:spPr>
          <p:txBody>
            <a:bodyPr wrap="square">
              <a:spAutoFit/>
            </a:bodyPr>
            <a:lstStyle/>
            <a:p>
              <a:r>
                <a:rPr lang="en-US" sz="1200" dirty="0">
                  <a:latin typeface="Georgia" panose="02040502050405020303" pitchFamily="18" charset="0"/>
                </a:rPr>
                <a:t>FPOs supported by the Horticulture Department recorded ₹1.2 Cr worth transactions in FY 23-24.</a:t>
              </a:r>
              <a:endParaRPr lang="en-US" sz="1200" dirty="0"/>
            </a:p>
          </p:txBody>
        </p:sp>
        <p:pic>
          <p:nvPicPr>
            <p:cNvPr id="32" name="Graphic 31" descr="Rupee with solid fill">
              <a:extLst>
                <a:ext uri="{FF2B5EF4-FFF2-40B4-BE49-F238E27FC236}">
                  <a16:creationId xmlns:a16="http://schemas.microsoft.com/office/drawing/2014/main" id="{C5D949BE-4B98-C1DB-D48D-5AF17E41EAA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09787" y="3856603"/>
              <a:ext cx="282223" cy="282223"/>
            </a:xfrm>
            <a:prstGeom prst="rect">
              <a:avLst/>
            </a:prstGeom>
          </p:spPr>
        </p:pic>
        <p:sp>
          <p:nvSpPr>
            <p:cNvPr id="35" name="TextBox 34">
              <a:extLst>
                <a:ext uri="{FF2B5EF4-FFF2-40B4-BE49-F238E27FC236}">
                  <a16:creationId xmlns:a16="http://schemas.microsoft.com/office/drawing/2014/main" id="{CCAFEFD0-E7B8-265D-2D11-956F720EA441}"/>
                </a:ext>
              </a:extLst>
            </p:cNvPr>
            <p:cNvSpPr txBox="1"/>
            <p:nvPr/>
          </p:nvSpPr>
          <p:spPr>
            <a:xfrm>
              <a:off x="5882508" y="2307354"/>
              <a:ext cx="5936922" cy="461665"/>
            </a:xfrm>
            <a:prstGeom prst="rect">
              <a:avLst/>
            </a:prstGeom>
            <a:noFill/>
          </p:spPr>
          <p:txBody>
            <a:bodyPr wrap="square">
              <a:spAutoFit/>
            </a:bodyPr>
            <a:lstStyle/>
            <a:p>
              <a:r>
                <a:rPr lang="en-US" sz="1200" dirty="0">
                  <a:latin typeface="Georgia" panose="02040502050405020303" pitchFamily="18" charset="0"/>
                </a:rPr>
                <a:t>Processing infrastructure units with 4500 MT/yr capacity for crop-specific and 5460 MT/yr capacity for all fruits/ vegetables.</a:t>
              </a:r>
              <a:endParaRPr lang="en-US" sz="1200" dirty="0"/>
            </a:p>
          </p:txBody>
        </p:sp>
        <p:pic>
          <p:nvPicPr>
            <p:cNvPr id="37" name="Graphic 36" descr="Map with pin with solid fill">
              <a:extLst>
                <a:ext uri="{FF2B5EF4-FFF2-40B4-BE49-F238E27FC236}">
                  <a16:creationId xmlns:a16="http://schemas.microsoft.com/office/drawing/2014/main" id="{42EF7E65-6591-2BC5-209D-9ED41D743AC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59359" y="2359944"/>
              <a:ext cx="361794" cy="361794"/>
            </a:xfrm>
            <a:prstGeom prst="rect">
              <a:avLst/>
            </a:prstGeom>
          </p:spPr>
        </p:pic>
        <p:pic>
          <p:nvPicPr>
            <p:cNvPr id="39" name="Graphic 38" descr="Schoolhouse outline">
              <a:extLst>
                <a:ext uri="{FF2B5EF4-FFF2-40B4-BE49-F238E27FC236}">
                  <a16:creationId xmlns:a16="http://schemas.microsoft.com/office/drawing/2014/main" id="{1C596F83-6FA3-1E25-7A82-15F39B1DD2C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34103" y="2816323"/>
              <a:ext cx="361794" cy="361794"/>
            </a:xfrm>
            <a:prstGeom prst="rect">
              <a:avLst/>
            </a:prstGeom>
          </p:spPr>
        </p:pic>
      </p:grpSp>
      <p:sp>
        <p:nvSpPr>
          <p:cNvPr id="40" name="TextBox 39">
            <a:extLst>
              <a:ext uri="{FF2B5EF4-FFF2-40B4-BE49-F238E27FC236}">
                <a16:creationId xmlns:a16="http://schemas.microsoft.com/office/drawing/2014/main" id="{C951B111-C107-8782-853C-86133EFBDA1E}"/>
              </a:ext>
            </a:extLst>
          </p:cNvPr>
          <p:cNvSpPr txBox="1"/>
          <p:nvPr/>
        </p:nvSpPr>
        <p:spPr>
          <a:xfrm>
            <a:off x="583336" y="5867400"/>
            <a:ext cx="7112864" cy="415498"/>
          </a:xfrm>
          <a:prstGeom prst="rect">
            <a:avLst/>
          </a:prstGeom>
          <a:noFill/>
        </p:spPr>
        <p:txBody>
          <a:bodyPr wrap="square" rtlCol="0">
            <a:spAutoFit/>
          </a:bodyPr>
          <a:lstStyle/>
          <a:p>
            <a:r>
              <a:rPr lang="en-US" sz="700" i="1" dirty="0">
                <a:latin typeface="Georgia" panose="02040502050405020303" pitchFamily="18" charset="0"/>
              </a:rPr>
              <a:t>Data sources: As per the internal data shared by the following departments under Government of Karnataka, as of March 2026:</a:t>
            </a:r>
          </a:p>
          <a:p>
            <a:pPr marL="93663" indent="-93663">
              <a:buFont typeface="Arial" panose="020B0604020202020204" pitchFamily="34" charset="0"/>
              <a:buChar char="•"/>
            </a:pPr>
            <a:r>
              <a:rPr lang="en-IN" sz="700" i="1" dirty="0">
                <a:latin typeface="Georgia" panose="02040502050405020303" pitchFamily="18" charset="0"/>
              </a:rPr>
              <a:t>KAPPEC – Processing infrastructure &amp; Watershed Development Department (</a:t>
            </a:r>
            <a:r>
              <a:rPr lang="en-IN" sz="700" i="1" dirty="0" err="1">
                <a:latin typeface="Georgia" panose="02040502050405020303" pitchFamily="18" charset="0"/>
              </a:rPr>
              <a:t>WDD</a:t>
            </a:r>
            <a:r>
              <a:rPr lang="en-IN" sz="700" i="1" dirty="0">
                <a:latin typeface="Georgia" panose="02040502050405020303" pitchFamily="18" charset="0"/>
              </a:rPr>
              <a:t>) FPOs</a:t>
            </a:r>
          </a:p>
          <a:p>
            <a:pPr marL="93663" indent="-93663">
              <a:buFont typeface="Arial" panose="020B0604020202020204" pitchFamily="34" charset="0"/>
              <a:buChar char="•"/>
            </a:pPr>
            <a:r>
              <a:rPr lang="en-IN" sz="700" i="1" dirty="0">
                <a:latin typeface="Georgia" panose="02040502050405020303" pitchFamily="18" charset="0"/>
              </a:rPr>
              <a:t>Directorate of Horticulture – Cold storage infrastructure, Horticulture farms/nurseries, Horticulture Department FPOs</a:t>
            </a:r>
          </a:p>
        </p:txBody>
      </p:sp>
      <p:sp>
        <p:nvSpPr>
          <p:cNvPr id="41" name="TextBox 40">
            <a:extLst>
              <a:ext uri="{FF2B5EF4-FFF2-40B4-BE49-F238E27FC236}">
                <a16:creationId xmlns:a16="http://schemas.microsoft.com/office/drawing/2014/main" id="{A086CF25-EA51-7D4C-54FB-62BBD0E304F9}"/>
              </a:ext>
            </a:extLst>
          </p:cNvPr>
          <p:cNvSpPr txBox="1"/>
          <p:nvPr/>
        </p:nvSpPr>
        <p:spPr>
          <a:xfrm>
            <a:off x="7239000" y="5715000"/>
            <a:ext cx="4858752" cy="200055"/>
          </a:xfrm>
          <a:prstGeom prst="rect">
            <a:avLst/>
          </a:prstGeom>
          <a:noFill/>
        </p:spPr>
        <p:txBody>
          <a:bodyPr wrap="square" rtlCol="0">
            <a:spAutoFit/>
          </a:bodyPr>
          <a:lstStyle/>
          <a:p>
            <a:r>
              <a:rPr lang="en-IN" sz="700" i="1" dirty="0">
                <a:latin typeface="Georgia" panose="02040502050405020303" pitchFamily="18" charset="0"/>
              </a:rPr>
              <a:t>Source: As reported by district officials of Horticulture Department, Government of Karnataka, as of March 2026</a:t>
            </a:r>
          </a:p>
        </p:txBody>
      </p:sp>
      <p:pic>
        <p:nvPicPr>
          <p:cNvPr id="10" name="Picture 9">
            <a:extLst>
              <a:ext uri="{FF2B5EF4-FFF2-40B4-BE49-F238E27FC236}">
                <a16:creationId xmlns:a16="http://schemas.microsoft.com/office/drawing/2014/main" id="{2C9D3BE5-641B-5ABB-E0FD-93967663654E}"/>
              </a:ext>
            </a:extLst>
          </p:cNvPr>
          <p:cNvPicPr>
            <a:picLocks noChangeAspect="1"/>
          </p:cNvPicPr>
          <p:nvPr/>
        </p:nvPicPr>
        <p:blipFill>
          <a:blip r:embed="rId9" cstate="print">
            <a:extLst>
              <a:ext uri="{28A0092B-C50C-407E-A947-70E740481C1C}">
                <a14:useLocalDpi xmlns:a14="http://schemas.microsoft.com/office/drawing/2010/main" val="0"/>
              </a:ext>
            </a:extLst>
          </a:blip>
          <a:srcRect l="4303" t="4159" r="4303" b="10001"/>
          <a:stretch>
            <a:fillRect/>
          </a:stretch>
        </p:blipFill>
        <p:spPr>
          <a:xfrm>
            <a:off x="10704466" y="252298"/>
            <a:ext cx="1189894" cy="1068921"/>
          </a:xfrm>
          <a:prstGeom prst="rect">
            <a:avLst/>
          </a:prstGeom>
        </p:spPr>
      </p:pic>
      <p:sp>
        <p:nvSpPr>
          <p:cNvPr id="14" name="TextBox 13">
            <a:extLst>
              <a:ext uri="{FF2B5EF4-FFF2-40B4-BE49-F238E27FC236}">
                <a16:creationId xmlns:a16="http://schemas.microsoft.com/office/drawing/2014/main" id="{ECF5E39C-99FC-128D-A8F7-C1A6206E4FEF}"/>
              </a:ext>
            </a:extLst>
          </p:cNvPr>
          <p:cNvSpPr txBox="1"/>
          <p:nvPr/>
        </p:nvSpPr>
        <p:spPr>
          <a:xfrm>
            <a:off x="1749858" y="1066800"/>
            <a:ext cx="1576398" cy="338554"/>
          </a:xfrm>
          <a:prstGeom prst="rect">
            <a:avLst/>
          </a:prstGeom>
          <a:noFill/>
        </p:spPr>
        <p:txBody>
          <a:bodyPr wrap="square">
            <a:spAutoFit/>
          </a:bodyPr>
          <a:lstStyle/>
          <a:p>
            <a:pPr algn="ctr"/>
            <a:r>
              <a:rPr lang="en-US" sz="1600" b="1" dirty="0">
                <a:latin typeface="Georgia" panose="02040502050405020303" pitchFamily="18" charset="0"/>
              </a:rPr>
              <a:t>Production</a:t>
            </a:r>
          </a:p>
        </p:txBody>
      </p:sp>
      <p:sp>
        <p:nvSpPr>
          <p:cNvPr id="15" name="TextBox 14">
            <a:extLst>
              <a:ext uri="{FF2B5EF4-FFF2-40B4-BE49-F238E27FC236}">
                <a16:creationId xmlns:a16="http://schemas.microsoft.com/office/drawing/2014/main" id="{7D80EC7B-9B9D-6D1D-F3F7-F3975FAB3BE7}"/>
              </a:ext>
            </a:extLst>
          </p:cNvPr>
          <p:cNvSpPr txBox="1"/>
          <p:nvPr/>
        </p:nvSpPr>
        <p:spPr>
          <a:xfrm>
            <a:off x="6244491" y="1033046"/>
            <a:ext cx="3583805" cy="338554"/>
          </a:xfrm>
          <a:prstGeom prst="rect">
            <a:avLst/>
          </a:prstGeom>
          <a:noFill/>
        </p:spPr>
        <p:txBody>
          <a:bodyPr wrap="square">
            <a:spAutoFit/>
          </a:bodyPr>
          <a:lstStyle/>
          <a:p>
            <a:pPr algn="ctr"/>
            <a:r>
              <a:rPr lang="en-US" sz="1600" b="1" dirty="0">
                <a:latin typeface="Georgia" panose="02040502050405020303" pitchFamily="18" charset="0"/>
              </a:rPr>
              <a:t>Existing Ecosystem</a:t>
            </a:r>
          </a:p>
        </p:txBody>
      </p:sp>
      <p:pic>
        <p:nvPicPr>
          <p:cNvPr id="22" name="Picture 21">
            <a:extLst>
              <a:ext uri="{FF2B5EF4-FFF2-40B4-BE49-F238E27FC236}">
                <a16:creationId xmlns:a16="http://schemas.microsoft.com/office/drawing/2014/main" id="{CD147366-CD5D-6E5E-9BE7-6200CBB6A5D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538057" y="6267495"/>
            <a:ext cx="6955288" cy="563588"/>
          </a:xfrm>
          <a:prstGeom prst="rect">
            <a:avLst/>
          </a:prstGeom>
        </p:spPr>
      </p:pic>
      <p:sp>
        <p:nvSpPr>
          <p:cNvPr id="3" name="Rectangle 2">
            <a:extLst>
              <a:ext uri="{FF2B5EF4-FFF2-40B4-BE49-F238E27FC236}">
                <a16:creationId xmlns:a16="http://schemas.microsoft.com/office/drawing/2014/main" id="{D5367DAA-561F-1C12-52D7-B7FC56F2B000}"/>
              </a:ext>
            </a:extLst>
          </p:cNvPr>
          <p:cNvSpPr/>
          <p:nvPr/>
        </p:nvSpPr>
        <p:spPr>
          <a:xfrm>
            <a:off x="202799" y="6313618"/>
            <a:ext cx="1357898" cy="914400"/>
          </a:xfrm>
          <a:prstGeom prst="rect">
            <a:avLst/>
          </a:prstGeom>
          <a:solidFill>
            <a:srgbClr val="EEECE1"/>
          </a:solidFill>
          <a:ln>
            <a:solidFill>
              <a:srgbClr val="EEEC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3E10A27-CD11-B556-E3E1-B43661F485FC}"/>
              </a:ext>
            </a:extLst>
          </p:cNvPr>
          <p:cNvSpPr/>
          <p:nvPr/>
        </p:nvSpPr>
        <p:spPr>
          <a:xfrm>
            <a:off x="9220200" y="6296251"/>
            <a:ext cx="2517699" cy="914400"/>
          </a:xfrm>
          <a:prstGeom prst="rect">
            <a:avLst/>
          </a:prstGeom>
          <a:solidFill>
            <a:srgbClr val="EEECE1"/>
          </a:solidFill>
          <a:ln>
            <a:solidFill>
              <a:srgbClr val="EEEC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4175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39D7B-088A-435B-3129-09273AF5150A}"/>
            </a:ext>
          </a:extLst>
        </p:cNvPr>
        <p:cNvGrpSpPr/>
        <p:nvPr/>
      </p:nvGrpSpPr>
      <p:grpSpPr>
        <a:xfrm>
          <a:off x="0" y="0"/>
          <a:ext cx="0" cy="0"/>
          <a:chOff x="0" y="0"/>
          <a:chExt cx="0" cy="0"/>
        </a:xfrm>
      </p:grpSpPr>
      <p:sp>
        <p:nvSpPr>
          <p:cNvPr id="59" name="Rectangle 58">
            <a:extLst>
              <a:ext uri="{FF2B5EF4-FFF2-40B4-BE49-F238E27FC236}">
                <a16:creationId xmlns:a16="http://schemas.microsoft.com/office/drawing/2014/main" id="{AEB082C9-2B5C-A245-9CB4-A38D75FC6F56}"/>
              </a:ext>
            </a:extLst>
          </p:cNvPr>
          <p:cNvSpPr/>
          <p:nvPr/>
        </p:nvSpPr>
        <p:spPr>
          <a:xfrm>
            <a:off x="649457" y="4078060"/>
            <a:ext cx="11313931" cy="1601142"/>
          </a:xfrm>
          <a:prstGeom prst="rect">
            <a:avLst/>
          </a:prstGeom>
          <a:solidFill>
            <a:srgbClr val="EFF5FB"/>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Georgia" panose="02040502050405020303" pitchFamily="18" charset="0"/>
            </a:endParaRPr>
          </a:p>
        </p:txBody>
      </p:sp>
      <p:cxnSp>
        <p:nvCxnSpPr>
          <p:cNvPr id="62" name="Straight Connector 61">
            <a:extLst>
              <a:ext uri="{FF2B5EF4-FFF2-40B4-BE49-F238E27FC236}">
                <a16:creationId xmlns:a16="http://schemas.microsoft.com/office/drawing/2014/main" id="{337AA3E0-48F3-3C5D-4923-49AFA2F861B0}"/>
              </a:ext>
            </a:extLst>
          </p:cNvPr>
          <p:cNvCxnSpPr>
            <a:cxnSpLocks/>
          </p:cNvCxnSpPr>
          <p:nvPr/>
        </p:nvCxnSpPr>
        <p:spPr>
          <a:xfrm>
            <a:off x="4876800" y="875069"/>
            <a:ext cx="0" cy="3052833"/>
          </a:xfrm>
          <a:prstGeom prst="line">
            <a:avLst/>
          </a:prstGeom>
          <a:ln>
            <a:solidFill>
              <a:srgbClr val="A9ABAE"/>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8FC72FA-5607-8D4A-2812-9DA93251A621}"/>
              </a:ext>
            </a:extLst>
          </p:cNvPr>
          <p:cNvSpPr txBox="1"/>
          <p:nvPr/>
        </p:nvSpPr>
        <p:spPr>
          <a:xfrm>
            <a:off x="705591" y="4308902"/>
            <a:ext cx="10925589" cy="461665"/>
          </a:xfrm>
          <a:prstGeom prst="rect">
            <a:avLst/>
          </a:prstGeom>
          <a:noFill/>
        </p:spPr>
        <p:txBody>
          <a:bodyPr wrap="square">
            <a:spAutoFit/>
          </a:bodyPr>
          <a:lstStyle/>
          <a:p>
            <a:r>
              <a:rPr lang="en-US" sz="1200" dirty="0">
                <a:latin typeface="Georgia" panose="02040502050405020303" pitchFamily="18" charset="0"/>
              </a:rPr>
              <a:t>Post-harvest losses in Mango, Pomegranate, and Tomato in East Karnataka are primarily attributed to infrastructure and handling practices. </a:t>
            </a:r>
          </a:p>
          <a:p>
            <a:r>
              <a:rPr lang="en-US" sz="1200" i="1" dirty="0">
                <a:latin typeface="Georgia" panose="02040502050405020303" pitchFamily="18" charset="0"/>
              </a:rPr>
              <a:t>Key issues reported by various district officials include</a:t>
            </a:r>
          </a:p>
        </p:txBody>
      </p:sp>
      <p:sp>
        <p:nvSpPr>
          <p:cNvPr id="9" name="TextBox 8">
            <a:extLst>
              <a:ext uri="{FF2B5EF4-FFF2-40B4-BE49-F238E27FC236}">
                <a16:creationId xmlns:a16="http://schemas.microsoft.com/office/drawing/2014/main" id="{80C260E8-7E29-5E86-7AB6-88229154E49C}"/>
              </a:ext>
            </a:extLst>
          </p:cNvPr>
          <p:cNvSpPr txBox="1"/>
          <p:nvPr/>
        </p:nvSpPr>
        <p:spPr>
          <a:xfrm>
            <a:off x="755460" y="4780256"/>
            <a:ext cx="11130746" cy="900246"/>
          </a:xfrm>
          <a:prstGeom prst="rect">
            <a:avLst/>
          </a:prstGeom>
          <a:noFill/>
        </p:spPr>
        <p:txBody>
          <a:bodyPr wrap="square">
            <a:spAutoFit/>
          </a:bodyPr>
          <a:lstStyle/>
          <a:p>
            <a:pPr marL="171450" indent="-171450">
              <a:buFont typeface="Arial" panose="020B0604020202020204" pitchFamily="34" charset="0"/>
              <a:buChar char="•"/>
            </a:pPr>
            <a:r>
              <a:rPr lang="en-US" sz="1050" i="1" dirty="0">
                <a:solidFill>
                  <a:srgbClr val="9C3237"/>
                </a:solidFill>
                <a:latin typeface="Georgia" panose="02040502050405020303" pitchFamily="18" charset="0"/>
              </a:rPr>
              <a:t>Mango (Kolar, </a:t>
            </a:r>
            <a:r>
              <a:rPr lang="en-US" sz="1050" i="1" dirty="0" err="1">
                <a:solidFill>
                  <a:srgbClr val="9C3237"/>
                </a:solidFill>
                <a:latin typeface="Georgia" panose="02040502050405020303" pitchFamily="18" charset="0"/>
              </a:rPr>
              <a:t>Chikkaballapura</a:t>
            </a:r>
            <a:r>
              <a:rPr lang="en-US" sz="1050" i="1" dirty="0">
                <a:solidFill>
                  <a:srgbClr val="9C3237"/>
                </a:solidFill>
                <a:latin typeface="Georgia" panose="02040502050405020303" pitchFamily="18" charset="0"/>
              </a:rPr>
              <a:t>, Bengaluru Rural, Bengaluru Urban, </a:t>
            </a:r>
            <a:r>
              <a:rPr lang="en-US" sz="1050" i="1" dirty="0" err="1">
                <a:solidFill>
                  <a:srgbClr val="9C3237"/>
                </a:solidFill>
                <a:latin typeface="Georgia" panose="02040502050405020303" pitchFamily="18" charset="0"/>
              </a:rPr>
              <a:t>Tumakuru</a:t>
            </a:r>
            <a:r>
              <a:rPr lang="en-US" sz="1050" i="1" dirty="0">
                <a:solidFill>
                  <a:srgbClr val="9C3237"/>
                </a:solidFill>
                <a:latin typeface="Georgia" panose="02040502050405020303" pitchFamily="18" charset="0"/>
              </a:rPr>
              <a:t>) face losses due to poor maturity assessment, mechanical damage, unseasonal rainfall, sooty mold, mealy bugs, and price fluctuations.</a:t>
            </a:r>
          </a:p>
          <a:p>
            <a:pPr marL="171450" indent="-171450">
              <a:buFont typeface="Arial" panose="020B0604020202020204" pitchFamily="34" charset="0"/>
              <a:buChar char="•"/>
            </a:pPr>
            <a:r>
              <a:rPr lang="en-US" sz="1050" i="1" dirty="0">
                <a:solidFill>
                  <a:srgbClr val="9C3237"/>
                </a:solidFill>
                <a:latin typeface="Georgia" panose="02040502050405020303" pitchFamily="18" charset="0"/>
              </a:rPr>
              <a:t>Pomegranate (</a:t>
            </a:r>
            <a:r>
              <a:rPr lang="en-US" sz="1050" i="1" dirty="0" err="1">
                <a:solidFill>
                  <a:srgbClr val="9C3237"/>
                </a:solidFill>
                <a:latin typeface="Georgia" panose="02040502050405020303" pitchFamily="18" charset="0"/>
              </a:rPr>
              <a:t>Chikkaballapura</a:t>
            </a:r>
            <a:r>
              <a:rPr lang="en-US" sz="1050" i="1" dirty="0">
                <a:solidFill>
                  <a:srgbClr val="9C3237"/>
                </a:solidFill>
                <a:latin typeface="Georgia" panose="02040502050405020303" pitchFamily="18" charset="0"/>
              </a:rPr>
              <a:t>) suffer from bacterial blight, anthracnose, fruit cracking, poor handling, and inadequate cold chain facilities.</a:t>
            </a:r>
          </a:p>
          <a:p>
            <a:pPr marL="171450" indent="-171450">
              <a:buFont typeface="Arial" panose="020B0604020202020204" pitchFamily="34" charset="0"/>
              <a:buChar char="•"/>
            </a:pPr>
            <a:r>
              <a:rPr lang="en-US" sz="1050" i="1" dirty="0">
                <a:solidFill>
                  <a:srgbClr val="9C3237"/>
                </a:solidFill>
                <a:latin typeface="Georgia" panose="02040502050405020303" pitchFamily="18" charset="0"/>
              </a:rPr>
              <a:t>Tomato (Bengaluru Urban) are affected by unseasonal rainfall, pests and diseases, supply chain gaps, and weak processing infrastructure, leading to higher pre- and post-harvest losses.</a:t>
            </a:r>
          </a:p>
        </p:txBody>
      </p:sp>
      <p:sp>
        <p:nvSpPr>
          <p:cNvPr id="12" name="Title 1">
            <a:extLst>
              <a:ext uri="{FF2B5EF4-FFF2-40B4-BE49-F238E27FC236}">
                <a16:creationId xmlns:a16="http://schemas.microsoft.com/office/drawing/2014/main" id="{C77449E9-5B1B-18DF-C58B-DF75F12A11BA}"/>
              </a:ext>
            </a:extLst>
          </p:cNvPr>
          <p:cNvSpPr txBox="1">
            <a:spLocks/>
          </p:cNvSpPr>
          <p:nvPr/>
        </p:nvSpPr>
        <p:spPr>
          <a:xfrm>
            <a:off x="497967" y="407313"/>
            <a:ext cx="10561116" cy="430887"/>
          </a:xfrm>
          <a:prstGeom prst="rect">
            <a:avLst/>
          </a:prstGeom>
        </p:spPr>
        <p:txBody>
          <a:bodyPr wrap="square" lIns="0" tIns="0" rIns="0" bIns="0">
            <a:spAutoFit/>
          </a:bodyPr>
          <a:lstStyle>
            <a:lvl1pPr>
              <a:defRPr sz="2000" b="1" i="0">
                <a:solidFill>
                  <a:srgbClr val="9C3134"/>
                </a:solidFill>
                <a:latin typeface="Trebuchet MS"/>
                <a:ea typeface="+mj-ea"/>
                <a:cs typeface="Trebuchet MS"/>
              </a:defRPr>
            </a:lvl1pPr>
          </a:lstStyle>
          <a:p>
            <a:r>
              <a:rPr lang="en-US" sz="1800" kern="0" dirty="0">
                <a:solidFill>
                  <a:srgbClr val="E8A33D"/>
                </a:solidFill>
                <a:latin typeface="Georgia" panose="02040502050405020303" pitchFamily="18" charset="0"/>
              </a:rPr>
              <a:t>East Karnataka Tomato-Mango cluster</a:t>
            </a:r>
            <a:br>
              <a:rPr lang="en-US" sz="2400" kern="0" dirty="0">
                <a:latin typeface="Georgia" panose="02040502050405020303" pitchFamily="18" charset="0"/>
              </a:rPr>
            </a:br>
            <a:r>
              <a:rPr lang="en-US" sz="1000" i="1" kern="0" dirty="0">
                <a:solidFill>
                  <a:schemeClr val="bg1"/>
                </a:solidFill>
                <a:latin typeface="Georgia" panose="02040502050405020303" pitchFamily="18" charset="0"/>
                <a:ea typeface="Trebuchet MS"/>
                <a:sym typeface="Trebuchet MS"/>
              </a:rPr>
              <a:t>(</a:t>
            </a:r>
            <a:r>
              <a:rPr lang="en-IN" sz="1000" i="1" kern="0" dirty="0">
                <a:solidFill>
                  <a:schemeClr val="bg1"/>
                </a:solidFill>
                <a:latin typeface="Georgia" panose="02040502050405020303" pitchFamily="18" charset="0"/>
              </a:rPr>
              <a:t>Kolar, </a:t>
            </a:r>
            <a:r>
              <a:rPr lang="en-IN" sz="1000" i="1" kern="0" dirty="0" err="1">
                <a:solidFill>
                  <a:schemeClr val="bg1"/>
                </a:solidFill>
                <a:latin typeface="Georgia" panose="02040502050405020303" pitchFamily="18" charset="0"/>
              </a:rPr>
              <a:t>Chikkaballapura</a:t>
            </a:r>
            <a:r>
              <a:rPr lang="en-IN" sz="1000" i="1" kern="0" dirty="0">
                <a:solidFill>
                  <a:schemeClr val="bg1"/>
                </a:solidFill>
                <a:latin typeface="Georgia" panose="02040502050405020303" pitchFamily="18" charset="0"/>
              </a:rPr>
              <a:t>, Bengaluru (Urban), Bengaluru (Rural), </a:t>
            </a:r>
            <a:r>
              <a:rPr lang="en-IN" sz="1000" i="1" kern="0" dirty="0" err="1">
                <a:solidFill>
                  <a:schemeClr val="bg1"/>
                </a:solidFill>
                <a:latin typeface="Georgia" panose="02040502050405020303" pitchFamily="18" charset="0"/>
              </a:rPr>
              <a:t>Tumakuru</a:t>
            </a:r>
            <a:r>
              <a:rPr lang="en-IN" sz="1000" i="1" kern="0" dirty="0">
                <a:solidFill>
                  <a:schemeClr val="bg1"/>
                </a:solidFill>
                <a:latin typeface="Georgia" panose="02040502050405020303" pitchFamily="18" charset="0"/>
              </a:rPr>
              <a:t>)</a:t>
            </a:r>
          </a:p>
        </p:txBody>
      </p:sp>
      <p:graphicFrame>
        <p:nvGraphicFramePr>
          <p:cNvPr id="14" name="Chart 13">
            <a:extLst>
              <a:ext uri="{FF2B5EF4-FFF2-40B4-BE49-F238E27FC236}">
                <a16:creationId xmlns:a16="http://schemas.microsoft.com/office/drawing/2014/main" id="{88584571-DE6B-21FB-7816-F2576622265D}"/>
              </a:ext>
            </a:extLst>
          </p:cNvPr>
          <p:cNvGraphicFramePr>
            <a:graphicFrameLocks/>
          </p:cNvGraphicFramePr>
          <p:nvPr>
            <p:extLst>
              <p:ext uri="{D42A27DB-BD31-4B8C-83A1-F6EECF244321}">
                <p14:modId xmlns:p14="http://schemas.microsoft.com/office/powerpoint/2010/main" val="85961724"/>
              </p:ext>
            </p:extLst>
          </p:nvPr>
        </p:nvGraphicFramePr>
        <p:xfrm>
          <a:off x="228601" y="1922037"/>
          <a:ext cx="4876800" cy="1279169"/>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a:extLst>
              <a:ext uri="{FF2B5EF4-FFF2-40B4-BE49-F238E27FC236}">
                <a16:creationId xmlns:a16="http://schemas.microsoft.com/office/drawing/2014/main" id="{F0618520-ADEA-8B79-C6E5-1A63DEAABA47}"/>
              </a:ext>
            </a:extLst>
          </p:cNvPr>
          <p:cNvSpPr txBox="1"/>
          <p:nvPr/>
        </p:nvSpPr>
        <p:spPr>
          <a:xfrm>
            <a:off x="381000" y="-152400"/>
            <a:ext cx="9372600" cy="579069"/>
          </a:xfrm>
          <a:prstGeom prst="rect">
            <a:avLst/>
          </a:prstGeom>
          <a:noFill/>
        </p:spPr>
        <p:txBody>
          <a:bodyPr wrap="square">
            <a:spAutoFit/>
          </a:bodyPr>
          <a:lstStyle/>
          <a:p>
            <a:pPr>
              <a:lnSpc>
                <a:spcPct val="150000"/>
              </a:lnSpc>
              <a:spcAft>
                <a:spcPts val="800"/>
              </a:spcAft>
            </a:pPr>
            <a:r>
              <a:rPr lang="en-IN" sz="2400" b="1" i="1" dirty="0">
                <a:solidFill>
                  <a:schemeClr val="bg1"/>
                </a:solidFill>
                <a:latin typeface="Georgia" panose="02040502050405020303" pitchFamily="18" charset="0"/>
              </a:rPr>
              <a:t>Challenge category 1: Post-harvest value chain solutions</a:t>
            </a:r>
          </a:p>
        </p:txBody>
      </p:sp>
      <p:sp>
        <p:nvSpPr>
          <p:cNvPr id="2" name="TextBox 1">
            <a:extLst>
              <a:ext uri="{FF2B5EF4-FFF2-40B4-BE49-F238E27FC236}">
                <a16:creationId xmlns:a16="http://schemas.microsoft.com/office/drawing/2014/main" id="{4F62DF79-60B0-B291-53D2-62BE144099C6}"/>
              </a:ext>
            </a:extLst>
          </p:cNvPr>
          <p:cNvSpPr txBox="1"/>
          <p:nvPr/>
        </p:nvSpPr>
        <p:spPr>
          <a:xfrm>
            <a:off x="381000" y="1337102"/>
            <a:ext cx="4424397" cy="646331"/>
          </a:xfrm>
          <a:prstGeom prst="rect">
            <a:avLst/>
          </a:prstGeom>
          <a:noFill/>
        </p:spPr>
        <p:txBody>
          <a:bodyPr wrap="square">
            <a:spAutoFit/>
          </a:bodyPr>
          <a:lstStyle/>
          <a:p>
            <a:pPr>
              <a:buNone/>
            </a:pPr>
            <a:r>
              <a:rPr lang="en-US" sz="1200" b="1" dirty="0">
                <a:solidFill>
                  <a:srgbClr val="9C3237"/>
                </a:solidFill>
                <a:latin typeface="Georgia" panose="02040502050405020303" pitchFamily="18" charset="0"/>
              </a:rPr>
              <a:t>Out of the total fruits &amp; vegetables production of 3.3 million MT in this cluster, the seven crop-specific production accounted for approximately 69%.</a:t>
            </a:r>
          </a:p>
        </p:txBody>
      </p:sp>
      <p:grpSp>
        <p:nvGrpSpPr>
          <p:cNvPr id="13" name="Group 12">
            <a:extLst>
              <a:ext uri="{FF2B5EF4-FFF2-40B4-BE49-F238E27FC236}">
                <a16:creationId xmlns:a16="http://schemas.microsoft.com/office/drawing/2014/main" id="{F23CE95F-5D88-37E2-BE43-0711B102424E}"/>
              </a:ext>
            </a:extLst>
          </p:cNvPr>
          <p:cNvGrpSpPr/>
          <p:nvPr/>
        </p:nvGrpSpPr>
        <p:grpSpPr>
          <a:xfrm>
            <a:off x="5029200" y="1184702"/>
            <a:ext cx="6953756" cy="2687147"/>
            <a:chOff x="5070157" y="1503853"/>
            <a:chExt cx="6984302" cy="2687147"/>
          </a:xfrm>
        </p:grpSpPr>
        <p:sp>
          <p:nvSpPr>
            <p:cNvPr id="26" name="TextBox 25">
              <a:extLst>
                <a:ext uri="{FF2B5EF4-FFF2-40B4-BE49-F238E27FC236}">
                  <a16:creationId xmlns:a16="http://schemas.microsoft.com/office/drawing/2014/main" id="{7BC1F2F8-C5F4-EFAF-E70C-0BE9FE7CEC76}"/>
                </a:ext>
              </a:extLst>
            </p:cNvPr>
            <p:cNvSpPr txBox="1"/>
            <p:nvPr/>
          </p:nvSpPr>
          <p:spPr>
            <a:xfrm>
              <a:off x="5562601" y="2785498"/>
              <a:ext cx="6491858" cy="461665"/>
            </a:xfrm>
            <a:prstGeom prst="rect">
              <a:avLst/>
            </a:prstGeom>
            <a:noFill/>
          </p:spPr>
          <p:txBody>
            <a:bodyPr wrap="square">
              <a:spAutoFit/>
            </a:bodyPr>
            <a:lstStyle/>
            <a:p>
              <a:r>
                <a:rPr lang="en-US" sz="1200" dirty="0">
                  <a:latin typeface="Georgia" panose="02040502050405020303" pitchFamily="18" charset="0"/>
                </a:rPr>
                <a:t>7 seed production centers (86 hectares) and 54 horticulture farms and nurseries (4,383 acres) support agricultural development, with training centers in </a:t>
              </a:r>
              <a:r>
                <a:rPr lang="en-US" sz="1200" dirty="0" err="1">
                  <a:latin typeface="Georgia" panose="02040502050405020303" pitchFamily="18" charset="0"/>
                </a:rPr>
                <a:t>Chikkaballapura</a:t>
              </a:r>
              <a:r>
                <a:rPr lang="en-US" sz="1200" dirty="0">
                  <a:latin typeface="Georgia" panose="02040502050405020303" pitchFamily="18" charset="0"/>
                </a:rPr>
                <a:t> and </a:t>
              </a:r>
              <a:r>
                <a:rPr lang="en-US" sz="1200" dirty="0" err="1">
                  <a:latin typeface="Georgia" panose="02040502050405020303" pitchFamily="18" charset="0"/>
                </a:rPr>
                <a:t>Tumakuru</a:t>
              </a:r>
              <a:r>
                <a:rPr lang="en-US" sz="1200" dirty="0">
                  <a:latin typeface="Georgia" panose="02040502050405020303" pitchFamily="18" charset="0"/>
                </a:rPr>
                <a:t>.</a:t>
              </a:r>
              <a:endParaRPr lang="en-US" sz="1200" dirty="0"/>
            </a:p>
          </p:txBody>
        </p:sp>
        <p:grpSp>
          <p:nvGrpSpPr>
            <p:cNvPr id="8" name="Group 7">
              <a:extLst>
                <a:ext uri="{FF2B5EF4-FFF2-40B4-BE49-F238E27FC236}">
                  <a16:creationId xmlns:a16="http://schemas.microsoft.com/office/drawing/2014/main" id="{A613B0F4-744C-34AC-209F-0248AD1C9088}"/>
                </a:ext>
              </a:extLst>
            </p:cNvPr>
            <p:cNvGrpSpPr/>
            <p:nvPr/>
          </p:nvGrpSpPr>
          <p:grpSpPr>
            <a:xfrm>
              <a:off x="5070157" y="1503853"/>
              <a:ext cx="6964645" cy="2687147"/>
              <a:chOff x="5070157" y="1503853"/>
              <a:chExt cx="6964645" cy="2687147"/>
            </a:xfrm>
          </p:grpSpPr>
          <p:sp>
            <p:nvSpPr>
              <p:cNvPr id="44" name="TextBox 43">
                <a:extLst>
                  <a:ext uri="{FF2B5EF4-FFF2-40B4-BE49-F238E27FC236}">
                    <a16:creationId xmlns:a16="http://schemas.microsoft.com/office/drawing/2014/main" id="{AF4E79A7-B4BD-4BB0-34DF-6FC6D05930F1}"/>
                  </a:ext>
                </a:extLst>
              </p:cNvPr>
              <p:cNvSpPr txBox="1">
                <a:spLocks/>
              </p:cNvSpPr>
              <p:nvPr/>
            </p:nvSpPr>
            <p:spPr>
              <a:xfrm>
                <a:off x="5562600" y="3729335"/>
                <a:ext cx="5762721" cy="461665"/>
              </a:xfrm>
              <a:prstGeom prst="rect">
                <a:avLst/>
              </a:prstGeom>
              <a:noFill/>
            </p:spPr>
            <p:txBody>
              <a:bodyPr wrap="square">
                <a:spAutoFit/>
              </a:bodyPr>
              <a:lstStyle/>
              <a:p>
                <a:r>
                  <a:rPr lang="en-US" sz="1200" dirty="0">
                    <a:latin typeface="Georgia" panose="02040502050405020303" pitchFamily="18" charset="0"/>
                  </a:rPr>
                  <a:t>FPOs supported by the Horticulture Department recorded ₹1.4 Cr worth transactions for FY 23-24 for Onion, Pomegranate and Mango</a:t>
                </a:r>
                <a:endParaRPr lang="en-IN" sz="1200" dirty="0">
                  <a:latin typeface="Georgia" panose="02040502050405020303" pitchFamily="18" charset="0"/>
                </a:endParaRPr>
              </a:p>
            </p:txBody>
          </p:sp>
          <p:pic>
            <p:nvPicPr>
              <p:cNvPr id="48" name="Graphic 47" descr="Thermometer with solid fill">
                <a:extLst>
                  <a:ext uri="{FF2B5EF4-FFF2-40B4-BE49-F238E27FC236}">
                    <a16:creationId xmlns:a16="http://schemas.microsoft.com/office/drawing/2014/main" id="{93D36A08-7C23-C017-E8C6-9F4CB4DEDD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10594" y="1941938"/>
                <a:ext cx="420262" cy="420262"/>
              </a:xfrm>
              <a:prstGeom prst="rect">
                <a:avLst/>
              </a:prstGeom>
            </p:spPr>
          </p:pic>
          <p:pic>
            <p:nvPicPr>
              <p:cNvPr id="49" name="Graphic 48" descr="Map with pin with solid fill">
                <a:extLst>
                  <a:ext uri="{FF2B5EF4-FFF2-40B4-BE49-F238E27FC236}">
                    <a16:creationId xmlns:a16="http://schemas.microsoft.com/office/drawing/2014/main" id="{F164398D-DDD3-F07B-4DE9-A49D61478BF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05400" y="2362200"/>
                <a:ext cx="437544" cy="437544"/>
              </a:xfrm>
              <a:prstGeom prst="rect">
                <a:avLst/>
              </a:prstGeom>
            </p:spPr>
          </p:pic>
          <p:pic>
            <p:nvPicPr>
              <p:cNvPr id="51" name="Graphic 50" descr="Warehouse with solid fill">
                <a:extLst>
                  <a:ext uri="{FF2B5EF4-FFF2-40B4-BE49-F238E27FC236}">
                    <a16:creationId xmlns:a16="http://schemas.microsoft.com/office/drawing/2014/main" id="{8482F695-4685-6295-A6B6-A4B28303EB4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23560" y="1503853"/>
                <a:ext cx="360293" cy="360293"/>
              </a:xfrm>
              <a:prstGeom prst="rect">
                <a:avLst/>
              </a:prstGeom>
            </p:spPr>
          </p:pic>
          <p:pic>
            <p:nvPicPr>
              <p:cNvPr id="20" name="Graphic 19" descr="Users with solid fill">
                <a:extLst>
                  <a:ext uri="{FF2B5EF4-FFF2-40B4-BE49-F238E27FC236}">
                    <a16:creationId xmlns:a16="http://schemas.microsoft.com/office/drawing/2014/main" id="{6099A4A6-DECB-9ACA-DB10-4CEFA4710A6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70157" y="3276600"/>
                <a:ext cx="492443" cy="492443"/>
              </a:xfrm>
              <a:prstGeom prst="rect">
                <a:avLst/>
              </a:prstGeom>
            </p:spPr>
          </p:pic>
          <p:pic>
            <p:nvPicPr>
              <p:cNvPr id="23" name="Graphic 22" descr="Rupee with solid fill">
                <a:extLst>
                  <a:ext uri="{FF2B5EF4-FFF2-40B4-BE49-F238E27FC236}">
                    <a16:creationId xmlns:a16="http://schemas.microsoft.com/office/drawing/2014/main" id="{E49B73FB-0740-0517-7813-6A716054542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216872" y="3857787"/>
                <a:ext cx="257013" cy="257013"/>
              </a:xfrm>
              <a:prstGeom prst="rect">
                <a:avLst/>
              </a:prstGeom>
            </p:spPr>
          </p:pic>
          <p:pic>
            <p:nvPicPr>
              <p:cNvPr id="10" name="Graphic 9" descr="Schoolhouse outline">
                <a:extLst>
                  <a:ext uri="{FF2B5EF4-FFF2-40B4-BE49-F238E27FC236}">
                    <a16:creationId xmlns:a16="http://schemas.microsoft.com/office/drawing/2014/main" id="{D035DED0-B7E0-3007-716F-DCFBF2CEFE8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070157" y="2707957"/>
                <a:ext cx="492443" cy="492443"/>
              </a:xfrm>
              <a:prstGeom prst="rect">
                <a:avLst/>
              </a:prstGeom>
            </p:spPr>
          </p:pic>
          <p:sp>
            <p:nvSpPr>
              <p:cNvPr id="7" name="TextBox 6">
                <a:extLst>
                  <a:ext uri="{FF2B5EF4-FFF2-40B4-BE49-F238E27FC236}">
                    <a16:creationId xmlns:a16="http://schemas.microsoft.com/office/drawing/2014/main" id="{8973C406-99CD-9C30-C0E0-EC796322627E}"/>
                  </a:ext>
                </a:extLst>
              </p:cNvPr>
              <p:cNvSpPr txBox="1"/>
              <p:nvPr/>
            </p:nvSpPr>
            <p:spPr>
              <a:xfrm>
                <a:off x="5527608" y="1551801"/>
                <a:ext cx="6435791" cy="461665"/>
              </a:xfrm>
              <a:prstGeom prst="rect">
                <a:avLst/>
              </a:prstGeom>
              <a:noFill/>
            </p:spPr>
            <p:txBody>
              <a:bodyPr wrap="square">
                <a:spAutoFit/>
              </a:bodyPr>
              <a:lstStyle/>
              <a:p>
                <a:r>
                  <a:rPr lang="en-US" sz="1200" dirty="0">
                    <a:latin typeface="Georgia" panose="02040502050405020303" pitchFamily="18" charset="0"/>
                  </a:rPr>
                  <a:t>Cold storage units with 14,832 MT capacity exist for key crops like Tomato in East Karnataka.</a:t>
                </a:r>
                <a:endParaRPr lang="en-US" sz="1200" dirty="0"/>
              </a:p>
            </p:txBody>
          </p:sp>
          <p:sp>
            <p:nvSpPr>
              <p:cNvPr id="11" name="TextBox 10">
                <a:extLst>
                  <a:ext uri="{FF2B5EF4-FFF2-40B4-BE49-F238E27FC236}">
                    <a16:creationId xmlns:a16="http://schemas.microsoft.com/office/drawing/2014/main" id="{6D5DD818-85B6-097B-C82B-A68FE54E19A2}"/>
                  </a:ext>
                </a:extLst>
              </p:cNvPr>
              <p:cNvSpPr txBox="1"/>
              <p:nvPr/>
            </p:nvSpPr>
            <p:spPr>
              <a:xfrm>
                <a:off x="5542944" y="1927593"/>
                <a:ext cx="6491858" cy="461665"/>
              </a:xfrm>
              <a:prstGeom prst="rect">
                <a:avLst/>
              </a:prstGeom>
              <a:noFill/>
            </p:spPr>
            <p:txBody>
              <a:bodyPr wrap="square">
                <a:spAutoFit/>
              </a:bodyPr>
              <a:lstStyle/>
              <a:p>
                <a:r>
                  <a:rPr lang="en-US" sz="1200" dirty="0">
                    <a:latin typeface="Georgia" panose="02040502050405020303" pitchFamily="18" charset="0"/>
                  </a:rPr>
                  <a:t>Cold storage units with 46,982 MT capacity are available across all fruits and vegetables. Upcoming unit in Kolar (2000 MT).</a:t>
                </a:r>
                <a:endParaRPr lang="en-US" sz="1200" dirty="0"/>
              </a:p>
            </p:txBody>
          </p:sp>
          <p:sp>
            <p:nvSpPr>
              <p:cNvPr id="18" name="TextBox 17">
                <a:extLst>
                  <a:ext uri="{FF2B5EF4-FFF2-40B4-BE49-F238E27FC236}">
                    <a16:creationId xmlns:a16="http://schemas.microsoft.com/office/drawing/2014/main" id="{81F73956-7E9C-3D93-0A42-679218AC8792}"/>
                  </a:ext>
                </a:extLst>
              </p:cNvPr>
              <p:cNvSpPr txBox="1"/>
              <p:nvPr/>
            </p:nvSpPr>
            <p:spPr>
              <a:xfrm>
                <a:off x="5562600" y="2313580"/>
                <a:ext cx="6323606" cy="461665"/>
              </a:xfrm>
              <a:prstGeom prst="rect">
                <a:avLst/>
              </a:prstGeom>
              <a:noFill/>
            </p:spPr>
            <p:txBody>
              <a:bodyPr wrap="square">
                <a:spAutoFit/>
              </a:bodyPr>
              <a:lstStyle/>
              <a:p>
                <a:r>
                  <a:rPr lang="en-US" sz="1200" dirty="0">
                    <a:latin typeface="Georgia" panose="02040502050405020303" pitchFamily="18" charset="0"/>
                  </a:rPr>
                  <a:t>Processing infrastructure units with 9,65,338 MT/yr capacity for crop-specific and 10,02,890 MT/yr capacity for all fruits/vegetables.</a:t>
                </a:r>
                <a:endParaRPr lang="en-US" sz="1200" dirty="0"/>
              </a:p>
            </p:txBody>
          </p:sp>
          <p:sp>
            <p:nvSpPr>
              <p:cNvPr id="28" name="TextBox 27">
                <a:extLst>
                  <a:ext uri="{FF2B5EF4-FFF2-40B4-BE49-F238E27FC236}">
                    <a16:creationId xmlns:a16="http://schemas.microsoft.com/office/drawing/2014/main" id="{283EB6F2-10CC-C11F-5541-97A91C057191}"/>
                  </a:ext>
                </a:extLst>
              </p:cNvPr>
              <p:cNvSpPr txBox="1"/>
              <p:nvPr/>
            </p:nvSpPr>
            <p:spPr>
              <a:xfrm>
                <a:off x="5562600" y="3272135"/>
                <a:ext cx="6323606" cy="461665"/>
              </a:xfrm>
              <a:prstGeom prst="rect">
                <a:avLst/>
              </a:prstGeom>
              <a:noFill/>
            </p:spPr>
            <p:txBody>
              <a:bodyPr wrap="square">
                <a:spAutoFit/>
              </a:bodyPr>
              <a:lstStyle/>
              <a:p>
                <a:r>
                  <a:rPr lang="en-US" sz="1200" dirty="0">
                    <a:latin typeface="Georgia" panose="02040502050405020303" pitchFamily="18" charset="0"/>
                  </a:rPr>
                  <a:t>40 WDD FPOs recorded ₹13 Cr in transactions during FY 23-24, focusing on Grapes, Mango, Tomato, Pomegranate and other vegetables.</a:t>
                </a:r>
                <a:endParaRPr lang="en-US" sz="1200" dirty="0"/>
              </a:p>
            </p:txBody>
          </p:sp>
        </p:grpSp>
      </p:grpSp>
      <p:sp>
        <p:nvSpPr>
          <p:cNvPr id="30" name="TextBox 29">
            <a:extLst>
              <a:ext uri="{FF2B5EF4-FFF2-40B4-BE49-F238E27FC236}">
                <a16:creationId xmlns:a16="http://schemas.microsoft.com/office/drawing/2014/main" id="{B05DC564-9D42-1F17-4EC0-0BD44730ED34}"/>
              </a:ext>
            </a:extLst>
          </p:cNvPr>
          <p:cNvSpPr txBox="1"/>
          <p:nvPr/>
        </p:nvSpPr>
        <p:spPr>
          <a:xfrm>
            <a:off x="653333" y="3192205"/>
            <a:ext cx="3792452" cy="200055"/>
          </a:xfrm>
          <a:prstGeom prst="rect">
            <a:avLst/>
          </a:prstGeom>
          <a:noFill/>
        </p:spPr>
        <p:txBody>
          <a:bodyPr wrap="square" rtlCol="0">
            <a:spAutoFit/>
          </a:bodyPr>
          <a:lstStyle/>
          <a:p>
            <a:r>
              <a:rPr lang="en-IN" sz="700" i="1" dirty="0">
                <a:latin typeface="Georgia" panose="02040502050405020303" pitchFamily="18" charset="0"/>
              </a:rPr>
              <a:t>Source: Horticulture Crop Statistics of Karnataka State at a Glance – 2023-24</a:t>
            </a:r>
          </a:p>
        </p:txBody>
      </p:sp>
      <p:sp>
        <p:nvSpPr>
          <p:cNvPr id="31" name="TextBox 30">
            <a:extLst>
              <a:ext uri="{FF2B5EF4-FFF2-40B4-BE49-F238E27FC236}">
                <a16:creationId xmlns:a16="http://schemas.microsoft.com/office/drawing/2014/main" id="{ADDBB6ED-49AA-6B2A-2100-75A08BFA0486}"/>
              </a:ext>
            </a:extLst>
          </p:cNvPr>
          <p:cNvSpPr txBox="1"/>
          <p:nvPr/>
        </p:nvSpPr>
        <p:spPr>
          <a:xfrm>
            <a:off x="659536" y="5680502"/>
            <a:ext cx="7112864" cy="415498"/>
          </a:xfrm>
          <a:prstGeom prst="rect">
            <a:avLst/>
          </a:prstGeom>
          <a:noFill/>
        </p:spPr>
        <p:txBody>
          <a:bodyPr wrap="square" rtlCol="0">
            <a:spAutoFit/>
          </a:bodyPr>
          <a:lstStyle/>
          <a:p>
            <a:r>
              <a:rPr lang="en-US" sz="700" i="1" dirty="0">
                <a:latin typeface="Georgia" panose="02040502050405020303" pitchFamily="18" charset="0"/>
              </a:rPr>
              <a:t>Data sources: As per the internal data shared by the following departments under Government of Karnataka, as of March 2026:</a:t>
            </a:r>
          </a:p>
          <a:p>
            <a:pPr marL="93663" indent="-93663">
              <a:buFont typeface="Arial" panose="020B0604020202020204" pitchFamily="34" charset="0"/>
              <a:buChar char="•"/>
            </a:pPr>
            <a:r>
              <a:rPr lang="en-IN" sz="700" i="1" dirty="0">
                <a:latin typeface="Georgia" panose="02040502050405020303" pitchFamily="18" charset="0"/>
              </a:rPr>
              <a:t>KAPPEC – Processing infrastructure &amp; Watershed Development Department (</a:t>
            </a:r>
            <a:r>
              <a:rPr lang="en-IN" sz="700" i="1" dirty="0" err="1">
                <a:latin typeface="Georgia" panose="02040502050405020303" pitchFamily="18" charset="0"/>
              </a:rPr>
              <a:t>WDD</a:t>
            </a:r>
            <a:r>
              <a:rPr lang="en-IN" sz="700" i="1" dirty="0">
                <a:latin typeface="Georgia" panose="02040502050405020303" pitchFamily="18" charset="0"/>
              </a:rPr>
              <a:t>) FPOs</a:t>
            </a:r>
          </a:p>
          <a:p>
            <a:pPr marL="93663" indent="-93663">
              <a:buFont typeface="Arial" panose="020B0604020202020204" pitchFamily="34" charset="0"/>
              <a:buChar char="•"/>
            </a:pPr>
            <a:r>
              <a:rPr lang="en-IN" sz="700" i="1" dirty="0">
                <a:latin typeface="Georgia" panose="02040502050405020303" pitchFamily="18" charset="0"/>
              </a:rPr>
              <a:t>Directorate of Horticulture – Cold storage infrastructure, Horticulture farms/nurseries, Horticulture Department FPOs</a:t>
            </a:r>
          </a:p>
        </p:txBody>
      </p:sp>
      <p:sp>
        <p:nvSpPr>
          <p:cNvPr id="32" name="TextBox 31">
            <a:extLst>
              <a:ext uri="{FF2B5EF4-FFF2-40B4-BE49-F238E27FC236}">
                <a16:creationId xmlns:a16="http://schemas.microsoft.com/office/drawing/2014/main" id="{D90C9C47-A303-3337-27BF-30646967491E}"/>
              </a:ext>
            </a:extLst>
          </p:cNvPr>
          <p:cNvSpPr txBox="1"/>
          <p:nvPr/>
        </p:nvSpPr>
        <p:spPr>
          <a:xfrm>
            <a:off x="7239000" y="5528102"/>
            <a:ext cx="4858752" cy="200055"/>
          </a:xfrm>
          <a:prstGeom prst="rect">
            <a:avLst/>
          </a:prstGeom>
          <a:noFill/>
        </p:spPr>
        <p:txBody>
          <a:bodyPr wrap="square" rtlCol="0">
            <a:spAutoFit/>
          </a:bodyPr>
          <a:lstStyle/>
          <a:p>
            <a:r>
              <a:rPr lang="en-IN" sz="700" i="1" dirty="0">
                <a:latin typeface="Georgia" panose="02040502050405020303" pitchFamily="18" charset="0"/>
              </a:rPr>
              <a:t>Source: As reported by district officials of Horticulture Department, Government of Karnataka, as of March 2026</a:t>
            </a:r>
          </a:p>
        </p:txBody>
      </p:sp>
      <p:sp>
        <p:nvSpPr>
          <p:cNvPr id="34" name="TextBox 33">
            <a:extLst>
              <a:ext uri="{FF2B5EF4-FFF2-40B4-BE49-F238E27FC236}">
                <a16:creationId xmlns:a16="http://schemas.microsoft.com/office/drawing/2014/main" id="{837C52C7-913D-71A7-95B9-2F014F8FFAD3}"/>
              </a:ext>
            </a:extLst>
          </p:cNvPr>
          <p:cNvSpPr txBox="1"/>
          <p:nvPr/>
        </p:nvSpPr>
        <p:spPr>
          <a:xfrm>
            <a:off x="2666198" y="4046548"/>
            <a:ext cx="6097604" cy="338554"/>
          </a:xfrm>
          <a:prstGeom prst="rect">
            <a:avLst/>
          </a:prstGeom>
          <a:noFill/>
        </p:spPr>
        <p:txBody>
          <a:bodyPr wrap="square">
            <a:spAutoFit/>
          </a:bodyPr>
          <a:lstStyle/>
          <a:p>
            <a:pPr algn="ctr"/>
            <a:r>
              <a:rPr lang="en-US" sz="1600" b="1" dirty="0">
                <a:latin typeface="Georgia" panose="02040502050405020303" pitchFamily="18" charset="0"/>
              </a:rPr>
              <a:t>Challenges reported</a:t>
            </a:r>
          </a:p>
        </p:txBody>
      </p:sp>
      <p:pic>
        <p:nvPicPr>
          <p:cNvPr id="6" name="Picture 5">
            <a:extLst>
              <a:ext uri="{FF2B5EF4-FFF2-40B4-BE49-F238E27FC236}">
                <a16:creationId xmlns:a16="http://schemas.microsoft.com/office/drawing/2014/main" id="{123299F8-73D4-2AAE-CC5B-E6A3739DFCD2}"/>
              </a:ext>
            </a:extLst>
          </p:cNvPr>
          <p:cNvPicPr>
            <a:picLocks noChangeAspect="1"/>
          </p:cNvPicPr>
          <p:nvPr/>
        </p:nvPicPr>
        <p:blipFill>
          <a:blip r:embed="rId10" cstate="print">
            <a:extLst>
              <a:ext uri="{28A0092B-C50C-407E-A947-70E740481C1C}">
                <a14:useLocalDpi xmlns:a14="http://schemas.microsoft.com/office/drawing/2010/main" val="0"/>
              </a:ext>
            </a:extLst>
          </a:blip>
          <a:srcRect l="2839" t="4793" r="3802" b="12571"/>
          <a:stretch>
            <a:fillRect/>
          </a:stretch>
        </p:blipFill>
        <p:spPr>
          <a:xfrm>
            <a:off x="10375204" y="199744"/>
            <a:ext cx="1522432" cy="1121536"/>
          </a:xfrm>
          <a:prstGeom prst="rect">
            <a:avLst/>
          </a:prstGeom>
        </p:spPr>
      </p:pic>
      <p:sp>
        <p:nvSpPr>
          <p:cNvPr id="5" name="Slide Number Placeholder 2">
            <a:extLst>
              <a:ext uri="{FF2B5EF4-FFF2-40B4-BE49-F238E27FC236}">
                <a16:creationId xmlns:a16="http://schemas.microsoft.com/office/drawing/2014/main" id="{5B84058A-0DE5-A904-AADA-A071BB67141C}"/>
              </a:ext>
            </a:extLst>
          </p:cNvPr>
          <p:cNvSpPr>
            <a:spLocks noGrp="1"/>
          </p:cNvSpPr>
          <p:nvPr>
            <p:ph type="sldNum" sz="quarter" idx="7"/>
          </p:nvPr>
        </p:nvSpPr>
        <p:spPr>
          <a:xfrm>
            <a:off x="779630" y="6440648"/>
            <a:ext cx="383540" cy="115416"/>
          </a:xfrm>
        </p:spPr>
        <p:txBody>
          <a:bodyPr/>
          <a:lstStyle/>
          <a:p>
            <a:pPr marL="12700">
              <a:spcBef>
                <a:spcPts val="60"/>
              </a:spcBef>
            </a:pPr>
            <a:r>
              <a:rPr lang="en-IN" dirty="0">
                <a:latin typeface="Georgia" panose="02040502050405020303" pitchFamily="18" charset="0"/>
              </a:rPr>
              <a:t>Page</a:t>
            </a:r>
            <a:r>
              <a:rPr lang="en-IN" spc="-55" dirty="0">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13</a:t>
            </a:fld>
            <a:endParaRPr dirty="0">
              <a:latin typeface="Georgia" panose="02040502050405020303" pitchFamily="18" charset="0"/>
            </a:endParaRPr>
          </a:p>
        </p:txBody>
      </p:sp>
      <p:sp>
        <p:nvSpPr>
          <p:cNvPr id="15" name="TextBox 14">
            <a:extLst>
              <a:ext uri="{FF2B5EF4-FFF2-40B4-BE49-F238E27FC236}">
                <a16:creationId xmlns:a16="http://schemas.microsoft.com/office/drawing/2014/main" id="{3D763746-1144-42AC-DC0B-705A29B6EF9F}"/>
              </a:ext>
            </a:extLst>
          </p:cNvPr>
          <p:cNvSpPr txBox="1"/>
          <p:nvPr/>
        </p:nvSpPr>
        <p:spPr>
          <a:xfrm>
            <a:off x="1749858" y="879902"/>
            <a:ext cx="1576398" cy="338554"/>
          </a:xfrm>
          <a:prstGeom prst="rect">
            <a:avLst/>
          </a:prstGeom>
          <a:noFill/>
        </p:spPr>
        <p:txBody>
          <a:bodyPr wrap="square">
            <a:spAutoFit/>
          </a:bodyPr>
          <a:lstStyle/>
          <a:p>
            <a:pPr algn="ctr"/>
            <a:r>
              <a:rPr lang="en-US" sz="1600" b="1" dirty="0">
                <a:latin typeface="Georgia" panose="02040502050405020303" pitchFamily="18" charset="0"/>
              </a:rPr>
              <a:t>Production</a:t>
            </a:r>
          </a:p>
        </p:txBody>
      </p:sp>
      <p:sp>
        <p:nvSpPr>
          <p:cNvPr id="17" name="TextBox 16">
            <a:extLst>
              <a:ext uri="{FF2B5EF4-FFF2-40B4-BE49-F238E27FC236}">
                <a16:creationId xmlns:a16="http://schemas.microsoft.com/office/drawing/2014/main" id="{CB248CE3-EE11-9124-DD31-FDAD968215A2}"/>
              </a:ext>
            </a:extLst>
          </p:cNvPr>
          <p:cNvSpPr txBox="1"/>
          <p:nvPr/>
        </p:nvSpPr>
        <p:spPr>
          <a:xfrm>
            <a:off x="6244491" y="846148"/>
            <a:ext cx="3583805" cy="338554"/>
          </a:xfrm>
          <a:prstGeom prst="rect">
            <a:avLst/>
          </a:prstGeom>
          <a:noFill/>
        </p:spPr>
        <p:txBody>
          <a:bodyPr wrap="square">
            <a:spAutoFit/>
          </a:bodyPr>
          <a:lstStyle/>
          <a:p>
            <a:pPr algn="ctr"/>
            <a:r>
              <a:rPr lang="en-US" sz="1600" b="1" dirty="0">
                <a:latin typeface="Georgia" panose="02040502050405020303" pitchFamily="18" charset="0"/>
              </a:rPr>
              <a:t>Existing Ecosystem</a:t>
            </a:r>
          </a:p>
        </p:txBody>
      </p:sp>
      <p:pic>
        <p:nvPicPr>
          <p:cNvPr id="19" name="Picture 18">
            <a:extLst>
              <a:ext uri="{FF2B5EF4-FFF2-40B4-BE49-F238E27FC236}">
                <a16:creationId xmlns:a16="http://schemas.microsoft.com/office/drawing/2014/main" id="{6FADD5FE-AE74-FE09-0F73-A6EC5DDADAA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538057" y="6246198"/>
            <a:ext cx="6955288" cy="563588"/>
          </a:xfrm>
          <a:prstGeom prst="rect">
            <a:avLst/>
          </a:prstGeom>
        </p:spPr>
      </p:pic>
      <p:sp>
        <p:nvSpPr>
          <p:cNvPr id="24" name="Rectangle 23">
            <a:extLst>
              <a:ext uri="{FF2B5EF4-FFF2-40B4-BE49-F238E27FC236}">
                <a16:creationId xmlns:a16="http://schemas.microsoft.com/office/drawing/2014/main" id="{7026021D-ACB5-D459-36DC-22012534EC7A}"/>
              </a:ext>
            </a:extLst>
          </p:cNvPr>
          <p:cNvSpPr/>
          <p:nvPr/>
        </p:nvSpPr>
        <p:spPr>
          <a:xfrm>
            <a:off x="381000" y="6246198"/>
            <a:ext cx="2317655" cy="563588"/>
          </a:xfrm>
          <a:prstGeom prst="rect">
            <a:avLst/>
          </a:prstGeom>
          <a:solidFill>
            <a:srgbClr val="EEECE1"/>
          </a:solidFill>
          <a:ln>
            <a:solidFill>
              <a:srgbClr val="EEEC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1C24EEF-D42D-8645-13D0-4737FAF18FC0}"/>
              </a:ext>
            </a:extLst>
          </p:cNvPr>
          <p:cNvSpPr/>
          <p:nvPr/>
        </p:nvSpPr>
        <p:spPr>
          <a:xfrm>
            <a:off x="9366345" y="6220609"/>
            <a:ext cx="2317655" cy="563588"/>
          </a:xfrm>
          <a:prstGeom prst="rect">
            <a:avLst/>
          </a:prstGeom>
          <a:solidFill>
            <a:srgbClr val="EEECE1"/>
          </a:solidFill>
          <a:ln>
            <a:solidFill>
              <a:srgbClr val="EEEC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8655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D9AC1-0374-DD8F-B2A7-A4FE63DE0CBF}"/>
            </a:ext>
          </a:extLst>
        </p:cNvPr>
        <p:cNvGrpSpPr/>
        <p:nvPr/>
      </p:nvGrpSpPr>
      <p:grpSpPr>
        <a:xfrm>
          <a:off x="0" y="0"/>
          <a:ext cx="0" cy="0"/>
          <a:chOff x="0" y="0"/>
          <a:chExt cx="0" cy="0"/>
        </a:xfrm>
      </p:grpSpPr>
      <p:cxnSp>
        <p:nvCxnSpPr>
          <p:cNvPr id="62" name="Straight Connector 61">
            <a:extLst>
              <a:ext uri="{FF2B5EF4-FFF2-40B4-BE49-F238E27FC236}">
                <a16:creationId xmlns:a16="http://schemas.microsoft.com/office/drawing/2014/main" id="{57920199-2089-3F87-D264-90DE6741AAD8}"/>
              </a:ext>
            </a:extLst>
          </p:cNvPr>
          <p:cNvCxnSpPr>
            <a:cxnSpLocks/>
          </p:cNvCxnSpPr>
          <p:nvPr/>
        </p:nvCxnSpPr>
        <p:spPr>
          <a:xfrm>
            <a:off x="4648200" y="990600"/>
            <a:ext cx="0" cy="3060000"/>
          </a:xfrm>
          <a:prstGeom prst="line">
            <a:avLst/>
          </a:prstGeom>
          <a:ln>
            <a:solidFill>
              <a:srgbClr val="A9ABAE"/>
            </a:solidFill>
          </a:ln>
        </p:spPr>
        <p:style>
          <a:lnRef idx="1">
            <a:schemeClr val="accent1"/>
          </a:lnRef>
          <a:fillRef idx="0">
            <a:schemeClr val="accent1"/>
          </a:fillRef>
          <a:effectRef idx="0">
            <a:schemeClr val="accent1"/>
          </a:effectRef>
          <a:fontRef idx="minor">
            <a:schemeClr val="tx1"/>
          </a:fontRef>
        </p:style>
      </p:cxnSp>
      <p:pic>
        <p:nvPicPr>
          <p:cNvPr id="48" name="Graphic 47" descr="Thermometer with solid fill">
            <a:extLst>
              <a:ext uri="{FF2B5EF4-FFF2-40B4-BE49-F238E27FC236}">
                <a16:creationId xmlns:a16="http://schemas.microsoft.com/office/drawing/2014/main" id="{724EDFD5-2400-520E-DBD6-4989E6737F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63974" y="1863770"/>
            <a:ext cx="377146" cy="377146"/>
          </a:xfrm>
          <a:prstGeom prst="rect">
            <a:avLst/>
          </a:prstGeom>
        </p:spPr>
      </p:pic>
      <p:pic>
        <p:nvPicPr>
          <p:cNvPr id="49" name="Graphic 48" descr="Map with pin with solid fill">
            <a:extLst>
              <a:ext uri="{FF2B5EF4-FFF2-40B4-BE49-F238E27FC236}">
                <a16:creationId xmlns:a16="http://schemas.microsoft.com/office/drawing/2014/main" id="{E8220DAC-8971-89E8-7A2C-B1B30B8B59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70901" y="2292726"/>
            <a:ext cx="368445" cy="368445"/>
          </a:xfrm>
          <a:prstGeom prst="rect">
            <a:avLst/>
          </a:prstGeom>
        </p:spPr>
      </p:pic>
      <p:pic>
        <p:nvPicPr>
          <p:cNvPr id="51" name="Graphic 50" descr="Warehouse with solid fill">
            <a:extLst>
              <a:ext uri="{FF2B5EF4-FFF2-40B4-BE49-F238E27FC236}">
                <a16:creationId xmlns:a16="http://schemas.microsoft.com/office/drawing/2014/main" id="{031F10E6-CB89-B8C0-5017-CB1BA5ECCA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00600" y="1447800"/>
            <a:ext cx="303894" cy="303894"/>
          </a:xfrm>
          <a:prstGeom prst="rect">
            <a:avLst/>
          </a:prstGeom>
        </p:spPr>
      </p:pic>
      <p:pic>
        <p:nvPicPr>
          <p:cNvPr id="20" name="Graphic 19" descr="Users with solid fill">
            <a:extLst>
              <a:ext uri="{FF2B5EF4-FFF2-40B4-BE49-F238E27FC236}">
                <a16:creationId xmlns:a16="http://schemas.microsoft.com/office/drawing/2014/main" id="{120CF4F0-6586-2B89-C64D-85423669F65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33775" y="3183229"/>
            <a:ext cx="437544" cy="437544"/>
          </a:xfrm>
          <a:prstGeom prst="rect">
            <a:avLst/>
          </a:prstGeom>
        </p:spPr>
      </p:pic>
      <p:grpSp>
        <p:nvGrpSpPr>
          <p:cNvPr id="5" name="Group 4">
            <a:extLst>
              <a:ext uri="{FF2B5EF4-FFF2-40B4-BE49-F238E27FC236}">
                <a16:creationId xmlns:a16="http://schemas.microsoft.com/office/drawing/2014/main" id="{F06CA204-E76B-C78F-9FDF-CC9BB4D6B1E4}"/>
              </a:ext>
            </a:extLst>
          </p:cNvPr>
          <p:cNvGrpSpPr/>
          <p:nvPr/>
        </p:nvGrpSpPr>
        <p:grpSpPr>
          <a:xfrm>
            <a:off x="4819000" y="3733800"/>
            <a:ext cx="7120015" cy="461665"/>
            <a:chOff x="4819000" y="3886200"/>
            <a:chExt cx="7120015" cy="461665"/>
          </a:xfrm>
        </p:grpSpPr>
        <p:sp>
          <p:nvSpPr>
            <p:cNvPr id="44" name="TextBox 43">
              <a:extLst>
                <a:ext uri="{FF2B5EF4-FFF2-40B4-BE49-F238E27FC236}">
                  <a16:creationId xmlns:a16="http://schemas.microsoft.com/office/drawing/2014/main" id="{72828036-B77F-A6C5-423C-E8403FA332FF}"/>
                </a:ext>
              </a:extLst>
            </p:cNvPr>
            <p:cNvSpPr txBox="1">
              <a:spLocks/>
            </p:cNvSpPr>
            <p:nvPr/>
          </p:nvSpPr>
          <p:spPr>
            <a:xfrm>
              <a:off x="5095747" y="3886200"/>
              <a:ext cx="6843268" cy="461665"/>
            </a:xfrm>
            <a:prstGeom prst="rect">
              <a:avLst/>
            </a:prstGeom>
            <a:noFill/>
          </p:spPr>
          <p:txBody>
            <a:bodyPr wrap="square">
              <a:spAutoFit/>
            </a:bodyPr>
            <a:lstStyle/>
            <a:p>
              <a:r>
                <a:rPr lang="en-US" sz="1200" dirty="0">
                  <a:latin typeface="Georgia" panose="02040502050405020303" pitchFamily="18" charset="0"/>
                </a:rPr>
                <a:t>48 WDD FPOs recorded ₹33 Cr in transactions during FY 23-24, focusing on Banana, Soyabean, Chilli etc.</a:t>
              </a:r>
            </a:p>
          </p:txBody>
        </p:sp>
        <p:pic>
          <p:nvPicPr>
            <p:cNvPr id="23" name="Graphic 22" descr="Rupee with solid fill">
              <a:extLst>
                <a:ext uri="{FF2B5EF4-FFF2-40B4-BE49-F238E27FC236}">
                  <a16:creationId xmlns:a16="http://schemas.microsoft.com/office/drawing/2014/main" id="{2CDDFBC9-9302-772F-9DB3-AC1FC573F6E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19000" y="3904600"/>
              <a:ext cx="286400" cy="286400"/>
            </a:xfrm>
            <a:prstGeom prst="rect">
              <a:avLst/>
            </a:prstGeom>
          </p:spPr>
        </p:pic>
      </p:grpSp>
      <p:pic>
        <p:nvPicPr>
          <p:cNvPr id="10" name="Graphic 9" descr="Schoolhouse outline">
            <a:extLst>
              <a:ext uri="{FF2B5EF4-FFF2-40B4-BE49-F238E27FC236}">
                <a16:creationId xmlns:a16="http://schemas.microsoft.com/office/drawing/2014/main" id="{ABC28682-2AE2-B3A1-8550-B3CA2F214E6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33775" y="2711230"/>
            <a:ext cx="437544" cy="437544"/>
          </a:xfrm>
          <a:prstGeom prst="rect">
            <a:avLst/>
          </a:prstGeom>
        </p:spPr>
      </p:pic>
      <p:sp>
        <p:nvSpPr>
          <p:cNvPr id="2" name="Title 1">
            <a:extLst>
              <a:ext uri="{FF2B5EF4-FFF2-40B4-BE49-F238E27FC236}">
                <a16:creationId xmlns:a16="http://schemas.microsoft.com/office/drawing/2014/main" id="{F17D7CC1-7B93-DC1D-7252-1A0CE3EC5EA7}"/>
              </a:ext>
            </a:extLst>
          </p:cNvPr>
          <p:cNvSpPr>
            <a:spLocks noGrp="1"/>
          </p:cNvSpPr>
          <p:nvPr>
            <p:ph type="title"/>
          </p:nvPr>
        </p:nvSpPr>
        <p:spPr>
          <a:xfrm>
            <a:off x="600352" y="407313"/>
            <a:ext cx="10561116" cy="430887"/>
          </a:xfrm>
        </p:spPr>
        <p:txBody>
          <a:bodyPr/>
          <a:lstStyle/>
          <a:p>
            <a:r>
              <a:rPr lang="en-US" sz="1800" dirty="0">
                <a:solidFill>
                  <a:srgbClr val="E8A33D"/>
                </a:solidFill>
                <a:latin typeface="Georgia" panose="02040502050405020303" pitchFamily="18" charset="0"/>
              </a:rPr>
              <a:t>Northwest Karnataka multi-crop cluster</a:t>
            </a:r>
            <a:br>
              <a:rPr lang="en-US" sz="2400" dirty="0">
                <a:latin typeface="Georgia" panose="02040502050405020303" pitchFamily="18" charset="0"/>
              </a:rPr>
            </a:br>
            <a:r>
              <a:rPr lang="en-US" sz="1000" i="1" dirty="0">
                <a:solidFill>
                  <a:schemeClr val="bg1"/>
                </a:solidFill>
                <a:latin typeface="Georgia" panose="02040502050405020303" pitchFamily="18" charset="0"/>
              </a:rPr>
              <a:t>(Dharwad, Haveri, Uttara Kannada)</a:t>
            </a:r>
            <a:endParaRPr lang="en-IN" sz="1000" i="1" dirty="0">
              <a:solidFill>
                <a:schemeClr val="bg1"/>
              </a:solidFill>
              <a:latin typeface="Georgia" panose="02040502050405020303" pitchFamily="18" charset="0"/>
            </a:endParaRPr>
          </a:p>
        </p:txBody>
      </p:sp>
      <p:graphicFrame>
        <p:nvGraphicFramePr>
          <p:cNvPr id="6" name="Chart 5">
            <a:extLst>
              <a:ext uri="{FF2B5EF4-FFF2-40B4-BE49-F238E27FC236}">
                <a16:creationId xmlns:a16="http://schemas.microsoft.com/office/drawing/2014/main" id="{98774FA3-D04F-50D2-B84C-FEFAB9F86EA1}"/>
              </a:ext>
            </a:extLst>
          </p:cNvPr>
          <p:cNvGraphicFramePr>
            <a:graphicFrameLocks/>
          </p:cNvGraphicFramePr>
          <p:nvPr>
            <p:extLst>
              <p:ext uri="{D42A27DB-BD31-4B8C-83A1-F6EECF244321}">
                <p14:modId xmlns:p14="http://schemas.microsoft.com/office/powerpoint/2010/main" val="169167004"/>
              </p:ext>
            </p:extLst>
          </p:nvPr>
        </p:nvGraphicFramePr>
        <p:xfrm>
          <a:off x="457200" y="1995754"/>
          <a:ext cx="4109387" cy="1357046"/>
        </p:xfrm>
        <a:graphic>
          <a:graphicData uri="http://schemas.openxmlformats.org/drawingml/2006/chart">
            <c:chart xmlns:c="http://schemas.openxmlformats.org/drawingml/2006/chart" xmlns:r="http://schemas.openxmlformats.org/officeDocument/2006/relationships" r:id="rId8"/>
          </a:graphicData>
        </a:graphic>
      </p:graphicFrame>
      <p:sp>
        <p:nvSpPr>
          <p:cNvPr id="8" name="TextBox 7">
            <a:extLst>
              <a:ext uri="{FF2B5EF4-FFF2-40B4-BE49-F238E27FC236}">
                <a16:creationId xmlns:a16="http://schemas.microsoft.com/office/drawing/2014/main" id="{73AC4D1B-E1B9-1251-355E-541A00CBBD75}"/>
              </a:ext>
            </a:extLst>
          </p:cNvPr>
          <p:cNvSpPr txBox="1"/>
          <p:nvPr/>
        </p:nvSpPr>
        <p:spPr>
          <a:xfrm>
            <a:off x="497966" y="-152400"/>
            <a:ext cx="10322433" cy="579069"/>
          </a:xfrm>
          <a:prstGeom prst="rect">
            <a:avLst/>
          </a:prstGeom>
          <a:noFill/>
        </p:spPr>
        <p:txBody>
          <a:bodyPr wrap="square">
            <a:spAutoFit/>
          </a:bodyPr>
          <a:lstStyle/>
          <a:p>
            <a:pPr>
              <a:lnSpc>
                <a:spcPct val="150000"/>
              </a:lnSpc>
              <a:spcAft>
                <a:spcPts val="800"/>
              </a:spcAft>
            </a:pPr>
            <a:r>
              <a:rPr lang="en-IN" sz="2400" b="1" i="1" dirty="0">
                <a:solidFill>
                  <a:schemeClr val="bg1"/>
                </a:solidFill>
                <a:latin typeface="Georgia" panose="02040502050405020303" pitchFamily="18" charset="0"/>
              </a:rPr>
              <a:t>Challenge category 1: Post-harvest value chain solutions</a:t>
            </a:r>
          </a:p>
        </p:txBody>
      </p:sp>
      <p:sp>
        <p:nvSpPr>
          <p:cNvPr id="11" name="TextBox 10">
            <a:extLst>
              <a:ext uri="{FF2B5EF4-FFF2-40B4-BE49-F238E27FC236}">
                <a16:creationId xmlns:a16="http://schemas.microsoft.com/office/drawing/2014/main" id="{71025712-3A55-9DE7-CF7F-2AB7302985F6}"/>
              </a:ext>
            </a:extLst>
          </p:cNvPr>
          <p:cNvSpPr txBox="1"/>
          <p:nvPr/>
        </p:nvSpPr>
        <p:spPr>
          <a:xfrm>
            <a:off x="345325" y="1411069"/>
            <a:ext cx="4379075" cy="646331"/>
          </a:xfrm>
          <a:prstGeom prst="rect">
            <a:avLst/>
          </a:prstGeom>
          <a:noFill/>
        </p:spPr>
        <p:txBody>
          <a:bodyPr wrap="square">
            <a:spAutoFit/>
          </a:bodyPr>
          <a:lstStyle/>
          <a:p>
            <a:pPr>
              <a:buNone/>
            </a:pPr>
            <a:r>
              <a:rPr lang="en-US" sz="1200" b="1" dirty="0">
                <a:solidFill>
                  <a:srgbClr val="9C3237"/>
                </a:solidFill>
                <a:latin typeface="Georgia" panose="02040502050405020303" pitchFamily="18" charset="0"/>
              </a:rPr>
              <a:t>Out of the total fruits &amp; vegetables production of 0.4 million MT in this cluster, the seven crop-specific production accounted for approximately 76.8%.</a:t>
            </a:r>
          </a:p>
        </p:txBody>
      </p:sp>
      <p:sp>
        <p:nvSpPr>
          <p:cNvPr id="13" name="TextBox 12">
            <a:extLst>
              <a:ext uri="{FF2B5EF4-FFF2-40B4-BE49-F238E27FC236}">
                <a16:creationId xmlns:a16="http://schemas.microsoft.com/office/drawing/2014/main" id="{D6B825A3-539D-02C9-D521-21E4B005B2A6}"/>
              </a:ext>
            </a:extLst>
          </p:cNvPr>
          <p:cNvSpPr txBox="1"/>
          <p:nvPr/>
        </p:nvSpPr>
        <p:spPr>
          <a:xfrm>
            <a:off x="5105400" y="1443335"/>
            <a:ext cx="6511267" cy="461665"/>
          </a:xfrm>
          <a:prstGeom prst="rect">
            <a:avLst/>
          </a:prstGeom>
          <a:noFill/>
        </p:spPr>
        <p:txBody>
          <a:bodyPr wrap="square">
            <a:spAutoFit/>
          </a:bodyPr>
          <a:lstStyle/>
          <a:p>
            <a:r>
              <a:rPr lang="en-US" sz="1200" dirty="0">
                <a:latin typeface="Georgia" panose="02040502050405020303" pitchFamily="18" charset="0"/>
              </a:rPr>
              <a:t>Cold storage units with 8022 MT capacity exist for key crops like Banana and Mango in Northwest Karnataka.</a:t>
            </a:r>
          </a:p>
        </p:txBody>
      </p:sp>
      <p:sp>
        <p:nvSpPr>
          <p:cNvPr id="16" name="TextBox 15">
            <a:extLst>
              <a:ext uri="{FF2B5EF4-FFF2-40B4-BE49-F238E27FC236}">
                <a16:creationId xmlns:a16="http://schemas.microsoft.com/office/drawing/2014/main" id="{635122B5-A919-F2B5-2BBE-D23A9776C7B0}"/>
              </a:ext>
            </a:extLst>
          </p:cNvPr>
          <p:cNvSpPr txBox="1"/>
          <p:nvPr/>
        </p:nvSpPr>
        <p:spPr>
          <a:xfrm>
            <a:off x="5104493" y="1853841"/>
            <a:ext cx="6858906" cy="461665"/>
          </a:xfrm>
          <a:prstGeom prst="rect">
            <a:avLst/>
          </a:prstGeom>
          <a:noFill/>
        </p:spPr>
        <p:txBody>
          <a:bodyPr wrap="square">
            <a:spAutoFit/>
          </a:bodyPr>
          <a:lstStyle/>
          <a:p>
            <a:r>
              <a:rPr lang="en-US" sz="1200" dirty="0">
                <a:latin typeface="Georgia" panose="02040502050405020303" pitchFamily="18" charset="0"/>
              </a:rPr>
              <a:t>Cold storage units with 1,37,131 MT capacity are available across all fruits and vegetables including frozen &amp; dry fruits &amp; vegetables. Upcoming unit in Haveri (2000 MT). </a:t>
            </a:r>
          </a:p>
        </p:txBody>
      </p:sp>
      <p:sp>
        <p:nvSpPr>
          <p:cNvPr id="21" name="TextBox 20">
            <a:extLst>
              <a:ext uri="{FF2B5EF4-FFF2-40B4-BE49-F238E27FC236}">
                <a16:creationId xmlns:a16="http://schemas.microsoft.com/office/drawing/2014/main" id="{A68E56B2-6848-AA1C-F0CA-75C6FBE976BF}"/>
              </a:ext>
            </a:extLst>
          </p:cNvPr>
          <p:cNvSpPr txBox="1"/>
          <p:nvPr/>
        </p:nvSpPr>
        <p:spPr>
          <a:xfrm>
            <a:off x="5109091" y="2284089"/>
            <a:ext cx="6854303" cy="461665"/>
          </a:xfrm>
          <a:prstGeom prst="rect">
            <a:avLst/>
          </a:prstGeom>
          <a:noFill/>
        </p:spPr>
        <p:txBody>
          <a:bodyPr wrap="square">
            <a:spAutoFit/>
          </a:bodyPr>
          <a:lstStyle/>
          <a:p>
            <a:r>
              <a:rPr lang="en-US" sz="1200" dirty="0">
                <a:latin typeface="Georgia" panose="02040502050405020303" pitchFamily="18" charset="0"/>
              </a:rPr>
              <a:t>Processing infrastructure units with 944 MT/yr capacity for crop-specific and 2160 MT/yr capacity for all fruits/vegetables.</a:t>
            </a:r>
          </a:p>
        </p:txBody>
      </p:sp>
      <p:sp>
        <p:nvSpPr>
          <p:cNvPr id="28" name="TextBox 27">
            <a:extLst>
              <a:ext uri="{FF2B5EF4-FFF2-40B4-BE49-F238E27FC236}">
                <a16:creationId xmlns:a16="http://schemas.microsoft.com/office/drawing/2014/main" id="{9630A516-B802-258E-075D-9C1AC488CA2D}"/>
              </a:ext>
            </a:extLst>
          </p:cNvPr>
          <p:cNvSpPr txBox="1"/>
          <p:nvPr/>
        </p:nvSpPr>
        <p:spPr>
          <a:xfrm>
            <a:off x="5132057" y="2714994"/>
            <a:ext cx="6668779" cy="461665"/>
          </a:xfrm>
          <a:prstGeom prst="rect">
            <a:avLst/>
          </a:prstGeom>
          <a:noFill/>
        </p:spPr>
        <p:txBody>
          <a:bodyPr wrap="square">
            <a:spAutoFit/>
          </a:bodyPr>
          <a:lstStyle/>
          <a:p>
            <a:r>
              <a:rPr lang="en-US" sz="1200" dirty="0">
                <a:latin typeface="Georgia" panose="02040502050405020303" pitchFamily="18" charset="0"/>
              </a:rPr>
              <a:t>2 seed production centers (10 hectares) and 41 horticulture farms and nurseries (449 acres) support agricultural development. Training centers in Dharwad, Haveri, and Uttara Kannada.</a:t>
            </a:r>
          </a:p>
        </p:txBody>
      </p:sp>
      <p:sp>
        <p:nvSpPr>
          <p:cNvPr id="31" name="TextBox 30">
            <a:extLst>
              <a:ext uri="{FF2B5EF4-FFF2-40B4-BE49-F238E27FC236}">
                <a16:creationId xmlns:a16="http://schemas.microsoft.com/office/drawing/2014/main" id="{6F7EF0BD-FE9E-25A5-F8C2-9EA2B082A223}"/>
              </a:ext>
            </a:extLst>
          </p:cNvPr>
          <p:cNvSpPr txBox="1"/>
          <p:nvPr/>
        </p:nvSpPr>
        <p:spPr>
          <a:xfrm>
            <a:off x="5132057" y="3234292"/>
            <a:ext cx="6437168" cy="461665"/>
          </a:xfrm>
          <a:prstGeom prst="rect">
            <a:avLst/>
          </a:prstGeom>
          <a:noFill/>
        </p:spPr>
        <p:txBody>
          <a:bodyPr wrap="square">
            <a:spAutoFit/>
          </a:bodyPr>
          <a:lstStyle/>
          <a:p>
            <a:r>
              <a:rPr lang="en-US" sz="1200" dirty="0">
                <a:latin typeface="Georgia" panose="02040502050405020303" pitchFamily="18" charset="0"/>
              </a:rPr>
              <a:t>FPOs supported by the Horticulture Department recorded ₹33 lakhs worth transactions for FY 23-24 for Onion, Banana</a:t>
            </a:r>
            <a:endParaRPr lang="en-IN" sz="1200" dirty="0">
              <a:latin typeface="Georgia" panose="02040502050405020303" pitchFamily="18" charset="0"/>
            </a:endParaRPr>
          </a:p>
        </p:txBody>
      </p:sp>
      <p:sp>
        <p:nvSpPr>
          <p:cNvPr id="34" name="TextBox 33">
            <a:extLst>
              <a:ext uri="{FF2B5EF4-FFF2-40B4-BE49-F238E27FC236}">
                <a16:creationId xmlns:a16="http://schemas.microsoft.com/office/drawing/2014/main" id="{1775B7CE-7F96-2D62-5A01-7E058DAE5CF0}"/>
              </a:ext>
            </a:extLst>
          </p:cNvPr>
          <p:cNvSpPr txBox="1"/>
          <p:nvPr/>
        </p:nvSpPr>
        <p:spPr>
          <a:xfrm>
            <a:off x="457200" y="3475530"/>
            <a:ext cx="3792452" cy="200055"/>
          </a:xfrm>
          <a:prstGeom prst="rect">
            <a:avLst/>
          </a:prstGeom>
          <a:noFill/>
        </p:spPr>
        <p:txBody>
          <a:bodyPr wrap="square" rtlCol="0">
            <a:spAutoFit/>
          </a:bodyPr>
          <a:lstStyle/>
          <a:p>
            <a:r>
              <a:rPr lang="en-IN" sz="700" i="1" dirty="0">
                <a:latin typeface="Georgia" panose="02040502050405020303" pitchFamily="18" charset="0"/>
              </a:rPr>
              <a:t>Source: Horticulture Crop Statistics of Karnataka State at a Glance – 2023-24</a:t>
            </a:r>
          </a:p>
        </p:txBody>
      </p:sp>
      <p:sp>
        <p:nvSpPr>
          <p:cNvPr id="35" name="TextBox 34">
            <a:extLst>
              <a:ext uri="{FF2B5EF4-FFF2-40B4-BE49-F238E27FC236}">
                <a16:creationId xmlns:a16="http://schemas.microsoft.com/office/drawing/2014/main" id="{1C6C00A7-3E33-2C43-458C-62DB82C9F154}"/>
              </a:ext>
            </a:extLst>
          </p:cNvPr>
          <p:cNvSpPr txBox="1"/>
          <p:nvPr/>
        </p:nvSpPr>
        <p:spPr>
          <a:xfrm>
            <a:off x="457200" y="5791200"/>
            <a:ext cx="5715000" cy="415498"/>
          </a:xfrm>
          <a:prstGeom prst="rect">
            <a:avLst/>
          </a:prstGeom>
          <a:noFill/>
        </p:spPr>
        <p:txBody>
          <a:bodyPr wrap="square" rtlCol="0">
            <a:spAutoFit/>
          </a:bodyPr>
          <a:lstStyle/>
          <a:p>
            <a:r>
              <a:rPr lang="en-US" sz="700" i="1" dirty="0">
                <a:latin typeface="Georgia" panose="02040502050405020303" pitchFamily="18" charset="0"/>
              </a:rPr>
              <a:t>Data sources: As per the internal data shared by the following departments under Government of Karnataka, as of March 2026:</a:t>
            </a:r>
          </a:p>
          <a:p>
            <a:pPr marL="93663" indent="-93663">
              <a:buFont typeface="Arial" panose="020B0604020202020204" pitchFamily="34" charset="0"/>
              <a:buChar char="•"/>
            </a:pPr>
            <a:r>
              <a:rPr lang="en-IN" sz="700" i="1" dirty="0">
                <a:latin typeface="Georgia" panose="02040502050405020303" pitchFamily="18" charset="0"/>
              </a:rPr>
              <a:t>KAPPEC – Processing infrastructure &amp; Watershed Development Department (</a:t>
            </a:r>
            <a:r>
              <a:rPr lang="en-IN" sz="700" i="1" dirty="0" err="1">
                <a:latin typeface="Georgia" panose="02040502050405020303" pitchFamily="18" charset="0"/>
              </a:rPr>
              <a:t>WDD</a:t>
            </a:r>
            <a:r>
              <a:rPr lang="en-IN" sz="700" i="1" dirty="0">
                <a:latin typeface="Georgia" panose="02040502050405020303" pitchFamily="18" charset="0"/>
              </a:rPr>
              <a:t>) FPOs</a:t>
            </a:r>
          </a:p>
          <a:p>
            <a:pPr marL="93663" indent="-93663">
              <a:buFont typeface="Arial" panose="020B0604020202020204" pitchFamily="34" charset="0"/>
              <a:buChar char="•"/>
            </a:pPr>
            <a:r>
              <a:rPr lang="en-IN" sz="700" i="1" dirty="0">
                <a:latin typeface="Georgia" panose="02040502050405020303" pitchFamily="18" charset="0"/>
              </a:rPr>
              <a:t>Directorate of Horticulture – Cold storage infrastructure, Horticulture farms/nurseries, Horticulture Department FPOs</a:t>
            </a:r>
          </a:p>
        </p:txBody>
      </p:sp>
      <p:grpSp>
        <p:nvGrpSpPr>
          <p:cNvPr id="7" name="Group 6">
            <a:extLst>
              <a:ext uri="{FF2B5EF4-FFF2-40B4-BE49-F238E27FC236}">
                <a16:creationId xmlns:a16="http://schemas.microsoft.com/office/drawing/2014/main" id="{6C24B317-88A6-251F-E54C-25D424AFB358}"/>
              </a:ext>
            </a:extLst>
          </p:cNvPr>
          <p:cNvGrpSpPr/>
          <p:nvPr/>
        </p:nvGrpSpPr>
        <p:grpSpPr>
          <a:xfrm>
            <a:off x="381000" y="4183466"/>
            <a:ext cx="11277600" cy="1553876"/>
            <a:chOff x="381000" y="4267200"/>
            <a:chExt cx="11277600" cy="1749204"/>
          </a:xfrm>
        </p:grpSpPr>
        <p:sp>
          <p:nvSpPr>
            <p:cNvPr id="59" name="Rectangle 58">
              <a:extLst>
                <a:ext uri="{FF2B5EF4-FFF2-40B4-BE49-F238E27FC236}">
                  <a16:creationId xmlns:a16="http://schemas.microsoft.com/office/drawing/2014/main" id="{0C22044F-66B7-6275-EBB8-7251A2283C59}"/>
                </a:ext>
              </a:extLst>
            </p:cNvPr>
            <p:cNvSpPr/>
            <p:nvPr/>
          </p:nvSpPr>
          <p:spPr>
            <a:xfrm>
              <a:off x="381000" y="4267200"/>
              <a:ext cx="11159467" cy="1724055"/>
            </a:xfrm>
            <a:prstGeom prst="rect">
              <a:avLst/>
            </a:prstGeom>
            <a:solidFill>
              <a:srgbClr val="EFF5FB"/>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Georgia" panose="02040502050405020303" pitchFamily="18" charset="0"/>
              </a:endParaRPr>
            </a:p>
          </p:txBody>
        </p:sp>
        <p:sp>
          <p:nvSpPr>
            <p:cNvPr id="4" name="TextBox 3">
              <a:extLst>
                <a:ext uri="{FF2B5EF4-FFF2-40B4-BE49-F238E27FC236}">
                  <a16:creationId xmlns:a16="http://schemas.microsoft.com/office/drawing/2014/main" id="{8E538F7E-A5DA-FAD5-EACD-C84CC0085868}"/>
                </a:ext>
              </a:extLst>
            </p:cNvPr>
            <p:cNvSpPr txBox="1"/>
            <p:nvPr/>
          </p:nvSpPr>
          <p:spPr>
            <a:xfrm>
              <a:off x="450021" y="4609126"/>
              <a:ext cx="11119203" cy="519698"/>
            </a:xfrm>
            <a:prstGeom prst="rect">
              <a:avLst/>
            </a:prstGeom>
            <a:noFill/>
          </p:spPr>
          <p:txBody>
            <a:bodyPr wrap="square">
              <a:spAutoFit/>
            </a:bodyPr>
            <a:lstStyle/>
            <a:p>
              <a:r>
                <a:rPr lang="en-US" sz="1200" dirty="0">
                  <a:latin typeface="Georgia" panose="02040502050405020303" pitchFamily="18" charset="0"/>
                </a:rPr>
                <a:t>Post-harvest losses in Onion, Mango, and Pineapple in Northwest- Karnataka are primarily attributed to infrastructure and handling practices. </a:t>
              </a:r>
            </a:p>
            <a:p>
              <a:r>
                <a:rPr lang="en-US" sz="1200" i="1" dirty="0">
                  <a:latin typeface="Georgia" panose="02040502050405020303" pitchFamily="18" charset="0"/>
                </a:rPr>
                <a:t>Key issues reported by various district officials include</a:t>
              </a:r>
            </a:p>
          </p:txBody>
        </p:sp>
        <p:sp>
          <p:nvSpPr>
            <p:cNvPr id="9" name="TextBox 8">
              <a:extLst>
                <a:ext uri="{FF2B5EF4-FFF2-40B4-BE49-F238E27FC236}">
                  <a16:creationId xmlns:a16="http://schemas.microsoft.com/office/drawing/2014/main" id="{43D5848F-948F-EE2C-5CD0-22F41354E2A6}"/>
                </a:ext>
              </a:extLst>
            </p:cNvPr>
            <p:cNvSpPr txBox="1"/>
            <p:nvPr/>
          </p:nvSpPr>
          <p:spPr>
            <a:xfrm>
              <a:off x="381000" y="5052536"/>
              <a:ext cx="11119203" cy="738664"/>
            </a:xfrm>
            <a:prstGeom prst="rect">
              <a:avLst/>
            </a:prstGeom>
            <a:noFill/>
          </p:spPr>
          <p:txBody>
            <a:bodyPr wrap="square">
              <a:spAutoFit/>
            </a:bodyPr>
            <a:lstStyle/>
            <a:p>
              <a:pPr marL="171450" indent="-171450">
                <a:buFont typeface="Arial" panose="020B0604020202020204" pitchFamily="34" charset="0"/>
                <a:buChar char="•"/>
              </a:pPr>
              <a:r>
                <a:rPr lang="en-US" sz="1050" i="1" dirty="0">
                  <a:solidFill>
                    <a:srgbClr val="9C3237"/>
                  </a:solidFill>
                  <a:latin typeface="Georgia" panose="02040502050405020303" pitchFamily="18" charset="0"/>
                </a:rPr>
                <a:t>Mango (Dharwad) suffer from pest and disease pressures, lack of farm-level storage facilities, and wholesale price crashes due to simultaneous large-scale output</a:t>
              </a:r>
            </a:p>
            <a:p>
              <a:pPr marL="171450" indent="-171450">
                <a:buFont typeface="Arial" panose="020B0604020202020204" pitchFamily="34" charset="0"/>
                <a:buChar char="•"/>
              </a:pPr>
              <a:r>
                <a:rPr lang="en-US" sz="1050" i="1" dirty="0">
                  <a:solidFill>
                    <a:srgbClr val="9C3237"/>
                  </a:solidFill>
                  <a:latin typeface="Georgia" panose="02040502050405020303" pitchFamily="18" charset="0"/>
                </a:rPr>
                <a:t>Onion (Dharwad) experience poor field-level grading practices, lack of affordable packaging materials, and price reduction delays by wholesalers that compound post-harvest losses and market access challenges.</a:t>
              </a:r>
            </a:p>
            <a:p>
              <a:pPr marL="171450" indent="-171450">
                <a:buFont typeface="Arial" panose="020B0604020202020204" pitchFamily="34" charset="0"/>
                <a:buChar char="•"/>
              </a:pPr>
              <a:r>
                <a:rPr lang="en-US" sz="1050" i="1" dirty="0">
                  <a:solidFill>
                    <a:srgbClr val="9C3237"/>
                  </a:solidFill>
                  <a:latin typeface="Georgia" panose="02040502050405020303" pitchFamily="18" charset="0"/>
                </a:rPr>
                <a:t>Pineapple (Uttara Kannada) face late harvesting for distant markets, substantial losses during transportation to remote locations, and inadequate logistics infrastructure.</a:t>
              </a:r>
            </a:p>
          </p:txBody>
        </p:sp>
        <p:sp>
          <p:nvSpPr>
            <p:cNvPr id="32" name="TextBox 31">
              <a:extLst>
                <a:ext uri="{FF2B5EF4-FFF2-40B4-BE49-F238E27FC236}">
                  <a16:creationId xmlns:a16="http://schemas.microsoft.com/office/drawing/2014/main" id="{20FB2B19-DA0D-1869-6F4E-012ECF3FB38F}"/>
                </a:ext>
              </a:extLst>
            </p:cNvPr>
            <p:cNvSpPr txBox="1"/>
            <p:nvPr/>
          </p:nvSpPr>
          <p:spPr>
            <a:xfrm>
              <a:off x="2208196" y="4267200"/>
              <a:ext cx="6097604" cy="338554"/>
            </a:xfrm>
            <a:prstGeom prst="rect">
              <a:avLst/>
            </a:prstGeom>
            <a:noFill/>
          </p:spPr>
          <p:txBody>
            <a:bodyPr wrap="square">
              <a:spAutoFit/>
            </a:bodyPr>
            <a:lstStyle/>
            <a:p>
              <a:pPr algn="ctr"/>
              <a:r>
                <a:rPr lang="en-US" sz="1600" b="1" dirty="0">
                  <a:latin typeface="Georgia" panose="02040502050405020303" pitchFamily="18" charset="0"/>
                </a:rPr>
                <a:t>Challenges reported</a:t>
              </a:r>
            </a:p>
          </p:txBody>
        </p:sp>
        <p:sp>
          <p:nvSpPr>
            <p:cNvPr id="36" name="TextBox 35">
              <a:extLst>
                <a:ext uri="{FF2B5EF4-FFF2-40B4-BE49-F238E27FC236}">
                  <a16:creationId xmlns:a16="http://schemas.microsoft.com/office/drawing/2014/main" id="{008EA2FE-2735-0A37-28B1-12AC3186CD42}"/>
                </a:ext>
              </a:extLst>
            </p:cNvPr>
            <p:cNvSpPr txBox="1"/>
            <p:nvPr/>
          </p:nvSpPr>
          <p:spPr>
            <a:xfrm>
              <a:off x="6799848" y="5791201"/>
              <a:ext cx="4858752" cy="225203"/>
            </a:xfrm>
            <a:prstGeom prst="rect">
              <a:avLst/>
            </a:prstGeom>
            <a:noFill/>
          </p:spPr>
          <p:txBody>
            <a:bodyPr wrap="square" rtlCol="0">
              <a:spAutoFit/>
            </a:bodyPr>
            <a:lstStyle/>
            <a:p>
              <a:r>
                <a:rPr lang="en-IN" sz="700" i="1" dirty="0">
                  <a:latin typeface="Georgia" panose="02040502050405020303" pitchFamily="18" charset="0"/>
                </a:rPr>
                <a:t>Source: As reported by district officials of Horticulture Department, Government of Karnataka, as of March 2026</a:t>
              </a:r>
            </a:p>
          </p:txBody>
        </p:sp>
      </p:grpSp>
      <p:pic>
        <p:nvPicPr>
          <p:cNvPr id="14" name="Picture 13">
            <a:extLst>
              <a:ext uri="{FF2B5EF4-FFF2-40B4-BE49-F238E27FC236}">
                <a16:creationId xmlns:a16="http://schemas.microsoft.com/office/drawing/2014/main" id="{0E6CC37D-E18A-119D-7CE8-7FF71C02EF67}"/>
              </a:ext>
            </a:extLst>
          </p:cNvPr>
          <p:cNvPicPr>
            <a:picLocks noChangeAspect="1"/>
          </p:cNvPicPr>
          <p:nvPr/>
        </p:nvPicPr>
        <p:blipFill>
          <a:blip r:embed="rId9" cstate="print">
            <a:extLst>
              <a:ext uri="{28A0092B-C50C-407E-A947-70E740481C1C}">
                <a14:useLocalDpi xmlns:a14="http://schemas.microsoft.com/office/drawing/2010/main" val="0"/>
              </a:ext>
            </a:extLst>
          </a:blip>
          <a:srcRect l="3304" t="4534" r="3955" b="9497"/>
          <a:stretch>
            <a:fillRect/>
          </a:stretch>
        </p:blipFill>
        <p:spPr>
          <a:xfrm>
            <a:off x="10820400" y="173835"/>
            <a:ext cx="1182431" cy="1122207"/>
          </a:xfrm>
          <a:prstGeom prst="rect">
            <a:avLst/>
          </a:prstGeom>
        </p:spPr>
      </p:pic>
      <p:sp>
        <p:nvSpPr>
          <p:cNvPr id="15" name="TextBox 14">
            <a:extLst>
              <a:ext uri="{FF2B5EF4-FFF2-40B4-BE49-F238E27FC236}">
                <a16:creationId xmlns:a16="http://schemas.microsoft.com/office/drawing/2014/main" id="{CC5846F7-905F-1F26-EC7A-107A707F42BA}"/>
              </a:ext>
            </a:extLst>
          </p:cNvPr>
          <p:cNvSpPr txBox="1"/>
          <p:nvPr/>
        </p:nvSpPr>
        <p:spPr>
          <a:xfrm>
            <a:off x="1749858" y="1066800"/>
            <a:ext cx="1576398" cy="338554"/>
          </a:xfrm>
          <a:prstGeom prst="rect">
            <a:avLst/>
          </a:prstGeom>
          <a:noFill/>
        </p:spPr>
        <p:txBody>
          <a:bodyPr wrap="square">
            <a:spAutoFit/>
          </a:bodyPr>
          <a:lstStyle/>
          <a:p>
            <a:pPr algn="ctr"/>
            <a:r>
              <a:rPr lang="en-US" sz="1600" b="1" dirty="0">
                <a:latin typeface="Georgia" panose="02040502050405020303" pitchFamily="18" charset="0"/>
              </a:rPr>
              <a:t>Production</a:t>
            </a:r>
          </a:p>
        </p:txBody>
      </p:sp>
      <p:sp>
        <p:nvSpPr>
          <p:cNvPr id="17" name="TextBox 16">
            <a:extLst>
              <a:ext uri="{FF2B5EF4-FFF2-40B4-BE49-F238E27FC236}">
                <a16:creationId xmlns:a16="http://schemas.microsoft.com/office/drawing/2014/main" id="{37BCB6EA-3C68-1D41-94E8-8EE8F6FA23B5}"/>
              </a:ext>
            </a:extLst>
          </p:cNvPr>
          <p:cNvSpPr txBox="1"/>
          <p:nvPr/>
        </p:nvSpPr>
        <p:spPr>
          <a:xfrm>
            <a:off x="6244491" y="1033046"/>
            <a:ext cx="3583805" cy="338554"/>
          </a:xfrm>
          <a:prstGeom prst="rect">
            <a:avLst/>
          </a:prstGeom>
          <a:noFill/>
        </p:spPr>
        <p:txBody>
          <a:bodyPr wrap="square">
            <a:spAutoFit/>
          </a:bodyPr>
          <a:lstStyle/>
          <a:p>
            <a:pPr algn="ctr"/>
            <a:r>
              <a:rPr lang="en-US" sz="1600" b="1" dirty="0">
                <a:latin typeface="Georgia" panose="02040502050405020303" pitchFamily="18" charset="0"/>
              </a:rPr>
              <a:t>Existing Ecosystem</a:t>
            </a:r>
          </a:p>
        </p:txBody>
      </p:sp>
      <p:pic>
        <p:nvPicPr>
          <p:cNvPr id="3" name="Picture 2">
            <a:extLst>
              <a:ext uri="{FF2B5EF4-FFF2-40B4-BE49-F238E27FC236}">
                <a16:creationId xmlns:a16="http://schemas.microsoft.com/office/drawing/2014/main" id="{3018E554-D837-97E4-CFFC-D8933D2650A1}"/>
              </a:ext>
            </a:extLst>
          </p:cNvPr>
          <p:cNvPicPr>
            <a:picLocks noChangeAspect="1"/>
          </p:cNvPicPr>
          <p:nvPr/>
        </p:nvPicPr>
        <p:blipFill>
          <a:blip r:embed="rId10">
            <a:extLst>
              <a:ext uri="{28A0092B-C50C-407E-A947-70E740481C1C}">
                <a14:useLocalDpi xmlns:a14="http://schemas.microsoft.com/office/drawing/2010/main" val="0"/>
              </a:ext>
            </a:extLst>
          </a:blip>
          <a:srcRect t="7218"/>
          <a:stretch>
            <a:fillRect/>
          </a:stretch>
        </p:blipFill>
        <p:spPr>
          <a:xfrm>
            <a:off x="1163170" y="6204774"/>
            <a:ext cx="9068600" cy="681785"/>
          </a:xfrm>
          <a:prstGeom prst="rect">
            <a:avLst/>
          </a:prstGeom>
        </p:spPr>
      </p:pic>
      <p:sp>
        <p:nvSpPr>
          <p:cNvPr id="22" name="Rectangle 21">
            <a:extLst>
              <a:ext uri="{FF2B5EF4-FFF2-40B4-BE49-F238E27FC236}">
                <a16:creationId xmlns:a16="http://schemas.microsoft.com/office/drawing/2014/main" id="{A61F0505-3E66-BEDF-E7D0-AACAB241DFC9}"/>
              </a:ext>
            </a:extLst>
          </p:cNvPr>
          <p:cNvSpPr/>
          <p:nvPr/>
        </p:nvSpPr>
        <p:spPr>
          <a:xfrm>
            <a:off x="-109459" y="6211274"/>
            <a:ext cx="2317655" cy="563588"/>
          </a:xfrm>
          <a:prstGeom prst="rect">
            <a:avLst/>
          </a:prstGeom>
          <a:solidFill>
            <a:srgbClr val="EEECE1"/>
          </a:solidFill>
          <a:ln>
            <a:solidFill>
              <a:srgbClr val="EEEC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6E828D8-AF0C-F0D1-7946-A19B9E9D5F63}"/>
              </a:ext>
            </a:extLst>
          </p:cNvPr>
          <p:cNvSpPr/>
          <p:nvPr/>
        </p:nvSpPr>
        <p:spPr>
          <a:xfrm>
            <a:off x="10134600" y="6211274"/>
            <a:ext cx="2317655" cy="563588"/>
          </a:xfrm>
          <a:prstGeom prst="rect">
            <a:avLst/>
          </a:prstGeom>
          <a:solidFill>
            <a:srgbClr val="EEECE1"/>
          </a:solidFill>
          <a:ln>
            <a:solidFill>
              <a:srgbClr val="EEEC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155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60F26-91F5-E928-D407-73F4030E1B14}"/>
            </a:ext>
          </a:extLst>
        </p:cNvPr>
        <p:cNvGrpSpPr/>
        <p:nvPr/>
      </p:nvGrpSpPr>
      <p:grpSpPr>
        <a:xfrm>
          <a:off x="0" y="0"/>
          <a:ext cx="0" cy="0"/>
          <a:chOff x="0" y="0"/>
          <a:chExt cx="0" cy="0"/>
        </a:xfrm>
      </p:grpSpPr>
      <p:cxnSp>
        <p:nvCxnSpPr>
          <p:cNvPr id="62" name="Straight Connector 61">
            <a:extLst>
              <a:ext uri="{FF2B5EF4-FFF2-40B4-BE49-F238E27FC236}">
                <a16:creationId xmlns:a16="http://schemas.microsoft.com/office/drawing/2014/main" id="{3CB873E7-C24D-8E95-B188-80B76589E2F0}"/>
              </a:ext>
            </a:extLst>
          </p:cNvPr>
          <p:cNvCxnSpPr>
            <a:cxnSpLocks/>
          </p:cNvCxnSpPr>
          <p:nvPr/>
        </p:nvCxnSpPr>
        <p:spPr>
          <a:xfrm>
            <a:off x="4572000" y="1060470"/>
            <a:ext cx="0" cy="2978130"/>
          </a:xfrm>
          <a:prstGeom prst="line">
            <a:avLst/>
          </a:prstGeom>
          <a:ln>
            <a:solidFill>
              <a:srgbClr val="A9ABAE"/>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96FEAED4-7A6F-FFA4-3320-39C4B95BB00F}"/>
              </a:ext>
            </a:extLst>
          </p:cNvPr>
          <p:cNvSpPr>
            <a:spLocks noGrp="1"/>
          </p:cNvSpPr>
          <p:nvPr>
            <p:ph type="title"/>
          </p:nvPr>
        </p:nvSpPr>
        <p:spPr>
          <a:xfrm>
            <a:off x="600352" y="407313"/>
            <a:ext cx="10561116" cy="430887"/>
          </a:xfrm>
        </p:spPr>
        <p:txBody>
          <a:bodyPr/>
          <a:lstStyle/>
          <a:p>
            <a:r>
              <a:rPr lang="en-US" sz="1800" dirty="0">
                <a:solidFill>
                  <a:srgbClr val="E8A33D"/>
                </a:solidFill>
                <a:latin typeface="Georgia" panose="02040502050405020303" pitchFamily="18" charset="0"/>
              </a:rPr>
              <a:t>Western Ghats Banana-Pineapple cluster</a:t>
            </a:r>
            <a:br>
              <a:rPr lang="en-US" sz="2400" dirty="0">
                <a:solidFill>
                  <a:srgbClr val="E8A33D"/>
                </a:solidFill>
                <a:latin typeface="Georgia" panose="02040502050405020303" pitchFamily="18" charset="0"/>
              </a:rPr>
            </a:br>
            <a:r>
              <a:rPr lang="en-US" sz="1000" i="1" dirty="0">
                <a:solidFill>
                  <a:schemeClr val="bg1"/>
                </a:solidFill>
                <a:latin typeface="Georgia" panose="02040502050405020303" pitchFamily="18" charset="0"/>
              </a:rPr>
              <a:t>(Shivamogga, Chikkamagaluru, Kodagu, Dakshina Kannada, Udupi)</a:t>
            </a:r>
            <a:endParaRPr lang="en-IN" sz="1000" i="1" dirty="0">
              <a:solidFill>
                <a:schemeClr val="bg1"/>
              </a:solidFill>
              <a:latin typeface="Georgia" panose="02040502050405020303" pitchFamily="18" charset="0"/>
            </a:endParaRPr>
          </a:p>
        </p:txBody>
      </p:sp>
      <p:graphicFrame>
        <p:nvGraphicFramePr>
          <p:cNvPr id="14" name="Chart 13">
            <a:extLst>
              <a:ext uri="{FF2B5EF4-FFF2-40B4-BE49-F238E27FC236}">
                <a16:creationId xmlns:a16="http://schemas.microsoft.com/office/drawing/2014/main" id="{6DABF59E-E703-069E-B841-25A5996E6FF6}"/>
              </a:ext>
            </a:extLst>
          </p:cNvPr>
          <p:cNvGraphicFramePr>
            <a:graphicFrameLocks/>
          </p:cNvGraphicFramePr>
          <p:nvPr>
            <p:extLst>
              <p:ext uri="{D42A27DB-BD31-4B8C-83A1-F6EECF244321}">
                <p14:modId xmlns:p14="http://schemas.microsoft.com/office/powerpoint/2010/main" val="1095547082"/>
              </p:ext>
            </p:extLst>
          </p:nvPr>
        </p:nvGraphicFramePr>
        <p:xfrm>
          <a:off x="404290" y="2231399"/>
          <a:ext cx="4167489" cy="1369416"/>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DA5E9FAA-206A-B196-B8A8-4AE8C886C1F5}"/>
              </a:ext>
            </a:extLst>
          </p:cNvPr>
          <p:cNvSpPr txBox="1"/>
          <p:nvPr/>
        </p:nvSpPr>
        <p:spPr>
          <a:xfrm>
            <a:off x="497966" y="-152400"/>
            <a:ext cx="10474833" cy="579069"/>
          </a:xfrm>
          <a:prstGeom prst="rect">
            <a:avLst/>
          </a:prstGeom>
          <a:noFill/>
        </p:spPr>
        <p:txBody>
          <a:bodyPr wrap="square">
            <a:spAutoFit/>
          </a:bodyPr>
          <a:lstStyle/>
          <a:p>
            <a:pPr>
              <a:lnSpc>
                <a:spcPct val="150000"/>
              </a:lnSpc>
              <a:spcAft>
                <a:spcPts val="800"/>
              </a:spcAft>
            </a:pPr>
            <a:r>
              <a:rPr lang="en-IN" sz="2400" b="1" i="1" dirty="0">
                <a:solidFill>
                  <a:schemeClr val="bg1"/>
                </a:solidFill>
                <a:latin typeface="Georgia" panose="02040502050405020303" pitchFamily="18" charset="0"/>
              </a:rPr>
              <a:t>Challenge category 1: Post-harvest value chain solutions</a:t>
            </a:r>
          </a:p>
        </p:txBody>
      </p:sp>
      <p:sp>
        <p:nvSpPr>
          <p:cNvPr id="2" name="TextBox 1">
            <a:extLst>
              <a:ext uri="{FF2B5EF4-FFF2-40B4-BE49-F238E27FC236}">
                <a16:creationId xmlns:a16="http://schemas.microsoft.com/office/drawing/2014/main" id="{718745C1-E635-2714-24E3-CDEBFC4B7120}"/>
              </a:ext>
            </a:extLst>
          </p:cNvPr>
          <p:cNvSpPr txBox="1"/>
          <p:nvPr/>
        </p:nvSpPr>
        <p:spPr>
          <a:xfrm>
            <a:off x="421526" y="1476323"/>
            <a:ext cx="4154412" cy="830997"/>
          </a:xfrm>
          <a:prstGeom prst="rect">
            <a:avLst/>
          </a:prstGeom>
          <a:noFill/>
        </p:spPr>
        <p:txBody>
          <a:bodyPr wrap="square">
            <a:spAutoFit/>
          </a:bodyPr>
          <a:lstStyle/>
          <a:p>
            <a:pPr>
              <a:buNone/>
            </a:pPr>
            <a:r>
              <a:rPr lang="en-US" sz="1200" b="1" dirty="0">
                <a:solidFill>
                  <a:srgbClr val="9C3237"/>
                </a:solidFill>
                <a:latin typeface="Georgia" panose="02040502050405020303" pitchFamily="18" charset="0"/>
              </a:rPr>
              <a:t>Out of the total fruits &amp; vegetables production of 0.6 million MT in this cluster, the seven crop-specific production accounted for approximately 67.8%.</a:t>
            </a:r>
          </a:p>
        </p:txBody>
      </p:sp>
      <p:grpSp>
        <p:nvGrpSpPr>
          <p:cNvPr id="18" name="Group 17">
            <a:extLst>
              <a:ext uri="{FF2B5EF4-FFF2-40B4-BE49-F238E27FC236}">
                <a16:creationId xmlns:a16="http://schemas.microsoft.com/office/drawing/2014/main" id="{24D7B261-0ADE-FBCC-9399-9DBFAC9BED26}"/>
              </a:ext>
            </a:extLst>
          </p:cNvPr>
          <p:cNvGrpSpPr/>
          <p:nvPr/>
        </p:nvGrpSpPr>
        <p:grpSpPr>
          <a:xfrm>
            <a:off x="4724400" y="1219200"/>
            <a:ext cx="7262860" cy="2766060"/>
            <a:chOff x="4761330" y="1600200"/>
            <a:chExt cx="7262860" cy="2514600"/>
          </a:xfrm>
        </p:grpSpPr>
        <p:pic>
          <p:nvPicPr>
            <p:cNvPr id="48" name="Graphic 47" descr="Thermometer with solid fill">
              <a:extLst>
                <a:ext uri="{FF2B5EF4-FFF2-40B4-BE49-F238E27FC236}">
                  <a16:creationId xmlns:a16="http://schemas.microsoft.com/office/drawing/2014/main" id="{3AB5FDF7-FA8C-6320-CCF2-A6C54A437A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61330" y="2018138"/>
              <a:ext cx="420262" cy="420262"/>
            </a:xfrm>
            <a:prstGeom prst="rect">
              <a:avLst/>
            </a:prstGeom>
          </p:spPr>
        </p:pic>
        <p:pic>
          <p:nvPicPr>
            <p:cNvPr id="51" name="Graphic 50" descr="Warehouse with solid fill">
              <a:extLst>
                <a:ext uri="{FF2B5EF4-FFF2-40B4-BE49-F238E27FC236}">
                  <a16:creationId xmlns:a16="http://schemas.microsoft.com/office/drawing/2014/main" id="{DF0ED000-0171-19B5-4B85-B8B8681AAA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6648" y="1600200"/>
              <a:ext cx="349627" cy="349627"/>
            </a:xfrm>
            <a:prstGeom prst="rect">
              <a:avLst/>
            </a:prstGeom>
          </p:spPr>
        </p:pic>
        <p:pic>
          <p:nvPicPr>
            <p:cNvPr id="10" name="Graphic 9" descr="Schoolhouse outline">
              <a:extLst>
                <a:ext uri="{FF2B5EF4-FFF2-40B4-BE49-F238E27FC236}">
                  <a16:creationId xmlns:a16="http://schemas.microsoft.com/office/drawing/2014/main" id="{5A1D85E8-A9F8-4FCE-1576-243ACCD0912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81058" y="2815205"/>
              <a:ext cx="418299" cy="418299"/>
            </a:xfrm>
            <a:prstGeom prst="rect">
              <a:avLst/>
            </a:prstGeom>
          </p:spPr>
        </p:pic>
        <p:sp>
          <p:nvSpPr>
            <p:cNvPr id="7" name="TextBox 6">
              <a:extLst>
                <a:ext uri="{FF2B5EF4-FFF2-40B4-BE49-F238E27FC236}">
                  <a16:creationId xmlns:a16="http://schemas.microsoft.com/office/drawing/2014/main" id="{CA30316C-5CAC-1139-332D-8E2798DE9FF7}"/>
                </a:ext>
              </a:extLst>
            </p:cNvPr>
            <p:cNvSpPr txBox="1"/>
            <p:nvPr/>
          </p:nvSpPr>
          <p:spPr>
            <a:xfrm>
              <a:off x="5146275" y="1663941"/>
              <a:ext cx="6100762" cy="276999"/>
            </a:xfrm>
            <a:prstGeom prst="rect">
              <a:avLst/>
            </a:prstGeom>
            <a:noFill/>
          </p:spPr>
          <p:txBody>
            <a:bodyPr wrap="square">
              <a:spAutoFit/>
            </a:bodyPr>
            <a:lstStyle/>
            <a:p>
              <a:r>
                <a:rPr lang="en-US" sz="1200" dirty="0">
                  <a:latin typeface="Georgia" panose="02040502050405020303" pitchFamily="18" charset="0"/>
                </a:rPr>
                <a:t>Cold storage units with 4917 MT capacity exist for Pineapple, Banana, and Mango.</a:t>
              </a:r>
              <a:endParaRPr lang="en-US" sz="1200" dirty="0"/>
            </a:p>
          </p:txBody>
        </p:sp>
        <p:sp>
          <p:nvSpPr>
            <p:cNvPr id="13" name="TextBox 12">
              <a:extLst>
                <a:ext uri="{FF2B5EF4-FFF2-40B4-BE49-F238E27FC236}">
                  <a16:creationId xmlns:a16="http://schemas.microsoft.com/office/drawing/2014/main" id="{E6AD286B-C04F-BFAB-E4E4-4593E1E8DCA0}"/>
                </a:ext>
              </a:extLst>
            </p:cNvPr>
            <p:cNvSpPr txBox="1"/>
            <p:nvPr/>
          </p:nvSpPr>
          <p:spPr>
            <a:xfrm>
              <a:off x="5146274" y="1957304"/>
              <a:ext cx="6817125" cy="461665"/>
            </a:xfrm>
            <a:prstGeom prst="rect">
              <a:avLst/>
            </a:prstGeom>
            <a:noFill/>
          </p:spPr>
          <p:txBody>
            <a:bodyPr wrap="square">
              <a:spAutoFit/>
            </a:bodyPr>
            <a:lstStyle/>
            <a:p>
              <a:r>
                <a:rPr lang="en-US" sz="1200" dirty="0">
                  <a:latin typeface="Georgia" panose="02040502050405020303" pitchFamily="18" charset="0"/>
                </a:rPr>
                <a:t>Cold storage units with 12,230 MT capacity available for Banana, Jackfruit, Mango, and Pineapple, with upcoming Shivamogga unit (4000 MT).</a:t>
              </a:r>
              <a:endParaRPr lang="en-US" sz="1200" dirty="0"/>
            </a:p>
          </p:txBody>
        </p:sp>
        <p:pic>
          <p:nvPicPr>
            <p:cNvPr id="17" name="Graphic 16" descr="Map with pin with solid fill">
              <a:extLst>
                <a:ext uri="{FF2B5EF4-FFF2-40B4-BE49-F238E27FC236}">
                  <a16:creationId xmlns:a16="http://schemas.microsoft.com/office/drawing/2014/main" id="{5278731D-FF95-3A91-4DE8-39435D7DF13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18912" y="2415360"/>
              <a:ext cx="391979" cy="391979"/>
            </a:xfrm>
            <a:prstGeom prst="rect">
              <a:avLst/>
            </a:prstGeom>
          </p:spPr>
        </p:pic>
        <p:sp>
          <p:nvSpPr>
            <p:cNvPr id="21" name="TextBox 20">
              <a:extLst>
                <a:ext uri="{FF2B5EF4-FFF2-40B4-BE49-F238E27FC236}">
                  <a16:creationId xmlns:a16="http://schemas.microsoft.com/office/drawing/2014/main" id="{35F49544-730C-78B1-5F52-CA0124E96257}"/>
                </a:ext>
              </a:extLst>
            </p:cNvPr>
            <p:cNvSpPr txBox="1"/>
            <p:nvPr/>
          </p:nvSpPr>
          <p:spPr>
            <a:xfrm>
              <a:off x="5173509" y="2357735"/>
              <a:ext cx="6100762" cy="461665"/>
            </a:xfrm>
            <a:prstGeom prst="rect">
              <a:avLst/>
            </a:prstGeom>
            <a:noFill/>
          </p:spPr>
          <p:txBody>
            <a:bodyPr wrap="square">
              <a:spAutoFit/>
            </a:bodyPr>
            <a:lstStyle/>
            <a:p>
              <a:r>
                <a:rPr lang="en-US" sz="1200" dirty="0">
                  <a:latin typeface="Georgia" panose="02040502050405020303" pitchFamily="18" charset="0"/>
                </a:rPr>
                <a:t>1 processing infrastructure unit 1073 MT/yr capacity for crop-specific and 1200 MT/yr capacity for all crops like Pineapple, Banana, Mango, and Jackfruit.</a:t>
              </a:r>
              <a:endParaRPr lang="en-US" sz="1200" dirty="0"/>
            </a:p>
          </p:txBody>
        </p:sp>
        <p:sp>
          <p:nvSpPr>
            <p:cNvPr id="27" name="TextBox 26">
              <a:extLst>
                <a:ext uri="{FF2B5EF4-FFF2-40B4-BE49-F238E27FC236}">
                  <a16:creationId xmlns:a16="http://schemas.microsoft.com/office/drawing/2014/main" id="{3091DFAB-C062-4408-786B-37C4A87A2153}"/>
                </a:ext>
              </a:extLst>
            </p:cNvPr>
            <p:cNvSpPr txBox="1"/>
            <p:nvPr/>
          </p:nvSpPr>
          <p:spPr>
            <a:xfrm>
              <a:off x="5207068" y="2814935"/>
              <a:ext cx="6143624" cy="461665"/>
            </a:xfrm>
            <a:prstGeom prst="rect">
              <a:avLst/>
            </a:prstGeom>
            <a:noFill/>
          </p:spPr>
          <p:txBody>
            <a:bodyPr wrap="square">
              <a:spAutoFit/>
            </a:bodyPr>
            <a:lstStyle/>
            <a:p>
              <a:r>
                <a:rPr lang="en-US" sz="1200" dirty="0">
                  <a:latin typeface="Georgia" panose="02040502050405020303" pitchFamily="18" charset="0"/>
                </a:rPr>
                <a:t>7 seed production centers (86 hectares) and 56 horticulture farms (1,732 acres) with training centers in Shivamogga, </a:t>
              </a:r>
              <a:r>
                <a:rPr lang="en-US" sz="1200" dirty="0" err="1">
                  <a:latin typeface="Georgia" panose="02040502050405020303" pitchFamily="18" charset="0"/>
                </a:rPr>
                <a:t>Chikkamagaluru</a:t>
              </a:r>
              <a:r>
                <a:rPr lang="en-US" sz="1200" dirty="0">
                  <a:latin typeface="Georgia" panose="02040502050405020303" pitchFamily="18" charset="0"/>
                </a:rPr>
                <a:t>, and Kodagu.</a:t>
              </a:r>
              <a:endParaRPr lang="en-US" sz="1200" dirty="0"/>
            </a:p>
          </p:txBody>
        </p:sp>
        <p:grpSp>
          <p:nvGrpSpPr>
            <p:cNvPr id="15" name="Group 14">
              <a:extLst>
                <a:ext uri="{FF2B5EF4-FFF2-40B4-BE49-F238E27FC236}">
                  <a16:creationId xmlns:a16="http://schemas.microsoft.com/office/drawing/2014/main" id="{88EE8F40-1F06-6FB3-51B5-30DE875758D8}"/>
                </a:ext>
              </a:extLst>
            </p:cNvPr>
            <p:cNvGrpSpPr/>
            <p:nvPr/>
          </p:nvGrpSpPr>
          <p:grpSpPr>
            <a:xfrm>
              <a:off x="4773348" y="3260339"/>
              <a:ext cx="7250842" cy="854461"/>
              <a:chOff x="4773348" y="3039859"/>
              <a:chExt cx="7250842" cy="854461"/>
            </a:xfrm>
          </p:grpSpPr>
          <p:sp>
            <p:nvSpPr>
              <p:cNvPr id="44" name="TextBox 43">
                <a:extLst>
                  <a:ext uri="{FF2B5EF4-FFF2-40B4-BE49-F238E27FC236}">
                    <a16:creationId xmlns:a16="http://schemas.microsoft.com/office/drawing/2014/main" id="{818965CA-F949-4962-2C3B-B123933E9AB6}"/>
                  </a:ext>
                </a:extLst>
              </p:cNvPr>
              <p:cNvSpPr txBox="1">
                <a:spLocks/>
              </p:cNvSpPr>
              <p:nvPr/>
            </p:nvSpPr>
            <p:spPr>
              <a:xfrm>
                <a:off x="5169139" y="3432655"/>
                <a:ext cx="6741727" cy="461665"/>
              </a:xfrm>
              <a:prstGeom prst="rect">
                <a:avLst/>
              </a:prstGeom>
              <a:noFill/>
            </p:spPr>
            <p:txBody>
              <a:bodyPr wrap="square">
                <a:spAutoFit/>
              </a:bodyPr>
              <a:lstStyle/>
              <a:p>
                <a:r>
                  <a:rPr lang="en-US" sz="1200" dirty="0">
                    <a:latin typeface="Georgia" panose="02040502050405020303" pitchFamily="18" charset="0"/>
                  </a:rPr>
                  <a:t>FPOs supported by the Horticulture Department recorded ₹6.07 crores worth transactions for FY 23-24 for Pineapple and Pomegranate.</a:t>
                </a:r>
                <a:endParaRPr lang="en-IN" sz="1200" dirty="0">
                  <a:latin typeface="Georgia" panose="02040502050405020303" pitchFamily="18" charset="0"/>
                </a:endParaRPr>
              </a:p>
            </p:txBody>
          </p:sp>
          <p:pic>
            <p:nvPicPr>
              <p:cNvPr id="20" name="Graphic 19" descr="Users with solid fill">
                <a:extLst>
                  <a:ext uri="{FF2B5EF4-FFF2-40B4-BE49-F238E27FC236}">
                    <a16:creationId xmlns:a16="http://schemas.microsoft.com/office/drawing/2014/main" id="{E51B06A1-7D2E-3393-6562-199AF0D043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73348" y="3039859"/>
                <a:ext cx="464317" cy="464317"/>
              </a:xfrm>
              <a:prstGeom prst="rect">
                <a:avLst/>
              </a:prstGeom>
            </p:spPr>
          </p:pic>
          <p:pic>
            <p:nvPicPr>
              <p:cNvPr id="23" name="Graphic 22" descr="Rupee with solid fill">
                <a:extLst>
                  <a:ext uri="{FF2B5EF4-FFF2-40B4-BE49-F238E27FC236}">
                    <a16:creationId xmlns:a16="http://schemas.microsoft.com/office/drawing/2014/main" id="{A9FCA045-01C1-2B3C-A800-94E308F5E7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48140" y="3513693"/>
                <a:ext cx="286606" cy="286606"/>
              </a:xfrm>
              <a:prstGeom prst="rect">
                <a:avLst/>
              </a:prstGeom>
            </p:spPr>
          </p:pic>
          <p:sp>
            <p:nvSpPr>
              <p:cNvPr id="30" name="TextBox 29">
                <a:extLst>
                  <a:ext uri="{FF2B5EF4-FFF2-40B4-BE49-F238E27FC236}">
                    <a16:creationId xmlns:a16="http://schemas.microsoft.com/office/drawing/2014/main" id="{358155AB-F13B-7815-DB49-FA4EE4695D80}"/>
                  </a:ext>
                </a:extLst>
              </p:cNvPr>
              <p:cNvSpPr txBox="1"/>
              <p:nvPr/>
            </p:nvSpPr>
            <p:spPr>
              <a:xfrm>
                <a:off x="5207067" y="3051655"/>
                <a:ext cx="6817123" cy="461665"/>
              </a:xfrm>
              <a:prstGeom prst="rect">
                <a:avLst/>
              </a:prstGeom>
              <a:noFill/>
            </p:spPr>
            <p:txBody>
              <a:bodyPr wrap="square">
                <a:spAutoFit/>
              </a:bodyPr>
              <a:lstStyle/>
              <a:p>
                <a:r>
                  <a:rPr lang="en-US" sz="1200" dirty="0">
                    <a:latin typeface="Georgia" panose="02040502050405020303" pitchFamily="18" charset="0"/>
                  </a:rPr>
                  <a:t>25 WDD FPOs recorded ₹22 Cr transactions in FY 23-24, focusing on Banana, Pineapple, and Tomato etc.</a:t>
                </a:r>
                <a:endParaRPr lang="en-US" sz="1200" dirty="0"/>
              </a:p>
            </p:txBody>
          </p:sp>
        </p:grpSp>
      </p:grpSp>
      <p:sp>
        <p:nvSpPr>
          <p:cNvPr id="32" name="TextBox 31">
            <a:extLst>
              <a:ext uri="{FF2B5EF4-FFF2-40B4-BE49-F238E27FC236}">
                <a16:creationId xmlns:a16="http://schemas.microsoft.com/office/drawing/2014/main" id="{DDCBD0F1-891A-8BC5-5D42-9EECFD8CD9B0}"/>
              </a:ext>
            </a:extLst>
          </p:cNvPr>
          <p:cNvSpPr txBox="1"/>
          <p:nvPr/>
        </p:nvSpPr>
        <p:spPr>
          <a:xfrm>
            <a:off x="533400" y="5756702"/>
            <a:ext cx="5715000" cy="415498"/>
          </a:xfrm>
          <a:prstGeom prst="rect">
            <a:avLst/>
          </a:prstGeom>
          <a:noFill/>
        </p:spPr>
        <p:txBody>
          <a:bodyPr wrap="square" rtlCol="0">
            <a:spAutoFit/>
          </a:bodyPr>
          <a:lstStyle/>
          <a:p>
            <a:r>
              <a:rPr lang="en-US" sz="700" i="1" dirty="0">
                <a:latin typeface="Georgia" panose="02040502050405020303" pitchFamily="18" charset="0"/>
              </a:rPr>
              <a:t>Data sources: As per the internal data shared by the following departments under Government of Karnataka, as of March 2026:</a:t>
            </a:r>
          </a:p>
          <a:p>
            <a:pPr marL="93663" indent="-93663">
              <a:buFont typeface="Arial" panose="020B0604020202020204" pitchFamily="34" charset="0"/>
              <a:buChar char="•"/>
            </a:pPr>
            <a:r>
              <a:rPr lang="en-IN" sz="700" i="1" dirty="0">
                <a:latin typeface="Georgia" panose="02040502050405020303" pitchFamily="18" charset="0"/>
              </a:rPr>
              <a:t>KAPPEC – Processing infrastructure &amp; Watershed Development Department (</a:t>
            </a:r>
            <a:r>
              <a:rPr lang="en-IN" sz="700" i="1" dirty="0" err="1">
                <a:latin typeface="Georgia" panose="02040502050405020303" pitchFamily="18" charset="0"/>
              </a:rPr>
              <a:t>WDD</a:t>
            </a:r>
            <a:r>
              <a:rPr lang="en-IN" sz="700" i="1" dirty="0">
                <a:latin typeface="Georgia" panose="02040502050405020303" pitchFamily="18" charset="0"/>
              </a:rPr>
              <a:t>) FPOs</a:t>
            </a:r>
          </a:p>
          <a:p>
            <a:pPr marL="93663" indent="-93663">
              <a:buFont typeface="Arial" panose="020B0604020202020204" pitchFamily="34" charset="0"/>
              <a:buChar char="•"/>
            </a:pPr>
            <a:r>
              <a:rPr lang="en-IN" sz="700" i="1" dirty="0">
                <a:latin typeface="Georgia" panose="02040502050405020303" pitchFamily="18" charset="0"/>
              </a:rPr>
              <a:t>Directorate of Horticulture – Cold storage infrastructure, Horticulture farms/nurseries, Horticulture Department FPOs</a:t>
            </a:r>
          </a:p>
        </p:txBody>
      </p:sp>
      <p:grpSp>
        <p:nvGrpSpPr>
          <p:cNvPr id="8" name="Group 7">
            <a:extLst>
              <a:ext uri="{FF2B5EF4-FFF2-40B4-BE49-F238E27FC236}">
                <a16:creationId xmlns:a16="http://schemas.microsoft.com/office/drawing/2014/main" id="{FB62A18B-556A-6813-AF45-710570A7AD5E}"/>
              </a:ext>
            </a:extLst>
          </p:cNvPr>
          <p:cNvGrpSpPr/>
          <p:nvPr/>
        </p:nvGrpSpPr>
        <p:grpSpPr>
          <a:xfrm>
            <a:off x="580703" y="4146558"/>
            <a:ext cx="11311113" cy="1568442"/>
            <a:chOff x="580703" y="3810000"/>
            <a:chExt cx="11311113" cy="1568442"/>
          </a:xfrm>
        </p:grpSpPr>
        <p:sp>
          <p:nvSpPr>
            <p:cNvPr id="59" name="Rectangle 58">
              <a:extLst>
                <a:ext uri="{FF2B5EF4-FFF2-40B4-BE49-F238E27FC236}">
                  <a16:creationId xmlns:a16="http://schemas.microsoft.com/office/drawing/2014/main" id="{58CF1C89-BE42-E7DC-988E-D68AE995DDCB}"/>
                </a:ext>
              </a:extLst>
            </p:cNvPr>
            <p:cNvSpPr/>
            <p:nvPr/>
          </p:nvSpPr>
          <p:spPr>
            <a:xfrm>
              <a:off x="600352" y="3839376"/>
              <a:ext cx="11134448" cy="1539066"/>
            </a:xfrm>
            <a:prstGeom prst="rect">
              <a:avLst/>
            </a:prstGeom>
            <a:solidFill>
              <a:srgbClr val="EFF5FB"/>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Georgia" panose="02040502050405020303" pitchFamily="18" charset="0"/>
              </a:endParaRPr>
            </a:p>
          </p:txBody>
        </p:sp>
        <p:sp>
          <p:nvSpPr>
            <p:cNvPr id="4" name="TextBox 3">
              <a:extLst>
                <a:ext uri="{FF2B5EF4-FFF2-40B4-BE49-F238E27FC236}">
                  <a16:creationId xmlns:a16="http://schemas.microsoft.com/office/drawing/2014/main" id="{618D06C4-0A79-5C09-F0CF-21DD86BF4291}"/>
                </a:ext>
              </a:extLst>
            </p:cNvPr>
            <p:cNvSpPr txBox="1"/>
            <p:nvPr/>
          </p:nvSpPr>
          <p:spPr>
            <a:xfrm>
              <a:off x="635258" y="4191000"/>
              <a:ext cx="11099542" cy="461665"/>
            </a:xfrm>
            <a:prstGeom prst="rect">
              <a:avLst/>
            </a:prstGeom>
            <a:noFill/>
          </p:spPr>
          <p:txBody>
            <a:bodyPr wrap="square">
              <a:spAutoFit/>
            </a:bodyPr>
            <a:lstStyle/>
            <a:p>
              <a:r>
                <a:rPr lang="en-US" sz="1200" dirty="0">
                  <a:latin typeface="Georgia" panose="02040502050405020303" pitchFamily="18" charset="0"/>
                </a:rPr>
                <a:t>Post-harvest losses in Onion, Banana, and Pineapple in Western Ghats are primarily attributed to infrastructure and handling practices. </a:t>
              </a:r>
            </a:p>
            <a:p>
              <a:r>
                <a:rPr lang="en-US" sz="1200" i="1" dirty="0">
                  <a:latin typeface="Georgia" panose="02040502050405020303" pitchFamily="18" charset="0"/>
                </a:rPr>
                <a:t>Key issues reported by various district officials include</a:t>
              </a:r>
            </a:p>
          </p:txBody>
        </p:sp>
        <p:sp>
          <p:nvSpPr>
            <p:cNvPr id="9" name="TextBox 8">
              <a:extLst>
                <a:ext uri="{FF2B5EF4-FFF2-40B4-BE49-F238E27FC236}">
                  <a16:creationId xmlns:a16="http://schemas.microsoft.com/office/drawing/2014/main" id="{38F77823-156F-7F8D-E6FF-D3B567E64856}"/>
                </a:ext>
              </a:extLst>
            </p:cNvPr>
            <p:cNvSpPr txBox="1"/>
            <p:nvPr/>
          </p:nvSpPr>
          <p:spPr>
            <a:xfrm>
              <a:off x="580703" y="4627602"/>
              <a:ext cx="11099542" cy="577081"/>
            </a:xfrm>
            <a:prstGeom prst="rect">
              <a:avLst/>
            </a:prstGeom>
            <a:noFill/>
          </p:spPr>
          <p:txBody>
            <a:bodyPr wrap="square">
              <a:spAutoFit/>
            </a:bodyPr>
            <a:lstStyle/>
            <a:p>
              <a:pPr marL="171450" indent="-171450">
                <a:buFont typeface="Arial" panose="020B0604020202020204" pitchFamily="34" charset="0"/>
                <a:buChar char="•"/>
              </a:pPr>
              <a:r>
                <a:rPr lang="en-US" sz="1050" i="1" dirty="0">
                  <a:solidFill>
                    <a:srgbClr val="9C3237"/>
                  </a:solidFill>
                  <a:latin typeface="Georgia" panose="02040502050405020303" pitchFamily="18" charset="0"/>
                </a:rPr>
                <a:t>Banana (Shivamogga, Chikkamagaluru) suffer from high pest and disease incidence, wild animal damage, natural calamities, lack of skilled labour, and high storage and transportation losses.</a:t>
              </a:r>
            </a:p>
            <a:p>
              <a:pPr marL="171450" indent="-171450">
                <a:buFont typeface="Arial" panose="020B0604020202020204" pitchFamily="34" charset="0"/>
                <a:buChar char="•"/>
              </a:pPr>
              <a:r>
                <a:rPr lang="en-US" sz="1050" i="1" dirty="0">
                  <a:solidFill>
                    <a:srgbClr val="9C3237"/>
                  </a:solidFill>
                  <a:latin typeface="Georgia" panose="02040502050405020303" pitchFamily="18" charset="0"/>
                </a:rPr>
                <a:t>Pineapple (Udupi) experience pest and disease pressures, natural calamities, delayed harvesting for distant markets, and variety unsuitability for processing.</a:t>
              </a:r>
            </a:p>
          </p:txBody>
        </p:sp>
        <p:sp>
          <p:nvSpPr>
            <p:cNvPr id="31" name="TextBox 30">
              <a:extLst>
                <a:ext uri="{FF2B5EF4-FFF2-40B4-BE49-F238E27FC236}">
                  <a16:creationId xmlns:a16="http://schemas.microsoft.com/office/drawing/2014/main" id="{4696C98B-825C-97CC-53DA-CB374D906BC7}"/>
                </a:ext>
              </a:extLst>
            </p:cNvPr>
            <p:cNvSpPr txBox="1"/>
            <p:nvPr/>
          </p:nvSpPr>
          <p:spPr>
            <a:xfrm>
              <a:off x="2362200" y="3810000"/>
              <a:ext cx="6097604" cy="338554"/>
            </a:xfrm>
            <a:prstGeom prst="rect">
              <a:avLst/>
            </a:prstGeom>
            <a:noFill/>
          </p:spPr>
          <p:txBody>
            <a:bodyPr wrap="square">
              <a:spAutoFit/>
            </a:bodyPr>
            <a:lstStyle/>
            <a:p>
              <a:pPr algn="ctr"/>
              <a:r>
                <a:rPr lang="en-US" sz="1600" b="1" dirty="0">
                  <a:latin typeface="Georgia" panose="02040502050405020303" pitchFamily="18" charset="0"/>
                </a:rPr>
                <a:t>Challenges reported</a:t>
              </a:r>
            </a:p>
          </p:txBody>
        </p:sp>
        <p:sp>
          <p:nvSpPr>
            <p:cNvPr id="34" name="TextBox 33">
              <a:extLst>
                <a:ext uri="{FF2B5EF4-FFF2-40B4-BE49-F238E27FC236}">
                  <a16:creationId xmlns:a16="http://schemas.microsoft.com/office/drawing/2014/main" id="{9115BEC3-EF93-C8BF-72F1-9B35E61D6917}"/>
                </a:ext>
              </a:extLst>
            </p:cNvPr>
            <p:cNvSpPr txBox="1"/>
            <p:nvPr/>
          </p:nvSpPr>
          <p:spPr>
            <a:xfrm>
              <a:off x="7033064" y="5153742"/>
              <a:ext cx="4858752" cy="200055"/>
            </a:xfrm>
            <a:prstGeom prst="rect">
              <a:avLst/>
            </a:prstGeom>
            <a:noFill/>
          </p:spPr>
          <p:txBody>
            <a:bodyPr wrap="square" rtlCol="0">
              <a:spAutoFit/>
            </a:bodyPr>
            <a:lstStyle/>
            <a:p>
              <a:r>
                <a:rPr lang="en-IN" sz="700" i="1" dirty="0">
                  <a:latin typeface="Georgia" panose="02040502050405020303" pitchFamily="18" charset="0"/>
                </a:rPr>
                <a:t>Source: As reported by district officials of Horticulture Department, Government of Karnataka, as of March 2026</a:t>
              </a:r>
            </a:p>
          </p:txBody>
        </p:sp>
      </p:grpSp>
      <p:pic>
        <p:nvPicPr>
          <p:cNvPr id="6" name="Picture 5">
            <a:extLst>
              <a:ext uri="{FF2B5EF4-FFF2-40B4-BE49-F238E27FC236}">
                <a16:creationId xmlns:a16="http://schemas.microsoft.com/office/drawing/2014/main" id="{95030ADE-33C6-493D-D6DC-0C45E528A88C}"/>
              </a:ext>
            </a:extLst>
          </p:cNvPr>
          <p:cNvPicPr>
            <a:picLocks noChangeAspect="1"/>
          </p:cNvPicPr>
          <p:nvPr/>
        </p:nvPicPr>
        <p:blipFill>
          <a:blip r:embed="rId9" cstate="print">
            <a:extLst>
              <a:ext uri="{28A0092B-C50C-407E-A947-70E740481C1C}">
                <a14:useLocalDpi xmlns:a14="http://schemas.microsoft.com/office/drawing/2010/main" val="0"/>
              </a:ext>
            </a:extLst>
          </a:blip>
          <a:srcRect l="9279" t="4046" r="10349" b="10001"/>
          <a:stretch>
            <a:fillRect/>
          </a:stretch>
        </p:blipFill>
        <p:spPr>
          <a:xfrm>
            <a:off x="10871668" y="177088"/>
            <a:ext cx="989667" cy="1200079"/>
          </a:xfrm>
          <a:prstGeom prst="rect">
            <a:avLst/>
          </a:prstGeom>
        </p:spPr>
      </p:pic>
      <p:sp>
        <p:nvSpPr>
          <p:cNvPr id="5" name="TextBox 4">
            <a:extLst>
              <a:ext uri="{FF2B5EF4-FFF2-40B4-BE49-F238E27FC236}">
                <a16:creationId xmlns:a16="http://schemas.microsoft.com/office/drawing/2014/main" id="{D6930997-E6A1-4D03-1774-2BBD1A256C77}"/>
              </a:ext>
            </a:extLst>
          </p:cNvPr>
          <p:cNvSpPr txBox="1"/>
          <p:nvPr/>
        </p:nvSpPr>
        <p:spPr>
          <a:xfrm>
            <a:off x="627148" y="3609945"/>
            <a:ext cx="3792452" cy="200055"/>
          </a:xfrm>
          <a:prstGeom prst="rect">
            <a:avLst/>
          </a:prstGeom>
          <a:noFill/>
        </p:spPr>
        <p:txBody>
          <a:bodyPr wrap="square" rtlCol="0">
            <a:spAutoFit/>
          </a:bodyPr>
          <a:lstStyle/>
          <a:p>
            <a:r>
              <a:rPr lang="en-IN" sz="700" i="1" dirty="0">
                <a:latin typeface="Georgia" panose="02040502050405020303" pitchFamily="18" charset="0"/>
              </a:rPr>
              <a:t>Source: Horticulture Crop Statistics of Karnataka State at a Glance – 2023-24</a:t>
            </a:r>
          </a:p>
        </p:txBody>
      </p:sp>
      <p:sp>
        <p:nvSpPr>
          <p:cNvPr id="22" name="Slide Number Placeholder 2">
            <a:extLst>
              <a:ext uri="{FF2B5EF4-FFF2-40B4-BE49-F238E27FC236}">
                <a16:creationId xmlns:a16="http://schemas.microsoft.com/office/drawing/2014/main" id="{AB62AEA3-22FB-26DE-3AC2-3EFCF0638A2D}"/>
              </a:ext>
            </a:extLst>
          </p:cNvPr>
          <p:cNvSpPr>
            <a:spLocks noGrp="1"/>
          </p:cNvSpPr>
          <p:nvPr>
            <p:ph type="sldNum" sz="quarter" idx="7"/>
          </p:nvPr>
        </p:nvSpPr>
        <p:spPr>
          <a:xfrm>
            <a:off x="779630" y="6440648"/>
            <a:ext cx="383540" cy="115416"/>
          </a:xfrm>
        </p:spPr>
        <p:txBody>
          <a:bodyPr/>
          <a:lstStyle/>
          <a:p>
            <a:pPr marL="12700">
              <a:spcBef>
                <a:spcPts val="60"/>
              </a:spcBef>
            </a:pPr>
            <a:r>
              <a:rPr lang="en-IN" dirty="0">
                <a:latin typeface="Georgia" panose="02040502050405020303" pitchFamily="18" charset="0"/>
              </a:rPr>
              <a:t>Page</a:t>
            </a:r>
            <a:r>
              <a:rPr lang="en-IN" spc="-55" dirty="0">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15</a:t>
            </a:fld>
            <a:endParaRPr dirty="0">
              <a:latin typeface="Georgia" panose="02040502050405020303" pitchFamily="18" charset="0"/>
            </a:endParaRPr>
          </a:p>
        </p:txBody>
      </p:sp>
      <p:sp>
        <p:nvSpPr>
          <p:cNvPr id="24" name="TextBox 23">
            <a:extLst>
              <a:ext uri="{FF2B5EF4-FFF2-40B4-BE49-F238E27FC236}">
                <a16:creationId xmlns:a16="http://schemas.microsoft.com/office/drawing/2014/main" id="{240D32DE-6120-6541-6149-48264574D4A9}"/>
              </a:ext>
            </a:extLst>
          </p:cNvPr>
          <p:cNvSpPr txBox="1"/>
          <p:nvPr/>
        </p:nvSpPr>
        <p:spPr>
          <a:xfrm>
            <a:off x="1749858" y="1066800"/>
            <a:ext cx="1576398" cy="338554"/>
          </a:xfrm>
          <a:prstGeom prst="rect">
            <a:avLst/>
          </a:prstGeom>
          <a:noFill/>
        </p:spPr>
        <p:txBody>
          <a:bodyPr wrap="square">
            <a:spAutoFit/>
          </a:bodyPr>
          <a:lstStyle/>
          <a:p>
            <a:pPr algn="ctr"/>
            <a:r>
              <a:rPr lang="en-US" sz="1600" b="1" dirty="0">
                <a:latin typeface="Georgia" panose="02040502050405020303" pitchFamily="18" charset="0"/>
              </a:rPr>
              <a:t>Production</a:t>
            </a:r>
          </a:p>
        </p:txBody>
      </p:sp>
      <p:sp>
        <p:nvSpPr>
          <p:cNvPr id="25" name="TextBox 24">
            <a:extLst>
              <a:ext uri="{FF2B5EF4-FFF2-40B4-BE49-F238E27FC236}">
                <a16:creationId xmlns:a16="http://schemas.microsoft.com/office/drawing/2014/main" id="{5FE8D3BA-2E43-74DC-4B97-32AE793DEE00}"/>
              </a:ext>
            </a:extLst>
          </p:cNvPr>
          <p:cNvSpPr txBox="1"/>
          <p:nvPr/>
        </p:nvSpPr>
        <p:spPr>
          <a:xfrm>
            <a:off x="6244491" y="1033046"/>
            <a:ext cx="3583805" cy="338554"/>
          </a:xfrm>
          <a:prstGeom prst="rect">
            <a:avLst/>
          </a:prstGeom>
          <a:noFill/>
        </p:spPr>
        <p:txBody>
          <a:bodyPr wrap="square">
            <a:spAutoFit/>
          </a:bodyPr>
          <a:lstStyle/>
          <a:p>
            <a:pPr algn="ctr"/>
            <a:r>
              <a:rPr lang="en-US" sz="1600" b="1" dirty="0">
                <a:latin typeface="Georgia" panose="02040502050405020303" pitchFamily="18" charset="0"/>
              </a:rPr>
              <a:t>Existing Ecosystem</a:t>
            </a:r>
          </a:p>
        </p:txBody>
      </p:sp>
      <p:pic>
        <p:nvPicPr>
          <p:cNvPr id="12" name="Picture 11">
            <a:extLst>
              <a:ext uri="{FF2B5EF4-FFF2-40B4-BE49-F238E27FC236}">
                <a16:creationId xmlns:a16="http://schemas.microsoft.com/office/drawing/2014/main" id="{6F7A3D7D-AB62-297F-2579-EF54988ACBB0}"/>
              </a:ext>
            </a:extLst>
          </p:cNvPr>
          <p:cNvPicPr>
            <a:picLocks noChangeAspect="1"/>
          </p:cNvPicPr>
          <p:nvPr/>
        </p:nvPicPr>
        <p:blipFill>
          <a:blip r:embed="rId10">
            <a:extLst>
              <a:ext uri="{28A0092B-C50C-407E-A947-70E740481C1C}">
                <a14:useLocalDpi xmlns:a14="http://schemas.microsoft.com/office/drawing/2010/main" val="0"/>
              </a:ext>
            </a:extLst>
          </a:blip>
          <a:srcRect t="7218"/>
          <a:stretch>
            <a:fillRect/>
          </a:stretch>
        </p:blipFill>
        <p:spPr>
          <a:xfrm>
            <a:off x="1803068" y="6177002"/>
            <a:ext cx="9068600" cy="681785"/>
          </a:xfrm>
          <a:prstGeom prst="rect">
            <a:avLst/>
          </a:prstGeom>
        </p:spPr>
      </p:pic>
      <p:sp>
        <p:nvSpPr>
          <p:cNvPr id="19" name="Rectangle 18">
            <a:extLst>
              <a:ext uri="{FF2B5EF4-FFF2-40B4-BE49-F238E27FC236}">
                <a16:creationId xmlns:a16="http://schemas.microsoft.com/office/drawing/2014/main" id="{21F8C98C-A7D9-5991-5460-B28E7D882F6F}"/>
              </a:ext>
            </a:extLst>
          </p:cNvPr>
          <p:cNvSpPr/>
          <p:nvPr/>
        </p:nvSpPr>
        <p:spPr>
          <a:xfrm>
            <a:off x="-76200" y="6216562"/>
            <a:ext cx="2317655" cy="681784"/>
          </a:xfrm>
          <a:prstGeom prst="rect">
            <a:avLst/>
          </a:prstGeom>
          <a:solidFill>
            <a:srgbClr val="EEECE1"/>
          </a:solidFill>
          <a:ln>
            <a:solidFill>
              <a:srgbClr val="EEEC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E6449F6-209D-F62A-5862-1F8DCCAC50D0}"/>
              </a:ext>
            </a:extLst>
          </p:cNvPr>
          <p:cNvSpPr/>
          <p:nvPr/>
        </p:nvSpPr>
        <p:spPr>
          <a:xfrm>
            <a:off x="10702507" y="6194874"/>
            <a:ext cx="2317655" cy="681784"/>
          </a:xfrm>
          <a:prstGeom prst="rect">
            <a:avLst/>
          </a:prstGeom>
          <a:solidFill>
            <a:srgbClr val="EEECE1"/>
          </a:solidFill>
          <a:ln>
            <a:solidFill>
              <a:srgbClr val="EEEC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58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FA759-CB8B-0EC9-B564-4F068A0FEC3D}"/>
            </a:ext>
          </a:extLst>
        </p:cNvPr>
        <p:cNvGrpSpPr/>
        <p:nvPr/>
      </p:nvGrpSpPr>
      <p:grpSpPr>
        <a:xfrm>
          <a:off x="0" y="0"/>
          <a:ext cx="0" cy="0"/>
          <a:chOff x="0" y="0"/>
          <a:chExt cx="0" cy="0"/>
        </a:xfrm>
      </p:grpSpPr>
      <p:sp>
        <p:nvSpPr>
          <p:cNvPr id="7" name="Title 21">
            <a:extLst>
              <a:ext uri="{FF2B5EF4-FFF2-40B4-BE49-F238E27FC236}">
                <a16:creationId xmlns:a16="http://schemas.microsoft.com/office/drawing/2014/main" id="{B62F0E5C-B8BB-EE6A-1906-67A3AE0176F7}"/>
              </a:ext>
            </a:extLst>
          </p:cNvPr>
          <p:cNvSpPr txBox="1">
            <a:spLocks/>
          </p:cNvSpPr>
          <p:nvPr/>
        </p:nvSpPr>
        <p:spPr>
          <a:xfrm>
            <a:off x="457200" y="284247"/>
            <a:ext cx="11353800" cy="486159"/>
          </a:xfrm>
          <a:prstGeom prst="rect">
            <a:avLst/>
          </a:prstGeom>
        </p:spPr>
        <p:txBody>
          <a:bodyPr/>
          <a:lstStyle>
            <a:lvl1pPr>
              <a:defRPr>
                <a:latin typeface="+mj-lt"/>
                <a:ea typeface="+mj-ea"/>
                <a:cs typeface="+mj-cs"/>
              </a:defRPr>
            </a:lvl1pPr>
          </a:lstStyle>
          <a:p>
            <a:pPr>
              <a:lnSpc>
                <a:spcPct val="150000"/>
              </a:lnSpc>
              <a:spcAft>
                <a:spcPts val="800"/>
              </a:spcAft>
            </a:pPr>
            <a:r>
              <a:rPr lang="en-IN" sz="2400" b="1" dirty="0">
                <a:solidFill>
                  <a:schemeClr val="bg1"/>
                </a:solidFill>
                <a:latin typeface="Georgia" panose="02040502050405020303" pitchFamily="18" charset="0"/>
              </a:rPr>
              <a:t>Challenge category 2: Sustainable packaging innovations</a:t>
            </a:r>
          </a:p>
        </p:txBody>
      </p:sp>
      <p:sp>
        <p:nvSpPr>
          <p:cNvPr id="5" name="Slide Number Placeholder 2">
            <a:extLst>
              <a:ext uri="{FF2B5EF4-FFF2-40B4-BE49-F238E27FC236}">
                <a16:creationId xmlns:a16="http://schemas.microsoft.com/office/drawing/2014/main" id="{20845B0C-3D27-4F76-DFC8-A34370168AA8}"/>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16</a:t>
            </a:fld>
            <a:endParaRPr dirty="0">
              <a:latin typeface="Georgia" panose="02040502050405020303" pitchFamily="18" charset="0"/>
            </a:endParaRPr>
          </a:p>
        </p:txBody>
      </p:sp>
      <p:sp>
        <p:nvSpPr>
          <p:cNvPr id="100" name="TextBox 99">
            <a:extLst>
              <a:ext uri="{FF2B5EF4-FFF2-40B4-BE49-F238E27FC236}">
                <a16:creationId xmlns:a16="http://schemas.microsoft.com/office/drawing/2014/main" id="{99460326-4AB1-5C5F-FB30-00FC94188BB4}"/>
              </a:ext>
            </a:extLst>
          </p:cNvPr>
          <p:cNvSpPr txBox="1"/>
          <p:nvPr/>
        </p:nvSpPr>
        <p:spPr>
          <a:xfrm>
            <a:off x="567796" y="1003012"/>
            <a:ext cx="11190995" cy="292388"/>
          </a:xfrm>
          <a:prstGeom prst="rect">
            <a:avLst/>
          </a:prstGeom>
          <a:noFill/>
          <a:ln>
            <a:solidFill>
              <a:srgbClr val="AE4543"/>
            </a:solidFill>
          </a:ln>
        </p:spPr>
        <p:txBody>
          <a:bodyPr wrap="square">
            <a:spAutoFit/>
          </a:bodyPr>
          <a:lstStyle/>
          <a:p>
            <a:r>
              <a:rPr lang="en-US" altLang="en-US" sz="1300" dirty="0">
                <a:latin typeface="Georgia" panose="02040502050405020303" pitchFamily="18" charset="0"/>
              </a:rPr>
              <a:t>This challenge category focuses on developing solutions that reduce produce loss through better packaging across the fruits and vegetables value chain. </a:t>
            </a:r>
          </a:p>
        </p:txBody>
      </p:sp>
      <p:sp>
        <p:nvSpPr>
          <p:cNvPr id="104" name="Text 64">
            <a:extLst>
              <a:ext uri="{FF2B5EF4-FFF2-40B4-BE49-F238E27FC236}">
                <a16:creationId xmlns:a16="http://schemas.microsoft.com/office/drawing/2014/main" id="{0187198A-0F53-4E31-1308-506DFAE1875A}"/>
              </a:ext>
            </a:extLst>
          </p:cNvPr>
          <p:cNvSpPr/>
          <p:nvPr/>
        </p:nvSpPr>
        <p:spPr>
          <a:xfrm>
            <a:off x="779630" y="5535511"/>
            <a:ext cx="10153800" cy="268070"/>
          </a:xfrm>
          <a:prstGeom prst="rect">
            <a:avLst/>
          </a:prstGeom>
          <a:solidFill>
            <a:schemeClr val="bg2">
              <a:lumMod val="90000"/>
            </a:schemeClr>
          </a:solidFill>
          <a:ln>
            <a:solidFill>
              <a:schemeClr val="tx1"/>
            </a:solidFill>
            <a:prstDash val="dash"/>
          </a:ln>
        </p:spPr>
        <p:txBody>
          <a:bodyPr wrap="square" lIns="25400" tIns="25400" rIns="25400" bIns="25400" rtlCol="0" anchor="ctr">
            <a:noAutofit/>
          </a:bodyPr>
          <a:lstStyle/>
          <a:p>
            <a:pPr>
              <a:defRPr/>
            </a:pPr>
            <a:r>
              <a:rPr lang="en-US" sz="1100" b="1" i="1" dirty="0">
                <a:solidFill>
                  <a:srgbClr val="14342B"/>
                </a:solidFill>
                <a:latin typeface="Georgia" panose="02040502050405020303" pitchFamily="18" charset="0"/>
              </a:rPr>
              <a:t>Across the clusters, only East Karnataka has a recorded packhouse capacity of 300 MT; for all other clusters, this data is unavailable.</a:t>
            </a:r>
            <a:endParaRPr kumimoji="0" lang="en-US" sz="1100" b="1" i="1" u="none" strike="noStrike" kern="1200" cap="none" spc="0" normalizeH="0" baseline="0" noProof="0" dirty="0">
              <a:ln>
                <a:noFill/>
              </a:ln>
              <a:solidFill>
                <a:srgbClr val="14342B"/>
              </a:solidFill>
              <a:effectLst/>
              <a:uLnTx/>
              <a:uFillTx/>
              <a:latin typeface="Georgia" panose="02040502050405020303" pitchFamily="18" charset="0"/>
              <a:ea typeface="Inter" pitchFamily="34" charset="-122"/>
            </a:endParaRPr>
          </a:p>
        </p:txBody>
      </p:sp>
      <p:sp>
        <p:nvSpPr>
          <p:cNvPr id="105" name="TextBox 104">
            <a:extLst>
              <a:ext uri="{FF2B5EF4-FFF2-40B4-BE49-F238E27FC236}">
                <a16:creationId xmlns:a16="http://schemas.microsoft.com/office/drawing/2014/main" id="{88480E56-64CE-9E54-028C-E12A303E4DB5}"/>
              </a:ext>
            </a:extLst>
          </p:cNvPr>
          <p:cNvSpPr txBox="1"/>
          <p:nvPr/>
        </p:nvSpPr>
        <p:spPr>
          <a:xfrm>
            <a:off x="559181" y="1371600"/>
            <a:ext cx="10837631" cy="461665"/>
          </a:xfrm>
          <a:prstGeom prst="rect">
            <a:avLst/>
          </a:prstGeom>
          <a:noFill/>
        </p:spPr>
        <p:txBody>
          <a:bodyPr wrap="square">
            <a:spAutoFit/>
          </a:bodyPr>
          <a:lstStyle/>
          <a:p>
            <a:pPr>
              <a:defRPr/>
            </a:pPr>
            <a:r>
              <a:rPr lang="en-US" sz="1200" b="1" i="1" dirty="0">
                <a:solidFill>
                  <a:srgbClr val="14342B"/>
                </a:solidFill>
                <a:latin typeface="Georgia" panose="02040502050405020303" pitchFamily="18" charset="0"/>
              </a:rPr>
              <a:t>Post-harvest losses across the clusters are significant, with a substantial share occurring during the packaging stage where  produce is damaged or rejected at the point of packing:</a:t>
            </a:r>
          </a:p>
        </p:txBody>
      </p:sp>
      <p:grpSp>
        <p:nvGrpSpPr>
          <p:cNvPr id="10" name="Group 6">
            <a:extLst>
              <a:ext uri="{FF2B5EF4-FFF2-40B4-BE49-F238E27FC236}">
                <a16:creationId xmlns:a16="http://schemas.microsoft.com/office/drawing/2014/main" id="{A00DD550-B6E1-0985-7808-104C38C161D5}"/>
              </a:ext>
            </a:extLst>
          </p:cNvPr>
          <p:cNvGrpSpPr/>
          <p:nvPr/>
        </p:nvGrpSpPr>
        <p:grpSpPr>
          <a:xfrm>
            <a:off x="1099284" y="1954535"/>
            <a:ext cx="4553209" cy="750608"/>
            <a:chOff x="0" y="0"/>
            <a:chExt cx="1930959" cy="542735"/>
          </a:xfrm>
        </p:grpSpPr>
        <p:sp>
          <p:nvSpPr>
            <p:cNvPr id="84" name="Freeform 7">
              <a:extLst>
                <a:ext uri="{FF2B5EF4-FFF2-40B4-BE49-F238E27FC236}">
                  <a16:creationId xmlns:a16="http://schemas.microsoft.com/office/drawing/2014/main" id="{40517298-A8E7-30BA-A759-34BA8A886795}"/>
                </a:ext>
              </a:extLst>
            </p:cNvPr>
            <p:cNvSpPr/>
            <p:nvPr/>
          </p:nvSpPr>
          <p:spPr>
            <a:xfrm>
              <a:off x="0" y="0"/>
              <a:ext cx="1930959" cy="542735"/>
            </a:xfrm>
            <a:custGeom>
              <a:avLst/>
              <a:gdLst/>
              <a:ahLst/>
              <a:cxnLst/>
              <a:rect l="l" t="t" r="r" b="b"/>
              <a:pathLst>
                <a:path w="1930959" h="542735">
                  <a:moveTo>
                    <a:pt x="52798" y="0"/>
                  </a:moveTo>
                  <a:lnTo>
                    <a:pt x="1878161" y="0"/>
                  </a:lnTo>
                  <a:cubicBezTo>
                    <a:pt x="1907321" y="0"/>
                    <a:pt x="1930959" y="23639"/>
                    <a:pt x="1930959" y="52798"/>
                  </a:cubicBezTo>
                  <a:lnTo>
                    <a:pt x="1930959" y="489937"/>
                  </a:lnTo>
                  <a:cubicBezTo>
                    <a:pt x="1930959" y="503940"/>
                    <a:pt x="1925397" y="517369"/>
                    <a:pt x="1915495" y="527271"/>
                  </a:cubicBezTo>
                  <a:cubicBezTo>
                    <a:pt x="1905594" y="537173"/>
                    <a:pt x="1892164" y="542735"/>
                    <a:pt x="1878161" y="542735"/>
                  </a:cubicBezTo>
                  <a:lnTo>
                    <a:pt x="52798" y="542735"/>
                  </a:lnTo>
                  <a:cubicBezTo>
                    <a:pt x="23639" y="542735"/>
                    <a:pt x="0" y="519097"/>
                    <a:pt x="0" y="489937"/>
                  </a:cubicBezTo>
                  <a:lnTo>
                    <a:pt x="0" y="52798"/>
                  </a:lnTo>
                  <a:cubicBezTo>
                    <a:pt x="0" y="38795"/>
                    <a:pt x="5563" y="25366"/>
                    <a:pt x="15464" y="15464"/>
                  </a:cubicBezTo>
                  <a:cubicBezTo>
                    <a:pt x="25366" y="5563"/>
                    <a:pt x="38795" y="0"/>
                    <a:pt x="52798" y="0"/>
                  </a:cubicBezTo>
                  <a:close/>
                </a:path>
              </a:pathLst>
            </a:custGeom>
            <a:solidFill>
              <a:schemeClr val="bg2">
                <a:lumMod val="90000"/>
              </a:schemeClr>
            </a:solidFill>
          </p:spPr>
          <p:txBody>
            <a:bodyPr/>
            <a:lstStyle/>
            <a:p>
              <a:endParaRPr lang="en-IN">
                <a:latin typeface="Georgia" panose="02040502050405020303" pitchFamily="18" charset="0"/>
              </a:endParaRPr>
            </a:p>
          </p:txBody>
        </p:sp>
        <p:sp>
          <p:nvSpPr>
            <p:cNvPr id="85" name="TextBox 8">
              <a:extLst>
                <a:ext uri="{FF2B5EF4-FFF2-40B4-BE49-F238E27FC236}">
                  <a16:creationId xmlns:a16="http://schemas.microsoft.com/office/drawing/2014/main" id="{28D85551-E884-9FCD-9B35-6BDA29290146}"/>
                </a:ext>
              </a:extLst>
            </p:cNvPr>
            <p:cNvSpPr txBox="1"/>
            <p:nvPr/>
          </p:nvSpPr>
          <p:spPr>
            <a:xfrm>
              <a:off x="0" y="-38100"/>
              <a:ext cx="1930959" cy="580835"/>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grpSp>
        <p:nvGrpSpPr>
          <p:cNvPr id="90" name="Group 89">
            <a:extLst>
              <a:ext uri="{FF2B5EF4-FFF2-40B4-BE49-F238E27FC236}">
                <a16:creationId xmlns:a16="http://schemas.microsoft.com/office/drawing/2014/main" id="{F663BFBB-8A2E-0491-D67E-8F4FC10C2A72}"/>
              </a:ext>
            </a:extLst>
          </p:cNvPr>
          <p:cNvGrpSpPr/>
          <p:nvPr/>
        </p:nvGrpSpPr>
        <p:grpSpPr>
          <a:xfrm>
            <a:off x="971400" y="2513355"/>
            <a:ext cx="9716418" cy="1283026"/>
            <a:chOff x="937975" y="2879014"/>
            <a:chExt cx="9716418" cy="1419692"/>
          </a:xfrm>
        </p:grpSpPr>
        <p:grpSp>
          <p:nvGrpSpPr>
            <p:cNvPr id="11" name="Group 9">
              <a:extLst>
                <a:ext uri="{FF2B5EF4-FFF2-40B4-BE49-F238E27FC236}">
                  <a16:creationId xmlns:a16="http://schemas.microsoft.com/office/drawing/2014/main" id="{C014DB03-CD7C-E44C-F90A-A8A26A86146C}"/>
                </a:ext>
              </a:extLst>
            </p:cNvPr>
            <p:cNvGrpSpPr/>
            <p:nvPr/>
          </p:nvGrpSpPr>
          <p:grpSpPr>
            <a:xfrm>
              <a:off x="937975" y="2879014"/>
              <a:ext cx="4697578" cy="1419692"/>
              <a:chOff x="0" y="-38100"/>
              <a:chExt cx="1992184" cy="927705"/>
            </a:xfrm>
          </p:grpSpPr>
          <p:sp>
            <p:nvSpPr>
              <p:cNvPr id="82" name="Freeform 10">
                <a:extLst>
                  <a:ext uri="{FF2B5EF4-FFF2-40B4-BE49-F238E27FC236}">
                    <a16:creationId xmlns:a16="http://schemas.microsoft.com/office/drawing/2014/main" id="{D310D70F-E373-E942-9C9D-A45994392C0B}"/>
                  </a:ext>
                </a:extLst>
              </p:cNvPr>
              <p:cNvSpPr/>
              <p:nvPr/>
            </p:nvSpPr>
            <p:spPr>
              <a:xfrm>
                <a:off x="61225" y="346870"/>
                <a:ext cx="1930959" cy="542735"/>
              </a:xfrm>
              <a:custGeom>
                <a:avLst/>
                <a:gdLst/>
                <a:ahLst/>
                <a:cxnLst/>
                <a:rect l="l" t="t" r="r" b="b"/>
                <a:pathLst>
                  <a:path w="1930959" h="542735">
                    <a:moveTo>
                      <a:pt x="52798" y="0"/>
                    </a:moveTo>
                    <a:lnTo>
                      <a:pt x="1878161" y="0"/>
                    </a:lnTo>
                    <a:cubicBezTo>
                      <a:pt x="1907321" y="0"/>
                      <a:pt x="1930959" y="23639"/>
                      <a:pt x="1930959" y="52798"/>
                    </a:cubicBezTo>
                    <a:lnTo>
                      <a:pt x="1930959" y="489937"/>
                    </a:lnTo>
                    <a:cubicBezTo>
                      <a:pt x="1930959" y="503940"/>
                      <a:pt x="1925397" y="517369"/>
                      <a:pt x="1915495" y="527271"/>
                    </a:cubicBezTo>
                    <a:cubicBezTo>
                      <a:pt x="1905594" y="537173"/>
                      <a:pt x="1892164" y="542735"/>
                      <a:pt x="1878161" y="542735"/>
                    </a:cubicBezTo>
                    <a:lnTo>
                      <a:pt x="52798" y="542735"/>
                    </a:lnTo>
                    <a:cubicBezTo>
                      <a:pt x="23639" y="542735"/>
                      <a:pt x="0" y="519097"/>
                      <a:pt x="0" y="489937"/>
                    </a:cubicBezTo>
                    <a:lnTo>
                      <a:pt x="0" y="52798"/>
                    </a:lnTo>
                    <a:cubicBezTo>
                      <a:pt x="0" y="38795"/>
                      <a:pt x="5563" y="25366"/>
                      <a:pt x="15464" y="15464"/>
                    </a:cubicBezTo>
                    <a:cubicBezTo>
                      <a:pt x="25366" y="5563"/>
                      <a:pt x="38795" y="0"/>
                      <a:pt x="52798" y="0"/>
                    </a:cubicBezTo>
                    <a:close/>
                  </a:path>
                </a:pathLst>
              </a:custGeom>
              <a:solidFill>
                <a:schemeClr val="bg2">
                  <a:lumMod val="90000"/>
                </a:schemeClr>
              </a:solidFill>
            </p:spPr>
            <p:txBody>
              <a:bodyPr/>
              <a:lstStyle/>
              <a:p>
                <a:endParaRPr lang="en-IN" dirty="0">
                  <a:latin typeface="Georgia" panose="02040502050405020303" pitchFamily="18" charset="0"/>
                </a:endParaRPr>
              </a:p>
            </p:txBody>
          </p:sp>
          <p:sp>
            <p:nvSpPr>
              <p:cNvPr id="83" name="TextBox 11">
                <a:extLst>
                  <a:ext uri="{FF2B5EF4-FFF2-40B4-BE49-F238E27FC236}">
                    <a16:creationId xmlns:a16="http://schemas.microsoft.com/office/drawing/2014/main" id="{BA50A2A1-0F0A-3822-B313-7AC0FEF1EB0E}"/>
                  </a:ext>
                </a:extLst>
              </p:cNvPr>
              <p:cNvSpPr txBox="1"/>
              <p:nvPr/>
            </p:nvSpPr>
            <p:spPr>
              <a:xfrm>
                <a:off x="0" y="-38100"/>
                <a:ext cx="1930959" cy="580835"/>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grpSp>
          <p:nvGrpSpPr>
            <p:cNvPr id="13" name="Group 15">
              <a:extLst>
                <a:ext uri="{FF2B5EF4-FFF2-40B4-BE49-F238E27FC236}">
                  <a16:creationId xmlns:a16="http://schemas.microsoft.com/office/drawing/2014/main" id="{052987E4-0E71-F2D5-FC41-B5084CDACED8}"/>
                </a:ext>
              </a:extLst>
            </p:cNvPr>
            <p:cNvGrpSpPr/>
            <p:nvPr/>
          </p:nvGrpSpPr>
          <p:grpSpPr>
            <a:xfrm>
              <a:off x="6060280" y="3012329"/>
              <a:ext cx="4594113" cy="1283262"/>
              <a:chOff x="0" y="-38100"/>
              <a:chExt cx="1948306" cy="838554"/>
            </a:xfrm>
          </p:grpSpPr>
          <p:sp>
            <p:nvSpPr>
              <p:cNvPr id="78" name="Freeform 16">
                <a:extLst>
                  <a:ext uri="{FF2B5EF4-FFF2-40B4-BE49-F238E27FC236}">
                    <a16:creationId xmlns:a16="http://schemas.microsoft.com/office/drawing/2014/main" id="{06524259-E4AF-FCBB-A7ED-509E40293C89}"/>
                  </a:ext>
                </a:extLst>
              </p:cNvPr>
              <p:cNvSpPr/>
              <p:nvPr/>
            </p:nvSpPr>
            <p:spPr>
              <a:xfrm>
                <a:off x="17347" y="257719"/>
                <a:ext cx="1930959" cy="542735"/>
              </a:xfrm>
              <a:custGeom>
                <a:avLst/>
                <a:gdLst/>
                <a:ahLst/>
                <a:cxnLst/>
                <a:rect l="l" t="t" r="r" b="b"/>
                <a:pathLst>
                  <a:path w="1930959" h="542735">
                    <a:moveTo>
                      <a:pt x="52798" y="0"/>
                    </a:moveTo>
                    <a:lnTo>
                      <a:pt x="1878161" y="0"/>
                    </a:lnTo>
                    <a:cubicBezTo>
                      <a:pt x="1907321" y="0"/>
                      <a:pt x="1930959" y="23639"/>
                      <a:pt x="1930959" y="52798"/>
                    </a:cubicBezTo>
                    <a:lnTo>
                      <a:pt x="1930959" y="489937"/>
                    </a:lnTo>
                    <a:cubicBezTo>
                      <a:pt x="1930959" y="503940"/>
                      <a:pt x="1925397" y="517369"/>
                      <a:pt x="1915495" y="527271"/>
                    </a:cubicBezTo>
                    <a:cubicBezTo>
                      <a:pt x="1905594" y="537173"/>
                      <a:pt x="1892164" y="542735"/>
                      <a:pt x="1878161" y="542735"/>
                    </a:cubicBezTo>
                    <a:lnTo>
                      <a:pt x="52798" y="542735"/>
                    </a:lnTo>
                    <a:cubicBezTo>
                      <a:pt x="23639" y="542735"/>
                      <a:pt x="0" y="519097"/>
                      <a:pt x="0" y="489937"/>
                    </a:cubicBezTo>
                    <a:lnTo>
                      <a:pt x="0" y="52798"/>
                    </a:lnTo>
                    <a:cubicBezTo>
                      <a:pt x="0" y="38795"/>
                      <a:pt x="5563" y="25366"/>
                      <a:pt x="15464" y="15464"/>
                    </a:cubicBezTo>
                    <a:cubicBezTo>
                      <a:pt x="25366" y="5563"/>
                      <a:pt x="38795" y="0"/>
                      <a:pt x="52798" y="0"/>
                    </a:cubicBezTo>
                    <a:close/>
                  </a:path>
                </a:pathLst>
              </a:custGeom>
              <a:solidFill>
                <a:schemeClr val="bg2">
                  <a:lumMod val="90000"/>
                </a:schemeClr>
              </a:solidFill>
            </p:spPr>
            <p:txBody>
              <a:bodyPr/>
              <a:lstStyle/>
              <a:p>
                <a:endParaRPr lang="en-IN" dirty="0">
                  <a:latin typeface="Georgia" panose="02040502050405020303" pitchFamily="18" charset="0"/>
                </a:endParaRPr>
              </a:p>
            </p:txBody>
          </p:sp>
          <p:sp>
            <p:nvSpPr>
              <p:cNvPr id="79" name="TextBox 17">
                <a:extLst>
                  <a:ext uri="{FF2B5EF4-FFF2-40B4-BE49-F238E27FC236}">
                    <a16:creationId xmlns:a16="http://schemas.microsoft.com/office/drawing/2014/main" id="{EDAD4892-4A91-65D4-37B7-C97C60511D5A}"/>
                  </a:ext>
                </a:extLst>
              </p:cNvPr>
              <p:cNvSpPr txBox="1"/>
              <p:nvPr/>
            </p:nvSpPr>
            <p:spPr>
              <a:xfrm>
                <a:off x="0" y="-38100"/>
                <a:ext cx="1930959" cy="580835"/>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grpSp>
      <p:grpSp>
        <p:nvGrpSpPr>
          <p:cNvPr id="14" name="Group 18">
            <a:extLst>
              <a:ext uri="{FF2B5EF4-FFF2-40B4-BE49-F238E27FC236}">
                <a16:creationId xmlns:a16="http://schemas.microsoft.com/office/drawing/2014/main" id="{9C1C1FBB-FD43-7138-99FA-139DE8D1F8F5}"/>
              </a:ext>
            </a:extLst>
          </p:cNvPr>
          <p:cNvGrpSpPr/>
          <p:nvPr/>
        </p:nvGrpSpPr>
        <p:grpSpPr>
          <a:xfrm>
            <a:off x="1099284" y="1828885"/>
            <a:ext cx="4459999" cy="317133"/>
            <a:chOff x="0" y="-38100"/>
            <a:chExt cx="1891430" cy="229307"/>
          </a:xfrm>
        </p:grpSpPr>
        <p:sp>
          <p:nvSpPr>
            <p:cNvPr id="76" name="Freeform 19">
              <a:extLst>
                <a:ext uri="{FF2B5EF4-FFF2-40B4-BE49-F238E27FC236}">
                  <a16:creationId xmlns:a16="http://schemas.microsoft.com/office/drawing/2014/main" id="{267CD364-C3FD-7189-DD50-CDB77C3023FD}"/>
                </a:ext>
              </a:extLst>
            </p:cNvPr>
            <p:cNvSpPr/>
            <p:nvPr/>
          </p:nvSpPr>
          <p:spPr>
            <a:xfrm>
              <a:off x="0" y="0"/>
              <a:ext cx="1891430" cy="191207"/>
            </a:xfrm>
            <a:custGeom>
              <a:avLst/>
              <a:gdLst/>
              <a:ahLst/>
              <a:cxnLst/>
              <a:rect l="l" t="t" r="r" b="b"/>
              <a:pathLst>
                <a:path w="1068527" h="188153">
                  <a:moveTo>
                    <a:pt x="94076" y="0"/>
                  </a:moveTo>
                  <a:lnTo>
                    <a:pt x="974451" y="0"/>
                  </a:lnTo>
                  <a:cubicBezTo>
                    <a:pt x="999401" y="0"/>
                    <a:pt x="1023330" y="9912"/>
                    <a:pt x="1040973" y="27554"/>
                  </a:cubicBezTo>
                  <a:cubicBezTo>
                    <a:pt x="1058615" y="45197"/>
                    <a:pt x="1068527" y="69126"/>
                    <a:pt x="1068527" y="94076"/>
                  </a:cubicBezTo>
                  <a:lnTo>
                    <a:pt x="1068527" y="94076"/>
                  </a:lnTo>
                  <a:cubicBezTo>
                    <a:pt x="1068527" y="119027"/>
                    <a:pt x="1058615" y="142956"/>
                    <a:pt x="1040973" y="160598"/>
                  </a:cubicBezTo>
                  <a:cubicBezTo>
                    <a:pt x="1023330" y="178241"/>
                    <a:pt x="999401" y="188153"/>
                    <a:pt x="974451" y="188153"/>
                  </a:cubicBezTo>
                  <a:lnTo>
                    <a:pt x="94076" y="188153"/>
                  </a:lnTo>
                  <a:cubicBezTo>
                    <a:pt x="69126" y="188153"/>
                    <a:pt x="45197" y="178241"/>
                    <a:pt x="27554" y="160598"/>
                  </a:cubicBezTo>
                  <a:cubicBezTo>
                    <a:pt x="9912" y="142956"/>
                    <a:pt x="0" y="119027"/>
                    <a:pt x="0" y="94076"/>
                  </a:cubicBezTo>
                  <a:lnTo>
                    <a:pt x="0" y="94076"/>
                  </a:lnTo>
                  <a:cubicBezTo>
                    <a:pt x="0" y="69126"/>
                    <a:pt x="9912" y="45197"/>
                    <a:pt x="27554" y="27554"/>
                  </a:cubicBezTo>
                  <a:cubicBezTo>
                    <a:pt x="45197" y="9912"/>
                    <a:pt x="69126" y="0"/>
                    <a:pt x="94076" y="0"/>
                  </a:cubicBezTo>
                  <a:close/>
                </a:path>
              </a:pathLst>
            </a:custGeom>
            <a:solidFill>
              <a:srgbClr val="14342B"/>
            </a:solidFill>
          </p:spPr>
          <p:txBody>
            <a:bodyPr/>
            <a:lstStyle/>
            <a:p>
              <a:endParaRPr lang="en-IN">
                <a:latin typeface="Georgia" panose="02040502050405020303" pitchFamily="18" charset="0"/>
              </a:endParaRPr>
            </a:p>
          </p:txBody>
        </p:sp>
        <p:sp>
          <p:nvSpPr>
            <p:cNvPr id="77" name="TextBox 20">
              <a:extLst>
                <a:ext uri="{FF2B5EF4-FFF2-40B4-BE49-F238E27FC236}">
                  <a16:creationId xmlns:a16="http://schemas.microsoft.com/office/drawing/2014/main" id="{B122DCF8-9C62-D7E8-133C-7DA2529932FA}"/>
                </a:ext>
              </a:extLst>
            </p:cNvPr>
            <p:cNvSpPr txBox="1"/>
            <p:nvPr/>
          </p:nvSpPr>
          <p:spPr>
            <a:xfrm>
              <a:off x="0" y="-38100"/>
              <a:ext cx="1068527" cy="226253"/>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sp>
        <p:nvSpPr>
          <p:cNvPr id="18" name="AutoShape 30">
            <a:extLst>
              <a:ext uri="{FF2B5EF4-FFF2-40B4-BE49-F238E27FC236}">
                <a16:creationId xmlns:a16="http://schemas.microsoft.com/office/drawing/2014/main" id="{1DDC8A38-62C7-C114-4F15-C9712C53314B}"/>
              </a:ext>
            </a:extLst>
          </p:cNvPr>
          <p:cNvSpPr/>
          <p:nvPr/>
        </p:nvSpPr>
        <p:spPr>
          <a:xfrm flipH="1">
            <a:off x="2072432" y="2121284"/>
            <a:ext cx="0" cy="558146"/>
          </a:xfrm>
          <a:prstGeom prst="line">
            <a:avLst/>
          </a:prstGeom>
          <a:ln w="28575" cap="flat">
            <a:solidFill>
              <a:srgbClr val="14342B"/>
            </a:solidFill>
            <a:prstDash val="solid"/>
            <a:headEnd type="none" w="sm" len="sm"/>
            <a:tailEnd type="none" w="sm" len="sm"/>
          </a:ln>
        </p:spPr>
        <p:txBody>
          <a:bodyPr/>
          <a:lstStyle/>
          <a:p>
            <a:endParaRPr lang="en-IN" dirty="0">
              <a:latin typeface="Georgia" panose="02040502050405020303" pitchFamily="18" charset="0"/>
            </a:endParaRPr>
          </a:p>
        </p:txBody>
      </p:sp>
      <p:grpSp>
        <p:nvGrpSpPr>
          <p:cNvPr id="22" name="Group 34">
            <a:extLst>
              <a:ext uri="{FF2B5EF4-FFF2-40B4-BE49-F238E27FC236}">
                <a16:creationId xmlns:a16="http://schemas.microsoft.com/office/drawing/2014/main" id="{AA3328FB-BF3C-74C8-D5B5-ACE44EACC9B1}"/>
              </a:ext>
            </a:extLst>
          </p:cNvPr>
          <p:cNvGrpSpPr/>
          <p:nvPr/>
        </p:nvGrpSpPr>
        <p:grpSpPr>
          <a:xfrm>
            <a:off x="1885061" y="2575845"/>
            <a:ext cx="390114" cy="229569"/>
            <a:chOff x="0" y="0"/>
            <a:chExt cx="165443" cy="165992"/>
          </a:xfrm>
        </p:grpSpPr>
        <p:sp>
          <p:nvSpPr>
            <p:cNvPr id="61" name="Freeform 35">
              <a:extLst>
                <a:ext uri="{FF2B5EF4-FFF2-40B4-BE49-F238E27FC236}">
                  <a16:creationId xmlns:a16="http://schemas.microsoft.com/office/drawing/2014/main" id="{FF796A53-DFCC-A828-A9C7-B7D23299C399}"/>
                </a:ext>
              </a:extLst>
            </p:cNvPr>
            <p:cNvSpPr/>
            <p:nvPr/>
          </p:nvSpPr>
          <p:spPr>
            <a:xfrm>
              <a:off x="0" y="0"/>
              <a:ext cx="165443" cy="165992"/>
            </a:xfrm>
            <a:custGeom>
              <a:avLst/>
              <a:gdLst/>
              <a:ahLst/>
              <a:cxnLst/>
              <a:rect l="l" t="t" r="r" b="b"/>
              <a:pathLst>
                <a:path w="165443" h="165992">
                  <a:moveTo>
                    <a:pt x="82721" y="0"/>
                  </a:moveTo>
                  <a:lnTo>
                    <a:pt x="82721" y="0"/>
                  </a:lnTo>
                  <a:cubicBezTo>
                    <a:pt x="128407" y="0"/>
                    <a:pt x="165443" y="37036"/>
                    <a:pt x="165443" y="82721"/>
                  </a:cubicBezTo>
                  <a:lnTo>
                    <a:pt x="165443" y="83271"/>
                  </a:lnTo>
                  <a:cubicBezTo>
                    <a:pt x="165443" y="128957"/>
                    <a:pt x="128407" y="165992"/>
                    <a:pt x="82721" y="165992"/>
                  </a:cubicBezTo>
                  <a:lnTo>
                    <a:pt x="82721" y="165992"/>
                  </a:lnTo>
                  <a:cubicBezTo>
                    <a:pt x="37036" y="165992"/>
                    <a:pt x="0" y="128957"/>
                    <a:pt x="0" y="83271"/>
                  </a:cubicBezTo>
                  <a:lnTo>
                    <a:pt x="0" y="82721"/>
                  </a:lnTo>
                  <a:cubicBezTo>
                    <a:pt x="0" y="37036"/>
                    <a:pt x="37036" y="0"/>
                    <a:pt x="82721" y="0"/>
                  </a:cubicBezTo>
                  <a:close/>
                </a:path>
              </a:pathLst>
            </a:custGeom>
            <a:solidFill>
              <a:srgbClr val="14342B"/>
            </a:solidFill>
          </p:spPr>
          <p:txBody>
            <a:bodyPr/>
            <a:lstStyle/>
            <a:p>
              <a:endParaRPr lang="en-IN">
                <a:latin typeface="Georgia" panose="02040502050405020303" pitchFamily="18" charset="0"/>
              </a:endParaRPr>
            </a:p>
          </p:txBody>
        </p:sp>
        <p:sp>
          <p:nvSpPr>
            <p:cNvPr id="62" name="TextBox 36">
              <a:extLst>
                <a:ext uri="{FF2B5EF4-FFF2-40B4-BE49-F238E27FC236}">
                  <a16:creationId xmlns:a16="http://schemas.microsoft.com/office/drawing/2014/main" id="{55BC93F1-6A80-0B5D-3D17-AA35655385C0}"/>
                </a:ext>
              </a:extLst>
            </p:cNvPr>
            <p:cNvSpPr txBox="1"/>
            <p:nvPr/>
          </p:nvSpPr>
          <p:spPr>
            <a:xfrm>
              <a:off x="0" y="-38100"/>
              <a:ext cx="165443" cy="204092"/>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sp>
        <p:nvSpPr>
          <p:cNvPr id="30" name="TextBox 51">
            <a:extLst>
              <a:ext uri="{FF2B5EF4-FFF2-40B4-BE49-F238E27FC236}">
                <a16:creationId xmlns:a16="http://schemas.microsoft.com/office/drawing/2014/main" id="{7FF2F71C-DA4F-50CF-6B75-2AEC33C1E89B}"/>
              </a:ext>
            </a:extLst>
          </p:cNvPr>
          <p:cNvSpPr txBox="1"/>
          <p:nvPr/>
        </p:nvSpPr>
        <p:spPr>
          <a:xfrm>
            <a:off x="962422" y="1927385"/>
            <a:ext cx="4808229" cy="161583"/>
          </a:xfrm>
          <a:prstGeom prst="rect">
            <a:avLst/>
          </a:prstGeom>
        </p:spPr>
        <p:txBody>
          <a:bodyPr wrap="square" lIns="0" tIns="0" rIns="0" bIns="0" rtlCol="0" anchor="t">
            <a:spAutoFit/>
          </a:bodyPr>
          <a:lstStyle/>
          <a:p>
            <a:pPr algn="ctr"/>
            <a:r>
              <a:rPr lang="en-US" sz="1050" b="1" dirty="0">
                <a:solidFill>
                  <a:schemeClr val="bg1"/>
                </a:solidFill>
                <a:latin typeface="Georgia" panose="02040502050405020303" pitchFamily="18" charset="0"/>
                <a:ea typeface="Inter" pitchFamily="34" charset="-122"/>
              </a:rPr>
              <a:t>North Karnataka Onion-Grape-Raisin-Pomegranate Cluster</a:t>
            </a:r>
            <a:endParaRPr lang="en-IN" sz="1050" dirty="0">
              <a:solidFill>
                <a:schemeClr val="bg1"/>
              </a:solidFill>
              <a:latin typeface="Georgia" panose="02040502050405020303" pitchFamily="18" charset="0"/>
            </a:endParaRPr>
          </a:p>
        </p:txBody>
      </p:sp>
      <p:sp>
        <p:nvSpPr>
          <p:cNvPr id="39" name="TextBox 61">
            <a:extLst>
              <a:ext uri="{FF2B5EF4-FFF2-40B4-BE49-F238E27FC236}">
                <a16:creationId xmlns:a16="http://schemas.microsoft.com/office/drawing/2014/main" id="{9F7D8213-D720-96A8-712E-889A197C4D4F}"/>
              </a:ext>
            </a:extLst>
          </p:cNvPr>
          <p:cNvSpPr txBox="1"/>
          <p:nvPr/>
        </p:nvSpPr>
        <p:spPr>
          <a:xfrm>
            <a:off x="1921986" y="2510446"/>
            <a:ext cx="316264" cy="322717"/>
          </a:xfrm>
          <a:prstGeom prst="rect">
            <a:avLst/>
          </a:prstGeom>
        </p:spPr>
        <p:txBody>
          <a:bodyPr lIns="0" tIns="0" rIns="0" bIns="0" rtlCol="0" anchor="t">
            <a:spAutoFit/>
          </a:bodyPr>
          <a:lstStyle/>
          <a:p>
            <a:pPr algn="ctr">
              <a:lnSpc>
                <a:spcPts val="2800"/>
              </a:lnSpc>
            </a:pPr>
            <a:r>
              <a:rPr lang="en-US" b="1" dirty="0">
                <a:solidFill>
                  <a:srgbClr val="FFFFFF"/>
                </a:solidFill>
                <a:latin typeface="Georgia" panose="02040502050405020303" pitchFamily="18" charset="0"/>
                <a:ea typeface="DM Sans Bold"/>
                <a:cs typeface="DM Sans Bold"/>
                <a:sym typeface="DM Sans Bold"/>
              </a:rPr>
              <a:t>01</a:t>
            </a:r>
          </a:p>
        </p:txBody>
      </p:sp>
      <p:sp>
        <p:nvSpPr>
          <p:cNvPr id="95" name="TextBox 94">
            <a:extLst>
              <a:ext uri="{FF2B5EF4-FFF2-40B4-BE49-F238E27FC236}">
                <a16:creationId xmlns:a16="http://schemas.microsoft.com/office/drawing/2014/main" id="{FB5D8B56-7B1F-9D8D-2430-4AA176400BA6}"/>
              </a:ext>
            </a:extLst>
          </p:cNvPr>
          <p:cNvSpPr txBox="1"/>
          <p:nvPr/>
        </p:nvSpPr>
        <p:spPr>
          <a:xfrm>
            <a:off x="2274125" y="2210563"/>
            <a:ext cx="3346961" cy="400110"/>
          </a:xfrm>
          <a:prstGeom prst="rect">
            <a:avLst/>
          </a:prstGeom>
          <a:noFill/>
        </p:spPr>
        <p:txBody>
          <a:bodyPr wrap="square" anchor="ctr">
            <a:spAutoFit/>
          </a:bodyPr>
          <a:lstStyle/>
          <a:p>
            <a:r>
              <a:rPr lang="en-US" sz="1000" b="1" dirty="0">
                <a:latin typeface="Georgia" panose="02040502050405020303" pitchFamily="18" charset="0"/>
                <a:ea typeface="Inter" pitchFamily="34" charset="-122"/>
              </a:rPr>
              <a:t>Packaging related losses range between 3.5% to 4%.</a:t>
            </a:r>
            <a:endParaRPr lang="en-IN" sz="1000" dirty="0">
              <a:latin typeface="Georgia" panose="02040502050405020303" pitchFamily="18" charset="0"/>
            </a:endParaRPr>
          </a:p>
        </p:txBody>
      </p:sp>
      <p:grpSp>
        <p:nvGrpSpPr>
          <p:cNvPr id="12" name="Group 12">
            <a:extLst>
              <a:ext uri="{FF2B5EF4-FFF2-40B4-BE49-F238E27FC236}">
                <a16:creationId xmlns:a16="http://schemas.microsoft.com/office/drawing/2014/main" id="{42664F51-EA99-6FAD-E67D-AF31DE9255C1}"/>
              </a:ext>
            </a:extLst>
          </p:cNvPr>
          <p:cNvGrpSpPr/>
          <p:nvPr/>
        </p:nvGrpSpPr>
        <p:grpSpPr>
          <a:xfrm>
            <a:off x="6081892" y="1617953"/>
            <a:ext cx="4633718" cy="1126022"/>
            <a:chOff x="0" y="-38100"/>
            <a:chExt cx="1965102" cy="814182"/>
          </a:xfrm>
        </p:grpSpPr>
        <p:sp>
          <p:nvSpPr>
            <p:cNvPr id="80" name="Freeform 13">
              <a:extLst>
                <a:ext uri="{FF2B5EF4-FFF2-40B4-BE49-F238E27FC236}">
                  <a16:creationId xmlns:a16="http://schemas.microsoft.com/office/drawing/2014/main" id="{45C68ED4-2505-5C6D-9551-37CF96BB5180}"/>
                </a:ext>
              </a:extLst>
            </p:cNvPr>
            <p:cNvSpPr/>
            <p:nvPr/>
          </p:nvSpPr>
          <p:spPr>
            <a:xfrm>
              <a:off x="34143" y="233347"/>
              <a:ext cx="1930959" cy="542735"/>
            </a:xfrm>
            <a:custGeom>
              <a:avLst/>
              <a:gdLst/>
              <a:ahLst/>
              <a:cxnLst/>
              <a:rect l="l" t="t" r="r" b="b"/>
              <a:pathLst>
                <a:path w="1930959" h="542735">
                  <a:moveTo>
                    <a:pt x="52798" y="0"/>
                  </a:moveTo>
                  <a:lnTo>
                    <a:pt x="1878161" y="0"/>
                  </a:lnTo>
                  <a:cubicBezTo>
                    <a:pt x="1907321" y="0"/>
                    <a:pt x="1930959" y="23639"/>
                    <a:pt x="1930959" y="52798"/>
                  </a:cubicBezTo>
                  <a:lnTo>
                    <a:pt x="1930959" y="489937"/>
                  </a:lnTo>
                  <a:cubicBezTo>
                    <a:pt x="1930959" y="503940"/>
                    <a:pt x="1925397" y="517369"/>
                    <a:pt x="1915495" y="527271"/>
                  </a:cubicBezTo>
                  <a:cubicBezTo>
                    <a:pt x="1905594" y="537173"/>
                    <a:pt x="1892164" y="542735"/>
                    <a:pt x="1878161" y="542735"/>
                  </a:cubicBezTo>
                  <a:lnTo>
                    <a:pt x="52798" y="542735"/>
                  </a:lnTo>
                  <a:cubicBezTo>
                    <a:pt x="23639" y="542735"/>
                    <a:pt x="0" y="519097"/>
                    <a:pt x="0" y="489937"/>
                  </a:cubicBezTo>
                  <a:lnTo>
                    <a:pt x="0" y="52798"/>
                  </a:lnTo>
                  <a:cubicBezTo>
                    <a:pt x="0" y="38795"/>
                    <a:pt x="5563" y="25366"/>
                    <a:pt x="15464" y="15464"/>
                  </a:cubicBezTo>
                  <a:cubicBezTo>
                    <a:pt x="25366" y="5563"/>
                    <a:pt x="38795" y="0"/>
                    <a:pt x="52798" y="0"/>
                  </a:cubicBezTo>
                  <a:close/>
                </a:path>
              </a:pathLst>
            </a:custGeom>
            <a:solidFill>
              <a:schemeClr val="bg2">
                <a:lumMod val="90000"/>
              </a:schemeClr>
            </a:solidFill>
          </p:spPr>
          <p:txBody>
            <a:bodyPr/>
            <a:lstStyle/>
            <a:p>
              <a:endParaRPr lang="en-IN" dirty="0">
                <a:latin typeface="Georgia" panose="02040502050405020303" pitchFamily="18" charset="0"/>
              </a:endParaRPr>
            </a:p>
          </p:txBody>
        </p:sp>
        <p:sp>
          <p:nvSpPr>
            <p:cNvPr id="81" name="TextBox 14">
              <a:extLst>
                <a:ext uri="{FF2B5EF4-FFF2-40B4-BE49-F238E27FC236}">
                  <a16:creationId xmlns:a16="http://schemas.microsoft.com/office/drawing/2014/main" id="{972EC68A-CA26-E1E7-5B8D-82DF5A301E21}"/>
                </a:ext>
              </a:extLst>
            </p:cNvPr>
            <p:cNvSpPr txBox="1"/>
            <p:nvPr/>
          </p:nvSpPr>
          <p:spPr>
            <a:xfrm>
              <a:off x="0" y="-38100"/>
              <a:ext cx="1930959" cy="580835"/>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grpSp>
        <p:nvGrpSpPr>
          <p:cNvPr id="16" name="Group 24">
            <a:extLst>
              <a:ext uri="{FF2B5EF4-FFF2-40B4-BE49-F238E27FC236}">
                <a16:creationId xmlns:a16="http://schemas.microsoft.com/office/drawing/2014/main" id="{2BCAFA55-6084-62E4-8710-B9DB4CA0A6FA}"/>
              </a:ext>
            </a:extLst>
          </p:cNvPr>
          <p:cNvGrpSpPr/>
          <p:nvPr/>
        </p:nvGrpSpPr>
        <p:grpSpPr>
          <a:xfrm>
            <a:off x="6182651" y="1708521"/>
            <a:ext cx="4473454" cy="441397"/>
            <a:chOff x="0" y="-38100"/>
            <a:chExt cx="1897136" cy="319158"/>
          </a:xfrm>
        </p:grpSpPr>
        <p:sp>
          <p:nvSpPr>
            <p:cNvPr id="72" name="Freeform 25">
              <a:extLst>
                <a:ext uri="{FF2B5EF4-FFF2-40B4-BE49-F238E27FC236}">
                  <a16:creationId xmlns:a16="http://schemas.microsoft.com/office/drawing/2014/main" id="{68523F2D-2B46-3C37-756E-595CC220A953}"/>
                </a:ext>
              </a:extLst>
            </p:cNvPr>
            <p:cNvSpPr/>
            <p:nvPr/>
          </p:nvSpPr>
          <p:spPr>
            <a:xfrm>
              <a:off x="4742" y="89851"/>
              <a:ext cx="1892394" cy="191207"/>
            </a:xfrm>
            <a:custGeom>
              <a:avLst/>
              <a:gdLst/>
              <a:ahLst/>
              <a:cxnLst/>
              <a:rect l="l" t="t" r="r" b="b"/>
              <a:pathLst>
                <a:path w="1068527" h="188153">
                  <a:moveTo>
                    <a:pt x="94076" y="0"/>
                  </a:moveTo>
                  <a:lnTo>
                    <a:pt x="974451" y="0"/>
                  </a:lnTo>
                  <a:cubicBezTo>
                    <a:pt x="999401" y="0"/>
                    <a:pt x="1023330" y="9912"/>
                    <a:pt x="1040973" y="27554"/>
                  </a:cubicBezTo>
                  <a:cubicBezTo>
                    <a:pt x="1058615" y="45197"/>
                    <a:pt x="1068527" y="69126"/>
                    <a:pt x="1068527" y="94076"/>
                  </a:cubicBezTo>
                  <a:lnTo>
                    <a:pt x="1068527" y="94076"/>
                  </a:lnTo>
                  <a:cubicBezTo>
                    <a:pt x="1068527" y="119027"/>
                    <a:pt x="1058615" y="142956"/>
                    <a:pt x="1040973" y="160598"/>
                  </a:cubicBezTo>
                  <a:cubicBezTo>
                    <a:pt x="1023330" y="178241"/>
                    <a:pt x="999401" y="188153"/>
                    <a:pt x="974451" y="188153"/>
                  </a:cubicBezTo>
                  <a:lnTo>
                    <a:pt x="94076" y="188153"/>
                  </a:lnTo>
                  <a:cubicBezTo>
                    <a:pt x="69126" y="188153"/>
                    <a:pt x="45197" y="178241"/>
                    <a:pt x="27554" y="160598"/>
                  </a:cubicBezTo>
                  <a:cubicBezTo>
                    <a:pt x="9912" y="142956"/>
                    <a:pt x="0" y="119027"/>
                    <a:pt x="0" y="94076"/>
                  </a:cubicBezTo>
                  <a:lnTo>
                    <a:pt x="0" y="94076"/>
                  </a:lnTo>
                  <a:cubicBezTo>
                    <a:pt x="0" y="69126"/>
                    <a:pt x="9912" y="45197"/>
                    <a:pt x="27554" y="27554"/>
                  </a:cubicBezTo>
                  <a:cubicBezTo>
                    <a:pt x="45197" y="9912"/>
                    <a:pt x="69126" y="0"/>
                    <a:pt x="94076" y="0"/>
                  </a:cubicBezTo>
                  <a:close/>
                </a:path>
              </a:pathLst>
            </a:custGeom>
            <a:solidFill>
              <a:srgbClr val="00B050"/>
            </a:solidFill>
          </p:spPr>
          <p:txBody>
            <a:bodyPr/>
            <a:lstStyle/>
            <a:p>
              <a:endParaRPr lang="en-IN">
                <a:latin typeface="Georgia" panose="02040502050405020303" pitchFamily="18" charset="0"/>
              </a:endParaRPr>
            </a:p>
          </p:txBody>
        </p:sp>
        <p:sp>
          <p:nvSpPr>
            <p:cNvPr id="73" name="TextBox 26">
              <a:extLst>
                <a:ext uri="{FF2B5EF4-FFF2-40B4-BE49-F238E27FC236}">
                  <a16:creationId xmlns:a16="http://schemas.microsoft.com/office/drawing/2014/main" id="{5C523B46-9EB0-9FEF-93CD-D47433AB9520}"/>
                </a:ext>
              </a:extLst>
            </p:cNvPr>
            <p:cNvSpPr txBox="1"/>
            <p:nvPr/>
          </p:nvSpPr>
          <p:spPr>
            <a:xfrm>
              <a:off x="0" y="-38100"/>
              <a:ext cx="1068527" cy="226253"/>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sp>
        <p:nvSpPr>
          <p:cNvPr id="20" name="AutoShape 32">
            <a:extLst>
              <a:ext uri="{FF2B5EF4-FFF2-40B4-BE49-F238E27FC236}">
                <a16:creationId xmlns:a16="http://schemas.microsoft.com/office/drawing/2014/main" id="{08A5DF4D-EDF7-5CD4-7A08-5FEF5321337F}"/>
              </a:ext>
            </a:extLst>
          </p:cNvPr>
          <p:cNvSpPr/>
          <p:nvPr/>
        </p:nvSpPr>
        <p:spPr>
          <a:xfrm>
            <a:off x="7194112" y="2021431"/>
            <a:ext cx="0" cy="558146"/>
          </a:xfrm>
          <a:prstGeom prst="line">
            <a:avLst/>
          </a:prstGeom>
          <a:ln w="28575" cap="flat">
            <a:solidFill>
              <a:srgbClr val="00B050"/>
            </a:solidFill>
            <a:prstDash val="solid"/>
            <a:headEnd type="none" w="sm" len="sm"/>
            <a:tailEnd type="none" w="sm" len="sm"/>
          </a:ln>
        </p:spPr>
        <p:txBody>
          <a:bodyPr/>
          <a:lstStyle/>
          <a:p>
            <a:endParaRPr lang="en-IN">
              <a:latin typeface="Georgia" panose="02040502050405020303" pitchFamily="18" charset="0"/>
            </a:endParaRPr>
          </a:p>
        </p:txBody>
      </p:sp>
      <p:grpSp>
        <p:nvGrpSpPr>
          <p:cNvPr id="24" name="Group 40">
            <a:extLst>
              <a:ext uri="{FF2B5EF4-FFF2-40B4-BE49-F238E27FC236}">
                <a16:creationId xmlns:a16="http://schemas.microsoft.com/office/drawing/2014/main" id="{235C79D3-29F3-57E5-48EC-445C4955D2C1}"/>
              </a:ext>
            </a:extLst>
          </p:cNvPr>
          <p:cNvGrpSpPr/>
          <p:nvPr/>
        </p:nvGrpSpPr>
        <p:grpSpPr>
          <a:xfrm>
            <a:off x="6999055" y="2464792"/>
            <a:ext cx="390114" cy="229569"/>
            <a:chOff x="0" y="0"/>
            <a:chExt cx="165443" cy="165992"/>
          </a:xfrm>
        </p:grpSpPr>
        <p:sp>
          <p:nvSpPr>
            <p:cNvPr id="53" name="Freeform 41">
              <a:extLst>
                <a:ext uri="{FF2B5EF4-FFF2-40B4-BE49-F238E27FC236}">
                  <a16:creationId xmlns:a16="http://schemas.microsoft.com/office/drawing/2014/main" id="{1A93CF5C-4D71-5921-4A27-6FCDC9D1B5CE}"/>
                </a:ext>
              </a:extLst>
            </p:cNvPr>
            <p:cNvSpPr/>
            <p:nvPr/>
          </p:nvSpPr>
          <p:spPr>
            <a:xfrm>
              <a:off x="0" y="0"/>
              <a:ext cx="165443" cy="165992"/>
            </a:xfrm>
            <a:custGeom>
              <a:avLst/>
              <a:gdLst/>
              <a:ahLst/>
              <a:cxnLst/>
              <a:rect l="l" t="t" r="r" b="b"/>
              <a:pathLst>
                <a:path w="165443" h="165992">
                  <a:moveTo>
                    <a:pt x="82721" y="0"/>
                  </a:moveTo>
                  <a:lnTo>
                    <a:pt x="82721" y="0"/>
                  </a:lnTo>
                  <a:cubicBezTo>
                    <a:pt x="128407" y="0"/>
                    <a:pt x="165443" y="37036"/>
                    <a:pt x="165443" y="82721"/>
                  </a:cubicBezTo>
                  <a:lnTo>
                    <a:pt x="165443" y="83271"/>
                  </a:lnTo>
                  <a:cubicBezTo>
                    <a:pt x="165443" y="128957"/>
                    <a:pt x="128407" y="165992"/>
                    <a:pt x="82721" y="165992"/>
                  </a:cubicBezTo>
                  <a:lnTo>
                    <a:pt x="82721" y="165992"/>
                  </a:lnTo>
                  <a:cubicBezTo>
                    <a:pt x="37036" y="165992"/>
                    <a:pt x="0" y="128957"/>
                    <a:pt x="0" y="83271"/>
                  </a:cubicBezTo>
                  <a:lnTo>
                    <a:pt x="0" y="82721"/>
                  </a:lnTo>
                  <a:cubicBezTo>
                    <a:pt x="0" y="37036"/>
                    <a:pt x="37036" y="0"/>
                    <a:pt x="82721" y="0"/>
                  </a:cubicBezTo>
                  <a:close/>
                </a:path>
              </a:pathLst>
            </a:custGeom>
            <a:solidFill>
              <a:srgbClr val="00B050"/>
            </a:solidFill>
            <a:ln>
              <a:solidFill>
                <a:srgbClr val="00B050"/>
              </a:solidFill>
            </a:ln>
          </p:spPr>
          <p:txBody>
            <a:bodyPr/>
            <a:lstStyle/>
            <a:p>
              <a:endParaRPr lang="en-IN">
                <a:latin typeface="Georgia" panose="02040502050405020303" pitchFamily="18" charset="0"/>
              </a:endParaRPr>
            </a:p>
          </p:txBody>
        </p:sp>
        <p:sp>
          <p:nvSpPr>
            <p:cNvPr id="54" name="TextBox 42">
              <a:extLst>
                <a:ext uri="{FF2B5EF4-FFF2-40B4-BE49-F238E27FC236}">
                  <a16:creationId xmlns:a16="http://schemas.microsoft.com/office/drawing/2014/main" id="{36D3129E-8A2A-7F1A-63B1-9D4C2F262F90}"/>
                </a:ext>
              </a:extLst>
            </p:cNvPr>
            <p:cNvSpPr txBox="1"/>
            <p:nvPr/>
          </p:nvSpPr>
          <p:spPr>
            <a:xfrm>
              <a:off x="0" y="-38100"/>
              <a:ext cx="165443" cy="204092"/>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sp>
        <p:nvSpPr>
          <p:cNvPr id="36" name="TextBox 58">
            <a:extLst>
              <a:ext uri="{FF2B5EF4-FFF2-40B4-BE49-F238E27FC236}">
                <a16:creationId xmlns:a16="http://schemas.microsoft.com/office/drawing/2014/main" id="{B2F28795-ABBA-9C6D-8E46-56BFA3369F0A}"/>
              </a:ext>
            </a:extLst>
          </p:cNvPr>
          <p:cNvSpPr txBox="1"/>
          <p:nvPr/>
        </p:nvSpPr>
        <p:spPr>
          <a:xfrm>
            <a:off x="6440001" y="1927332"/>
            <a:ext cx="3836989" cy="184666"/>
          </a:xfrm>
          <a:prstGeom prst="rect">
            <a:avLst/>
          </a:prstGeom>
        </p:spPr>
        <p:txBody>
          <a:bodyPr wrap="square" lIns="0" tIns="0" rIns="0" bIns="0" rtlCol="0" anchor="t">
            <a:spAutoFit/>
          </a:bodyPr>
          <a:lstStyle/>
          <a:p>
            <a:pPr algn="ctr"/>
            <a:r>
              <a:rPr lang="en-US" sz="1200" b="1" dirty="0">
                <a:solidFill>
                  <a:schemeClr val="bg1"/>
                </a:solidFill>
                <a:latin typeface="Georgia" panose="02040502050405020303" pitchFamily="18" charset="0"/>
                <a:ea typeface="Inter" pitchFamily="34" charset="-122"/>
              </a:rPr>
              <a:t>South Karnataka Banana-Tomato-Mango Cluster</a:t>
            </a:r>
            <a:endParaRPr lang="en-IN" sz="1200" dirty="0">
              <a:solidFill>
                <a:schemeClr val="bg1"/>
              </a:solidFill>
              <a:latin typeface="Georgia" panose="02040502050405020303" pitchFamily="18" charset="0"/>
            </a:endParaRPr>
          </a:p>
        </p:txBody>
      </p:sp>
      <p:sp>
        <p:nvSpPr>
          <p:cNvPr id="40" name="TextBox 62">
            <a:extLst>
              <a:ext uri="{FF2B5EF4-FFF2-40B4-BE49-F238E27FC236}">
                <a16:creationId xmlns:a16="http://schemas.microsoft.com/office/drawing/2014/main" id="{BC99B4E9-9E54-B428-2E6A-34122E76DBA3}"/>
              </a:ext>
            </a:extLst>
          </p:cNvPr>
          <p:cNvSpPr txBox="1"/>
          <p:nvPr/>
        </p:nvSpPr>
        <p:spPr>
          <a:xfrm>
            <a:off x="7013135" y="2368095"/>
            <a:ext cx="366029" cy="322717"/>
          </a:xfrm>
          <a:prstGeom prst="rect">
            <a:avLst/>
          </a:prstGeom>
        </p:spPr>
        <p:txBody>
          <a:bodyPr wrap="square" lIns="0" tIns="0" rIns="0" bIns="0" rtlCol="0" anchor="t">
            <a:spAutoFit/>
          </a:bodyPr>
          <a:lstStyle/>
          <a:p>
            <a:pPr algn="ctr">
              <a:lnSpc>
                <a:spcPts val="2800"/>
              </a:lnSpc>
            </a:pPr>
            <a:r>
              <a:rPr lang="en-US" b="1" dirty="0">
                <a:solidFill>
                  <a:srgbClr val="FFFFFF"/>
                </a:solidFill>
                <a:latin typeface="Georgia" panose="02040502050405020303" pitchFamily="18" charset="0"/>
                <a:ea typeface="DM Sans Bold"/>
                <a:cs typeface="DM Sans Bold"/>
                <a:sym typeface="DM Sans Bold"/>
              </a:rPr>
              <a:t>03</a:t>
            </a:r>
          </a:p>
        </p:txBody>
      </p:sp>
      <p:sp>
        <p:nvSpPr>
          <p:cNvPr id="99" name="TextBox 98">
            <a:extLst>
              <a:ext uri="{FF2B5EF4-FFF2-40B4-BE49-F238E27FC236}">
                <a16:creationId xmlns:a16="http://schemas.microsoft.com/office/drawing/2014/main" id="{7847E5EE-9D68-A982-EDD1-F13AA2B2C91B}"/>
              </a:ext>
            </a:extLst>
          </p:cNvPr>
          <p:cNvSpPr txBox="1"/>
          <p:nvPr/>
        </p:nvSpPr>
        <p:spPr>
          <a:xfrm>
            <a:off x="7394601" y="2207072"/>
            <a:ext cx="3296509" cy="400110"/>
          </a:xfrm>
          <a:prstGeom prst="rect">
            <a:avLst/>
          </a:prstGeom>
          <a:noFill/>
        </p:spPr>
        <p:txBody>
          <a:bodyPr wrap="square" anchor="ctr">
            <a:spAutoFit/>
          </a:bodyPr>
          <a:lstStyle/>
          <a:p>
            <a:r>
              <a:rPr lang="en-US" sz="1000" b="1" dirty="0">
                <a:latin typeface="Georgia" panose="02040502050405020303" pitchFamily="18" charset="0"/>
                <a:ea typeface="Inter" pitchFamily="34" charset="-122"/>
              </a:rPr>
              <a:t>Banana alone records an average packaging related loss of 4.5%</a:t>
            </a:r>
            <a:endParaRPr lang="en-IN" sz="1000" dirty="0">
              <a:latin typeface="Georgia" panose="02040502050405020303" pitchFamily="18" charset="0"/>
            </a:endParaRPr>
          </a:p>
        </p:txBody>
      </p:sp>
      <p:grpSp>
        <p:nvGrpSpPr>
          <p:cNvPr id="15" name="Group 21">
            <a:extLst>
              <a:ext uri="{FF2B5EF4-FFF2-40B4-BE49-F238E27FC236}">
                <a16:creationId xmlns:a16="http://schemas.microsoft.com/office/drawing/2014/main" id="{2172BD52-195F-CE2A-0F12-BD146EA43755}"/>
              </a:ext>
            </a:extLst>
          </p:cNvPr>
          <p:cNvGrpSpPr/>
          <p:nvPr/>
        </p:nvGrpSpPr>
        <p:grpSpPr>
          <a:xfrm>
            <a:off x="1135401" y="2880452"/>
            <a:ext cx="4462272" cy="317132"/>
            <a:chOff x="0" y="-38100"/>
            <a:chExt cx="1892394" cy="229306"/>
          </a:xfrm>
        </p:grpSpPr>
        <p:sp>
          <p:nvSpPr>
            <p:cNvPr id="74" name="Freeform 22">
              <a:extLst>
                <a:ext uri="{FF2B5EF4-FFF2-40B4-BE49-F238E27FC236}">
                  <a16:creationId xmlns:a16="http://schemas.microsoft.com/office/drawing/2014/main" id="{2DA079F1-D4EC-753A-7AB3-75A8844D5664}"/>
                </a:ext>
              </a:extLst>
            </p:cNvPr>
            <p:cNvSpPr/>
            <p:nvPr/>
          </p:nvSpPr>
          <p:spPr>
            <a:xfrm>
              <a:off x="0" y="-1"/>
              <a:ext cx="1892394" cy="191207"/>
            </a:xfrm>
            <a:custGeom>
              <a:avLst/>
              <a:gdLst/>
              <a:ahLst/>
              <a:cxnLst/>
              <a:rect l="l" t="t" r="r" b="b"/>
              <a:pathLst>
                <a:path w="1068527" h="188153">
                  <a:moveTo>
                    <a:pt x="94076" y="0"/>
                  </a:moveTo>
                  <a:lnTo>
                    <a:pt x="974451" y="0"/>
                  </a:lnTo>
                  <a:cubicBezTo>
                    <a:pt x="999401" y="0"/>
                    <a:pt x="1023330" y="9912"/>
                    <a:pt x="1040973" y="27554"/>
                  </a:cubicBezTo>
                  <a:cubicBezTo>
                    <a:pt x="1058615" y="45197"/>
                    <a:pt x="1068527" y="69126"/>
                    <a:pt x="1068527" y="94076"/>
                  </a:cubicBezTo>
                  <a:lnTo>
                    <a:pt x="1068527" y="94076"/>
                  </a:lnTo>
                  <a:cubicBezTo>
                    <a:pt x="1068527" y="119027"/>
                    <a:pt x="1058615" y="142956"/>
                    <a:pt x="1040973" y="160598"/>
                  </a:cubicBezTo>
                  <a:cubicBezTo>
                    <a:pt x="1023330" y="178241"/>
                    <a:pt x="999401" y="188153"/>
                    <a:pt x="974451" y="188153"/>
                  </a:cubicBezTo>
                  <a:lnTo>
                    <a:pt x="94076" y="188153"/>
                  </a:lnTo>
                  <a:cubicBezTo>
                    <a:pt x="69126" y="188153"/>
                    <a:pt x="45197" y="178241"/>
                    <a:pt x="27554" y="160598"/>
                  </a:cubicBezTo>
                  <a:cubicBezTo>
                    <a:pt x="9912" y="142956"/>
                    <a:pt x="0" y="119027"/>
                    <a:pt x="0" y="94076"/>
                  </a:cubicBezTo>
                  <a:lnTo>
                    <a:pt x="0" y="94076"/>
                  </a:lnTo>
                  <a:cubicBezTo>
                    <a:pt x="0" y="69126"/>
                    <a:pt x="9912" y="45197"/>
                    <a:pt x="27554" y="27554"/>
                  </a:cubicBezTo>
                  <a:cubicBezTo>
                    <a:pt x="45197" y="9912"/>
                    <a:pt x="69126" y="0"/>
                    <a:pt x="94076" y="0"/>
                  </a:cubicBezTo>
                  <a:close/>
                </a:path>
              </a:pathLst>
            </a:custGeom>
            <a:solidFill>
              <a:srgbClr val="14B8A6"/>
            </a:solidFill>
          </p:spPr>
          <p:txBody>
            <a:bodyPr/>
            <a:lstStyle/>
            <a:p>
              <a:endParaRPr lang="en-IN">
                <a:latin typeface="Georgia" panose="02040502050405020303" pitchFamily="18" charset="0"/>
              </a:endParaRPr>
            </a:p>
          </p:txBody>
        </p:sp>
        <p:sp>
          <p:nvSpPr>
            <p:cNvPr id="75" name="TextBox 23">
              <a:extLst>
                <a:ext uri="{FF2B5EF4-FFF2-40B4-BE49-F238E27FC236}">
                  <a16:creationId xmlns:a16="http://schemas.microsoft.com/office/drawing/2014/main" id="{4E722DCB-F51C-3032-7262-973279DA99E7}"/>
                </a:ext>
              </a:extLst>
            </p:cNvPr>
            <p:cNvSpPr txBox="1"/>
            <p:nvPr/>
          </p:nvSpPr>
          <p:spPr>
            <a:xfrm>
              <a:off x="0" y="-38100"/>
              <a:ext cx="1068527" cy="226253"/>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grpSp>
        <p:nvGrpSpPr>
          <p:cNvPr id="17" name="Group 27">
            <a:extLst>
              <a:ext uri="{FF2B5EF4-FFF2-40B4-BE49-F238E27FC236}">
                <a16:creationId xmlns:a16="http://schemas.microsoft.com/office/drawing/2014/main" id="{ABF19F1D-87D3-9A9D-A4F6-95C56BC04DDC}"/>
              </a:ext>
            </a:extLst>
          </p:cNvPr>
          <p:cNvGrpSpPr/>
          <p:nvPr/>
        </p:nvGrpSpPr>
        <p:grpSpPr>
          <a:xfrm>
            <a:off x="6148163" y="2880452"/>
            <a:ext cx="4462264" cy="317131"/>
            <a:chOff x="0" y="-38100"/>
            <a:chExt cx="1892391" cy="229306"/>
          </a:xfrm>
        </p:grpSpPr>
        <p:sp>
          <p:nvSpPr>
            <p:cNvPr id="63" name="Freeform 28">
              <a:extLst>
                <a:ext uri="{FF2B5EF4-FFF2-40B4-BE49-F238E27FC236}">
                  <a16:creationId xmlns:a16="http://schemas.microsoft.com/office/drawing/2014/main" id="{BA1B5DF5-1283-BA93-09A6-C9F96E9EFFCA}"/>
                </a:ext>
              </a:extLst>
            </p:cNvPr>
            <p:cNvSpPr/>
            <p:nvPr/>
          </p:nvSpPr>
          <p:spPr>
            <a:xfrm>
              <a:off x="0" y="-1"/>
              <a:ext cx="1892391" cy="191207"/>
            </a:xfrm>
            <a:custGeom>
              <a:avLst/>
              <a:gdLst/>
              <a:ahLst/>
              <a:cxnLst/>
              <a:rect l="l" t="t" r="r" b="b"/>
              <a:pathLst>
                <a:path w="1068527" h="188153">
                  <a:moveTo>
                    <a:pt x="94076" y="0"/>
                  </a:moveTo>
                  <a:lnTo>
                    <a:pt x="974451" y="0"/>
                  </a:lnTo>
                  <a:cubicBezTo>
                    <a:pt x="999401" y="0"/>
                    <a:pt x="1023330" y="9912"/>
                    <a:pt x="1040973" y="27554"/>
                  </a:cubicBezTo>
                  <a:cubicBezTo>
                    <a:pt x="1058615" y="45197"/>
                    <a:pt x="1068527" y="69126"/>
                    <a:pt x="1068527" y="94076"/>
                  </a:cubicBezTo>
                  <a:lnTo>
                    <a:pt x="1068527" y="94076"/>
                  </a:lnTo>
                  <a:cubicBezTo>
                    <a:pt x="1068527" y="119027"/>
                    <a:pt x="1058615" y="142956"/>
                    <a:pt x="1040973" y="160598"/>
                  </a:cubicBezTo>
                  <a:cubicBezTo>
                    <a:pt x="1023330" y="178241"/>
                    <a:pt x="999401" y="188153"/>
                    <a:pt x="974451" y="188153"/>
                  </a:cubicBezTo>
                  <a:lnTo>
                    <a:pt x="94076" y="188153"/>
                  </a:lnTo>
                  <a:cubicBezTo>
                    <a:pt x="69126" y="188153"/>
                    <a:pt x="45197" y="178241"/>
                    <a:pt x="27554" y="160598"/>
                  </a:cubicBezTo>
                  <a:cubicBezTo>
                    <a:pt x="9912" y="142956"/>
                    <a:pt x="0" y="119027"/>
                    <a:pt x="0" y="94076"/>
                  </a:cubicBezTo>
                  <a:lnTo>
                    <a:pt x="0" y="94076"/>
                  </a:lnTo>
                  <a:cubicBezTo>
                    <a:pt x="0" y="69126"/>
                    <a:pt x="9912" y="45197"/>
                    <a:pt x="27554" y="27554"/>
                  </a:cubicBezTo>
                  <a:cubicBezTo>
                    <a:pt x="45197" y="9912"/>
                    <a:pt x="69126" y="0"/>
                    <a:pt x="94076" y="0"/>
                  </a:cubicBezTo>
                  <a:close/>
                </a:path>
              </a:pathLst>
            </a:custGeom>
            <a:solidFill>
              <a:srgbClr val="E8A33D"/>
            </a:solidFill>
          </p:spPr>
          <p:txBody>
            <a:bodyPr/>
            <a:lstStyle/>
            <a:p>
              <a:endParaRPr lang="en-IN">
                <a:latin typeface="Georgia" panose="02040502050405020303" pitchFamily="18" charset="0"/>
              </a:endParaRPr>
            </a:p>
          </p:txBody>
        </p:sp>
        <p:sp>
          <p:nvSpPr>
            <p:cNvPr id="66" name="TextBox 29">
              <a:extLst>
                <a:ext uri="{FF2B5EF4-FFF2-40B4-BE49-F238E27FC236}">
                  <a16:creationId xmlns:a16="http://schemas.microsoft.com/office/drawing/2014/main" id="{9B082D12-B17A-A2E6-157F-5D859CC556DA}"/>
                </a:ext>
              </a:extLst>
            </p:cNvPr>
            <p:cNvSpPr txBox="1"/>
            <p:nvPr/>
          </p:nvSpPr>
          <p:spPr>
            <a:xfrm>
              <a:off x="0" y="-38100"/>
              <a:ext cx="1068527" cy="226253"/>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sp>
        <p:nvSpPr>
          <p:cNvPr id="19" name="AutoShape 31">
            <a:extLst>
              <a:ext uri="{FF2B5EF4-FFF2-40B4-BE49-F238E27FC236}">
                <a16:creationId xmlns:a16="http://schemas.microsoft.com/office/drawing/2014/main" id="{479D324F-00F1-5458-14F0-0A4088AD87D7}"/>
              </a:ext>
            </a:extLst>
          </p:cNvPr>
          <p:cNvSpPr/>
          <p:nvPr/>
        </p:nvSpPr>
        <p:spPr>
          <a:xfrm flipH="1">
            <a:off x="2108549" y="3193361"/>
            <a:ext cx="0" cy="558145"/>
          </a:xfrm>
          <a:prstGeom prst="line">
            <a:avLst/>
          </a:prstGeom>
          <a:ln w="28575" cap="flat">
            <a:solidFill>
              <a:srgbClr val="14B8A6"/>
            </a:solidFill>
            <a:prstDash val="solid"/>
            <a:headEnd type="none" w="sm" len="sm"/>
            <a:tailEnd type="none" w="sm" len="sm"/>
          </a:ln>
        </p:spPr>
        <p:txBody>
          <a:bodyPr/>
          <a:lstStyle/>
          <a:p>
            <a:endParaRPr lang="en-IN">
              <a:latin typeface="Georgia" panose="02040502050405020303" pitchFamily="18" charset="0"/>
            </a:endParaRPr>
          </a:p>
        </p:txBody>
      </p:sp>
      <p:sp>
        <p:nvSpPr>
          <p:cNvPr id="21" name="AutoShape 33">
            <a:extLst>
              <a:ext uri="{FF2B5EF4-FFF2-40B4-BE49-F238E27FC236}">
                <a16:creationId xmlns:a16="http://schemas.microsoft.com/office/drawing/2014/main" id="{B08C8B2A-9490-433B-4611-33EA03FBCAA0}"/>
              </a:ext>
            </a:extLst>
          </p:cNvPr>
          <p:cNvSpPr/>
          <p:nvPr/>
        </p:nvSpPr>
        <p:spPr>
          <a:xfrm>
            <a:off x="7171493" y="3193361"/>
            <a:ext cx="0" cy="558145"/>
          </a:xfrm>
          <a:prstGeom prst="line">
            <a:avLst/>
          </a:prstGeom>
          <a:ln w="28575" cap="flat">
            <a:solidFill>
              <a:srgbClr val="E8A33D"/>
            </a:solidFill>
            <a:prstDash val="solid"/>
            <a:headEnd type="none" w="sm" len="sm"/>
            <a:tailEnd type="none" w="sm" len="sm"/>
          </a:ln>
        </p:spPr>
        <p:txBody>
          <a:bodyPr/>
          <a:lstStyle/>
          <a:p>
            <a:endParaRPr lang="en-IN">
              <a:latin typeface="Georgia" panose="02040502050405020303" pitchFamily="18" charset="0"/>
            </a:endParaRPr>
          </a:p>
        </p:txBody>
      </p:sp>
      <p:grpSp>
        <p:nvGrpSpPr>
          <p:cNvPr id="23" name="Group 37">
            <a:extLst>
              <a:ext uri="{FF2B5EF4-FFF2-40B4-BE49-F238E27FC236}">
                <a16:creationId xmlns:a16="http://schemas.microsoft.com/office/drawing/2014/main" id="{29F9D1BD-41CD-BA41-AB70-2B9BC2147951}"/>
              </a:ext>
            </a:extLst>
          </p:cNvPr>
          <p:cNvGrpSpPr/>
          <p:nvPr/>
        </p:nvGrpSpPr>
        <p:grpSpPr>
          <a:xfrm>
            <a:off x="1921178" y="3589234"/>
            <a:ext cx="390114" cy="282261"/>
            <a:chOff x="0" y="-38100"/>
            <a:chExt cx="165443" cy="204092"/>
          </a:xfrm>
        </p:grpSpPr>
        <p:sp>
          <p:nvSpPr>
            <p:cNvPr id="59" name="Freeform 38">
              <a:extLst>
                <a:ext uri="{FF2B5EF4-FFF2-40B4-BE49-F238E27FC236}">
                  <a16:creationId xmlns:a16="http://schemas.microsoft.com/office/drawing/2014/main" id="{75BA8EB5-725F-76B4-1C29-29C2B8B8C404}"/>
                </a:ext>
              </a:extLst>
            </p:cNvPr>
            <p:cNvSpPr/>
            <p:nvPr/>
          </p:nvSpPr>
          <p:spPr>
            <a:xfrm>
              <a:off x="0" y="0"/>
              <a:ext cx="165443" cy="165992"/>
            </a:xfrm>
            <a:custGeom>
              <a:avLst/>
              <a:gdLst/>
              <a:ahLst/>
              <a:cxnLst/>
              <a:rect l="l" t="t" r="r" b="b"/>
              <a:pathLst>
                <a:path w="165443" h="165992">
                  <a:moveTo>
                    <a:pt x="82721" y="0"/>
                  </a:moveTo>
                  <a:lnTo>
                    <a:pt x="82721" y="0"/>
                  </a:lnTo>
                  <a:cubicBezTo>
                    <a:pt x="128407" y="0"/>
                    <a:pt x="165443" y="37036"/>
                    <a:pt x="165443" y="82721"/>
                  </a:cubicBezTo>
                  <a:lnTo>
                    <a:pt x="165443" y="83271"/>
                  </a:lnTo>
                  <a:cubicBezTo>
                    <a:pt x="165443" y="128957"/>
                    <a:pt x="128407" y="165992"/>
                    <a:pt x="82721" y="165992"/>
                  </a:cubicBezTo>
                  <a:lnTo>
                    <a:pt x="82721" y="165992"/>
                  </a:lnTo>
                  <a:cubicBezTo>
                    <a:pt x="37036" y="165992"/>
                    <a:pt x="0" y="128957"/>
                    <a:pt x="0" y="83271"/>
                  </a:cubicBezTo>
                  <a:lnTo>
                    <a:pt x="0" y="82721"/>
                  </a:lnTo>
                  <a:cubicBezTo>
                    <a:pt x="0" y="37036"/>
                    <a:pt x="37036" y="0"/>
                    <a:pt x="82721" y="0"/>
                  </a:cubicBezTo>
                  <a:close/>
                </a:path>
              </a:pathLst>
            </a:custGeom>
            <a:solidFill>
              <a:srgbClr val="14B8A6"/>
            </a:solidFill>
          </p:spPr>
          <p:txBody>
            <a:bodyPr/>
            <a:lstStyle/>
            <a:p>
              <a:endParaRPr lang="en-IN">
                <a:latin typeface="Georgia" panose="02040502050405020303" pitchFamily="18" charset="0"/>
              </a:endParaRPr>
            </a:p>
          </p:txBody>
        </p:sp>
        <p:sp>
          <p:nvSpPr>
            <p:cNvPr id="60" name="TextBox 39">
              <a:extLst>
                <a:ext uri="{FF2B5EF4-FFF2-40B4-BE49-F238E27FC236}">
                  <a16:creationId xmlns:a16="http://schemas.microsoft.com/office/drawing/2014/main" id="{88B2E2C4-34FD-D0A8-5F50-87A03E2E91A2}"/>
                </a:ext>
              </a:extLst>
            </p:cNvPr>
            <p:cNvSpPr txBox="1"/>
            <p:nvPr/>
          </p:nvSpPr>
          <p:spPr>
            <a:xfrm>
              <a:off x="0" y="-38100"/>
              <a:ext cx="165443" cy="204092"/>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grpSp>
        <p:nvGrpSpPr>
          <p:cNvPr id="25" name="Group 43">
            <a:extLst>
              <a:ext uri="{FF2B5EF4-FFF2-40B4-BE49-F238E27FC236}">
                <a16:creationId xmlns:a16="http://schemas.microsoft.com/office/drawing/2014/main" id="{C33F0F29-1D4A-BA48-DBAB-03651494221C}"/>
              </a:ext>
            </a:extLst>
          </p:cNvPr>
          <p:cNvGrpSpPr/>
          <p:nvPr/>
        </p:nvGrpSpPr>
        <p:grpSpPr>
          <a:xfrm>
            <a:off x="6976436" y="3637454"/>
            <a:ext cx="390114" cy="229568"/>
            <a:chOff x="0" y="0"/>
            <a:chExt cx="165443" cy="165992"/>
          </a:xfrm>
        </p:grpSpPr>
        <p:sp>
          <p:nvSpPr>
            <p:cNvPr id="47" name="Freeform 44">
              <a:extLst>
                <a:ext uri="{FF2B5EF4-FFF2-40B4-BE49-F238E27FC236}">
                  <a16:creationId xmlns:a16="http://schemas.microsoft.com/office/drawing/2014/main" id="{F7B34B71-72F8-9CFA-E3F4-3AC4A535E586}"/>
                </a:ext>
              </a:extLst>
            </p:cNvPr>
            <p:cNvSpPr/>
            <p:nvPr/>
          </p:nvSpPr>
          <p:spPr>
            <a:xfrm>
              <a:off x="0" y="0"/>
              <a:ext cx="165443" cy="165992"/>
            </a:xfrm>
            <a:custGeom>
              <a:avLst/>
              <a:gdLst/>
              <a:ahLst/>
              <a:cxnLst/>
              <a:rect l="l" t="t" r="r" b="b"/>
              <a:pathLst>
                <a:path w="165443" h="165992">
                  <a:moveTo>
                    <a:pt x="82721" y="0"/>
                  </a:moveTo>
                  <a:lnTo>
                    <a:pt x="82721" y="0"/>
                  </a:lnTo>
                  <a:cubicBezTo>
                    <a:pt x="128407" y="0"/>
                    <a:pt x="165443" y="37036"/>
                    <a:pt x="165443" y="82721"/>
                  </a:cubicBezTo>
                  <a:lnTo>
                    <a:pt x="165443" y="83271"/>
                  </a:lnTo>
                  <a:cubicBezTo>
                    <a:pt x="165443" y="128957"/>
                    <a:pt x="128407" y="165992"/>
                    <a:pt x="82721" y="165992"/>
                  </a:cubicBezTo>
                  <a:lnTo>
                    <a:pt x="82721" y="165992"/>
                  </a:lnTo>
                  <a:cubicBezTo>
                    <a:pt x="37036" y="165992"/>
                    <a:pt x="0" y="128957"/>
                    <a:pt x="0" y="83271"/>
                  </a:cubicBezTo>
                  <a:lnTo>
                    <a:pt x="0" y="82721"/>
                  </a:lnTo>
                  <a:cubicBezTo>
                    <a:pt x="0" y="37036"/>
                    <a:pt x="37036" y="0"/>
                    <a:pt x="82721" y="0"/>
                  </a:cubicBezTo>
                  <a:close/>
                </a:path>
              </a:pathLst>
            </a:custGeom>
            <a:solidFill>
              <a:srgbClr val="E8A33D"/>
            </a:solidFill>
          </p:spPr>
          <p:txBody>
            <a:bodyPr/>
            <a:lstStyle/>
            <a:p>
              <a:endParaRPr lang="en-IN">
                <a:latin typeface="Georgia" panose="02040502050405020303" pitchFamily="18" charset="0"/>
              </a:endParaRPr>
            </a:p>
          </p:txBody>
        </p:sp>
        <p:sp>
          <p:nvSpPr>
            <p:cNvPr id="52" name="TextBox 45">
              <a:extLst>
                <a:ext uri="{FF2B5EF4-FFF2-40B4-BE49-F238E27FC236}">
                  <a16:creationId xmlns:a16="http://schemas.microsoft.com/office/drawing/2014/main" id="{D4A31046-994B-2F75-FD5E-3D1CA58E5A0E}"/>
                </a:ext>
              </a:extLst>
            </p:cNvPr>
            <p:cNvSpPr txBox="1"/>
            <p:nvPr/>
          </p:nvSpPr>
          <p:spPr>
            <a:xfrm>
              <a:off x="0" y="-38100"/>
              <a:ext cx="165443" cy="204092"/>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sp>
        <p:nvSpPr>
          <p:cNvPr id="37" name="TextBox 59">
            <a:extLst>
              <a:ext uri="{FF2B5EF4-FFF2-40B4-BE49-F238E27FC236}">
                <a16:creationId xmlns:a16="http://schemas.microsoft.com/office/drawing/2014/main" id="{F6613263-7A38-5355-78FC-4CC1BEC5F44C}"/>
              </a:ext>
            </a:extLst>
          </p:cNvPr>
          <p:cNvSpPr txBox="1"/>
          <p:nvPr/>
        </p:nvSpPr>
        <p:spPr>
          <a:xfrm>
            <a:off x="6159512" y="2977280"/>
            <a:ext cx="3303589" cy="184666"/>
          </a:xfrm>
          <a:prstGeom prst="rect">
            <a:avLst/>
          </a:prstGeom>
        </p:spPr>
        <p:txBody>
          <a:bodyPr wrap="square" lIns="0" tIns="0" rIns="0" bIns="0" rtlCol="0" anchor="t">
            <a:spAutoFit/>
          </a:bodyPr>
          <a:lstStyle/>
          <a:p>
            <a:pPr algn="ctr"/>
            <a:r>
              <a:rPr lang="en-US" sz="1200" b="1" dirty="0">
                <a:solidFill>
                  <a:schemeClr val="bg1"/>
                </a:solidFill>
                <a:latin typeface="Georgia" panose="02040502050405020303" pitchFamily="18" charset="0"/>
                <a:ea typeface="Inter" pitchFamily="34" charset="-122"/>
              </a:rPr>
              <a:t>East Karnataka Tomato-Mango Cluster</a:t>
            </a:r>
            <a:endParaRPr lang="en-IN" sz="1200" dirty="0">
              <a:solidFill>
                <a:schemeClr val="bg1"/>
              </a:solidFill>
              <a:latin typeface="Georgia" panose="02040502050405020303" pitchFamily="18" charset="0"/>
            </a:endParaRPr>
          </a:p>
        </p:txBody>
      </p:sp>
      <p:sp>
        <p:nvSpPr>
          <p:cNvPr id="38" name="TextBox 60">
            <a:extLst>
              <a:ext uri="{FF2B5EF4-FFF2-40B4-BE49-F238E27FC236}">
                <a16:creationId xmlns:a16="http://schemas.microsoft.com/office/drawing/2014/main" id="{EEDEB90B-1049-B633-BC68-5F264247F545}"/>
              </a:ext>
            </a:extLst>
          </p:cNvPr>
          <p:cNvSpPr txBox="1"/>
          <p:nvPr/>
        </p:nvSpPr>
        <p:spPr>
          <a:xfrm>
            <a:off x="1950848" y="3536316"/>
            <a:ext cx="316264" cy="322717"/>
          </a:xfrm>
          <a:prstGeom prst="rect">
            <a:avLst/>
          </a:prstGeom>
        </p:spPr>
        <p:txBody>
          <a:bodyPr lIns="0" tIns="0" rIns="0" bIns="0" rtlCol="0" anchor="t">
            <a:spAutoFit/>
          </a:bodyPr>
          <a:lstStyle/>
          <a:p>
            <a:pPr algn="ctr">
              <a:lnSpc>
                <a:spcPts val="2800"/>
              </a:lnSpc>
            </a:pPr>
            <a:r>
              <a:rPr lang="en-US" b="1" dirty="0">
                <a:solidFill>
                  <a:srgbClr val="FFFFFF"/>
                </a:solidFill>
                <a:latin typeface="Georgia" panose="02040502050405020303" pitchFamily="18" charset="0"/>
                <a:ea typeface="DM Sans Bold"/>
                <a:cs typeface="DM Sans Bold"/>
                <a:sym typeface="DM Sans Bold"/>
              </a:rPr>
              <a:t>02</a:t>
            </a:r>
          </a:p>
        </p:txBody>
      </p:sp>
      <p:sp>
        <p:nvSpPr>
          <p:cNvPr id="46" name="TextBox 63">
            <a:extLst>
              <a:ext uri="{FF2B5EF4-FFF2-40B4-BE49-F238E27FC236}">
                <a16:creationId xmlns:a16="http://schemas.microsoft.com/office/drawing/2014/main" id="{B3762E09-FF68-85B6-1397-9A4664B1A208}"/>
              </a:ext>
            </a:extLst>
          </p:cNvPr>
          <p:cNvSpPr txBox="1"/>
          <p:nvPr/>
        </p:nvSpPr>
        <p:spPr>
          <a:xfrm>
            <a:off x="7013361" y="3536804"/>
            <a:ext cx="316264" cy="322717"/>
          </a:xfrm>
          <a:prstGeom prst="rect">
            <a:avLst/>
          </a:prstGeom>
        </p:spPr>
        <p:txBody>
          <a:bodyPr lIns="0" tIns="0" rIns="0" bIns="0" rtlCol="0" anchor="t">
            <a:spAutoFit/>
          </a:bodyPr>
          <a:lstStyle/>
          <a:p>
            <a:pPr algn="ctr">
              <a:lnSpc>
                <a:spcPts val="2800"/>
              </a:lnSpc>
            </a:pPr>
            <a:r>
              <a:rPr lang="en-US" b="1" dirty="0">
                <a:solidFill>
                  <a:srgbClr val="FFFFFF"/>
                </a:solidFill>
                <a:latin typeface="Georgia" panose="02040502050405020303" pitchFamily="18" charset="0"/>
                <a:ea typeface="DM Sans Bold"/>
                <a:cs typeface="DM Sans Bold"/>
                <a:sym typeface="DM Sans Bold"/>
              </a:rPr>
              <a:t>04</a:t>
            </a:r>
          </a:p>
        </p:txBody>
      </p:sp>
      <p:sp>
        <p:nvSpPr>
          <p:cNvPr id="97" name="TextBox 96">
            <a:extLst>
              <a:ext uri="{FF2B5EF4-FFF2-40B4-BE49-F238E27FC236}">
                <a16:creationId xmlns:a16="http://schemas.microsoft.com/office/drawing/2014/main" id="{409AF1AE-CE1F-EAC7-66F9-401611D23924}"/>
              </a:ext>
            </a:extLst>
          </p:cNvPr>
          <p:cNvSpPr txBox="1"/>
          <p:nvPr/>
        </p:nvSpPr>
        <p:spPr>
          <a:xfrm>
            <a:off x="2331591" y="3222929"/>
            <a:ext cx="3325122" cy="553998"/>
          </a:xfrm>
          <a:prstGeom prst="rect">
            <a:avLst/>
          </a:prstGeom>
          <a:noFill/>
        </p:spPr>
        <p:txBody>
          <a:bodyPr wrap="square" anchor="ctr">
            <a:spAutoFit/>
          </a:bodyPr>
          <a:lstStyle/>
          <a:p>
            <a:r>
              <a:rPr lang="en-US" sz="1000" b="1" dirty="0">
                <a:latin typeface="Georgia" panose="02040502050405020303" pitchFamily="18" charset="0"/>
                <a:ea typeface="Inter" pitchFamily="34" charset="-122"/>
              </a:rPr>
              <a:t>The main reason for packaging related loss in Banana was reported to be the </a:t>
            </a:r>
            <a:r>
              <a:rPr lang="en-US" sz="1000" b="1" dirty="0">
                <a:latin typeface="Georgia" panose="02040502050405020303" pitchFamily="18" charset="0"/>
              </a:rPr>
              <a:t>lack of bunch covering </a:t>
            </a:r>
            <a:endParaRPr lang="en-IN" sz="1000" dirty="0">
              <a:latin typeface="Georgia" panose="02040502050405020303" pitchFamily="18" charset="0"/>
            </a:endParaRPr>
          </a:p>
        </p:txBody>
      </p:sp>
      <p:sp>
        <p:nvSpPr>
          <p:cNvPr id="28" name="TextBox 27">
            <a:extLst>
              <a:ext uri="{FF2B5EF4-FFF2-40B4-BE49-F238E27FC236}">
                <a16:creationId xmlns:a16="http://schemas.microsoft.com/office/drawing/2014/main" id="{65FAC589-1805-4B38-7AD4-EE87978F4F0E}"/>
              </a:ext>
            </a:extLst>
          </p:cNvPr>
          <p:cNvSpPr txBox="1"/>
          <p:nvPr/>
        </p:nvSpPr>
        <p:spPr>
          <a:xfrm>
            <a:off x="7354681" y="3289761"/>
            <a:ext cx="3296509" cy="400110"/>
          </a:xfrm>
          <a:prstGeom prst="rect">
            <a:avLst/>
          </a:prstGeom>
          <a:noFill/>
        </p:spPr>
        <p:txBody>
          <a:bodyPr wrap="square" anchor="ctr">
            <a:spAutoFit/>
          </a:bodyPr>
          <a:lstStyle/>
          <a:p>
            <a:r>
              <a:rPr lang="en-US" sz="1000" b="1" dirty="0">
                <a:latin typeface="Georgia" panose="02040502050405020303" pitchFamily="18" charset="0"/>
                <a:ea typeface="Inter" pitchFamily="34" charset="-122"/>
              </a:rPr>
              <a:t>Mango records an average packaging related loss of 20%</a:t>
            </a:r>
            <a:endParaRPr lang="en-IN" sz="1000" dirty="0">
              <a:latin typeface="Georgia" panose="02040502050405020303" pitchFamily="18" charset="0"/>
            </a:endParaRPr>
          </a:p>
        </p:txBody>
      </p:sp>
      <p:sp>
        <p:nvSpPr>
          <p:cNvPr id="116" name="TextBox 57">
            <a:extLst>
              <a:ext uri="{FF2B5EF4-FFF2-40B4-BE49-F238E27FC236}">
                <a16:creationId xmlns:a16="http://schemas.microsoft.com/office/drawing/2014/main" id="{3291AC9E-1E9E-88D3-75D4-4AF8409AD4F1}"/>
              </a:ext>
            </a:extLst>
          </p:cNvPr>
          <p:cNvSpPr txBox="1"/>
          <p:nvPr/>
        </p:nvSpPr>
        <p:spPr>
          <a:xfrm>
            <a:off x="1298750" y="2974654"/>
            <a:ext cx="3882850" cy="184666"/>
          </a:xfrm>
          <a:prstGeom prst="rect">
            <a:avLst/>
          </a:prstGeom>
        </p:spPr>
        <p:txBody>
          <a:bodyPr wrap="square" lIns="0" tIns="0" rIns="0" bIns="0" rtlCol="0" anchor="t">
            <a:spAutoFit/>
          </a:bodyPr>
          <a:lstStyle/>
          <a:p>
            <a:pPr algn="ctr"/>
            <a:r>
              <a:rPr lang="en-IN" sz="1200" b="1" dirty="0">
                <a:solidFill>
                  <a:schemeClr val="bg1"/>
                </a:solidFill>
                <a:latin typeface="Georgia" panose="02040502050405020303" pitchFamily="18" charset="0"/>
              </a:rPr>
              <a:t>Central Karnataka Onion-Pomegranate cluster</a:t>
            </a:r>
          </a:p>
        </p:txBody>
      </p:sp>
      <p:sp>
        <p:nvSpPr>
          <p:cNvPr id="103" name="TextBox 102">
            <a:extLst>
              <a:ext uri="{FF2B5EF4-FFF2-40B4-BE49-F238E27FC236}">
                <a16:creationId xmlns:a16="http://schemas.microsoft.com/office/drawing/2014/main" id="{D86982F1-CD29-AE91-BE4F-71CD6681330C}"/>
              </a:ext>
            </a:extLst>
          </p:cNvPr>
          <p:cNvSpPr txBox="1"/>
          <p:nvPr/>
        </p:nvSpPr>
        <p:spPr>
          <a:xfrm>
            <a:off x="1026096" y="5301027"/>
            <a:ext cx="10153800" cy="230832"/>
          </a:xfrm>
          <a:prstGeom prst="rect">
            <a:avLst/>
          </a:prstGeom>
          <a:noFill/>
        </p:spPr>
        <p:txBody>
          <a:bodyPr wrap="square">
            <a:spAutoFit/>
          </a:bodyPr>
          <a:lstStyle/>
          <a:p>
            <a:r>
              <a:rPr lang="en-IN" sz="900" i="1" dirty="0">
                <a:latin typeface="Georgia" panose="02040502050405020303" pitchFamily="18" charset="0"/>
              </a:rPr>
              <a:t>* The post-harvest loss estimations or reasons at packaging level were not available for Western Ghats Banana-Pineapple cluster</a:t>
            </a:r>
          </a:p>
        </p:txBody>
      </p:sp>
      <p:sp>
        <p:nvSpPr>
          <p:cNvPr id="98" name="Freeform 10">
            <a:extLst>
              <a:ext uri="{FF2B5EF4-FFF2-40B4-BE49-F238E27FC236}">
                <a16:creationId xmlns:a16="http://schemas.microsoft.com/office/drawing/2014/main" id="{4299BBFF-37DE-92AA-5CC1-A5024A205F49}"/>
              </a:ext>
            </a:extLst>
          </p:cNvPr>
          <p:cNvSpPr/>
          <p:nvPr/>
        </p:nvSpPr>
        <p:spPr>
          <a:xfrm>
            <a:off x="1148065" y="4075142"/>
            <a:ext cx="4553209" cy="1103566"/>
          </a:xfrm>
          <a:custGeom>
            <a:avLst/>
            <a:gdLst/>
            <a:ahLst/>
            <a:cxnLst/>
            <a:rect l="l" t="t" r="r" b="b"/>
            <a:pathLst>
              <a:path w="1930959" h="542735">
                <a:moveTo>
                  <a:pt x="52798" y="0"/>
                </a:moveTo>
                <a:lnTo>
                  <a:pt x="1878161" y="0"/>
                </a:lnTo>
                <a:cubicBezTo>
                  <a:pt x="1907321" y="0"/>
                  <a:pt x="1930959" y="23639"/>
                  <a:pt x="1930959" y="52798"/>
                </a:cubicBezTo>
                <a:lnTo>
                  <a:pt x="1930959" y="489937"/>
                </a:lnTo>
                <a:cubicBezTo>
                  <a:pt x="1930959" y="503940"/>
                  <a:pt x="1925397" y="517369"/>
                  <a:pt x="1915495" y="527271"/>
                </a:cubicBezTo>
                <a:cubicBezTo>
                  <a:pt x="1905594" y="537173"/>
                  <a:pt x="1892164" y="542735"/>
                  <a:pt x="1878161" y="542735"/>
                </a:cubicBezTo>
                <a:lnTo>
                  <a:pt x="52798" y="542735"/>
                </a:lnTo>
                <a:cubicBezTo>
                  <a:pt x="23639" y="542735"/>
                  <a:pt x="0" y="519097"/>
                  <a:pt x="0" y="489937"/>
                </a:cubicBezTo>
                <a:lnTo>
                  <a:pt x="0" y="52798"/>
                </a:lnTo>
                <a:cubicBezTo>
                  <a:pt x="0" y="38795"/>
                  <a:pt x="5563" y="25366"/>
                  <a:pt x="15464" y="15464"/>
                </a:cubicBezTo>
                <a:cubicBezTo>
                  <a:pt x="25366" y="5563"/>
                  <a:pt x="38795" y="0"/>
                  <a:pt x="52798" y="0"/>
                </a:cubicBezTo>
                <a:close/>
              </a:path>
            </a:pathLst>
          </a:custGeom>
          <a:solidFill>
            <a:schemeClr val="bg2">
              <a:lumMod val="90000"/>
            </a:schemeClr>
          </a:solidFill>
        </p:spPr>
        <p:txBody>
          <a:bodyPr/>
          <a:lstStyle/>
          <a:p>
            <a:endParaRPr lang="en-IN" dirty="0">
              <a:latin typeface="Georgia" panose="02040502050405020303" pitchFamily="18" charset="0"/>
            </a:endParaRPr>
          </a:p>
        </p:txBody>
      </p:sp>
      <p:sp>
        <p:nvSpPr>
          <p:cNvPr id="101" name="TextBox 11">
            <a:extLst>
              <a:ext uri="{FF2B5EF4-FFF2-40B4-BE49-F238E27FC236}">
                <a16:creationId xmlns:a16="http://schemas.microsoft.com/office/drawing/2014/main" id="{1FEF1703-7EC3-5FBF-6B5A-4958AB3C0845}"/>
              </a:ext>
            </a:extLst>
          </p:cNvPr>
          <p:cNvSpPr txBox="1"/>
          <p:nvPr/>
        </p:nvSpPr>
        <p:spPr>
          <a:xfrm>
            <a:off x="1003696" y="3486012"/>
            <a:ext cx="4553209" cy="1181036"/>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nvGrpSpPr>
          <p:cNvPr id="110" name="Group 21">
            <a:extLst>
              <a:ext uri="{FF2B5EF4-FFF2-40B4-BE49-F238E27FC236}">
                <a16:creationId xmlns:a16="http://schemas.microsoft.com/office/drawing/2014/main" id="{806ED854-DDCD-E895-EFBA-C91E768DBCA1}"/>
              </a:ext>
            </a:extLst>
          </p:cNvPr>
          <p:cNvGrpSpPr/>
          <p:nvPr/>
        </p:nvGrpSpPr>
        <p:grpSpPr>
          <a:xfrm>
            <a:off x="1154589" y="3904608"/>
            <a:ext cx="4462272" cy="350913"/>
            <a:chOff x="0" y="-38100"/>
            <a:chExt cx="1892394" cy="229306"/>
          </a:xfrm>
        </p:grpSpPr>
        <p:sp>
          <p:nvSpPr>
            <p:cNvPr id="130" name="Freeform 22">
              <a:extLst>
                <a:ext uri="{FF2B5EF4-FFF2-40B4-BE49-F238E27FC236}">
                  <a16:creationId xmlns:a16="http://schemas.microsoft.com/office/drawing/2014/main" id="{D0B0AE6F-28D0-805E-C8CA-917BC0DC8270}"/>
                </a:ext>
              </a:extLst>
            </p:cNvPr>
            <p:cNvSpPr/>
            <p:nvPr/>
          </p:nvSpPr>
          <p:spPr>
            <a:xfrm>
              <a:off x="0" y="-1"/>
              <a:ext cx="1892394" cy="191207"/>
            </a:xfrm>
            <a:custGeom>
              <a:avLst/>
              <a:gdLst/>
              <a:ahLst/>
              <a:cxnLst/>
              <a:rect l="l" t="t" r="r" b="b"/>
              <a:pathLst>
                <a:path w="1068527" h="188153">
                  <a:moveTo>
                    <a:pt x="94076" y="0"/>
                  </a:moveTo>
                  <a:lnTo>
                    <a:pt x="974451" y="0"/>
                  </a:lnTo>
                  <a:cubicBezTo>
                    <a:pt x="999401" y="0"/>
                    <a:pt x="1023330" y="9912"/>
                    <a:pt x="1040973" y="27554"/>
                  </a:cubicBezTo>
                  <a:cubicBezTo>
                    <a:pt x="1058615" y="45197"/>
                    <a:pt x="1068527" y="69126"/>
                    <a:pt x="1068527" y="94076"/>
                  </a:cubicBezTo>
                  <a:lnTo>
                    <a:pt x="1068527" y="94076"/>
                  </a:lnTo>
                  <a:cubicBezTo>
                    <a:pt x="1068527" y="119027"/>
                    <a:pt x="1058615" y="142956"/>
                    <a:pt x="1040973" y="160598"/>
                  </a:cubicBezTo>
                  <a:cubicBezTo>
                    <a:pt x="1023330" y="178241"/>
                    <a:pt x="999401" y="188153"/>
                    <a:pt x="974451" y="188153"/>
                  </a:cubicBezTo>
                  <a:lnTo>
                    <a:pt x="94076" y="188153"/>
                  </a:lnTo>
                  <a:cubicBezTo>
                    <a:pt x="69126" y="188153"/>
                    <a:pt x="45197" y="178241"/>
                    <a:pt x="27554" y="160598"/>
                  </a:cubicBezTo>
                  <a:cubicBezTo>
                    <a:pt x="9912" y="142956"/>
                    <a:pt x="0" y="119027"/>
                    <a:pt x="0" y="94076"/>
                  </a:cubicBezTo>
                  <a:lnTo>
                    <a:pt x="0" y="94076"/>
                  </a:lnTo>
                  <a:cubicBezTo>
                    <a:pt x="0" y="69126"/>
                    <a:pt x="9912" y="45197"/>
                    <a:pt x="27554" y="27554"/>
                  </a:cubicBezTo>
                  <a:cubicBezTo>
                    <a:pt x="45197" y="9912"/>
                    <a:pt x="69126" y="0"/>
                    <a:pt x="94076" y="0"/>
                  </a:cubicBezTo>
                  <a:close/>
                </a:path>
              </a:pathLst>
            </a:custGeom>
            <a:solidFill>
              <a:srgbClr val="0B6E78"/>
            </a:solidFill>
          </p:spPr>
          <p:txBody>
            <a:bodyPr/>
            <a:lstStyle/>
            <a:p>
              <a:endParaRPr lang="en-IN">
                <a:latin typeface="Georgia" panose="02040502050405020303" pitchFamily="18" charset="0"/>
              </a:endParaRPr>
            </a:p>
          </p:txBody>
        </p:sp>
        <p:sp>
          <p:nvSpPr>
            <p:cNvPr id="131" name="TextBox 23">
              <a:extLst>
                <a:ext uri="{FF2B5EF4-FFF2-40B4-BE49-F238E27FC236}">
                  <a16:creationId xmlns:a16="http://schemas.microsoft.com/office/drawing/2014/main" id="{2DF3EA55-BBFB-ECD9-A221-F0B93600C673}"/>
                </a:ext>
              </a:extLst>
            </p:cNvPr>
            <p:cNvSpPr txBox="1"/>
            <p:nvPr/>
          </p:nvSpPr>
          <p:spPr>
            <a:xfrm>
              <a:off x="0" y="-38100"/>
              <a:ext cx="1068527" cy="226253"/>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grpSp>
        <p:nvGrpSpPr>
          <p:cNvPr id="136" name="Group 135">
            <a:extLst>
              <a:ext uri="{FF2B5EF4-FFF2-40B4-BE49-F238E27FC236}">
                <a16:creationId xmlns:a16="http://schemas.microsoft.com/office/drawing/2014/main" id="{71F4A679-92B3-5BE1-D0C0-084BCCD9EB45}"/>
              </a:ext>
            </a:extLst>
          </p:cNvPr>
          <p:cNvGrpSpPr/>
          <p:nvPr/>
        </p:nvGrpSpPr>
        <p:grpSpPr>
          <a:xfrm>
            <a:off x="1940366" y="4250854"/>
            <a:ext cx="390114" cy="1069264"/>
            <a:chOff x="1896038" y="4641606"/>
            <a:chExt cx="390114" cy="750369"/>
          </a:xfrm>
        </p:grpSpPr>
        <p:sp>
          <p:nvSpPr>
            <p:cNvPr id="112" name="AutoShape 31">
              <a:extLst>
                <a:ext uri="{FF2B5EF4-FFF2-40B4-BE49-F238E27FC236}">
                  <a16:creationId xmlns:a16="http://schemas.microsoft.com/office/drawing/2014/main" id="{3E8805D8-62BB-E165-12D0-D3794BE8E58A}"/>
                </a:ext>
              </a:extLst>
            </p:cNvPr>
            <p:cNvSpPr/>
            <p:nvPr/>
          </p:nvSpPr>
          <p:spPr>
            <a:xfrm flipH="1">
              <a:off x="2083409" y="4641606"/>
              <a:ext cx="0" cy="617599"/>
            </a:xfrm>
            <a:prstGeom prst="line">
              <a:avLst/>
            </a:prstGeom>
            <a:ln w="28575" cap="flat">
              <a:solidFill>
                <a:srgbClr val="0B6E78"/>
              </a:solidFill>
              <a:prstDash val="solid"/>
              <a:headEnd type="none" w="sm" len="sm"/>
              <a:tailEnd type="none" w="sm" len="sm"/>
            </a:ln>
          </p:spPr>
          <p:txBody>
            <a:bodyPr/>
            <a:lstStyle/>
            <a:p>
              <a:endParaRPr lang="en-IN">
                <a:latin typeface="Georgia" panose="02040502050405020303" pitchFamily="18" charset="0"/>
              </a:endParaRPr>
            </a:p>
          </p:txBody>
        </p:sp>
        <p:grpSp>
          <p:nvGrpSpPr>
            <p:cNvPr id="135" name="Group 134">
              <a:extLst>
                <a:ext uri="{FF2B5EF4-FFF2-40B4-BE49-F238E27FC236}">
                  <a16:creationId xmlns:a16="http://schemas.microsoft.com/office/drawing/2014/main" id="{49F7E7C8-A641-BE36-CAF1-329AB60B75B3}"/>
                </a:ext>
              </a:extLst>
            </p:cNvPr>
            <p:cNvGrpSpPr/>
            <p:nvPr/>
          </p:nvGrpSpPr>
          <p:grpSpPr>
            <a:xfrm>
              <a:off x="1896038" y="5079647"/>
              <a:ext cx="390114" cy="312328"/>
              <a:chOff x="1896038" y="5079647"/>
              <a:chExt cx="390114" cy="312328"/>
            </a:xfrm>
          </p:grpSpPr>
          <p:grpSp>
            <p:nvGrpSpPr>
              <p:cNvPr id="114" name="Group 37">
                <a:extLst>
                  <a:ext uri="{FF2B5EF4-FFF2-40B4-BE49-F238E27FC236}">
                    <a16:creationId xmlns:a16="http://schemas.microsoft.com/office/drawing/2014/main" id="{DE073882-C420-8585-B269-89977E6EEE16}"/>
                  </a:ext>
                </a:extLst>
              </p:cNvPr>
              <p:cNvGrpSpPr/>
              <p:nvPr/>
            </p:nvGrpSpPr>
            <p:grpSpPr>
              <a:xfrm>
                <a:off x="1896038" y="5079647"/>
                <a:ext cx="390114" cy="312328"/>
                <a:chOff x="0" y="-38100"/>
                <a:chExt cx="165443" cy="204092"/>
              </a:xfrm>
            </p:grpSpPr>
            <p:sp>
              <p:nvSpPr>
                <p:cNvPr id="126" name="Freeform 38">
                  <a:extLst>
                    <a:ext uri="{FF2B5EF4-FFF2-40B4-BE49-F238E27FC236}">
                      <a16:creationId xmlns:a16="http://schemas.microsoft.com/office/drawing/2014/main" id="{759F0730-6450-12F8-B7CD-3B4094D7B391}"/>
                    </a:ext>
                  </a:extLst>
                </p:cNvPr>
                <p:cNvSpPr/>
                <p:nvPr/>
              </p:nvSpPr>
              <p:spPr>
                <a:xfrm>
                  <a:off x="0" y="45537"/>
                  <a:ext cx="165443" cy="120455"/>
                </a:xfrm>
                <a:custGeom>
                  <a:avLst/>
                  <a:gdLst/>
                  <a:ahLst/>
                  <a:cxnLst/>
                  <a:rect l="l" t="t" r="r" b="b"/>
                  <a:pathLst>
                    <a:path w="165443" h="165992">
                      <a:moveTo>
                        <a:pt x="82721" y="0"/>
                      </a:moveTo>
                      <a:lnTo>
                        <a:pt x="82721" y="0"/>
                      </a:lnTo>
                      <a:cubicBezTo>
                        <a:pt x="128407" y="0"/>
                        <a:pt x="165443" y="37036"/>
                        <a:pt x="165443" y="82721"/>
                      </a:cubicBezTo>
                      <a:lnTo>
                        <a:pt x="165443" y="83271"/>
                      </a:lnTo>
                      <a:cubicBezTo>
                        <a:pt x="165443" y="128957"/>
                        <a:pt x="128407" y="165992"/>
                        <a:pt x="82721" y="165992"/>
                      </a:cubicBezTo>
                      <a:lnTo>
                        <a:pt x="82721" y="165992"/>
                      </a:lnTo>
                      <a:cubicBezTo>
                        <a:pt x="37036" y="165992"/>
                        <a:pt x="0" y="128957"/>
                        <a:pt x="0" y="83271"/>
                      </a:cubicBezTo>
                      <a:lnTo>
                        <a:pt x="0" y="82721"/>
                      </a:lnTo>
                      <a:cubicBezTo>
                        <a:pt x="0" y="37036"/>
                        <a:pt x="37036" y="0"/>
                        <a:pt x="82721" y="0"/>
                      </a:cubicBezTo>
                      <a:close/>
                    </a:path>
                  </a:pathLst>
                </a:custGeom>
                <a:solidFill>
                  <a:srgbClr val="0B6E78"/>
                </a:solidFill>
              </p:spPr>
              <p:txBody>
                <a:bodyPr/>
                <a:lstStyle/>
                <a:p>
                  <a:endParaRPr lang="en-IN">
                    <a:latin typeface="Georgia" panose="02040502050405020303" pitchFamily="18" charset="0"/>
                  </a:endParaRPr>
                </a:p>
              </p:txBody>
            </p:sp>
            <p:sp>
              <p:nvSpPr>
                <p:cNvPr id="127" name="TextBox 39">
                  <a:extLst>
                    <a:ext uri="{FF2B5EF4-FFF2-40B4-BE49-F238E27FC236}">
                      <a16:creationId xmlns:a16="http://schemas.microsoft.com/office/drawing/2014/main" id="{DB37C969-59AC-7B88-4B25-382D1DECD16F}"/>
                    </a:ext>
                  </a:extLst>
                </p:cNvPr>
                <p:cNvSpPr txBox="1"/>
                <p:nvPr/>
              </p:nvSpPr>
              <p:spPr>
                <a:xfrm>
                  <a:off x="0" y="-38100"/>
                  <a:ext cx="165443" cy="204092"/>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sp>
            <p:nvSpPr>
              <p:cNvPr id="118" name="TextBox 60">
                <a:extLst>
                  <a:ext uri="{FF2B5EF4-FFF2-40B4-BE49-F238E27FC236}">
                    <a16:creationId xmlns:a16="http://schemas.microsoft.com/office/drawing/2014/main" id="{69B7B803-8388-0240-B274-0748AD5C0C99}"/>
                  </a:ext>
                </a:extLst>
              </p:cNvPr>
              <p:cNvSpPr txBox="1"/>
              <p:nvPr/>
            </p:nvSpPr>
            <p:spPr>
              <a:xfrm>
                <a:off x="1932963" y="5147594"/>
                <a:ext cx="316264" cy="226470"/>
              </a:xfrm>
              <a:prstGeom prst="rect">
                <a:avLst/>
              </a:prstGeom>
            </p:spPr>
            <p:txBody>
              <a:bodyPr lIns="0" tIns="0" rIns="0" bIns="0" rtlCol="0" anchor="t">
                <a:spAutoFit/>
              </a:bodyPr>
              <a:lstStyle/>
              <a:p>
                <a:pPr algn="ctr">
                  <a:lnSpc>
                    <a:spcPts val="2800"/>
                  </a:lnSpc>
                </a:pPr>
                <a:r>
                  <a:rPr lang="en-US" b="1" dirty="0">
                    <a:solidFill>
                      <a:srgbClr val="FFFFFF"/>
                    </a:solidFill>
                    <a:latin typeface="Georgia" panose="02040502050405020303" pitchFamily="18" charset="0"/>
                    <a:ea typeface="DM Sans Bold"/>
                    <a:cs typeface="DM Sans Bold"/>
                    <a:sym typeface="DM Sans Bold"/>
                  </a:rPr>
                  <a:t>05</a:t>
                </a:r>
              </a:p>
            </p:txBody>
          </p:sp>
        </p:grpSp>
      </p:grpSp>
      <p:grpSp>
        <p:nvGrpSpPr>
          <p:cNvPr id="93" name="Group 15">
            <a:extLst>
              <a:ext uri="{FF2B5EF4-FFF2-40B4-BE49-F238E27FC236}">
                <a16:creationId xmlns:a16="http://schemas.microsoft.com/office/drawing/2014/main" id="{B1DE46FA-E243-0050-5ECE-1054C78CFBB3}"/>
              </a:ext>
            </a:extLst>
          </p:cNvPr>
          <p:cNvGrpSpPr/>
          <p:nvPr/>
        </p:nvGrpSpPr>
        <p:grpSpPr>
          <a:xfrm>
            <a:off x="6126001" y="3619327"/>
            <a:ext cx="4594113" cy="1563326"/>
            <a:chOff x="0" y="-38100"/>
            <a:chExt cx="1948306" cy="1021563"/>
          </a:xfrm>
        </p:grpSpPr>
        <p:sp>
          <p:nvSpPr>
            <p:cNvPr id="94" name="Freeform 16">
              <a:extLst>
                <a:ext uri="{FF2B5EF4-FFF2-40B4-BE49-F238E27FC236}">
                  <a16:creationId xmlns:a16="http://schemas.microsoft.com/office/drawing/2014/main" id="{616013B7-25A8-47E1-5DCD-75F6070FC6B9}"/>
                </a:ext>
              </a:extLst>
            </p:cNvPr>
            <p:cNvSpPr/>
            <p:nvPr/>
          </p:nvSpPr>
          <p:spPr>
            <a:xfrm>
              <a:off x="17347" y="257718"/>
              <a:ext cx="1930959" cy="725745"/>
            </a:xfrm>
            <a:custGeom>
              <a:avLst/>
              <a:gdLst/>
              <a:ahLst/>
              <a:cxnLst/>
              <a:rect l="l" t="t" r="r" b="b"/>
              <a:pathLst>
                <a:path w="1930959" h="542735">
                  <a:moveTo>
                    <a:pt x="52798" y="0"/>
                  </a:moveTo>
                  <a:lnTo>
                    <a:pt x="1878161" y="0"/>
                  </a:lnTo>
                  <a:cubicBezTo>
                    <a:pt x="1907321" y="0"/>
                    <a:pt x="1930959" y="23639"/>
                    <a:pt x="1930959" y="52798"/>
                  </a:cubicBezTo>
                  <a:lnTo>
                    <a:pt x="1930959" y="489937"/>
                  </a:lnTo>
                  <a:cubicBezTo>
                    <a:pt x="1930959" y="503940"/>
                    <a:pt x="1925397" y="517369"/>
                    <a:pt x="1915495" y="527271"/>
                  </a:cubicBezTo>
                  <a:cubicBezTo>
                    <a:pt x="1905594" y="537173"/>
                    <a:pt x="1892164" y="542735"/>
                    <a:pt x="1878161" y="542735"/>
                  </a:cubicBezTo>
                  <a:lnTo>
                    <a:pt x="52798" y="542735"/>
                  </a:lnTo>
                  <a:cubicBezTo>
                    <a:pt x="23639" y="542735"/>
                    <a:pt x="0" y="519097"/>
                    <a:pt x="0" y="489937"/>
                  </a:cubicBezTo>
                  <a:lnTo>
                    <a:pt x="0" y="52798"/>
                  </a:lnTo>
                  <a:cubicBezTo>
                    <a:pt x="0" y="38795"/>
                    <a:pt x="5563" y="25366"/>
                    <a:pt x="15464" y="15464"/>
                  </a:cubicBezTo>
                  <a:cubicBezTo>
                    <a:pt x="25366" y="5563"/>
                    <a:pt x="38795" y="0"/>
                    <a:pt x="52798" y="0"/>
                  </a:cubicBezTo>
                  <a:close/>
                </a:path>
              </a:pathLst>
            </a:custGeom>
            <a:solidFill>
              <a:schemeClr val="bg2">
                <a:lumMod val="90000"/>
              </a:schemeClr>
            </a:solidFill>
          </p:spPr>
          <p:txBody>
            <a:bodyPr/>
            <a:lstStyle/>
            <a:p>
              <a:endParaRPr lang="en-IN" dirty="0">
                <a:latin typeface="Georgia" panose="02040502050405020303" pitchFamily="18" charset="0"/>
              </a:endParaRPr>
            </a:p>
          </p:txBody>
        </p:sp>
        <p:sp>
          <p:nvSpPr>
            <p:cNvPr id="96" name="TextBox 17">
              <a:extLst>
                <a:ext uri="{FF2B5EF4-FFF2-40B4-BE49-F238E27FC236}">
                  <a16:creationId xmlns:a16="http://schemas.microsoft.com/office/drawing/2014/main" id="{3C6D7B42-52FD-C25F-F8DA-4820C75E5C37}"/>
                </a:ext>
              </a:extLst>
            </p:cNvPr>
            <p:cNvSpPr txBox="1"/>
            <p:nvPr/>
          </p:nvSpPr>
          <p:spPr>
            <a:xfrm>
              <a:off x="0" y="-38100"/>
              <a:ext cx="1930959" cy="580835"/>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grpSp>
        <p:nvGrpSpPr>
          <p:cNvPr id="111" name="Group 27">
            <a:extLst>
              <a:ext uri="{FF2B5EF4-FFF2-40B4-BE49-F238E27FC236}">
                <a16:creationId xmlns:a16="http://schemas.microsoft.com/office/drawing/2014/main" id="{13F808B9-C69B-4688-169F-4EE0FCDBAB61}"/>
              </a:ext>
            </a:extLst>
          </p:cNvPr>
          <p:cNvGrpSpPr/>
          <p:nvPr/>
        </p:nvGrpSpPr>
        <p:grpSpPr>
          <a:xfrm>
            <a:off x="6167351" y="3904608"/>
            <a:ext cx="4462264" cy="350912"/>
            <a:chOff x="0" y="-38100"/>
            <a:chExt cx="1892391" cy="229306"/>
          </a:xfrm>
        </p:grpSpPr>
        <p:sp>
          <p:nvSpPr>
            <p:cNvPr id="128" name="Freeform 28">
              <a:extLst>
                <a:ext uri="{FF2B5EF4-FFF2-40B4-BE49-F238E27FC236}">
                  <a16:creationId xmlns:a16="http://schemas.microsoft.com/office/drawing/2014/main" id="{3B0ACA55-A6EF-87A4-1BBB-B1EF2B60FD36}"/>
                </a:ext>
              </a:extLst>
            </p:cNvPr>
            <p:cNvSpPr/>
            <p:nvPr/>
          </p:nvSpPr>
          <p:spPr>
            <a:xfrm>
              <a:off x="0" y="-1"/>
              <a:ext cx="1892391" cy="191207"/>
            </a:xfrm>
            <a:custGeom>
              <a:avLst/>
              <a:gdLst/>
              <a:ahLst/>
              <a:cxnLst/>
              <a:rect l="l" t="t" r="r" b="b"/>
              <a:pathLst>
                <a:path w="1068527" h="188153">
                  <a:moveTo>
                    <a:pt x="94076" y="0"/>
                  </a:moveTo>
                  <a:lnTo>
                    <a:pt x="974451" y="0"/>
                  </a:lnTo>
                  <a:cubicBezTo>
                    <a:pt x="999401" y="0"/>
                    <a:pt x="1023330" y="9912"/>
                    <a:pt x="1040973" y="27554"/>
                  </a:cubicBezTo>
                  <a:cubicBezTo>
                    <a:pt x="1058615" y="45197"/>
                    <a:pt x="1068527" y="69126"/>
                    <a:pt x="1068527" y="94076"/>
                  </a:cubicBezTo>
                  <a:lnTo>
                    <a:pt x="1068527" y="94076"/>
                  </a:lnTo>
                  <a:cubicBezTo>
                    <a:pt x="1068527" y="119027"/>
                    <a:pt x="1058615" y="142956"/>
                    <a:pt x="1040973" y="160598"/>
                  </a:cubicBezTo>
                  <a:cubicBezTo>
                    <a:pt x="1023330" y="178241"/>
                    <a:pt x="999401" y="188153"/>
                    <a:pt x="974451" y="188153"/>
                  </a:cubicBezTo>
                  <a:lnTo>
                    <a:pt x="94076" y="188153"/>
                  </a:lnTo>
                  <a:cubicBezTo>
                    <a:pt x="69126" y="188153"/>
                    <a:pt x="45197" y="178241"/>
                    <a:pt x="27554" y="160598"/>
                  </a:cubicBezTo>
                  <a:cubicBezTo>
                    <a:pt x="9912" y="142956"/>
                    <a:pt x="0" y="119027"/>
                    <a:pt x="0" y="94076"/>
                  </a:cubicBezTo>
                  <a:lnTo>
                    <a:pt x="0" y="94076"/>
                  </a:lnTo>
                  <a:cubicBezTo>
                    <a:pt x="0" y="69126"/>
                    <a:pt x="9912" y="45197"/>
                    <a:pt x="27554" y="27554"/>
                  </a:cubicBezTo>
                  <a:cubicBezTo>
                    <a:pt x="45197" y="9912"/>
                    <a:pt x="69126" y="0"/>
                    <a:pt x="94076" y="0"/>
                  </a:cubicBezTo>
                  <a:close/>
                </a:path>
              </a:pathLst>
            </a:custGeom>
            <a:solidFill>
              <a:schemeClr val="accent6"/>
            </a:solidFill>
          </p:spPr>
          <p:txBody>
            <a:bodyPr/>
            <a:lstStyle/>
            <a:p>
              <a:endParaRPr lang="en-IN">
                <a:latin typeface="Georgia" panose="02040502050405020303" pitchFamily="18" charset="0"/>
              </a:endParaRPr>
            </a:p>
          </p:txBody>
        </p:sp>
        <p:sp>
          <p:nvSpPr>
            <p:cNvPr id="129" name="TextBox 29">
              <a:extLst>
                <a:ext uri="{FF2B5EF4-FFF2-40B4-BE49-F238E27FC236}">
                  <a16:creationId xmlns:a16="http://schemas.microsoft.com/office/drawing/2014/main" id="{CF6E7D9E-00FD-3D3D-34E2-F07396099303}"/>
                </a:ext>
              </a:extLst>
            </p:cNvPr>
            <p:cNvSpPr txBox="1"/>
            <p:nvPr/>
          </p:nvSpPr>
          <p:spPr>
            <a:xfrm>
              <a:off x="0" y="-38100"/>
              <a:ext cx="1068527" cy="226253"/>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sp>
        <p:nvSpPr>
          <p:cNvPr id="113" name="AutoShape 33">
            <a:extLst>
              <a:ext uri="{FF2B5EF4-FFF2-40B4-BE49-F238E27FC236}">
                <a16:creationId xmlns:a16="http://schemas.microsoft.com/office/drawing/2014/main" id="{B724C97B-9231-4FE1-BD0F-257EFD63806C}"/>
              </a:ext>
            </a:extLst>
          </p:cNvPr>
          <p:cNvSpPr/>
          <p:nvPr/>
        </p:nvSpPr>
        <p:spPr>
          <a:xfrm>
            <a:off x="7189838" y="4196696"/>
            <a:ext cx="0" cy="1024241"/>
          </a:xfrm>
          <a:prstGeom prst="line">
            <a:avLst/>
          </a:prstGeom>
          <a:ln w="28575" cap="flat">
            <a:solidFill>
              <a:schemeClr val="accent6"/>
            </a:solidFill>
            <a:prstDash val="solid"/>
            <a:headEnd type="none" w="sm" len="sm"/>
            <a:tailEnd type="none" w="sm" len="sm"/>
          </a:ln>
        </p:spPr>
        <p:txBody>
          <a:bodyPr/>
          <a:lstStyle/>
          <a:p>
            <a:endParaRPr lang="en-IN">
              <a:latin typeface="Georgia" panose="02040502050405020303" pitchFamily="18" charset="0"/>
            </a:endParaRPr>
          </a:p>
        </p:txBody>
      </p:sp>
      <p:grpSp>
        <p:nvGrpSpPr>
          <p:cNvPr id="115" name="Group 43">
            <a:extLst>
              <a:ext uri="{FF2B5EF4-FFF2-40B4-BE49-F238E27FC236}">
                <a16:creationId xmlns:a16="http://schemas.microsoft.com/office/drawing/2014/main" id="{38E09C77-99C3-803A-847B-A550F5B00668}"/>
              </a:ext>
            </a:extLst>
          </p:cNvPr>
          <p:cNvGrpSpPr/>
          <p:nvPr/>
        </p:nvGrpSpPr>
        <p:grpSpPr>
          <a:xfrm>
            <a:off x="6995624" y="4683941"/>
            <a:ext cx="400223" cy="584138"/>
            <a:chOff x="0" y="-38100"/>
            <a:chExt cx="169730" cy="381708"/>
          </a:xfrm>
        </p:grpSpPr>
        <p:sp>
          <p:nvSpPr>
            <p:cNvPr id="124" name="Freeform 44">
              <a:extLst>
                <a:ext uri="{FF2B5EF4-FFF2-40B4-BE49-F238E27FC236}">
                  <a16:creationId xmlns:a16="http://schemas.microsoft.com/office/drawing/2014/main" id="{3629B919-EE56-B81E-40F6-042F8DEC122C}"/>
                </a:ext>
              </a:extLst>
            </p:cNvPr>
            <p:cNvSpPr/>
            <p:nvPr/>
          </p:nvSpPr>
          <p:spPr>
            <a:xfrm>
              <a:off x="4287" y="194588"/>
              <a:ext cx="165443" cy="149020"/>
            </a:xfrm>
            <a:custGeom>
              <a:avLst/>
              <a:gdLst/>
              <a:ahLst/>
              <a:cxnLst/>
              <a:rect l="l" t="t" r="r" b="b"/>
              <a:pathLst>
                <a:path w="165443" h="165992">
                  <a:moveTo>
                    <a:pt x="82721" y="0"/>
                  </a:moveTo>
                  <a:lnTo>
                    <a:pt x="82721" y="0"/>
                  </a:lnTo>
                  <a:cubicBezTo>
                    <a:pt x="128407" y="0"/>
                    <a:pt x="165443" y="37036"/>
                    <a:pt x="165443" y="82721"/>
                  </a:cubicBezTo>
                  <a:lnTo>
                    <a:pt x="165443" y="83271"/>
                  </a:lnTo>
                  <a:cubicBezTo>
                    <a:pt x="165443" y="128957"/>
                    <a:pt x="128407" y="165992"/>
                    <a:pt x="82721" y="165992"/>
                  </a:cubicBezTo>
                  <a:lnTo>
                    <a:pt x="82721" y="165992"/>
                  </a:lnTo>
                  <a:cubicBezTo>
                    <a:pt x="37036" y="165992"/>
                    <a:pt x="0" y="128957"/>
                    <a:pt x="0" y="83271"/>
                  </a:cubicBezTo>
                  <a:lnTo>
                    <a:pt x="0" y="82721"/>
                  </a:lnTo>
                  <a:cubicBezTo>
                    <a:pt x="0" y="37036"/>
                    <a:pt x="37036" y="0"/>
                    <a:pt x="82721" y="0"/>
                  </a:cubicBezTo>
                  <a:close/>
                </a:path>
              </a:pathLst>
            </a:custGeom>
            <a:solidFill>
              <a:schemeClr val="accent6"/>
            </a:solidFill>
          </p:spPr>
          <p:txBody>
            <a:bodyPr/>
            <a:lstStyle/>
            <a:p>
              <a:endParaRPr lang="en-IN">
                <a:latin typeface="Georgia" panose="02040502050405020303" pitchFamily="18" charset="0"/>
              </a:endParaRPr>
            </a:p>
          </p:txBody>
        </p:sp>
        <p:sp>
          <p:nvSpPr>
            <p:cNvPr id="125" name="TextBox 45">
              <a:extLst>
                <a:ext uri="{FF2B5EF4-FFF2-40B4-BE49-F238E27FC236}">
                  <a16:creationId xmlns:a16="http://schemas.microsoft.com/office/drawing/2014/main" id="{B222DB7C-0700-C672-FF33-AA83DB23409B}"/>
                </a:ext>
              </a:extLst>
            </p:cNvPr>
            <p:cNvSpPr txBox="1"/>
            <p:nvPr/>
          </p:nvSpPr>
          <p:spPr>
            <a:xfrm>
              <a:off x="0" y="-38100"/>
              <a:ext cx="165443" cy="204092"/>
            </a:xfrm>
            <a:prstGeom prst="rect">
              <a:avLst/>
            </a:prstGeom>
          </p:spPr>
          <p:txBody>
            <a:bodyPr lIns="50800" tIns="50800" rIns="50800" bIns="50800" rtlCol="0" anchor="ctr"/>
            <a:lstStyle/>
            <a:p>
              <a:pPr algn="ctr">
                <a:lnSpc>
                  <a:spcPts val="2659"/>
                </a:lnSpc>
                <a:spcBef>
                  <a:spcPct val="0"/>
                </a:spcBef>
              </a:pPr>
              <a:endParaRPr>
                <a:latin typeface="Georgia" panose="02040502050405020303" pitchFamily="18" charset="0"/>
              </a:endParaRPr>
            </a:p>
          </p:txBody>
        </p:sp>
      </p:grpSp>
      <p:sp>
        <p:nvSpPr>
          <p:cNvPr id="117" name="TextBox 59">
            <a:extLst>
              <a:ext uri="{FF2B5EF4-FFF2-40B4-BE49-F238E27FC236}">
                <a16:creationId xmlns:a16="http://schemas.microsoft.com/office/drawing/2014/main" id="{0A11F0DD-4DAA-A25B-59D9-89B2379C4ABB}"/>
              </a:ext>
            </a:extLst>
          </p:cNvPr>
          <p:cNvSpPr txBox="1"/>
          <p:nvPr/>
        </p:nvSpPr>
        <p:spPr>
          <a:xfrm>
            <a:off x="6297355" y="3998703"/>
            <a:ext cx="3303589" cy="184666"/>
          </a:xfrm>
          <a:prstGeom prst="rect">
            <a:avLst/>
          </a:prstGeom>
        </p:spPr>
        <p:txBody>
          <a:bodyPr wrap="square" lIns="0" tIns="0" rIns="0" bIns="0" rtlCol="0" anchor="t">
            <a:spAutoFit/>
          </a:bodyPr>
          <a:lstStyle/>
          <a:p>
            <a:pPr algn="ctr"/>
            <a:r>
              <a:rPr lang="en-IN" sz="1200" b="1" dirty="0">
                <a:solidFill>
                  <a:schemeClr val="bg1"/>
                </a:solidFill>
                <a:latin typeface="Georgia" panose="02040502050405020303" pitchFamily="18" charset="0"/>
              </a:rPr>
              <a:t>Northwest Karnataka multi-crop cluster </a:t>
            </a:r>
          </a:p>
        </p:txBody>
      </p:sp>
      <p:sp>
        <p:nvSpPr>
          <p:cNvPr id="119" name="TextBox 63">
            <a:extLst>
              <a:ext uri="{FF2B5EF4-FFF2-40B4-BE49-F238E27FC236}">
                <a16:creationId xmlns:a16="http://schemas.microsoft.com/office/drawing/2014/main" id="{D8723A9B-710D-6A77-E471-18EFCF7C4B69}"/>
              </a:ext>
            </a:extLst>
          </p:cNvPr>
          <p:cNvSpPr txBox="1"/>
          <p:nvPr/>
        </p:nvSpPr>
        <p:spPr>
          <a:xfrm>
            <a:off x="7047472" y="4963850"/>
            <a:ext cx="316264" cy="322332"/>
          </a:xfrm>
          <a:prstGeom prst="rect">
            <a:avLst/>
          </a:prstGeom>
        </p:spPr>
        <p:txBody>
          <a:bodyPr lIns="0" tIns="0" rIns="0" bIns="0" rtlCol="0" anchor="t">
            <a:spAutoFit/>
          </a:bodyPr>
          <a:lstStyle/>
          <a:p>
            <a:pPr algn="ctr">
              <a:lnSpc>
                <a:spcPts val="2800"/>
              </a:lnSpc>
            </a:pPr>
            <a:r>
              <a:rPr lang="en-US" b="1" dirty="0">
                <a:solidFill>
                  <a:srgbClr val="FFFFFF"/>
                </a:solidFill>
                <a:latin typeface="Georgia" panose="02040502050405020303" pitchFamily="18" charset="0"/>
                <a:ea typeface="DM Sans Bold"/>
                <a:cs typeface="DM Sans Bold"/>
                <a:sym typeface="DM Sans Bold"/>
              </a:rPr>
              <a:t>06</a:t>
            </a:r>
          </a:p>
        </p:txBody>
      </p:sp>
      <p:sp>
        <p:nvSpPr>
          <p:cNvPr id="123" name="TextBox 122">
            <a:extLst>
              <a:ext uri="{FF2B5EF4-FFF2-40B4-BE49-F238E27FC236}">
                <a16:creationId xmlns:a16="http://schemas.microsoft.com/office/drawing/2014/main" id="{823253A3-35C6-E946-69FC-5240AB9C16C4}"/>
              </a:ext>
            </a:extLst>
          </p:cNvPr>
          <p:cNvSpPr txBox="1"/>
          <p:nvPr/>
        </p:nvSpPr>
        <p:spPr>
          <a:xfrm>
            <a:off x="7343214" y="4418135"/>
            <a:ext cx="3296509" cy="553998"/>
          </a:xfrm>
          <a:prstGeom prst="rect">
            <a:avLst/>
          </a:prstGeom>
          <a:noFill/>
        </p:spPr>
        <p:txBody>
          <a:bodyPr wrap="square" anchor="ctr">
            <a:spAutoFit/>
          </a:bodyPr>
          <a:lstStyle/>
          <a:p>
            <a:r>
              <a:rPr lang="en-US" sz="1000" b="1" dirty="0">
                <a:latin typeface="Georgia" panose="02040502050405020303" pitchFamily="18" charset="0"/>
                <a:ea typeface="Inter" pitchFamily="34" charset="-122"/>
              </a:rPr>
              <a:t>The main reason for packaging related loss in Onion was reported to be the </a:t>
            </a:r>
            <a:r>
              <a:rPr lang="en-US" sz="1000" b="1" dirty="0">
                <a:latin typeface="Georgia" panose="02040502050405020303" pitchFamily="18" charset="0"/>
              </a:rPr>
              <a:t>limited availability of low-cost packaging materials</a:t>
            </a:r>
            <a:endParaRPr lang="en-IN" sz="1000" dirty="0">
              <a:latin typeface="Georgia" panose="02040502050405020303" pitchFamily="18" charset="0"/>
            </a:endParaRPr>
          </a:p>
        </p:txBody>
      </p:sp>
      <p:sp>
        <p:nvSpPr>
          <p:cNvPr id="132" name="TextBox 131">
            <a:extLst>
              <a:ext uri="{FF2B5EF4-FFF2-40B4-BE49-F238E27FC236}">
                <a16:creationId xmlns:a16="http://schemas.microsoft.com/office/drawing/2014/main" id="{03F88AA4-D359-8CBE-05E0-D11E73DC5EA8}"/>
              </a:ext>
            </a:extLst>
          </p:cNvPr>
          <p:cNvSpPr txBox="1"/>
          <p:nvPr/>
        </p:nvSpPr>
        <p:spPr>
          <a:xfrm>
            <a:off x="2173233" y="4288533"/>
            <a:ext cx="3513506" cy="861774"/>
          </a:xfrm>
          <a:prstGeom prst="rect">
            <a:avLst/>
          </a:prstGeom>
          <a:noFill/>
        </p:spPr>
        <p:txBody>
          <a:bodyPr wrap="square" anchor="ctr">
            <a:spAutoFit/>
          </a:bodyPr>
          <a:lstStyle/>
          <a:p>
            <a:pPr marL="169863" indent="-169863">
              <a:buFont typeface="Arial" panose="020B0604020202020204" pitchFamily="34" charset="0"/>
              <a:buChar char="•"/>
            </a:pPr>
            <a:r>
              <a:rPr lang="en-US" sz="1000" b="1" dirty="0">
                <a:latin typeface="Georgia" panose="02040502050405020303" pitchFamily="18" charset="0"/>
                <a:ea typeface="Inter" pitchFamily="34" charset="-122"/>
              </a:rPr>
              <a:t>Average packaging related losses are approximately 7.5% across pomegranate and banana</a:t>
            </a:r>
          </a:p>
          <a:p>
            <a:pPr marL="169863" indent="-169863">
              <a:buFont typeface="Arial" panose="020B0604020202020204" pitchFamily="34" charset="0"/>
              <a:buChar char="•"/>
            </a:pPr>
            <a:r>
              <a:rPr lang="en-US" sz="1000" b="1" dirty="0">
                <a:latin typeface="Georgia" panose="02040502050405020303" pitchFamily="18" charset="0"/>
                <a:ea typeface="Inter" pitchFamily="34" charset="-122"/>
              </a:rPr>
              <a:t>Key reason for packaging related loss in Banana was reported to be the poor packing practices</a:t>
            </a:r>
            <a:endParaRPr lang="en-IN" sz="1000" dirty="0">
              <a:latin typeface="Georgia" panose="02040502050405020303" pitchFamily="18" charset="0"/>
            </a:endParaRPr>
          </a:p>
        </p:txBody>
      </p:sp>
      <p:sp>
        <p:nvSpPr>
          <p:cNvPr id="133" name="TextBox 57">
            <a:extLst>
              <a:ext uri="{FF2B5EF4-FFF2-40B4-BE49-F238E27FC236}">
                <a16:creationId xmlns:a16="http://schemas.microsoft.com/office/drawing/2014/main" id="{E4009437-5A38-0CB2-C58F-AFECF2E4374C}"/>
              </a:ext>
            </a:extLst>
          </p:cNvPr>
          <p:cNvSpPr txBox="1"/>
          <p:nvPr/>
        </p:nvSpPr>
        <p:spPr>
          <a:xfrm>
            <a:off x="1187934" y="4018880"/>
            <a:ext cx="3513507" cy="184666"/>
          </a:xfrm>
          <a:prstGeom prst="rect">
            <a:avLst/>
          </a:prstGeom>
        </p:spPr>
        <p:txBody>
          <a:bodyPr wrap="square" lIns="0" tIns="0" rIns="0" bIns="0" rtlCol="0" anchor="t">
            <a:spAutoFit/>
          </a:bodyPr>
          <a:lstStyle/>
          <a:p>
            <a:pPr algn="ctr"/>
            <a:r>
              <a:rPr lang="en-US" sz="1200" b="1" dirty="0">
                <a:solidFill>
                  <a:schemeClr val="bg1"/>
                </a:solidFill>
                <a:latin typeface="Georgia" panose="02040502050405020303" pitchFamily="18" charset="0"/>
                <a:ea typeface="Inter" pitchFamily="34" charset="-122"/>
              </a:rPr>
              <a:t>Kalyana Karnataka Onion-Tomato Cluster</a:t>
            </a:r>
            <a:endParaRPr lang="en-IN" sz="1200" dirty="0">
              <a:solidFill>
                <a:schemeClr val="bg1"/>
              </a:solidFill>
              <a:latin typeface="Georgia" panose="02040502050405020303" pitchFamily="18" charset="0"/>
            </a:endParaRPr>
          </a:p>
        </p:txBody>
      </p:sp>
      <p:sp>
        <p:nvSpPr>
          <p:cNvPr id="142" name="TextBox 141">
            <a:extLst>
              <a:ext uri="{FF2B5EF4-FFF2-40B4-BE49-F238E27FC236}">
                <a16:creationId xmlns:a16="http://schemas.microsoft.com/office/drawing/2014/main" id="{962E3AA0-EC0E-EC27-137B-3D2AECBD7BEC}"/>
              </a:ext>
            </a:extLst>
          </p:cNvPr>
          <p:cNvSpPr txBox="1"/>
          <p:nvPr/>
        </p:nvSpPr>
        <p:spPr>
          <a:xfrm>
            <a:off x="697440" y="5863679"/>
            <a:ext cx="10561116" cy="338554"/>
          </a:xfrm>
          <a:prstGeom prst="rect">
            <a:avLst/>
          </a:prstGeom>
          <a:noFill/>
        </p:spPr>
        <p:txBody>
          <a:bodyPr wrap="square" rtlCol="0">
            <a:spAutoFit/>
          </a:bodyPr>
          <a:lstStyle/>
          <a:p>
            <a:r>
              <a:rPr lang="en-US" sz="800" b="1" i="1" dirty="0">
                <a:latin typeface="Georgia" panose="02040502050405020303" pitchFamily="18" charset="0"/>
              </a:rPr>
              <a:t>Disclaimer: The percentages are based on anecdotal estimations and reports shared by district officials of Horticulture Department (</a:t>
            </a:r>
            <a:r>
              <a:rPr lang="en-US" sz="800" b="1" i="1" dirty="0" err="1">
                <a:latin typeface="Georgia" panose="02040502050405020303" pitchFamily="18" charset="0"/>
              </a:rPr>
              <a:t>GoK</a:t>
            </a:r>
            <a:r>
              <a:rPr lang="en-US" sz="800" b="1" i="1" dirty="0">
                <a:latin typeface="Georgia" panose="02040502050405020303" pitchFamily="18" charset="0"/>
              </a:rPr>
              <a:t>), for select crops and select districts, as of March 2026, and are subject to validation and revision by Government of Karnataka, prior to any formal publication or use.</a:t>
            </a:r>
          </a:p>
        </p:txBody>
      </p:sp>
      <p:pic>
        <p:nvPicPr>
          <p:cNvPr id="6" name="Picture 5">
            <a:extLst>
              <a:ext uri="{FF2B5EF4-FFF2-40B4-BE49-F238E27FC236}">
                <a16:creationId xmlns:a16="http://schemas.microsoft.com/office/drawing/2014/main" id="{FF9D5D92-38CB-EAB8-42BD-58A7396E35E1}"/>
              </a:ext>
            </a:extLst>
          </p:cNvPr>
          <p:cNvPicPr>
            <a:picLocks noChangeAspect="1"/>
          </p:cNvPicPr>
          <p:nvPr/>
        </p:nvPicPr>
        <p:blipFill>
          <a:blip r:embed="rId2" cstate="print">
            <a:extLst>
              <a:ext uri="{28A0092B-C50C-407E-A947-70E740481C1C}">
                <a14:useLocalDpi xmlns:a14="http://schemas.microsoft.com/office/drawing/2010/main" val="0"/>
              </a:ext>
            </a:extLst>
          </a:blip>
          <a:srcRect t="4377" b="6971"/>
          <a:stretch>
            <a:fillRect/>
          </a:stretch>
        </p:blipFill>
        <p:spPr>
          <a:xfrm>
            <a:off x="1218655" y="2190337"/>
            <a:ext cx="651965" cy="464046"/>
          </a:xfrm>
          <a:prstGeom prst="rect">
            <a:avLst/>
          </a:prstGeom>
        </p:spPr>
      </p:pic>
      <p:pic>
        <p:nvPicPr>
          <p:cNvPr id="9" name="Picture 8">
            <a:extLst>
              <a:ext uri="{FF2B5EF4-FFF2-40B4-BE49-F238E27FC236}">
                <a16:creationId xmlns:a16="http://schemas.microsoft.com/office/drawing/2014/main" id="{61F7A539-776E-18AE-7D72-BFB80E224F78}"/>
              </a:ext>
            </a:extLst>
          </p:cNvPr>
          <p:cNvPicPr>
            <a:picLocks noChangeAspect="1"/>
          </p:cNvPicPr>
          <p:nvPr/>
        </p:nvPicPr>
        <p:blipFill>
          <a:blip r:embed="rId3" cstate="print">
            <a:extLst>
              <a:ext uri="{28A0092B-C50C-407E-A947-70E740481C1C}">
                <a14:useLocalDpi xmlns:a14="http://schemas.microsoft.com/office/drawing/2010/main" val="0"/>
              </a:ext>
            </a:extLst>
          </a:blip>
          <a:srcRect l="6026" t="5108" b="11111"/>
          <a:stretch>
            <a:fillRect/>
          </a:stretch>
        </p:blipFill>
        <p:spPr>
          <a:xfrm>
            <a:off x="1187330" y="3223734"/>
            <a:ext cx="741516" cy="500764"/>
          </a:xfrm>
          <a:prstGeom prst="rect">
            <a:avLst/>
          </a:prstGeom>
        </p:spPr>
      </p:pic>
      <p:pic>
        <p:nvPicPr>
          <p:cNvPr id="26" name="Picture 25">
            <a:extLst>
              <a:ext uri="{FF2B5EF4-FFF2-40B4-BE49-F238E27FC236}">
                <a16:creationId xmlns:a16="http://schemas.microsoft.com/office/drawing/2014/main" id="{4BC33C57-83A7-77B9-8695-FF8ADA466EDA}"/>
              </a:ext>
            </a:extLst>
          </p:cNvPr>
          <p:cNvPicPr>
            <a:picLocks noChangeAspect="1"/>
          </p:cNvPicPr>
          <p:nvPr/>
        </p:nvPicPr>
        <p:blipFill>
          <a:blip r:embed="rId4" cstate="print">
            <a:extLst>
              <a:ext uri="{28A0092B-C50C-407E-A947-70E740481C1C}">
                <a14:useLocalDpi xmlns:a14="http://schemas.microsoft.com/office/drawing/2010/main" val="0"/>
              </a:ext>
            </a:extLst>
          </a:blip>
          <a:srcRect l="7165" t="4595" r="10510" b="7627"/>
          <a:stretch>
            <a:fillRect/>
          </a:stretch>
        </p:blipFill>
        <p:spPr>
          <a:xfrm>
            <a:off x="1239813" y="4301465"/>
            <a:ext cx="734549" cy="817847"/>
          </a:xfrm>
          <a:prstGeom prst="rect">
            <a:avLst/>
          </a:prstGeom>
        </p:spPr>
      </p:pic>
      <p:pic>
        <p:nvPicPr>
          <p:cNvPr id="29" name="Picture 28">
            <a:extLst>
              <a:ext uri="{FF2B5EF4-FFF2-40B4-BE49-F238E27FC236}">
                <a16:creationId xmlns:a16="http://schemas.microsoft.com/office/drawing/2014/main" id="{7DE70A3F-A03D-CA50-03F8-D44A1CAD3784}"/>
              </a:ext>
            </a:extLst>
          </p:cNvPr>
          <p:cNvPicPr>
            <a:picLocks noChangeAspect="1"/>
          </p:cNvPicPr>
          <p:nvPr/>
        </p:nvPicPr>
        <p:blipFill>
          <a:blip r:embed="rId5" cstate="print">
            <a:extLst>
              <a:ext uri="{28A0092B-C50C-407E-A947-70E740481C1C}">
                <a14:useLocalDpi xmlns:a14="http://schemas.microsoft.com/office/drawing/2010/main" val="0"/>
              </a:ext>
            </a:extLst>
          </a:blip>
          <a:srcRect l="4303" t="4159" r="4303" b="10001"/>
          <a:stretch>
            <a:fillRect/>
          </a:stretch>
        </p:blipFill>
        <p:spPr>
          <a:xfrm>
            <a:off x="6252552" y="2197607"/>
            <a:ext cx="704573" cy="504122"/>
          </a:xfrm>
          <a:prstGeom prst="rect">
            <a:avLst/>
          </a:prstGeom>
        </p:spPr>
      </p:pic>
      <p:pic>
        <p:nvPicPr>
          <p:cNvPr id="31" name="Picture 30">
            <a:extLst>
              <a:ext uri="{FF2B5EF4-FFF2-40B4-BE49-F238E27FC236}">
                <a16:creationId xmlns:a16="http://schemas.microsoft.com/office/drawing/2014/main" id="{41F9A49F-88D8-00F0-401B-E615224A96E6}"/>
              </a:ext>
            </a:extLst>
          </p:cNvPr>
          <p:cNvPicPr>
            <a:picLocks noChangeAspect="1"/>
          </p:cNvPicPr>
          <p:nvPr/>
        </p:nvPicPr>
        <p:blipFill>
          <a:blip r:embed="rId6" cstate="print">
            <a:extLst>
              <a:ext uri="{28A0092B-C50C-407E-A947-70E740481C1C}">
                <a14:useLocalDpi xmlns:a14="http://schemas.microsoft.com/office/drawing/2010/main" val="0"/>
              </a:ext>
            </a:extLst>
          </a:blip>
          <a:srcRect l="2839" t="4793" r="3802" b="12571"/>
          <a:stretch>
            <a:fillRect/>
          </a:stretch>
        </p:blipFill>
        <p:spPr>
          <a:xfrm>
            <a:off x="6234408" y="3263259"/>
            <a:ext cx="716972" cy="461238"/>
          </a:xfrm>
          <a:prstGeom prst="rect">
            <a:avLst/>
          </a:prstGeom>
        </p:spPr>
      </p:pic>
      <p:pic>
        <p:nvPicPr>
          <p:cNvPr id="32" name="Picture 31">
            <a:extLst>
              <a:ext uri="{FF2B5EF4-FFF2-40B4-BE49-F238E27FC236}">
                <a16:creationId xmlns:a16="http://schemas.microsoft.com/office/drawing/2014/main" id="{15A4710C-189A-FAAF-10C2-A0AE244ADBA0}"/>
              </a:ext>
            </a:extLst>
          </p:cNvPr>
          <p:cNvPicPr>
            <a:picLocks noChangeAspect="1"/>
          </p:cNvPicPr>
          <p:nvPr/>
        </p:nvPicPr>
        <p:blipFill>
          <a:blip r:embed="rId7" cstate="print">
            <a:extLst>
              <a:ext uri="{28A0092B-C50C-407E-A947-70E740481C1C}">
                <a14:useLocalDpi xmlns:a14="http://schemas.microsoft.com/office/drawing/2010/main" val="0"/>
              </a:ext>
            </a:extLst>
          </a:blip>
          <a:srcRect l="3304" t="4534" r="3955" b="9497"/>
          <a:stretch>
            <a:fillRect/>
          </a:stretch>
        </p:blipFill>
        <p:spPr>
          <a:xfrm>
            <a:off x="6234409" y="4301266"/>
            <a:ext cx="716972" cy="818046"/>
          </a:xfrm>
          <a:prstGeom prst="rect">
            <a:avLst/>
          </a:prstGeom>
        </p:spPr>
      </p:pic>
      <p:pic>
        <p:nvPicPr>
          <p:cNvPr id="33" name="Picture 32">
            <a:extLst>
              <a:ext uri="{FF2B5EF4-FFF2-40B4-BE49-F238E27FC236}">
                <a16:creationId xmlns:a16="http://schemas.microsoft.com/office/drawing/2014/main" id="{91BA1098-1E7D-7AF9-714D-E07F60D6712F}"/>
              </a:ext>
            </a:extLst>
          </p:cNvPr>
          <p:cNvPicPr>
            <a:picLocks noChangeAspect="1"/>
          </p:cNvPicPr>
          <p:nvPr/>
        </p:nvPicPr>
        <p:blipFill>
          <a:blip r:embed="rId8"/>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2575234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3332C-C77B-78DA-9F62-1FBF6AA5647F}"/>
            </a:ext>
          </a:extLst>
        </p:cNvPr>
        <p:cNvGrpSpPr/>
        <p:nvPr/>
      </p:nvGrpSpPr>
      <p:grpSpPr>
        <a:xfrm>
          <a:off x="0" y="0"/>
          <a:ext cx="0" cy="0"/>
          <a:chOff x="0" y="0"/>
          <a:chExt cx="0" cy="0"/>
        </a:xfrm>
      </p:grpSpPr>
      <p:sp>
        <p:nvSpPr>
          <p:cNvPr id="7" name="Title 21">
            <a:extLst>
              <a:ext uri="{FF2B5EF4-FFF2-40B4-BE49-F238E27FC236}">
                <a16:creationId xmlns:a16="http://schemas.microsoft.com/office/drawing/2014/main" id="{71E7A9E2-51E4-C810-B549-254EB2B578DC}"/>
              </a:ext>
            </a:extLst>
          </p:cNvPr>
          <p:cNvSpPr txBox="1">
            <a:spLocks/>
          </p:cNvSpPr>
          <p:nvPr/>
        </p:nvSpPr>
        <p:spPr>
          <a:xfrm>
            <a:off x="457200" y="274170"/>
            <a:ext cx="10561116" cy="486159"/>
          </a:xfrm>
          <a:prstGeom prst="rect">
            <a:avLst/>
          </a:prstGeom>
        </p:spPr>
        <p:txBody>
          <a:bodyPr/>
          <a:lstStyle>
            <a:lvl1pPr>
              <a:defRPr>
                <a:latin typeface="+mj-lt"/>
                <a:ea typeface="+mj-ea"/>
                <a:cs typeface="+mj-cs"/>
              </a:defRPr>
            </a:lvl1pPr>
          </a:lstStyle>
          <a:p>
            <a:pPr>
              <a:lnSpc>
                <a:spcPct val="150000"/>
              </a:lnSpc>
              <a:spcAft>
                <a:spcPts val="800"/>
              </a:spcAft>
            </a:pPr>
            <a:r>
              <a:rPr lang="en-IN" sz="2400" b="1" dirty="0">
                <a:solidFill>
                  <a:schemeClr val="bg1"/>
                </a:solidFill>
                <a:latin typeface="Georgia" panose="02040502050405020303" pitchFamily="18" charset="0"/>
              </a:rPr>
              <a:t>Challenge category 3: Efficient logistics optimisation solutions</a:t>
            </a:r>
            <a:endParaRPr lang="en-US" sz="2400" b="1" dirty="0">
              <a:solidFill>
                <a:schemeClr val="bg1"/>
              </a:solidFill>
              <a:latin typeface="Georgia" panose="02040502050405020303" pitchFamily="18" charset="0"/>
            </a:endParaRPr>
          </a:p>
        </p:txBody>
      </p:sp>
      <p:sp>
        <p:nvSpPr>
          <p:cNvPr id="5" name="Slide Number Placeholder 2">
            <a:extLst>
              <a:ext uri="{FF2B5EF4-FFF2-40B4-BE49-F238E27FC236}">
                <a16:creationId xmlns:a16="http://schemas.microsoft.com/office/drawing/2014/main" id="{8A5A7315-D3E6-4981-4AA0-8E3E741373E2}"/>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17</a:t>
            </a:fld>
            <a:endParaRPr dirty="0">
              <a:latin typeface="Georgia" panose="02040502050405020303" pitchFamily="18" charset="0"/>
            </a:endParaRPr>
          </a:p>
        </p:txBody>
      </p:sp>
      <p:sp>
        <p:nvSpPr>
          <p:cNvPr id="16" name="TextBox 15">
            <a:extLst>
              <a:ext uri="{FF2B5EF4-FFF2-40B4-BE49-F238E27FC236}">
                <a16:creationId xmlns:a16="http://schemas.microsoft.com/office/drawing/2014/main" id="{FBA62112-4F48-9C11-A14D-26DF92E35DB1}"/>
              </a:ext>
            </a:extLst>
          </p:cNvPr>
          <p:cNvSpPr txBox="1"/>
          <p:nvPr/>
        </p:nvSpPr>
        <p:spPr>
          <a:xfrm>
            <a:off x="533400" y="990600"/>
            <a:ext cx="10820400" cy="738664"/>
          </a:xfrm>
          <a:prstGeom prst="rect">
            <a:avLst/>
          </a:prstGeom>
          <a:noFill/>
          <a:ln>
            <a:solidFill>
              <a:srgbClr val="AE4543"/>
            </a:solidFill>
          </a:ln>
        </p:spPr>
        <p:txBody>
          <a:bodyPr wrap="square">
            <a:spAutoFit/>
          </a:bodyPr>
          <a:lstStyle/>
          <a:p>
            <a:pPr>
              <a:spcAft>
                <a:spcPts val="800"/>
              </a:spcAft>
            </a:pPr>
            <a:r>
              <a:rPr lang="en-US" altLang="en-US" sz="1400" dirty="0">
                <a:solidFill>
                  <a:sysClr val="windowText" lastClr="000000"/>
                </a:solidFill>
                <a:latin typeface="Georgia" panose="02040502050405020303" pitchFamily="18" charset="0"/>
              </a:rPr>
              <a:t>This challenge category focuses on developing solutions that enhance logistics efficiency across the fruits and vegetables value chain. During peak harvest seasons, inadequate coordination between aggregation, transportation, storage, and market linkages leads to significant produce loss making logistics a critical intervention point.</a:t>
            </a:r>
          </a:p>
        </p:txBody>
      </p:sp>
      <p:grpSp>
        <p:nvGrpSpPr>
          <p:cNvPr id="4" name="Group 3">
            <a:extLst>
              <a:ext uri="{FF2B5EF4-FFF2-40B4-BE49-F238E27FC236}">
                <a16:creationId xmlns:a16="http://schemas.microsoft.com/office/drawing/2014/main" id="{98A7BF29-CAB5-A9BD-0CE3-C1742086A5EE}"/>
              </a:ext>
            </a:extLst>
          </p:cNvPr>
          <p:cNvGrpSpPr/>
          <p:nvPr/>
        </p:nvGrpSpPr>
        <p:grpSpPr>
          <a:xfrm>
            <a:off x="2869528" y="1752600"/>
            <a:ext cx="6148140" cy="1107272"/>
            <a:chOff x="3021930" y="1893453"/>
            <a:chExt cx="6148140" cy="1335872"/>
          </a:xfrm>
        </p:grpSpPr>
        <p:sp>
          <p:nvSpPr>
            <p:cNvPr id="92" name="Shape 10">
              <a:extLst>
                <a:ext uri="{FF2B5EF4-FFF2-40B4-BE49-F238E27FC236}">
                  <a16:creationId xmlns:a16="http://schemas.microsoft.com/office/drawing/2014/main" id="{D5C0B18D-2D93-C764-9945-526564DD4A0B}"/>
                </a:ext>
              </a:extLst>
            </p:cNvPr>
            <p:cNvSpPr/>
            <p:nvPr/>
          </p:nvSpPr>
          <p:spPr>
            <a:xfrm>
              <a:off x="3021930" y="1959535"/>
              <a:ext cx="1847893" cy="1269790"/>
            </a:xfrm>
            <a:prstGeom prst="rect">
              <a:avLst/>
            </a:prstGeom>
            <a:solidFill>
              <a:srgbClr val="1A4731"/>
            </a:solidFill>
            <a:ln/>
            <a:effectLst>
              <a:outerShdw blurRad="101600" dist="38100" dir="8100000" algn="bl" rotWithShape="0">
                <a:srgbClr val="000000">
                  <a:alpha val="12000"/>
                </a:srgbClr>
              </a:outerShdw>
            </a:effectLst>
          </p:spPr>
          <p:txBody>
            <a:bodyPr/>
            <a:lstStyle/>
            <a:p>
              <a:endParaRPr lang="en-IN">
                <a:latin typeface="Georgia" panose="02040502050405020303" pitchFamily="18" charset="0"/>
              </a:endParaRPr>
            </a:p>
          </p:txBody>
        </p:sp>
        <p:sp>
          <p:nvSpPr>
            <p:cNvPr id="97" name="Text 11">
              <a:extLst>
                <a:ext uri="{FF2B5EF4-FFF2-40B4-BE49-F238E27FC236}">
                  <a16:creationId xmlns:a16="http://schemas.microsoft.com/office/drawing/2014/main" id="{B4689708-56D6-7FA9-871A-160730C9C455}"/>
                </a:ext>
              </a:extLst>
            </p:cNvPr>
            <p:cNvSpPr/>
            <p:nvPr/>
          </p:nvSpPr>
          <p:spPr>
            <a:xfrm>
              <a:off x="3121815" y="1893453"/>
              <a:ext cx="1648121" cy="606036"/>
            </a:xfrm>
            <a:prstGeom prst="rect">
              <a:avLst/>
            </a:prstGeom>
            <a:noFill/>
            <a:ln/>
          </p:spPr>
          <p:txBody>
            <a:bodyPr wrap="square" lIns="0" tIns="0" rIns="0" bIns="0" rtlCol="0" anchor="ctr"/>
            <a:lstStyle/>
            <a:p>
              <a:pPr marL="0" indent="0" algn="ctr">
                <a:buNone/>
              </a:pPr>
              <a:r>
                <a:rPr lang="en-US" sz="2000" b="1" dirty="0">
                  <a:solidFill>
                    <a:srgbClr val="F5C842"/>
                  </a:solidFill>
                  <a:latin typeface="Georgia" panose="02040502050405020303" pitchFamily="18" charset="0"/>
                </a:rPr>
                <a:t>2.5 - 25 %</a:t>
              </a:r>
              <a:endParaRPr lang="en-US" sz="2000" dirty="0">
                <a:latin typeface="Georgia" panose="02040502050405020303" pitchFamily="18" charset="0"/>
              </a:endParaRPr>
            </a:p>
          </p:txBody>
        </p:sp>
        <p:sp>
          <p:nvSpPr>
            <p:cNvPr id="99" name="Text 12">
              <a:extLst>
                <a:ext uri="{FF2B5EF4-FFF2-40B4-BE49-F238E27FC236}">
                  <a16:creationId xmlns:a16="http://schemas.microsoft.com/office/drawing/2014/main" id="{E9604408-C438-5EB0-0BD8-FC1F277F0261}"/>
                </a:ext>
              </a:extLst>
            </p:cNvPr>
            <p:cNvSpPr/>
            <p:nvPr/>
          </p:nvSpPr>
          <p:spPr>
            <a:xfrm>
              <a:off x="3078291" y="2586066"/>
              <a:ext cx="1728030" cy="461742"/>
            </a:xfrm>
            <a:prstGeom prst="rect">
              <a:avLst/>
            </a:prstGeom>
            <a:noFill/>
            <a:ln/>
          </p:spPr>
          <p:txBody>
            <a:bodyPr wrap="square" lIns="0" tIns="0" rIns="0" bIns="0" rtlCol="0" anchor="ctr"/>
            <a:lstStyle/>
            <a:p>
              <a:pPr marL="0" indent="0" algn="ctr">
                <a:buNone/>
              </a:pPr>
              <a:r>
                <a:rPr lang="en-US" sz="1000" dirty="0">
                  <a:solidFill>
                    <a:srgbClr val="D4EDDA"/>
                  </a:solidFill>
                  <a:latin typeface="Georgia" panose="02040502050405020303" pitchFamily="18" charset="0"/>
                </a:rPr>
                <a:t>Post-harvest losses linked to logistics inefficiency, reported across crops and districts</a:t>
              </a:r>
              <a:endParaRPr lang="en-US" sz="1000" dirty="0">
                <a:latin typeface="Georgia" panose="02040502050405020303" pitchFamily="18" charset="0"/>
              </a:endParaRPr>
            </a:p>
          </p:txBody>
        </p:sp>
        <p:grpSp>
          <p:nvGrpSpPr>
            <p:cNvPr id="3" name="Group 2">
              <a:extLst>
                <a:ext uri="{FF2B5EF4-FFF2-40B4-BE49-F238E27FC236}">
                  <a16:creationId xmlns:a16="http://schemas.microsoft.com/office/drawing/2014/main" id="{8D2D1165-9492-C83E-6987-E1B466B629EB}"/>
                </a:ext>
              </a:extLst>
            </p:cNvPr>
            <p:cNvGrpSpPr/>
            <p:nvPr/>
          </p:nvGrpSpPr>
          <p:grpSpPr>
            <a:xfrm>
              <a:off x="7322177" y="1959535"/>
              <a:ext cx="1847893" cy="1269790"/>
              <a:chOff x="5019652" y="1959535"/>
              <a:chExt cx="1847893" cy="1269790"/>
            </a:xfrm>
          </p:grpSpPr>
          <p:sp>
            <p:nvSpPr>
              <p:cNvPr id="93" name="Shape 13">
                <a:extLst>
                  <a:ext uri="{FF2B5EF4-FFF2-40B4-BE49-F238E27FC236}">
                    <a16:creationId xmlns:a16="http://schemas.microsoft.com/office/drawing/2014/main" id="{F1C5612B-082C-2684-8E07-DCB7C8368F4F}"/>
                  </a:ext>
                </a:extLst>
              </p:cNvPr>
              <p:cNvSpPr/>
              <p:nvPr/>
            </p:nvSpPr>
            <p:spPr>
              <a:xfrm>
                <a:off x="5019652" y="1959535"/>
                <a:ext cx="1847893" cy="1269790"/>
              </a:xfrm>
              <a:prstGeom prst="rect">
                <a:avLst/>
              </a:prstGeom>
              <a:solidFill>
                <a:srgbClr val="E6922A"/>
              </a:solidFill>
              <a:ln/>
              <a:effectLst>
                <a:outerShdw blurRad="101600" dist="38100" dir="8100000" algn="bl" rotWithShape="0">
                  <a:srgbClr val="000000">
                    <a:alpha val="12000"/>
                  </a:srgbClr>
                </a:outerShdw>
              </a:effectLst>
            </p:spPr>
            <p:txBody>
              <a:bodyPr/>
              <a:lstStyle/>
              <a:p>
                <a:endParaRPr lang="en-IN" dirty="0">
                  <a:latin typeface="Georgia" panose="02040502050405020303" pitchFamily="18" charset="0"/>
                </a:endParaRPr>
              </a:p>
            </p:txBody>
          </p:sp>
          <p:sp>
            <p:nvSpPr>
              <p:cNvPr id="101" name="Text 14">
                <a:extLst>
                  <a:ext uri="{FF2B5EF4-FFF2-40B4-BE49-F238E27FC236}">
                    <a16:creationId xmlns:a16="http://schemas.microsoft.com/office/drawing/2014/main" id="{84ACAE55-0D2F-1456-0E34-C7D167F0A121}"/>
                  </a:ext>
                </a:extLst>
              </p:cNvPr>
              <p:cNvSpPr/>
              <p:nvPr/>
            </p:nvSpPr>
            <p:spPr>
              <a:xfrm>
                <a:off x="5119537" y="1982228"/>
                <a:ext cx="1648121" cy="606036"/>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anose="02040502050405020303" pitchFamily="18" charset="0"/>
                  </a:rPr>
                  <a:t>5 crops</a:t>
                </a:r>
              </a:p>
              <a:p>
                <a:pPr algn="ctr"/>
                <a:r>
                  <a:rPr lang="en-US" sz="800" b="1" i="1" dirty="0">
                    <a:solidFill>
                      <a:schemeClr val="bg1"/>
                    </a:solidFill>
                    <a:latin typeface="Georgia" panose="02040502050405020303" pitchFamily="18" charset="0"/>
                  </a:rPr>
                  <a:t>(</a:t>
                </a:r>
                <a:r>
                  <a:rPr lang="it-IT" sz="800" b="1" i="1" dirty="0">
                    <a:solidFill>
                      <a:schemeClr val="bg1"/>
                    </a:solidFill>
                    <a:latin typeface="Georgia" panose="02040502050405020303" pitchFamily="18" charset="0"/>
                  </a:rPr>
                  <a:t>Pomegranate, Onion, Pineapple, Mango, Banana</a:t>
                </a:r>
                <a:r>
                  <a:rPr lang="en-IN" sz="800" b="1" i="1" dirty="0">
                    <a:solidFill>
                      <a:schemeClr val="bg1"/>
                    </a:solidFill>
                    <a:latin typeface="Georgia" panose="02040502050405020303" pitchFamily="18" charset="0"/>
                  </a:rPr>
                  <a:t>)</a:t>
                </a:r>
                <a:endParaRPr lang="it-IT" sz="800" b="1" i="1" dirty="0">
                  <a:solidFill>
                    <a:schemeClr val="bg1"/>
                  </a:solidFill>
                  <a:latin typeface="Georgia" panose="02040502050405020303" pitchFamily="18" charset="0"/>
                </a:endParaRPr>
              </a:p>
            </p:txBody>
          </p:sp>
          <p:sp>
            <p:nvSpPr>
              <p:cNvPr id="102" name="Text 15">
                <a:extLst>
                  <a:ext uri="{FF2B5EF4-FFF2-40B4-BE49-F238E27FC236}">
                    <a16:creationId xmlns:a16="http://schemas.microsoft.com/office/drawing/2014/main" id="{DF8BB3CF-3655-48B7-5211-8096A6744F37}"/>
                  </a:ext>
                </a:extLst>
              </p:cNvPr>
              <p:cNvSpPr/>
              <p:nvPr/>
            </p:nvSpPr>
            <p:spPr>
              <a:xfrm>
                <a:off x="5101415" y="2767583"/>
                <a:ext cx="1728030" cy="461742"/>
              </a:xfrm>
              <a:prstGeom prst="rect">
                <a:avLst/>
              </a:prstGeom>
              <a:noFill/>
              <a:ln/>
            </p:spPr>
            <p:txBody>
              <a:bodyPr wrap="square" lIns="0" tIns="0" rIns="0" bIns="0" rtlCol="0" anchor="ctr"/>
              <a:lstStyle/>
              <a:p>
                <a:pPr marL="0" indent="0" algn="ctr">
                  <a:buNone/>
                </a:pPr>
                <a:r>
                  <a:rPr lang="en-US" sz="1000" dirty="0">
                    <a:solidFill>
                      <a:schemeClr val="bg1"/>
                    </a:solidFill>
                    <a:latin typeface="Georgia" panose="02040502050405020303" pitchFamily="18" charset="0"/>
                  </a:rPr>
                  <a:t>with critical transport gaps at market level</a:t>
                </a:r>
              </a:p>
            </p:txBody>
          </p:sp>
        </p:grpSp>
        <p:grpSp>
          <p:nvGrpSpPr>
            <p:cNvPr id="2" name="Group 1">
              <a:extLst>
                <a:ext uri="{FF2B5EF4-FFF2-40B4-BE49-F238E27FC236}">
                  <a16:creationId xmlns:a16="http://schemas.microsoft.com/office/drawing/2014/main" id="{121CD022-E420-BCE8-53C5-0F41E1487B28}"/>
                </a:ext>
              </a:extLst>
            </p:cNvPr>
            <p:cNvGrpSpPr/>
            <p:nvPr/>
          </p:nvGrpSpPr>
          <p:grpSpPr>
            <a:xfrm>
              <a:off x="5172053" y="1959535"/>
              <a:ext cx="1847893" cy="1269790"/>
              <a:chOff x="7017375" y="1959535"/>
              <a:chExt cx="1847893" cy="1269790"/>
            </a:xfrm>
          </p:grpSpPr>
          <p:sp>
            <p:nvSpPr>
              <p:cNvPr id="94" name="Shape 16">
                <a:extLst>
                  <a:ext uri="{FF2B5EF4-FFF2-40B4-BE49-F238E27FC236}">
                    <a16:creationId xmlns:a16="http://schemas.microsoft.com/office/drawing/2014/main" id="{8A346D1C-3870-F946-F76B-39BE2B74D5F9}"/>
                  </a:ext>
                </a:extLst>
              </p:cNvPr>
              <p:cNvSpPr/>
              <p:nvPr/>
            </p:nvSpPr>
            <p:spPr>
              <a:xfrm>
                <a:off x="7017375" y="1959535"/>
                <a:ext cx="1847893" cy="1269790"/>
              </a:xfrm>
              <a:prstGeom prst="rect">
                <a:avLst/>
              </a:prstGeom>
              <a:solidFill>
                <a:srgbClr val="2D7A4F"/>
              </a:solidFill>
              <a:ln/>
              <a:effectLst>
                <a:outerShdw blurRad="101600" dist="38100" dir="8100000" algn="bl" rotWithShape="0">
                  <a:srgbClr val="000000">
                    <a:alpha val="12000"/>
                  </a:srgbClr>
                </a:outerShdw>
              </a:effectLst>
            </p:spPr>
            <p:txBody>
              <a:bodyPr/>
              <a:lstStyle/>
              <a:p>
                <a:endParaRPr lang="en-IN" dirty="0">
                  <a:latin typeface="Georgia" panose="02040502050405020303" pitchFamily="18" charset="0"/>
                </a:endParaRPr>
              </a:p>
            </p:txBody>
          </p:sp>
          <p:sp>
            <p:nvSpPr>
              <p:cNvPr id="103" name="Text 17">
                <a:extLst>
                  <a:ext uri="{FF2B5EF4-FFF2-40B4-BE49-F238E27FC236}">
                    <a16:creationId xmlns:a16="http://schemas.microsoft.com/office/drawing/2014/main" id="{A3A9F3A1-A9C1-7997-924A-85E7E95A9369}"/>
                  </a:ext>
                </a:extLst>
              </p:cNvPr>
              <p:cNvSpPr/>
              <p:nvPr/>
            </p:nvSpPr>
            <p:spPr>
              <a:xfrm>
                <a:off x="7123695" y="2046112"/>
                <a:ext cx="1648121" cy="606036"/>
              </a:xfrm>
              <a:prstGeom prst="rect">
                <a:avLst/>
              </a:prstGeom>
              <a:noFill/>
              <a:ln/>
            </p:spPr>
            <p:txBody>
              <a:bodyPr wrap="square" lIns="0" tIns="0" rIns="0" bIns="0" rtlCol="0" anchor="ctr"/>
              <a:lstStyle/>
              <a:p>
                <a:pPr marL="0" indent="0" algn="ctr">
                  <a:buNone/>
                </a:pPr>
                <a:r>
                  <a:rPr lang="en-US" sz="2000" b="1" dirty="0">
                    <a:solidFill>
                      <a:schemeClr val="bg1"/>
                    </a:solidFill>
                    <a:latin typeface="Georgia" panose="02040502050405020303" pitchFamily="18" charset="0"/>
                  </a:rPr>
                  <a:t>7 crops</a:t>
                </a:r>
              </a:p>
              <a:p>
                <a:pPr algn="ctr"/>
                <a:r>
                  <a:rPr lang="en-US" sz="800" b="1" i="1" dirty="0">
                    <a:solidFill>
                      <a:schemeClr val="bg1"/>
                    </a:solidFill>
                    <a:latin typeface="Georgia" panose="02040502050405020303" pitchFamily="18" charset="0"/>
                  </a:rPr>
                  <a:t>(</a:t>
                </a:r>
                <a:r>
                  <a:rPr lang="it-IT" sz="800" b="1" i="1" dirty="0">
                    <a:solidFill>
                      <a:schemeClr val="bg1"/>
                    </a:solidFill>
                    <a:latin typeface="Georgia" panose="02040502050405020303" pitchFamily="18" charset="0"/>
                  </a:rPr>
                  <a:t>Pomegranate, Onion, Pineapple, Mango, Tomato, Grapes, Banana</a:t>
                </a:r>
                <a:r>
                  <a:rPr lang="en-IN" sz="800" b="1" i="1" dirty="0">
                    <a:solidFill>
                      <a:schemeClr val="bg1"/>
                    </a:solidFill>
                    <a:latin typeface="Georgia" panose="02040502050405020303" pitchFamily="18" charset="0"/>
                  </a:rPr>
                  <a:t>)</a:t>
                </a:r>
                <a:endParaRPr lang="it-IT" sz="800" b="1" i="1" dirty="0">
                  <a:solidFill>
                    <a:schemeClr val="bg1"/>
                  </a:solidFill>
                  <a:latin typeface="Georgia" panose="02040502050405020303" pitchFamily="18" charset="0"/>
                </a:endParaRPr>
              </a:p>
            </p:txBody>
          </p:sp>
          <p:sp>
            <p:nvSpPr>
              <p:cNvPr id="104" name="Text 18">
                <a:extLst>
                  <a:ext uri="{FF2B5EF4-FFF2-40B4-BE49-F238E27FC236}">
                    <a16:creationId xmlns:a16="http://schemas.microsoft.com/office/drawing/2014/main" id="{A2694702-BE78-6379-E51C-98F737DCF7BB}"/>
                  </a:ext>
                </a:extLst>
              </p:cNvPr>
              <p:cNvSpPr/>
              <p:nvPr/>
            </p:nvSpPr>
            <p:spPr>
              <a:xfrm>
                <a:off x="7083740" y="2759687"/>
                <a:ext cx="1728030" cy="461742"/>
              </a:xfrm>
              <a:prstGeom prst="rect">
                <a:avLst/>
              </a:prstGeom>
              <a:noFill/>
              <a:ln/>
            </p:spPr>
            <p:txBody>
              <a:bodyPr wrap="square" lIns="0" tIns="0" rIns="0" bIns="0" rtlCol="0" anchor="ctr"/>
              <a:lstStyle/>
              <a:p>
                <a:pPr marL="0" indent="0" algn="ctr">
                  <a:buNone/>
                </a:pPr>
                <a:r>
                  <a:rPr lang="en-US" sz="1000" dirty="0">
                    <a:solidFill>
                      <a:schemeClr val="bg1"/>
                    </a:solidFill>
                    <a:latin typeface="Georgia" panose="02040502050405020303" pitchFamily="18" charset="0"/>
                  </a:rPr>
                  <a:t>with critical farm-level transport gaps</a:t>
                </a:r>
              </a:p>
            </p:txBody>
          </p:sp>
        </p:grpSp>
      </p:grpSp>
      <p:sp>
        <p:nvSpPr>
          <p:cNvPr id="106" name="Shape 98">
            <a:extLst>
              <a:ext uri="{FF2B5EF4-FFF2-40B4-BE49-F238E27FC236}">
                <a16:creationId xmlns:a16="http://schemas.microsoft.com/office/drawing/2014/main" id="{A134D2D5-8A50-6DE4-36D1-613E4899397A}"/>
              </a:ext>
            </a:extLst>
          </p:cNvPr>
          <p:cNvSpPr/>
          <p:nvPr/>
        </p:nvSpPr>
        <p:spPr>
          <a:xfrm>
            <a:off x="539831" y="3314000"/>
            <a:ext cx="10820400" cy="2754630"/>
          </a:xfrm>
          <a:prstGeom prst="roundRect">
            <a:avLst>
              <a:gd name="adj" fmla="val 3171"/>
            </a:avLst>
          </a:prstGeom>
          <a:solidFill>
            <a:srgbClr val="DDD9C3"/>
          </a:solidFill>
          <a:ln>
            <a:solidFill>
              <a:schemeClr val="tx1">
                <a:lumMod val="95000"/>
                <a:lumOff val="5000"/>
              </a:schemeClr>
            </a:solidFill>
            <a:prstDash val="dash"/>
          </a:ln>
        </p:spPr>
        <p:txBody>
          <a:bodyPr/>
          <a:lstStyle/>
          <a:p>
            <a:r>
              <a:rPr lang="en-US" sz="1200" b="1" dirty="0">
                <a:latin typeface="Georgia" panose="02040502050405020303" pitchFamily="18" charset="0"/>
              </a:rPr>
              <a:t>Major logistics-related loss reasons across crops:</a:t>
            </a:r>
          </a:p>
          <a:p>
            <a:endParaRPr lang="en-US" sz="400" b="1" u="sng" dirty="0">
              <a:latin typeface="Georgia" panose="02040502050405020303" pitchFamily="18" charset="0"/>
            </a:endParaRPr>
          </a:p>
          <a:p>
            <a:pPr marL="173038" indent="-173038">
              <a:buFont typeface="Arial" panose="020B0604020202020204" pitchFamily="34" charset="0"/>
              <a:buChar char="•"/>
            </a:pPr>
            <a:r>
              <a:rPr lang="en-IN" sz="1200" b="1" dirty="0">
                <a:latin typeface="Georgia" panose="02040502050405020303" pitchFamily="18" charset="0"/>
              </a:rPr>
              <a:t>Onion:</a:t>
            </a:r>
            <a:r>
              <a:rPr lang="en-IN" sz="1200" dirty="0">
                <a:latin typeface="Georgia" panose="02040502050405020303" pitchFamily="18" charset="0"/>
              </a:rPr>
              <a:t> Non-availability of nearby market (South Karnataka); price reduction and delays by wholesalers leading to prolonged holding (Northwest Karnataka)</a:t>
            </a:r>
          </a:p>
          <a:p>
            <a:pPr marL="173038" indent="-173038">
              <a:buFont typeface="Arial" panose="020B0604020202020204" pitchFamily="34" charset="0"/>
              <a:buChar char="•"/>
            </a:pPr>
            <a:r>
              <a:rPr lang="en-IN" sz="1200" b="1" dirty="0">
                <a:latin typeface="Georgia" panose="02040502050405020303" pitchFamily="18" charset="0"/>
              </a:rPr>
              <a:t>Mango:</a:t>
            </a:r>
            <a:r>
              <a:rPr lang="en-IN" sz="1200" dirty="0">
                <a:latin typeface="Georgia" panose="02040502050405020303" pitchFamily="18" charset="0"/>
              </a:rPr>
              <a:t> Wholesale price crash due to simultaneous large output with no dispatch coordination (Northwest Karnataka); mechanical injury during handling and movement (East Karnataka)</a:t>
            </a:r>
          </a:p>
          <a:p>
            <a:pPr marL="173038" indent="-173038">
              <a:buFont typeface="Arial" panose="020B0604020202020204" pitchFamily="34" charset="0"/>
              <a:buChar char="•"/>
            </a:pPr>
            <a:r>
              <a:rPr lang="en-IN" sz="1200" b="1" dirty="0">
                <a:latin typeface="Georgia" panose="02040502050405020303" pitchFamily="18" charset="0"/>
              </a:rPr>
              <a:t>Banana:</a:t>
            </a:r>
            <a:r>
              <a:rPr lang="en-IN" sz="1200" dirty="0">
                <a:latin typeface="Georgia" panose="02040502050405020303" pitchFamily="18" charset="0"/>
              </a:rPr>
              <a:t> Rough handling during collection and lack of ventilated transport (South Karnataka); poor post-harvest handling, over-ripening, and poor packing (Kalyana Karnataka); high storage and transportation losses (Western Ghats); labour shortage and poor handling during evacuation (North Karnataka)</a:t>
            </a:r>
          </a:p>
          <a:p>
            <a:pPr marL="173038" indent="-173038">
              <a:buFont typeface="Arial" panose="020B0604020202020204" pitchFamily="34" charset="0"/>
              <a:buChar char="•"/>
            </a:pPr>
            <a:r>
              <a:rPr lang="en-IN" sz="1200" b="1" dirty="0">
                <a:latin typeface="Georgia" panose="02040502050405020303" pitchFamily="18" charset="0"/>
              </a:rPr>
              <a:t>Tomato:</a:t>
            </a:r>
            <a:r>
              <a:rPr lang="en-IN" sz="1200" dirty="0">
                <a:latin typeface="Georgia" panose="02040502050405020303" pitchFamily="18" charset="0"/>
              </a:rPr>
              <a:t> Supply chain gaps leading to delayed evacuation and quality deterioration (East Karnataka)</a:t>
            </a:r>
          </a:p>
          <a:p>
            <a:pPr marL="173038" indent="-173038">
              <a:buFont typeface="Arial" panose="020B0604020202020204" pitchFamily="34" charset="0"/>
              <a:buChar char="•"/>
            </a:pPr>
            <a:r>
              <a:rPr lang="en-IN" sz="1200" b="1" dirty="0">
                <a:latin typeface="Georgia" panose="02040502050405020303" pitchFamily="18" charset="0"/>
              </a:rPr>
              <a:t>Pomegranate:</a:t>
            </a:r>
            <a:r>
              <a:rPr lang="en-IN" sz="1200" dirty="0">
                <a:latin typeface="Georgia" panose="02040502050405020303" pitchFamily="18" charset="0"/>
              </a:rPr>
              <a:t> Poor handling during transport (Central Karnataka); lack of cold chain infrastructure during transit (East Karnataka); shrivelling from moisture loss in transit (North Karnataka)</a:t>
            </a:r>
          </a:p>
          <a:p>
            <a:pPr marL="173038" indent="-173038">
              <a:buFont typeface="Arial" panose="020B0604020202020204" pitchFamily="34" charset="0"/>
              <a:buChar char="•"/>
            </a:pPr>
            <a:r>
              <a:rPr lang="en-IN" sz="1200" b="1" dirty="0">
                <a:latin typeface="Georgia" panose="02040502050405020303" pitchFamily="18" charset="0"/>
              </a:rPr>
              <a:t>Pineapple:</a:t>
            </a:r>
            <a:r>
              <a:rPr lang="en-IN" sz="1200" dirty="0">
                <a:latin typeface="Georgia" panose="02040502050405020303" pitchFamily="18" charset="0"/>
              </a:rPr>
              <a:t> Late harvesting for distant markets and losses during transportation (Northwest Karnataka); delayed movement to market causing total loss during gluts (Western Ghats)</a:t>
            </a:r>
          </a:p>
          <a:p>
            <a:pPr marL="173038" indent="-173038">
              <a:buFont typeface="Arial" panose="020B0604020202020204" pitchFamily="34" charset="0"/>
              <a:buChar char="•"/>
            </a:pPr>
            <a:r>
              <a:rPr lang="en-IN" sz="1200" b="1" dirty="0">
                <a:latin typeface="Georgia" panose="02040502050405020303" pitchFamily="18" charset="0"/>
              </a:rPr>
              <a:t>Grapes:</a:t>
            </a:r>
            <a:r>
              <a:rPr lang="en-IN" sz="1200" dirty="0">
                <a:latin typeface="Georgia" panose="02040502050405020303" pitchFamily="18" charset="0"/>
              </a:rPr>
              <a:t> No pre-cooling or cold chain available; moisture loss during transit (North Karnataka)</a:t>
            </a:r>
            <a:endParaRPr lang="en-US" sz="1200" dirty="0">
              <a:latin typeface="Georgia" panose="02040502050405020303" pitchFamily="18" charset="0"/>
            </a:endParaRPr>
          </a:p>
        </p:txBody>
      </p:sp>
      <p:sp>
        <p:nvSpPr>
          <p:cNvPr id="6" name="TextBox 5">
            <a:extLst>
              <a:ext uri="{FF2B5EF4-FFF2-40B4-BE49-F238E27FC236}">
                <a16:creationId xmlns:a16="http://schemas.microsoft.com/office/drawing/2014/main" id="{6D01F815-3DAC-A18B-5C19-D481D82D4BB4}"/>
              </a:ext>
            </a:extLst>
          </p:cNvPr>
          <p:cNvSpPr txBox="1"/>
          <p:nvPr/>
        </p:nvSpPr>
        <p:spPr>
          <a:xfrm>
            <a:off x="533398" y="6055771"/>
            <a:ext cx="5791202" cy="215444"/>
          </a:xfrm>
          <a:prstGeom prst="rect">
            <a:avLst/>
          </a:prstGeom>
          <a:noFill/>
        </p:spPr>
        <p:txBody>
          <a:bodyPr wrap="square" rtlCol="0">
            <a:spAutoFit/>
          </a:bodyPr>
          <a:lstStyle/>
          <a:p>
            <a:r>
              <a:rPr lang="en-IN" sz="800" i="1" dirty="0">
                <a:latin typeface="Georgia" panose="02040502050405020303" pitchFamily="18" charset="0"/>
              </a:rPr>
              <a:t>Source: As reported by district officials of Horticulture Department,  Government of Karnataka, as of March 2026</a:t>
            </a:r>
          </a:p>
        </p:txBody>
      </p:sp>
      <p:sp>
        <p:nvSpPr>
          <p:cNvPr id="8" name="TextBox 7">
            <a:extLst>
              <a:ext uri="{FF2B5EF4-FFF2-40B4-BE49-F238E27FC236}">
                <a16:creationId xmlns:a16="http://schemas.microsoft.com/office/drawing/2014/main" id="{B250BFBB-077A-C4B9-18B1-AB7983EE1D8D}"/>
              </a:ext>
            </a:extLst>
          </p:cNvPr>
          <p:cNvSpPr txBox="1"/>
          <p:nvPr/>
        </p:nvSpPr>
        <p:spPr>
          <a:xfrm>
            <a:off x="533398" y="2852335"/>
            <a:ext cx="10966372" cy="461665"/>
          </a:xfrm>
          <a:prstGeom prst="rect">
            <a:avLst/>
          </a:prstGeom>
          <a:noFill/>
        </p:spPr>
        <p:txBody>
          <a:bodyPr wrap="square" rtlCol="0">
            <a:spAutoFit/>
          </a:bodyPr>
          <a:lstStyle/>
          <a:p>
            <a:pPr marL="171450" indent="-171450">
              <a:buFont typeface="Arial" panose="020B0604020202020204" pitchFamily="34" charset="0"/>
              <a:buChar char="•"/>
            </a:pPr>
            <a:r>
              <a:rPr lang="en-US" sz="800" i="1" dirty="0">
                <a:latin typeface="Georgia" panose="02040502050405020303" pitchFamily="18" charset="0"/>
              </a:rPr>
              <a:t>Farm level refers to losses that occur on the farm itself - at harvest, during sorting, grading, and initial handling before the produce leaves the farmer's hands.</a:t>
            </a:r>
          </a:p>
          <a:p>
            <a:pPr marL="171450" indent="-171450">
              <a:buFont typeface="Arial" panose="020B0604020202020204" pitchFamily="34" charset="0"/>
              <a:buChar char="•"/>
            </a:pPr>
            <a:r>
              <a:rPr lang="en-US" sz="800" i="1" dirty="0">
                <a:latin typeface="Georgia" panose="02040502050405020303" pitchFamily="18" charset="0"/>
              </a:rPr>
              <a:t>Market level refers to losses that occur after the produce has left the farm - during transport, at wholesale or retail markets, and at the point of sale where damage, rejection, or spoilage happens in the hands of traders, aggregators, or retailers.</a:t>
            </a:r>
            <a:endParaRPr lang="en-IN" sz="800" i="1" dirty="0">
              <a:latin typeface="Georgia" panose="02040502050405020303" pitchFamily="18" charset="0"/>
            </a:endParaRPr>
          </a:p>
        </p:txBody>
      </p:sp>
      <p:pic>
        <p:nvPicPr>
          <p:cNvPr id="10" name="Picture 9">
            <a:extLst>
              <a:ext uri="{FF2B5EF4-FFF2-40B4-BE49-F238E27FC236}">
                <a16:creationId xmlns:a16="http://schemas.microsoft.com/office/drawing/2014/main" id="{1C537F4B-AD0A-80C3-D3E6-D7C480FC91A1}"/>
              </a:ext>
            </a:extLst>
          </p:cNvPr>
          <p:cNvPicPr>
            <a:picLocks noChangeAspect="1"/>
          </p:cNvPicPr>
          <p:nvPr/>
        </p:nvPicPr>
        <p:blipFill>
          <a:blip r:embed="rId2"/>
          <a:stretch>
            <a:fillRect/>
          </a:stretch>
        </p:blipFill>
        <p:spPr>
          <a:xfrm>
            <a:off x="135503" y="6222338"/>
            <a:ext cx="11920993" cy="667451"/>
          </a:xfrm>
          <a:prstGeom prst="rect">
            <a:avLst/>
          </a:prstGeom>
        </p:spPr>
      </p:pic>
    </p:spTree>
    <p:extLst>
      <p:ext uri="{BB962C8B-B14F-4D97-AF65-F5344CB8AC3E}">
        <p14:creationId xmlns:p14="http://schemas.microsoft.com/office/powerpoint/2010/main" val="807938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FE87E-22A9-8AE1-0DB9-2A078813CF87}"/>
            </a:ext>
          </a:extLst>
        </p:cNvPr>
        <p:cNvGrpSpPr/>
        <p:nvPr/>
      </p:nvGrpSpPr>
      <p:grpSpPr>
        <a:xfrm>
          <a:off x="0" y="0"/>
          <a:ext cx="0" cy="0"/>
          <a:chOff x="0" y="0"/>
          <a:chExt cx="0" cy="0"/>
        </a:xfrm>
      </p:grpSpPr>
      <p:sp>
        <p:nvSpPr>
          <p:cNvPr id="7" name="Title 21">
            <a:extLst>
              <a:ext uri="{FF2B5EF4-FFF2-40B4-BE49-F238E27FC236}">
                <a16:creationId xmlns:a16="http://schemas.microsoft.com/office/drawing/2014/main" id="{F63E1BFE-9D95-99DF-4547-01B6A14F183B}"/>
              </a:ext>
            </a:extLst>
          </p:cNvPr>
          <p:cNvSpPr txBox="1">
            <a:spLocks/>
          </p:cNvSpPr>
          <p:nvPr/>
        </p:nvSpPr>
        <p:spPr>
          <a:xfrm>
            <a:off x="457200" y="274170"/>
            <a:ext cx="10561116" cy="486159"/>
          </a:xfrm>
          <a:prstGeom prst="rect">
            <a:avLst/>
          </a:prstGeom>
        </p:spPr>
        <p:txBody>
          <a:bodyPr/>
          <a:lstStyle>
            <a:lvl1pPr>
              <a:defRPr>
                <a:latin typeface="+mj-lt"/>
                <a:ea typeface="+mj-ea"/>
                <a:cs typeface="+mj-cs"/>
              </a:defRPr>
            </a:lvl1pPr>
          </a:lstStyle>
          <a:p>
            <a:pPr>
              <a:lnSpc>
                <a:spcPct val="150000"/>
              </a:lnSpc>
              <a:spcAft>
                <a:spcPts val="800"/>
              </a:spcAft>
            </a:pPr>
            <a:r>
              <a:rPr lang="en-IN" sz="2400" b="1" dirty="0">
                <a:solidFill>
                  <a:schemeClr val="bg1"/>
                </a:solidFill>
                <a:latin typeface="Georgia" panose="02040502050405020303" pitchFamily="18" charset="0"/>
              </a:rPr>
              <a:t>Challenge category 3: Efficient logistics optimisation solutions</a:t>
            </a:r>
            <a:endParaRPr lang="en-US" sz="2400" b="1" dirty="0">
              <a:solidFill>
                <a:schemeClr val="bg1"/>
              </a:solidFill>
              <a:latin typeface="Georgia" panose="02040502050405020303" pitchFamily="18" charset="0"/>
            </a:endParaRPr>
          </a:p>
        </p:txBody>
      </p:sp>
      <p:sp>
        <p:nvSpPr>
          <p:cNvPr id="5" name="Slide Number Placeholder 2">
            <a:extLst>
              <a:ext uri="{FF2B5EF4-FFF2-40B4-BE49-F238E27FC236}">
                <a16:creationId xmlns:a16="http://schemas.microsoft.com/office/drawing/2014/main" id="{EF6C8925-DF1A-E985-37A7-A67C65EBD2EF}"/>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18</a:t>
            </a:fld>
            <a:endParaRPr dirty="0">
              <a:latin typeface="Georgia" panose="02040502050405020303" pitchFamily="18" charset="0"/>
            </a:endParaRPr>
          </a:p>
        </p:txBody>
      </p:sp>
      <p:sp>
        <p:nvSpPr>
          <p:cNvPr id="106" name="Shape 98">
            <a:extLst>
              <a:ext uri="{FF2B5EF4-FFF2-40B4-BE49-F238E27FC236}">
                <a16:creationId xmlns:a16="http://schemas.microsoft.com/office/drawing/2014/main" id="{9DF5E16A-E58D-776D-4F4A-8A8A788DC934}"/>
              </a:ext>
            </a:extLst>
          </p:cNvPr>
          <p:cNvSpPr/>
          <p:nvPr/>
        </p:nvSpPr>
        <p:spPr>
          <a:xfrm>
            <a:off x="533398" y="2112842"/>
            <a:ext cx="10820400" cy="2611558"/>
          </a:xfrm>
          <a:prstGeom prst="roundRect">
            <a:avLst>
              <a:gd name="adj" fmla="val 3171"/>
            </a:avLst>
          </a:prstGeom>
          <a:solidFill>
            <a:srgbClr val="DDD9C3"/>
          </a:solidFill>
          <a:ln>
            <a:solidFill>
              <a:schemeClr val="tx1">
                <a:lumMod val="95000"/>
                <a:lumOff val="5000"/>
              </a:schemeClr>
            </a:solidFill>
            <a:prstDash val="dash"/>
          </a:ln>
        </p:spPr>
        <p:txBody>
          <a:bodyPr/>
          <a:lstStyle/>
          <a:p>
            <a:r>
              <a:rPr lang="en-US" sz="1600" b="1" dirty="0">
                <a:latin typeface="Georgia" panose="02040502050405020303" pitchFamily="18" charset="0"/>
              </a:rPr>
              <a:t>Three structural realities make logistics the defining intervention:</a:t>
            </a:r>
          </a:p>
          <a:p>
            <a:endParaRPr lang="en-US" sz="1400" dirty="0">
              <a:latin typeface="Georgia" panose="02040502050405020303" pitchFamily="18" charset="0"/>
            </a:endParaRPr>
          </a:p>
          <a:p>
            <a:pPr marL="285750" indent="-285750">
              <a:buFont typeface="Arial" panose="020B0604020202020204" pitchFamily="34" charset="0"/>
              <a:buChar char="•"/>
            </a:pPr>
            <a:r>
              <a:rPr lang="en-US" sz="1600" b="1" dirty="0">
                <a:latin typeface="Georgia" panose="02040502050405020303" pitchFamily="18" charset="0"/>
              </a:rPr>
              <a:t>Short shelf life: </a:t>
            </a:r>
            <a:r>
              <a:rPr lang="en-US" sz="1600" dirty="0">
                <a:latin typeface="Georgia" panose="02040502050405020303" pitchFamily="18" charset="0"/>
              </a:rPr>
              <a:t>Tomato, banana, and mango have a harvest-to-market window measured in days. Every delay is a loss.</a:t>
            </a:r>
          </a:p>
          <a:p>
            <a:pPr marL="285750" indent="-285750">
              <a:buFont typeface="Arial" panose="020B0604020202020204" pitchFamily="34" charset="0"/>
              <a:buChar char="•"/>
            </a:pPr>
            <a:endParaRPr lang="en-US" sz="1600" dirty="0">
              <a:latin typeface="Georgia" panose="02040502050405020303" pitchFamily="18" charset="0"/>
            </a:endParaRPr>
          </a:p>
          <a:p>
            <a:pPr marL="285750" indent="-285750">
              <a:buFont typeface="Arial" panose="020B0604020202020204" pitchFamily="34" charset="0"/>
              <a:buChar char="•"/>
            </a:pPr>
            <a:r>
              <a:rPr lang="en-US" sz="1600" b="1" dirty="0">
                <a:latin typeface="Georgia" panose="02040502050405020303" pitchFamily="18" charset="0"/>
              </a:rPr>
              <a:t>High perishability</a:t>
            </a:r>
            <a:r>
              <a:rPr lang="en-US" sz="1600" dirty="0">
                <a:latin typeface="Georgia" panose="02040502050405020303" pitchFamily="18" charset="0"/>
              </a:rPr>
              <a:t>: Without cold chain, ventilated transport, and careful handling, temperature sensitivity and bruising erase value at every handling step.</a:t>
            </a:r>
          </a:p>
          <a:p>
            <a:pPr marL="285750" indent="-285750">
              <a:buFont typeface="Arial" panose="020B0604020202020204" pitchFamily="34" charset="0"/>
              <a:buChar char="•"/>
            </a:pPr>
            <a:endParaRPr lang="en-US" sz="1600" dirty="0">
              <a:latin typeface="Georgia" panose="02040502050405020303" pitchFamily="18" charset="0"/>
            </a:endParaRPr>
          </a:p>
          <a:p>
            <a:pPr marL="285750" indent="-285750">
              <a:buFont typeface="Arial" panose="020B0604020202020204" pitchFamily="34" charset="0"/>
              <a:buChar char="•"/>
            </a:pPr>
            <a:r>
              <a:rPr lang="en-US" sz="1600" b="1" dirty="0">
                <a:latin typeface="Georgia" panose="02040502050405020303" pitchFamily="18" charset="0"/>
              </a:rPr>
              <a:t>Seasonality</a:t>
            </a:r>
            <a:r>
              <a:rPr lang="en-US" sz="1600" dirty="0">
                <a:latin typeface="Georgia" panose="02040502050405020303" pitchFamily="18" charset="0"/>
              </a:rPr>
              <a:t>: Concentrated harvest windows create volume surges that overwhelm vehicles, aggregation points, and mandis simultaneously, forcing distress sales and quality write-offs across the state.</a:t>
            </a:r>
          </a:p>
        </p:txBody>
      </p:sp>
      <p:sp>
        <p:nvSpPr>
          <p:cNvPr id="10" name="TextBox 9">
            <a:extLst>
              <a:ext uri="{FF2B5EF4-FFF2-40B4-BE49-F238E27FC236}">
                <a16:creationId xmlns:a16="http://schemas.microsoft.com/office/drawing/2014/main" id="{5FDCFBEA-DD35-011F-F6F2-F966FBB1C31D}"/>
              </a:ext>
            </a:extLst>
          </p:cNvPr>
          <p:cNvSpPr txBox="1"/>
          <p:nvPr/>
        </p:nvSpPr>
        <p:spPr>
          <a:xfrm>
            <a:off x="533398" y="1258669"/>
            <a:ext cx="10820400" cy="646331"/>
          </a:xfrm>
          <a:prstGeom prst="rect">
            <a:avLst/>
          </a:prstGeom>
          <a:noFill/>
          <a:ln>
            <a:noFill/>
            <a:prstDash val="dash"/>
          </a:ln>
        </p:spPr>
        <p:txBody>
          <a:bodyPr wrap="square">
            <a:spAutoFit/>
          </a:bodyPr>
          <a:lstStyle/>
          <a:p>
            <a:r>
              <a:rPr lang="en-IN" b="1" dirty="0">
                <a:latin typeface="Georgia" panose="02040502050405020303" pitchFamily="18" charset="0"/>
              </a:rPr>
              <a:t>Across Karnataka, logistics planning is not a support function, it is the primary intervention point for loss reduction.</a:t>
            </a:r>
          </a:p>
        </p:txBody>
      </p:sp>
      <p:pic>
        <p:nvPicPr>
          <p:cNvPr id="2" name="Picture 1">
            <a:extLst>
              <a:ext uri="{FF2B5EF4-FFF2-40B4-BE49-F238E27FC236}">
                <a16:creationId xmlns:a16="http://schemas.microsoft.com/office/drawing/2014/main" id="{4259B5EB-9DEF-27FC-1466-498DC64357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8" y="5870080"/>
            <a:ext cx="12192000" cy="987920"/>
          </a:xfrm>
          <a:prstGeom prst="rect">
            <a:avLst/>
          </a:prstGeom>
        </p:spPr>
      </p:pic>
    </p:spTree>
    <p:extLst>
      <p:ext uri="{BB962C8B-B14F-4D97-AF65-F5344CB8AC3E}">
        <p14:creationId xmlns:p14="http://schemas.microsoft.com/office/powerpoint/2010/main" val="3188659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E7FC9-F771-D274-EEB3-7636400D22B4}"/>
            </a:ext>
          </a:extLst>
        </p:cNvPr>
        <p:cNvGrpSpPr/>
        <p:nvPr/>
      </p:nvGrpSpPr>
      <p:grpSpPr>
        <a:xfrm>
          <a:off x="0" y="0"/>
          <a:ext cx="0" cy="0"/>
          <a:chOff x="0" y="0"/>
          <a:chExt cx="0" cy="0"/>
        </a:xfrm>
      </p:grpSpPr>
      <p:sp>
        <p:nvSpPr>
          <p:cNvPr id="7" name="Title 21">
            <a:extLst>
              <a:ext uri="{FF2B5EF4-FFF2-40B4-BE49-F238E27FC236}">
                <a16:creationId xmlns:a16="http://schemas.microsoft.com/office/drawing/2014/main" id="{D827F969-5D21-14C0-063B-B52B5C4A60CA}"/>
              </a:ext>
            </a:extLst>
          </p:cNvPr>
          <p:cNvSpPr txBox="1">
            <a:spLocks/>
          </p:cNvSpPr>
          <p:nvPr/>
        </p:nvSpPr>
        <p:spPr>
          <a:xfrm>
            <a:off x="404992" y="284247"/>
            <a:ext cx="11353800" cy="486159"/>
          </a:xfrm>
          <a:prstGeom prst="rect">
            <a:avLst/>
          </a:prstGeom>
        </p:spPr>
        <p:txBody>
          <a:bodyPr/>
          <a:lstStyle>
            <a:lvl1pPr>
              <a:defRPr>
                <a:latin typeface="+mj-lt"/>
                <a:ea typeface="+mj-ea"/>
                <a:cs typeface="+mj-cs"/>
              </a:defRPr>
            </a:lvl1pPr>
          </a:lstStyle>
          <a:p>
            <a:pPr>
              <a:lnSpc>
                <a:spcPct val="150000"/>
              </a:lnSpc>
              <a:spcAft>
                <a:spcPts val="800"/>
              </a:spcAft>
            </a:pPr>
            <a:r>
              <a:rPr lang="en-IN" sz="2200" b="1" dirty="0">
                <a:solidFill>
                  <a:schemeClr val="bg1"/>
                </a:solidFill>
                <a:latin typeface="Georgia" panose="02040502050405020303" pitchFamily="18" charset="0"/>
              </a:rPr>
              <a:t>Challenge category 4: </a:t>
            </a:r>
            <a:r>
              <a:rPr lang="en-IN" sz="2200" b="1" dirty="0">
                <a:solidFill>
                  <a:schemeClr val="bg1"/>
                </a:solidFill>
                <a:latin typeface="Georgia" panose="02040502050405020303" pitchFamily="18" charset="0"/>
                <a:ea typeface="Arial" panose="020B0604020202020204" pitchFamily="34" charset="0"/>
              </a:rPr>
              <a:t>Community-led aggregation and enterprise innovations</a:t>
            </a:r>
            <a:endParaRPr lang="en-US" sz="2200" b="1" dirty="0">
              <a:solidFill>
                <a:schemeClr val="bg1"/>
              </a:solidFill>
              <a:latin typeface="Georgia" panose="02040502050405020303" pitchFamily="18" charset="0"/>
            </a:endParaRPr>
          </a:p>
        </p:txBody>
      </p:sp>
      <p:sp>
        <p:nvSpPr>
          <p:cNvPr id="5" name="Slide Number Placeholder 2">
            <a:extLst>
              <a:ext uri="{FF2B5EF4-FFF2-40B4-BE49-F238E27FC236}">
                <a16:creationId xmlns:a16="http://schemas.microsoft.com/office/drawing/2014/main" id="{CA27B3E2-6628-4DB1-2271-1F114C3C8AC2}"/>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19</a:t>
            </a:fld>
            <a:endParaRPr dirty="0">
              <a:latin typeface="Georgia" panose="02040502050405020303" pitchFamily="18" charset="0"/>
            </a:endParaRPr>
          </a:p>
        </p:txBody>
      </p:sp>
      <p:sp>
        <p:nvSpPr>
          <p:cNvPr id="100" name="TextBox 99">
            <a:extLst>
              <a:ext uri="{FF2B5EF4-FFF2-40B4-BE49-F238E27FC236}">
                <a16:creationId xmlns:a16="http://schemas.microsoft.com/office/drawing/2014/main" id="{85D617A9-232C-CC60-D377-5D1154C118C2}"/>
              </a:ext>
            </a:extLst>
          </p:cNvPr>
          <p:cNvSpPr txBox="1"/>
          <p:nvPr/>
        </p:nvSpPr>
        <p:spPr>
          <a:xfrm>
            <a:off x="685798" y="1000780"/>
            <a:ext cx="10609323" cy="523220"/>
          </a:xfrm>
          <a:prstGeom prst="rect">
            <a:avLst/>
          </a:prstGeom>
          <a:noFill/>
          <a:ln>
            <a:solidFill>
              <a:srgbClr val="AE4543"/>
            </a:solidFill>
          </a:ln>
        </p:spPr>
        <p:txBody>
          <a:bodyPr wrap="square">
            <a:spAutoFit/>
          </a:bodyPr>
          <a:lstStyle/>
          <a:p>
            <a:r>
              <a:rPr lang="en-US" sz="1400" dirty="0">
                <a:latin typeface="Georgia" panose="02040502050405020303" pitchFamily="18" charset="0"/>
              </a:rPr>
              <a:t>This challenge category focuses on developing solutions that address fragmented marketable surpluses, weak local aggregation, and limited post-harvest services, which lead to distress sales, market congestion, and low-price realization during peak harvest periods. </a:t>
            </a:r>
            <a:endParaRPr lang="en-US" altLang="en-US" sz="1400" dirty="0">
              <a:latin typeface="Georgia" panose="02040502050405020303" pitchFamily="18" charset="0"/>
            </a:endParaRPr>
          </a:p>
        </p:txBody>
      </p:sp>
      <p:grpSp>
        <p:nvGrpSpPr>
          <p:cNvPr id="19" name="Group 18">
            <a:extLst>
              <a:ext uri="{FF2B5EF4-FFF2-40B4-BE49-F238E27FC236}">
                <a16:creationId xmlns:a16="http://schemas.microsoft.com/office/drawing/2014/main" id="{10E42B71-7E01-7977-35BC-F230F50D0D4B}"/>
              </a:ext>
            </a:extLst>
          </p:cNvPr>
          <p:cNvGrpSpPr/>
          <p:nvPr/>
        </p:nvGrpSpPr>
        <p:grpSpPr>
          <a:xfrm>
            <a:off x="685799" y="1752600"/>
            <a:ext cx="10653781" cy="3814074"/>
            <a:chOff x="524497" y="1752600"/>
            <a:chExt cx="10815084" cy="3814074"/>
          </a:xfrm>
        </p:grpSpPr>
        <p:grpSp>
          <p:nvGrpSpPr>
            <p:cNvPr id="13" name="Group 12">
              <a:extLst>
                <a:ext uri="{FF2B5EF4-FFF2-40B4-BE49-F238E27FC236}">
                  <a16:creationId xmlns:a16="http://schemas.microsoft.com/office/drawing/2014/main" id="{29086C66-70AB-D809-88BA-6765906B4B0E}"/>
                </a:ext>
              </a:extLst>
            </p:cNvPr>
            <p:cNvGrpSpPr/>
            <p:nvPr/>
          </p:nvGrpSpPr>
          <p:grpSpPr>
            <a:xfrm>
              <a:off x="524497" y="1752600"/>
              <a:ext cx="10815084" cy="1784027"/>
              <a:chOff x="524497" y="1812677"/>
              <a:chExt cx="10815084" cy="1784027"/>
            </a:xfrm>
          </p:grpSpPr>
          <p:grpSp>
            <p:nvGrpSpPr>
              <p:cNvPr id="63" name="Group 62">
                <a:extLst>
                  <a:ext uri="{FF2B5EF4-FFF2-40B4-BE49-F238E27FC236}">
                    <a16:creationId xmlns:a16="http://schemas.microsoft.com/office/drawing/2014/main" id="{05A8E5EB-B29B-7D39-5D05-F0A7BC1616F7}"/>
                  </a:ext>
                </a:extLst>
              </p:cNvPr>
              <p:cNvGrpSpPr/>
              <p:nvPr/>
            </p:nvGrpSpPr>
            <p:grpSpPr>
              <a:xfrm>
                <a:off x="524497" y="1812677"/>
                <a:ext cx="10815084" cy="1784027"/>
                <a:chOff x="573114" y="1636655"/>
                <a:chExt cx="10988080" cy="2020945"/>
              </a:xfrm>
            </p:grpSpPr>
            <p:grpSp>
              <p:nvGrpSpPr>
                <p:cNvPr id="14" name="Group 13">
                  <a:extLst>
                    <a:ext uri="{FF2B5EF4-FFF2-40B4-BE49-F238E27FC236}">
                      <a16:creationId xmlns:a16="http://schemas.microsoft.com/office/drawing/2014/main" id="{E26E4B5E-03DE-031E-29BA-400276D463FE}"/>
                    </a:ext>
                  </a:extLst>
                </p:cNvPr>
                <p:cNvGrpSpPr/>
                <p:nvPr/>
              </p:nvGrpSpPr>
              <p:grpSpPr>
                <a:xfrm>
                  <a:off x="573114" y="1636655"/>
                  <a:ext cx="10988080" cy="2020945"/>
                  <a:chOff x="559981" y="1714108"/>
                  <a:chExt cx="5078819" cy="4381892"/>
                </a:xfrm>
              </p:grpSpPr>
              <p:sp>
                <p:nvSpPr>
                  <p:cNvPr id="16" name="Shape 7">
                    <a:extLst>
                      <a:ext uri="{FF2B5EF4-FFF2-40B4-BE49-F238E27FC236}">
                        <a16:creationId xmlns:a16="http://schemas.microsoft.com/office/drawing/2014/main" id="{AB6F3870-CC75-C4AA-EDC5-DAF71F816999}"/>
                      </a:ext>
                    </a:extLst>
                  </p:cNvPr>
                  <p:cNvSpPr/>
                  <p:nvPr/>
                </p:nvSpPr>
                <p:spPr>
                  <a:xfrm>
                    <a:off x="559981" y="1714108"/>
                    <a:ext cx="5074581" cy="4374754"/>
                  </a:xfrm>
                  <a:prstGeom prst="roundRect">
                    <a:avLst>
                      <a:gd name="adj" fmla="val 2506"/>
                    </a:avLst>
                  </a:prstGeom>
                  <a:solidFill>
                    <a:srgbClr val="FFFFFF"/>
                  </a:solidFill>
                  <a:ln/>
                </p:spPr>
                <p:txBody>
                  <a:bodyPr/>
                  <a:lstStyle/>
                  <a:p>
                    <a:endParaRPr lang="en-IN" sz="1200" dirty="0">
                      <a:latin typeface="Georgia" panose="02040502050405020303" pitchFamily="18" charset="0"/>
                    </a:endParaRPr>
                  </a:p>
                </p:txBody>
              </p:sp>
              <p:sp>
                <p:nvSpPr>
                  <p:cNvPr id="17" name="Shape 9">
                    <a:extLst>
                      <a:ext uri="{FF2B5EF4-FFF2-40B4-BE49-F238E27FC236}">
                        <a16:creationId xmlns:a16="http://schemas.microsoft.com/office/drawing/2014/main" id="{FC82629E-DB81-119F-FAFD-D7A1062A9808}"/>
                      </a:ext>
                    </a:extLst>
                  </p:cNvPr>
                  <p:cNvSpPr/>
                  <p:nvPr/>
                </p:nvSpPr>
                <p:spPr>
                  <a:xfrm>
                    <a:off x="559981" y="1714110"/>
                    <a:ext cx="5074581" cy="52801"/>
                  </a:xfrm>
                  <a:prstGeom prst="rect">
                    <a:avLst/>
                  </a:prstGeom>
                  <a:solidFill>
                    <a:srgbClr val="0B6E78"/>
                  </a:solidFill>
                  <a:ln/>
                </p:spPr>
                <p:txBody>
                  <a:bodyPr/>
                  <a:lstStyle/>
                  <a:p>
                    <a:endParaRPr lang="en-IN" sz="1200">
                      <a:latin typeface="Georgia" panose="02040502050405020303" pitchFamily="18" charset="0"/>
                    </a:endParaRPr>
                  </a:p>
                </p:txBody>
              </p:sp>
              <p:grpSp>
                <p:nvGrpSpPr>
                  <p:cNvPr id="18" name="Group 17">
                    <a:extLst>
                      <a:ext uri="{FF2B5EF4-FFF2-40B4-BE49-F238E27FC236}">
                        <a16:creationId xmlns:a16="http://schemas.microsoft.com/office/drawing/2014/main" id="{B4CA47EC-CCCE-AB53-CB06-355836C2062E}"/>
                      </a:ext>
                    </a:extLst>
                  </p:cNvPr>
                  <p:cNvGrpSpPr/>
                  <p:nvPr/>
                </p:nvGrpSpPr>
                <p:grpSpPr>
                  <a:xfrm>
                    <a:off x="559981" y="1714110"/>
                    <a:ext cx="5078819" cy="4381890"/>
                    <a:chOff x="541169" y="980546"/>
                    <a:chExt cx="2639326" cy="3389658"/>
                  </a:xfrm>
                </p:grpSpPr>
                <p:sp>
                  <p:nvSpPr>
                    <p:cNvPr id="20" name="Shape 8">
                      <a:extLst>
                        <a:ext uri="{FF2B5EF4-FFF2-40B4-BE49-F238E27FC236}">
                          <a16:creationId xmlns:a16="http://schemas.microsoft.com/office/drawing/2014/main" id="{6C9B4EE7-BF28-D067-2507-9BF439991CDA}"/>
                        </a:ext>
                      </a:extLst>
                    </p:cNvPr>
                    <p:cNvSpPr/>
                    <p:nvPr/>
                  </p:nvSpPr>
                  <p:spPr>
                    <a:xfrm>
                      <a:off x="541169" y="4356380"/>
                      <a:ext cx="2637124" cy="13824"/>
                    </a:xfrm>
                    <a:prstGeom prst="rect">
                      <a:avLst/>
                    </a:prstGeom>
                    <a:solidFill>
                      <a:srgbClr val="D9D3C3"/>
                    </a:solidFill>
                    <a:ln/>
                  </p:spPr>
                  <p:txBody>
                    <a:bodyPr/>
                    <a:lstStyle/>
                    <a:p>
                      <a:endParaRPr lang="en-IN" sz="1200">
                        <a:latin typeface="Georgia" panose="02040502050405020303" pitchFamily="18" charset="0"/>
                      </a:endParaRPr>
                    </a:p>
                  </p:txBody>
                </p:sp>
                <p:sp>
                  <p:nvSpPr>
                    <p:cNvPr id="21" name="Shape 10">
                      <a:extLst>
                        <a:ext uri="{FF2B5EF4-FFF2-40B4-BE49-F238E27FC236}">
                          <a16:creationId xmlns:a16="http://schemas.microsoft.com/office/drawing/2014/main" id="{5A98C61B-3DCD-8C47-DCFD-B95D2400A1B1}"/>
                        </a:ext>
                      </a:extLst>
                    </p:cNvPr>
                    <p:cNvSpPr/>
                    <p:nvPr/>
                  </p:nvSpPr>
                  <p:spPr>
                    <a:xfrm>
                      <a:off x="541169" y="980546"/>
                      <a:ext cx="11014" cy="3386894"/>
                    </a:xfrm>
                    <a:prstGeom prst="rect">
                      <a:avLst/>
                    </a:prstGeom>
                    <a:solidFill>
                      <a:srgbClr val="D9D3C3"/>
                    </a:solidFill>
                    <a:ln/>
                  </p:spPr>
                  <p:txBody>
                    <a:bodyPr/>
                    <a:lstStyle/>
                    <a:p>
                      <a:endParaRPr lang="en-IN" sz="1200">
                        <a:latin typeface="Georgia" panose="02040502050405020303" pitchFamily="18" charset="0"/>
                      </a:endParaRPr>
                    </a:p>
                  </p:txBody>
                </p:sp>
                <p:sp>
                  <p:nvSpPr>
                    <p:cNvPr id="22" name="Shape 11">
                      <a:extLst>
                        <a:ext uri="{FF2B5EF4-FFF2-40B4-BE49-F238E27FC236}">
                          <a16:creationId xmlns:a16="http://schemas.microsoft.com/office/drawing/2014/main" id="{8CA3C3F5-DAC6-68AA-35FE-5CDAA3393116}"/>
                        </a:ext>
                      </a:extLst>
                    </p:cNvPr>
                    <p:cNvSpPr/>
                    <p:nvPr/>
                  </p:nvSpPr>
                  <p:spPr>
                    <a:xfrm>
                      <a:off x="3169481" y="980546"/>
                      <a:ext cx="11014" cy="3386894"/>
                    </a:xfrm>
                    <a:prstGeom prst="rect">
                      <a:avLst/>
                    </a:prstGeom>
                    <a:solidFill>
                      <a:srgbClr val="D9D3C3"/>
                    </a:solidFill>
                    <a:ln/>
                  </p:spPr>
                  <p:txBody>
                    <a:bodyPr/>
                    <a:lstStyle/>
                    <a:p>
                      <a:endParaRPr lang="en-IN" sz="1200">
                        <a:latin typeface="Georgia" panose="02040502050405020303" pitchFamily="18" charset="0"/>
                      </a:endParaRPr>
                    </a:p>
                  </p:txBody>
                </p:sp>
              </p:grpSp>
            </p:grpSp>
            <p:sp>
              <p:nvSpPr>
                <p:cNvPr id="23" name="Text 64">
                  <a:extLst>
                    <a:ext uri="{FF2B5EF4-FFF2-40B4-BE49-F238E27FC236}">
                      <a16:creationId xmlns:a16="http://schemas.microsoft.com/office/drawing/2014/main" id="{64245133-53BF-17AF-480D-38D3DFEB508C}"/>
                    </a:ext>
                  </a:extLst>
                </p:cNvPr>
                <p:cNvSpPr/>
                <p:nvPr/>
              </p:nvSpPr>
              <p:spPr>
                <a:xfrm>
                  <a:off x="1799500" y="2001825"/>
                  <a:ext cx="4764286" cy="1220465"/>
                </a:xfrm>
                <a:prstGeom prst="rect">
                  <a:avLst/>
                </a:prstGeom>
                <a:solidFill>
                  <a:srgbClr val="FFF3C1"/>
                </a:solidFill>
                <a:ln/>
              </p:spPr>
              <p:txBody>
                <a:bodyPr wrap="square" lIns="25400" tIns="25400" rIns="25400" bIns="25400" rtlCol="0" anchor="t">
                  <a:noAutofit/>
                </a:bodyPr>
                <a:lstStyle/>
                <a:p>
                  <a:pPr marL="346075" indent="-61913">
                    <a:defRPr/>
                  </a:pPr>
                  <a:r>
                    <a:rPr lang="en-US" sz="1200" b="1" i="1" dirty="0">
                      <a:solidFill>
                        <a:srgbClr val="14342B"/>
                      </a:solidFill>
                      <a:latin typeface="Georgia" panose="02040502050405020303" pitchFamily="18" charset="0"/>
                      <a:ea typeface="Inter" pitchFamily="34" charset="-122"/>
                    </a:rPr>
                    <a:t>The Horticulture Department FPOs handles…</a:t>
                  </a:r>
                </a:p>
                <a:p>
                  <a:pPr marL="346075" indent="-61913">
                    <a:defRPr/>
                  </a:pPr>
                  <a:endParaRPr lang="en-US" sz="400" b="1" i="1" dirty="0">
                    <a:solidFill>
                      <a:srgbClr val="14342B"/>
                    </a:solidFill>
                    <a:latin typeface="Georgia" panose="02040502050405020303" pitchFamily="18" charset="0"/>
                    <a:ea typeface="Inter" pitchFamily="34" charset="-122"/>
                  </a:endParaRPr>
                </a:p>
                <a:p>
                  <a:pPr marL="568325" indent="-168275">
                    <a:buFont typeface="Wingdings" panose="05000000000000000000" pitchFamily="2" charset="2"/>
                    <a:buChar char="q"/>
                    <a:defRPr/>
                  </a:pPr>
                  <a:r>
                    <a:rPr kumimoji="0" lang="en-US" sz="1000" b="1" u="none" strike="noStrike" kern="1200" cap="none" spc="0" normalizeH="0" baseline="0" noProof="0" dirty="0">
                      <a:ln>
                        <a:noFill/>
                      </a:ln>
                      <a:effectLst/>
                      <a:uLnTx/>
                      <a:uFillTx/>
                      <a:latin typeface="Georgia" panose="02040502050405020303" pitchFamily="18" charset="0"/>
                      <a:ea typeface="Inter" pitchFamily="34" charset="-122"/>
                    </a:rPr>
                    <a:t>23 MT</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 of annual produce volume with transactions valued at </a:t>
                  </a:r>
                  <a:r>
                    <a:rPr kumimoji="0" lang="en-US" sz="1000" b="1" u="none" strike="noStrike" kern="1200" cap="none" spc="0" normalizeH="0" baseline="0" noProof="0" dirty="0">
                      <a:ln>
                        <a:noFill/>
                      </a:ln>
                      <a:effectLst/>
                      <a:uLnTx/>
                      <a:uFillTx/>
                      <a:latin typeface="Georgia" panose="02040502050405020303" pitchFamily="18" charset="0"/>
                      <a:ea typeface="Inter" pitchFamily="34" charset="-122"/>
                    </a:rPr>
                    <a:t>₹89 lakh </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(FY 23–24) across key crops such as Grapes and Pomegranate</a:t>
                  </a:r>
                  <a:endParaRPr lang="en-US" sz="1000" dirty="0">
                    <a:latin typeface="Georgia" panose="02040502050405020303" pitchFamily="18" charset="0"/>
                    <a:ea typeface="Inter" pitchFamily="34" charset="-122"/>
                  </a:endParaRPr>
                </a:p>
                <a:p>
                  <a:pPr marL="568325" indent="-168275">
                    <a:buFont typeface="Wingdings" panose="05000000000000000000" pitchFamily="2" charset="2"/>
                    <a:buChar char="q"/>
                    <a:defRPr/>
                  </a:pPr>
                  <a:r>
                    <a:rPr kumimoji="0" lang="en-US" sz="1000" b="1" u="none" strike="noStrike" kern="1200" cap="none" spc="0" normalizeH="0" baseline="0" noProof="0" dirty="0">
                      <a:ln>
                        <a:noFill/>
                      </a:ln>
                      <a:effectLst/>
                      <a:uLnTx/>
                      <a:uFillTx/>
                      <a:latin typeface="Georgia" panose="02040502050405020303" pitchFamily="18" charset="0"/>
                      <a:ea typeface="Inter" pitchFamily="34" charset="-122"/>
                    </a:rPr>
                    <a:t>1553 MT </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of annual produce volume</a:t>
                  </a:r>
                  <a:r>
                    <a:rPr lang="en-US" sz="1000" dirty="0">
                      <a:latin typeface="Georgia" panose="02040502050405020303" pitchFamily="18" charset="0"/>
                      <a:ea typeface="Inter" pitchFamily="34" charset="-122"/>
                    </a:rPr>
                    <a:t> with transactions </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valued at </a:t>
                  </a:r>
                  <a:r>
                    <a:rPr lang="en-US" sz="1000" b="1" dirty="0">
                      <a:latin typeface="Georgia" panose="02040502050405020303" pitchFamily="18" charset="0"/>
                      <a:ea typeface="Inter" pitchFamily="34" charset="-122"/>
                    </a:rPr>
                    <a:t>₹2460 lakh </a:t>
                  </a:r>
                  <a:r>
                    <a:rPr lang="en-US" sz="1000" dirty="0">
                      <a:latin typeface="Georgia" panose="02040502050405020303" pitchFamily="18" charset="0"/>
                      <a:ea typeface="Inter" pitchFamily="34" charset="-122"/>
                    </a:rPr>
                    <a:t>(FY 23-24) for major fruits and vegetables grown like Onion, Lemon, Sweet Potato</a:t>
                  </a:r>
                </a:p>
                <a:p>
                  <a:pPr>
                    <a:defRPr/>
                  </a:pPr>
                  <a:endParaRPr kumimoji="0" lang="en-US" sz="1000" u="none" strike="noStrike" kern="1200" cap="none" spc="0" normalizeH="0" baseline="0" noProof="0" dirty="0">
                    <a:ln>
                      <a:noFill/>
                    </a:ln>
                    <a:effectLst/>
                    <a:uLnTx/>
                    <a:uFillTx/>
                    <a:latin typeface="Georgia" panose="02040502050405020303" pitchFamily="18" charset="0"/>
                    <a:ea typeface="Inter" pitchFamily="34" charset="-122"/>
                  </a:endParaRPr>
                </a:p>
                <a:p>
                  <a:pPr>
                    <a:defRPr/>
                  </a:pPr>
                  <a:endParaRPr kumimoji="0" lang="en-US" sz="1000" u="none" strike="noStrike" kern="1200" cap="none" spc="0" normalizeH="0" baseline="0" noProof="0" dirty="0">
                    <a:ln>
                      <a:noFill/>
                    </a:ln>
                    <a:effectLst/>
                    <a:uLnTx/>
                    <a:uFillTx/>
                    <a:latin typeface="Georgia" panose="02040502050405020303" pitchFamily="18" charset="0"/>
                    <a:ea typeface="Inter" pitchFamily="34" charset="-122"/>
                  </a:endParaRPr>
                </a:p>
              </p:txBody>
            </p:sp>
            <p:sp>
              <p:nvSpPr>
                <p:cNvPr id="24" name="Text 12">
                  <a:extLst>
                    <a:ext uri="{FF2B5EF4-FFF2-40B4-BE49-F238E27FC236}">
                      <a16:creationId xmlns:a16="http://schemas.microsoft.com/office/drawing/2014/main" id="{78D63EA8-3A48-B5B7-E83B-49BF0A61FE0D}"/>
                    </a:ext>
                  </a:extLst>
                </p:cNvPr>
                <p:cNvSpPr/>
                <p:nvPr/>
              </p:nvSpPr>
              <p:spPr>
                <a:xfrm>
                  <a:off x="1767181" y="1707893"/>
                  <a:ext cx="6233818" cy="343194"/>
                </a:xfrm>
                <a:prstGeom prst="rect">
                  <a:avLst/>
                </a:prstGeom>
                <a:noFill/>
                <a:ln/>
              </p:spPr>
              <p:txBody>
                <a:bodyPr wrap="square" lIns="16933" tIns="16933" rIns="16933" bIns="16933" rtlCol="0" anchor="t">
                  <a:noAutofit/>
                </a:bodyPr>
                <a:lstStyle/>
                <a:p>
                  <a:r>
                    <a:rPr lang="en-US" sz="1400" b="1" dirty="0">
                      <a:solidFill>
                        <a:srgbClr val="14342B"/>
                      </a:solidFill>
                      <a:latin typeface="Georgia" panose="02040502050405020303" pitchFamily="18" charset="0"/>
                    </a:rPr>
                    <a:t>North Karnataka </a:t>
                  </a:r>
                  <a:r>
                    <a:rPr lang="en-US" sz="1400" b="1" dirty="0">
                      <a:solidFill>
                        <a:srgbClr val="9C3237"/>
                      </a:solidFill>
                      <a:latin typeface="Georgia" panose="02040502050405020303" pitchFamily="18" charset="0"/>
                    </a:rPr>
                    <a:t>Onion-Grape-Raisin-Pomegranate</a:t>
                  </a:r>
                  <a:r>
                    <a:rPr lang="en-US" sz="1400" b="1" dirty="0">
                      <a:solidFill>
                        <a:srgbClr val="14342B"/>
                      </a:solidFill>
                      <a:latin typeface="Georgia" panose="02040502050405020303" pitchFamily="18" charset="0"/>
                    </a:rPr>
                    <a:t> cluster</a:t>
                  </a:r>
                  <a:endParaRPr lang="en-US" sz="1400" b="1" dirty="0">
                    <a:latin typeface="Georgia" panose="02040502050405020303" pitchFamily="18" charset="0"/>
                  </a:endParaRPr>
                </a:p>
              </p:txBody>
            </p:sp>
            <p:sp>
              <p:nvSpPr>
                <p:cNvPr id="28" name="Shape 98">
                  <a:extLst>
                    <a:ext uri="{FF2B5EF4-FFF2-40B4-BE49-F238E27FC236}">
                      <a16:creationId xmlns:a16="http://schemas.microsoft.com/office/drawing/2014/main" id="{DE56423C-6188-413E-AC00-87CFD2F19E72}"/>
                    </a:ext>
                  </a:extLst>
                </p:cNvPr>
                <p:cNvSpPr/>
                <p:nvPr/>
              </p:nvSpPr>
              <p:spPr>
                <a:xfrm>
                  <a:off x="1799499" y="3269176"/>
                  <a:ext cx="9618977" cy="281702"/>
                </a:xfrm>
                <a:prstGeom prst="roundRect">
                  <a:avLst>
                    <a:gd name="adj" fmla="val 3171"/>
                  </a:avLst>
                </a:prstGeom>
                <a:solidFill>
                  <a:srgbClr val="FFC000"/>
                </a:solidFill>
                <a:ln>
                  <a:noFill/>
                  <a:prstDash val="dash"/>
                </a:ln>
              </p:spPr>
              <p:txBody>
                <a:bodyPr/>
                <a:lstStyle/>
                <a:p>
                  <a:r>
                    <a:rPr lang="en-US" sz="900" i="1" dirty="0">
                      <a:solidFill>
                        <a:srgbClr val="14342B"/>
                      </a:solidFill>
                      <a:latin typeface="Georgia" panose="02040502050405020303" pitchFamily="18" charset="0"/>
                    </a:rPr>
                    <a:t>A total of 55 Self-Help Groups (SHGs) are engaged in natural food production</a:t>
                  </a:r>
                  <a:endParaRPr lang="en-IN" sz="900" i="1" dirty="0">
                    <a:solidFill>
                      <a:srgbClr val="14342B"/>
                    </a:solidFill>
                    <a:latin typeface="Georgia" panose="02040502050405020303" pitchFamily="18" charset="0"/>
                  </a:endParaRPr>
                </a:p>
              </p:txBody>
            </p:sp>
            <p:sp>
              <p:nvSpPr>
                <p:cNvPr id="29" name="Text 64">
                  <a:extLst>
                    <a:ext uri="{FF2B5EF4-FFF2-40B4-BE49-F238E27FC236}">
                      <a16:creationId xmlns:a16="http://schemas.microsoft.com/office/drawing/2014/main" id="{C3F88D46-8D0D-682A-FD9C-063937872BF4}"/>
                    </a:ext>
                  </a:extLst>
                </p:cNvPr>
                <p:cNvSpPr/>
                <p:nvPr/>
              </p:nvSpPr>
              <p:spPr>
                <a:xfrm>
                  <a:off x="6654190" y="2001825"/>
                  <a:ext cx="4764286" cy="1220465"/>
                </a:xfrm>
                <a:prstGeom prst="rect">
                  <a:avLst/>
                </a:prstGeom>
                <a:solidFill>
                  <a:srgbClr val="D4EDDA"/>
                </a:solidFill>
                <a:ln/>
              </p:spPr>
              <p:txBody>
                <a:bodyPr wrap="square" lIns="25400" tIns="25400" rIns="25400" bIns="25400" rtlCol="0" anchor="t">
                  <a:noAutofit/>
                </a:bodyPr>
                <a:lstStyle/>
                <a:p>
                  <a:pPr marL="284163"/>
                  <a:r>
                    <a:rPr lang="en-US" sz="1200" b="1" i="1" dirty="0">
                      <a:solidFill>
                        <a:srgbClr val="14342B"/>
                      </a:solidFill>
                      <a:latin typeface="Georgia" panose="02040502050405020303" pitchFamily="18" charset="0"/>
                      <a:ea typeface="Inter" pitchFamily="34" charset="-122"/>
                    </a:rPr>
                    <a:t>The Watershed Development Department FPOs includes…</a:t>
                  </a:r>
                </a:p>
                <a:p>
                  <a:pPr marL="284163"/>
                  <a:endParaRPr lang="en-US" sz="400" b="1" i="1" dirty="0">
                    <a:solidFill>
                      <a:srgbClr val="14342B"/>
                    </a:solidFill>
                    <a:latin typeface="Georgia" panose="02040502050405020303" pitchFamily="18" charset="0"/>
                    <a:ea typeface="Inter" pitchFamily="34" charset="-122"/>
                  </a:endParaRPr>
                </a:p>
                <a:p>
                  <a:pPr marL="569913" indent="-169863">
                    <a:buFont typeface="Wingdings" panose="05000000000000000000" pitchFamily="2" charset="2"/>
                    <a:buChar char="q"/>
                  </a:pPr>
                  <a:r>
                    <a:rPr lang="en-US" sz="1000" b="1" dirty="0">
                      <a:latin typeface="Georgia" panose="02040502050405020303" pitchFamily="18" charset="0"/>
                      <a:ea typeface="Inter" pitchFamily="34" charset="-122"/>
                    </a:rPr>
                    <a:t>42</a:t>
                  </a:r>
                  <a:r>
                    <a:rPr lang="en-US" sz="1000" dirty="0">
                      <a:latin typeface="Georgia" panose="02040502050405020303" pitchFamily="18" charset="0"/>
                      <a:ea typeface="Inter" pitchFamily="34" charset="-122"/>
                    </a:rPr>
                    <a:t> FPOs with transactions valued at </a:t>
                  </a:r>
                  <a:r>
                    <a:rPr lang="en-US" sz="1000" b="1" dirty="0">
                      <a:latin typeface="Georgia" panose="02040502050405020303" pitchFamily="18" charset="0"/>
                      <a:ea typeface="Inter" pitchFamily="34" charset="-122"/>
                    </a:rPr>
                    <a:t>₹11</a:t>
                  </a:r>
                  <a:r>
                    <a:rPr lang="en-US" sz="1000" dirty="0">
                      <a:latin typeface="Georgia" panose="02040502050405020303" pitchFamily="18" charset="0"/>
                      <a:ea typeface="Inter" pitchFamily="34" charset="-122"/>
                    </a:rPr>
                    <a:t> </a:t>
                  </a:r>
                  <a:r>
                    <a:rPr lang="en-US" sz="1000" b="1" dirty="0">
                      <a:latin typeface="Georgia" panose="02040502050405020303" pitchFamily="18" charset="0"/>
                      <a:ea typeface="Inter" pitchFamily="34" charset="-122"/>
                    </a:rPr>
                    <a:t>crores</a:t>
                  </a:r>
                  <a:r>
                    <a:rPr lang="en-US" sz="1000" dirty="0">
                      <a:latin typeface="Georgia" panose="02040502050405020303" pitchFamily="18" charset="0"/>
                      <a:ea typeface="Inter" pitchFamily="34" charset="-122"/>
                    </a:rPr>
                    <a:t> (FY 23–24) across key crops such as Banana, Onion, Tomato</a:t>
                  </a:r>
                </a:p>
                <a:p>
                  <a:pPr marL="569913" indent="-171450">
                    <a:buFont typeface="Wingdings" panose="05000000000000000000" pitchFamily="2" charset="2"/>
                    <a:buChar char="q"/>
                  </a:pPr>
                  <a:r>
                    <a:rPr lang="en-US" sz="1000" b="1" dirty="0">
                      <a:latin typeface="Georgia" panose="02040502050405020303" pitchFamily="18" charset="0"/>
                      <a:ea typeface="Inter" pitchFamily="34" charset="-122"/>
                    </a:rPr>
                    <a:t>64</a:t>
                  </a:r>
                  <a:r>
                    <a:rPr lang="en-US" sz="1000" dirty="0">
                      <a:latin typeface="Georgia" panose="02040502050405020303" pitchFamily="18" charset="0"/>
                      <a:ea typeface="Inter" pitchFamily="34" charset="-122"/>
                    </a:rPr>
                    <a:t> FPOs with transactions valued at </a:t>
                  </a:r>
                  <a:r>
                    <a:rPr lang="en-US" sz="1000" b="1" dirty="0">
                      <a:latin typeface="Georgia" panose="02040502050405020303" pitchFamily="18" charset="0"/>
                      <a:ea typeface="Inter" pitchFamily="34" charset="-122"/>
                    </a:rPr>
                    <a:t>₹19 crores </a:t>
                  </a:r>
                  <a:r>
                    <a:rPr lang="en-US" sz="1000" dirty="0">
                      <a:latin typeface="Georgia" panose="02040502050405020303" pitchFamily="18" charset="0"/>
                      <a:ea typeface="Inter" pitchFamily="34" charset="-122"/>
                    </a:rPr>
                    <a:t>(FY 23-24) for major fruits and vegetables grown like Banana, Onion, Tomato</a:t>
                  </a:r>
                </a:p>
              </p:txBody>
            </p:sp>
            <p:pic>
              <p:nvPicPr>
                <p:cNvPr id="30" name="Picture 29">
                  <a:extLst>
                    <a:ext uri="{FF2B5EF4-FFF2-40B4-BE49-F238E27FC236}">
                      <a16:creationId xmlns:a16="http://schemas.microsoft.com/office/drawing/2014/main" id="{CA24170E-8269-49FD-0F39-47D1ECF08B25}"/>
                    </a:ext>
                  </a:extLst>
                </p:cNvPr>
                <p:cNvPicPr>
                  <a:picLocks noChangeAspect="1"/>
                </p:cNvPicPr>
                <p:nvPr/>
              </p:nvPicPr>
              <p:blipFill>
                <a:blip r:embed="rId2"/>
                <a:stretch>
                  <a:fillRect/>
                </a:stretch>
              </p:blipFill>
              <p:spPr>
                <a:xfrm>
                  <a:off x="1891750" y="2034047"/>
                  <a:ext cx="160437" cy="160437"/>
                </a:xfrm>
                <a:prstGeom prst="rect">
                  <a:avLst/>
                </a:prstGeom>
              </p:spPr>
            </p:pic>
            <p:pic>
              <p:nvPicPr>
                <p:cNvPr id="54" name="Picture 53">
                  <a:extLst>
                    <a:ext uri="{FF2B5EF4-FFF2-40B4-BE49-F238E27FC236}">
                      <a16:creationId xmlns:a16="http://schemas.microsoft.com/office/drawing/2014/main" id="{FA93B5A7-046B-FB76-4E7C-CA857257C5E6}"/>
                    </a:ext>
                  </a:extLst>
                </p:cNvPr>
                <p:cNvPicPr>
                  <a:picLocks noChangeAspect="1"/>
                </p:cNvPicPr>
                <p:nvPr/>
              </p:nvPicPr>
              <p:blipFill>
                <a:blip r:embed="rId3"/>
                <a:stretch>
                  <a:fillRect/>
                </a:stretch>
              </p:blipFill>
              <p:spPr>
                <a:xfrm>
                  <a:off x="6726069" y="2015056"/>
                  <a:ext cx="228600" cy="228600"/>
                </a:xfrm>
                <a:prstGeom prst="rect">
                  <a:avLst/>
                </a:prstGeom>
              </p:spPr>
            </p:pic>
          </p:grpSp>
          <p:pic>
            <p:nvPicPr>
              <p:cNvPr id="2" name="Picture 1">
                <a:extLst>
                  <a:ext uri="{FF2B5EF4-FFF2-40B4-BE49-F238E27FC236}">
                    <a16:creationId xmlns:a16="http://schemas.microsoft.com/office/drawing/2014/main" id="{575D2D24-C8B4-92D8-3422-306D4BCEB195}"/>
                  </a:ext>
                </a:extLst>
              </p:cNvPr>
              <p:cNvPicPr>
                <a:picLocks noChangeAspect="1"/>
              </p:cNvPicPr>
              <p:nvPr/>
            </p:nvPicPr>
            <p:blipFill>
              <a:blip r:embed="rId4" cstate="print">
                <a:extLst>
                  <a:ext uri="{28A0092B-C50C-407E-A947-70E740481C1C}">
                    <a14:useLocalDpi xmlns:a14="http://schemas.microsoft.com/office/drawing/2010/main" val="0"/>
                  </a:ext>
                </a:extLst>
              </a:blip>
              <a:srcRect t="4377" b="6971"/>
              <a:stretch>
                <a:fillRect/>
              </a:stretch>
            </p:blipFill>
            <p:spPr>
              <a:xfrm>
                <a:off x="627473" y="2129074"/>
                <a:ext cx="1015120" cy="1366143"/>
              </a:xfrm>
              <a:prstGeom prst="rect">
                <a:avLst/>
              </a:prstGeom>
            </p:spPr>
          </p:pic>
        </p:grpSp>
        <p:grpSp>
          <p:nvGrpSpPr>
            <p:cNvPr id="15" name="Group 14">
              <a:extLst>
                <a:ext uri="{FF2B5EF4-FFF2-40B4-BE49-F238E27FC236}">
                  <a16:creationId xmlns:a16="http://schemas.microsoft.com/office/drawing/2014/main" id="{09AF7456-7AB9-DFCC-0126-64CB6896157D}"/>
                </a:ext>
              </a:extLst>
            </p:cNvPr>
            <p:cNvGrpSpPr/>
            <p:nvPr/>
          </p:nvGrpSpPr>
          <p:grpSpPr>
            <a:xfrm>
              <a:off x="524497" y="3581400"/>
              <a:ext cx="10815084" cy="1985274"/>
              <a:chOff x="524497" y="3690135"/>
              <a:chExt cx="10815084" cy="1985274"/>
            </a:xfrm>
          </p:grpSpPr>
          <p:grpSp>
            <p:nvGrpSpPr>
              <p:cNvPr id="12" name="Group 11">
                <a:extLst>
                  <a:ext uri="{FF2B5EF4-FFF2-40B4-BE49-F238E27FC236}">
                    <a16:creationId xmlns:a16="http://schemas.microsoft.com/office/drawing/2014/main" id="{53B3E77E-0932-B1C2-093E-42F1E01C8C82}"/>
                  </a:ext>
                </a:extLst>
              </p:cNvPr>
              <p:cNvGrpSpPr/>
              <p:nvPr/>
            </p:nvGrpSpPr>
            <p:grpSpPr>
              <a:xfrm>
                <a:off x="524497" y="3690135"/>
                <a:ext cx="10815084" cy="1985274"/>
                <a:chOff x="573114" y="3814789"/>
                <a:chExt cx="10988080" cy="2020945"/>
              </a:xfrm>
            </p:grpSpPr>
            <p:grpSp>
              <p:nvGrpSpPr>
                <p:cNvPr id="82" name="Group 81">
                  <a:extLst>
                    <a:ext uri="{FF2B5EF4-FFF2-40B4-BE49-F238E27FC236}">
                      <a16:creationId xmlns:a16="http://schemas.microsoft.com/office/drawing/2014/main" id="{DB905C7B-3319-A89F-4232-CC3B3FFCF4E3}"/>
                    </a:ext>
                  </a:extLst>
                </p:cNvPr>
                <p:cNvGrpSpPr/>
                <p:nvPr/>
              </p:nvGrpSpPr>
              <p:grpSpPr>
                <a:xfrm>
                  <a:off x="573114" y="3814789"/>
                  <a:ext cx="10988080" cy="2020945"/>
                  <a:chOff x="573114" y="1636655"/>
                  <a:chExt cx="10988080" cy="2020945"/>
                </a:xfrm>
              </p:grpSpPr>
              <p:grpSp>
                <p:nvGrpSpPr>
                  <p:cNvPr id="83" name="Group 82">
                    <a:extLst>
                      <a:ext uri="{FF2B5EF4-FFF2-40B4-BE49-F238E27FC236}">
                        <a16:creationId xmlns:a16="http://schemas.microsoft.com/office/drawing/2014/main" id="{37B83C7B-89C2-90DE-B317-3A841BBFF9EB}"/>
                      </a:ext>
                    </a:extLst>
                  </p:cNvPr>
                  <p:cNvGrpSpPr/>
                  <p:nvPr/>
                </p:nvGrpSpPr>
                <p:grpSpPr>
                  <a:xfrm>
                    <a:off x="573114" y="1636655"/>
                    <a:ext cx="10988080" cy="2020945"/>
                    <a:chOff x="559981" y="1714108"/>
                    <a:chExt cx="5078819" cy="4381892"/>
                  </a:xfrm>
                </p:grpSpPr>
                <p:sp>
                  <p:nvSpPr>
                    <p:cNvPr id="95" name="Shape 7">
                      <a:extLst>
                        <a:ext uri="{FF2B5EF4-FFF2-40B4-BE49-F238E27FC236}">
                          <a16:creationId xmlns:a16="http://schemas.microsoft.com/office/drawing/2014/main" id="{98024333-EBFB-D10C-7A98-3B65D432EF4D}"/>
                        </a:ext>
                      </a:extLst>
                    </p:cNvPr>
                    <p:cNvSpPr/>
                    <p:nvPr/>
                  </p:nvSpPr>
                  <p:spPr>
                    <a:xfrm>
                      <a:off x="559981" y="1714108"/>
                      <a:ext cx="5074581" cy="4374754"/>
                    </a:xfrm>
                    <a:prstGeom prst="roundRect">
                      <a:avLst>
                        <a:gd name="adj" fmla="val 2506"/>
                      </a:avLst>
                    </a:prstGeom>
                    <a:solidFill>
                      <a:srgbClr val="FFFFFF"/>
                    </a:solidFill>
                    <a:ln/>
                  </p:spPr>
                  <p:txBody>
                    <a:bodyPr/>
                    <a:lstStyle/>
                    <a:p>
                      <a:endParaRPr lang="en-IN" sz="1200" dirty="0">
                        <a:latin typeface="Georgia" panose="02040502050405020303" pitchFamily="18" charset="0"/>
                      </a:endParaRPr>
                    </a:p>
                  </p:txBody>
                </p:sp>
                <p:sp>
                  <p:nvSpPr>
                    <p:cNvPr id="96" name="Shape 9">
                      <a:extLst>
                        <a:ext uri="{FF2B5EF4-FFF2-40B4-BE49-F238E27FC236}">
                          <a16:creationId xmlns:a16="http://schemas.microsoft.com/office/drawing/2014/main" id="{7B5DCBE1-C5AB-66DE-6DAF-4272AEEAD46D}"/>
                        </a:ext>
                      </a:extLst>
                    </p:cNvPr>
                    <p:cNvSpPr/>
                    <p:nvPr/>
                  </p:nvSpPr>
                  <p:spPr>
                    <a:xfrm>
                      <a:off x="559981" y="1714110"/>
                      <a:ext cx="5074581" cy="52800"/>
                    </a:xfrm>
                    <a:prstGeom prst="rect">
                      <a:avLst/>
                    </a:prstGeom>
                    <a:solidFill>
                      <a:srgbClr val="14342B"/>
                    </a:solidFill>
                    <a:ln/>
                  </p:spPr>
                  <p:txBody>
                    <a:bodyPr/>
                    <a:lstStyle/>
                    <a:p>
                      <a:endParaRPr lang="en-IN" sz="1200">
                        <a:latin typeface="Georgia" panose="02040502050405020303" pitchFamily="18" charset="0"/>
                      </a:endParaRPr>
                    </a:p>
                  </p:txBody>
                </p:sp>
                <p:grpSp>
                  <p:nvGrpSpPr>
                    <p:cNvPr id="97" name="Group 96">
                      <a:extLst>
                        <a:ext uri="{FF2B5EF4-FFF2-40B4-BE49-F238E27FC236}">
                          <a16:creationId xmlns:a16="http://schemas.microsoft.com/office/drawing/2014/main" id="{48FAFE60-1069-D265-5117-10EABE28EA70}"/>
                        </a:ext>
                      </a:extLst>
                    </p:cNvPr>
                    <p:cNvGrpSpPr/>
                    <p:nvPr/>
                  </p:nvGrpSpPr>
                  <p:grpSpPr>
                    <a:xfrm>
                      <a:off x="559981" y="1714110"/>
                      <a:ext cx="5078819" cy="4381890"/>
                      <a:chOff x="541169" y="980546"/>
                      <a:chExt cx="2639326" cy="3389658"/>
                    </a:xfrm>
                  </p:grpSpPr>
                  <p:sp>
                    <p:nvSpPr>
                      <p:cNvPr id="98" name="Shape 8">
                        <a:extLst>
                          <a:ext uri="{FF2B5EF4-FFF2-40B4-BE49-F238E27FC236}">
                            <a16:creationId xmlns:a16="http://schemas.microsoft.com/office/drawing/2014/main" id="{A0CA69A8-E45C-499F-B7D1-7EE7F1FF3E69}"/>
                          </a:ext>
                        </a:extLst>
                      </p:cNvPr>
                      <p:cNvSpPr/>
                      <p:nvPr/>
                    </p:nvSpPr>
                    <p:spPr>
                      <a:xfrm>
                        <a:off x="541169" y="4356380"/>
                        <a:ext cx="2637124" cy="13824"/>
                      </a:xfrm>
                      <a:prstGeom prst="rect">
                        <a:avLst/>
                      </a:prstGeom>
                      <a:solidFill>
                        <a:srgbClr val="D9D3C3"/>
                      </a:solidFill>
                      <a:ln/>
                    </p:spPr>
                    <p:txBody>
                      <a:bodyPr/>
                      <a:lstStyle/>
                      <a:p>
                        <a:endParaRPr lang="en-IN" sz="1200">
                          <a:latin typeface="Georgia" panose="02040502050405020303" pitchFamily="18" charset="0"/>
                        </a:endParaRPr>
                      </a:p>
                    </p:txBody>
                  </p:sp>
                  <p:sp>
                    <p:nvSpPr>
                      <p:cNvPr id="99" name="Shape 10">
                        <a:extLst>
                          <a:ext uri="{FF2B5EF4-FFF2-40B4-BE49-F238E27FC236}">
                            <a16:creationId xmlns:a16="http://schemas.microsoft.com/office/drawing/2014/main" id="{4CA65E8B-FC07-6D11-E894-A7D5989E2EC4}"/>
                          </a:ext>
                        </a:extLst>
                      </p:cNvPr>
                      <p:cNvSpPr/>
                      <p:nvPr/>
                    </p:nvSpPr>
                    <p:spPr>
                      <a:xfrm>
                        <a:off x="541169" y="980546"/>
                        <a:ext cx="11014" cy="3386894"/>
                      </a:xfrm>
                      <a:prstGeom prst="rect">
                        <a:avLst/>
                      </a:prstGeom>
                      <a:solidFill>
                        <a:srgbClr val="D9D3C3"/>
                      </a:solidFill>
                      <a:ln/>
                    </p:spPr>
                    <p:txBody>
                      <a:bodyPr/>
                      <a:lstStyle/>
                      <a:p>
                        <a:endParaRPr lang="en-IN" sz="1200">
                          <a:latin typeface="Georgia" panose="02040502050405020303" pitchFamily="18" charset="0"/>
                        </a:endParaRPr>
                      </a:p>
                    </p:txBody>
                  </p:sp>
                  <p:sp>
                    <p:nvSpPr>
                      <p:cNvPr id="101" name="Shape 11">
                        <a:extLst>
                          <a:ext uri="{FF2B5EF4-FFF2-40B4-BE49-F238E27FC236}">
                            <a16:creationId xmlns:a16="http://schemas.microsoft.com/office/drawing/2014/main" id="{DECF64E8-2EE3-4E5E-BE7B-E7A308DC1FFC}"/>
                          </a:ext>
                        </a:extLst>
                      </p:cNvPr>
                      <p:cNvSpPr/>
                      <p:nvPr/>
                    </p:nvSpPr>
                    <p:spPr>
                      <a:xfrm>
                        <a:off x="3169481" y="980546"/>
                        <a:ext cx="11014" cy="3386894"/>
                      </a:xfrm>
                      <a:prstGeom prst="rect">
                        <a:avLst/>
                      </a:prstGeom>
                      <a:solidFill>
                        <a:srgbClr val="D9D3C3"/>
                      </a:solidFill>
                      <a:ln/>
                    </p:spPr>
                    <p:txBody>
                      <a:bodyPr/>
                      <a:lstStyle/>
                      <a:p>
                        <a:endParaRPr lang="en-IN" sz="1200">
                          <a:latin typeface="Georgia" panose="02040502050405020303" pitchFamily="18" charset="0"/>
                        </a:endParaRPr>
                      </a:p>
                    </p:txBody>
                  </p:sp>
                </p:grpSp>
              </p:grpSp>
              <p:sp>
                <p:nvSpPr>
                  <p:cNvPr id="85" name="Text 12">
                    <a:extLst>
                      <a:ext uri="{FF2B5EF4-FFF2-40B4-BE49-F238E27FC236}">
                        <a16:creationId xmlns:a16="http://schemas.microsoft.com/office/drawing/2014/main" id="{84839D8B-F232-3ADE-D165-5041017C9068}"/>
                      </a:ext>
                    </a:extLst>
                  </p:cNvPr>
                  <p:cNvSpPr/>
                  <p:nvPr/>
                </p:nvSpPr>
                <p:spPr>
                  <a:xfrm>
                    <a:off x="1767181" y="1707893"/>
                    <a:ext cx="6233818" cy="343194"/>
                  </a:xfrm>
                  <a:prstGeom prst="rect">
                    <a:avLst/>
                  </a:prstGeom>
                  <a:noFill/>
                  <a:ln/>
                </p:spPr>
                <p:txBody>
                  <a:bodyPr wrap="square" lIns="16933" tIns="16933" rIns="16933" bIns="16933" rtlCol="0" anchor="t">
                    <a:noAutofit/>
                  </a:bodyPr>
                  <a:lstStyle/>
                  <a:p>
                    <a:r>
                      <a:rPr lang="en-US" sz="1400" b="1" dirty="0">
                        <a:solidFill>
                          <a:srgbClr val="14342B"/>
                        </a:solidFill>
                        <a:latin typeface="Georgia" panose="02040502050405020303" pitchFamily="18" charset="0"/>
                      </a:rPr>
                      <a:t>Central Karnataka </a:t>
                    </a:r>
                    <a:r>
                      <a:rPr lang="en-US" sz="1400" b="1" dirty="0">
                        <a:solidFill>
                          <a:srgbClr val="9C3237"/>
                        </a:solidFill>
                        <a:latin typeface="Georgia" panose="02040502050405020303" pitchFamily="18" charset="0"/>
                      </a:rPr>
                      <a:t>Onion-Pomegranate</a:t>
                    </a:r>
                    <a:r>
                      <a:rPr lang="en-US" sz="1400" b="1" dirty="0">
                        <a:solidFill>
                          <a:srgbClr val="14342B"/>
                        </a:solidFill>
                        <a:latin typeface="Georgia" panose="02040502050405020303" pitchFamily="18" charset="0"/>
                      </a:rPr>
                      <a:t> cluster</a:t>
                    </a:r>
                    <a:endParaRPr lang="en-US" sz="1400" b="1" dirty="0">
                      <a:latin typeface="Georgia" panose="02040502050405020303" pitchFamily="18" charset="0"/>
                    </a:endParaRPr>
                  </a:p>
                </p:txBody>
              </p:sp>
            </p:grpSp>
            <p:sp>
              <p:nvSpPr>
                <p:cNvPr id="6" name="Text 64">
                  <a:extLst>
                    <a:ext uri="{FF2B5EF4-FFF2-40B4-BE49-F238E27FC236}">
                      <a16:creationId xmlns:a16="http://schemas.microsoft.com/office/drawing/2014/main" id="{D1F53DF2-918A-1E68-1110-F99F05A61D69}"/>
                    </a:ext>
                  </a:extLst>
                </p:cNvPr>
                <p:cNvSpPr/>
                <p:nvPr/>
              </p:nvSpPr>
              <p:spPr>
                <a:xfrm>
                  <a:off x="1799500" y="4164427"/>
                  <a:ext cx="4764286" cy="1246138"/>
                </a:xfrm>
                <a:prstGeom prst="rect">
                  <a:avLst/>
                </a:prstGeom>
                <a:solidFill>
                  <a:srgbClr val="FFF3C1"/>
                </a:solidFill>
                <a:ln/>
              </p:spPr>
              <p:txBody>
                <a:bodyPr wrap="square" lIns="25400" tIns="25400" rIns="25400" bIns="25400" rtlCol="0" anchor="t">
                  <a:noAutofit/>
                </a:bodyPr>
                <a:lstStyle/>
                <a:p>
                  <a:pPr marL="346075" indent="-61913">
                    <a:defRPr/>
                  </a:pPr>
                  <a:r>
                    <a:rPr lang="en-US" sz="1200" b="1" i="1" dirty="0">
                      <a:solidFill>
                        <a:srgbClr val="14342B"/>
                      </a:solidFill>
                      <a:latin typeface="Georgia" panose="02040502050405020303" pitchFamily="18" charset="0"/>
                      <a:ea typeface="Inter" pitchFamily="34" charset="-122"/>
                    </a:rPr>
                    <a:t>The Horticulture Department FPOs handles </a:t>
                  </a:r>
                  <a:r>
                    <a:rPr kumimoji="0" lang="en-US" sz="1200" b="1" i="1" u="none" strike="noStrike" kern="1200" cap="none" spc="0" normalizeH="0" baseline="0" noProof="0" dirty="0">
                      <a:ln>
                        <a:noFill/>
                      </a:ln>
                      <a:solidFill>
                        <a:srgbClr val="14342B"/>
                      </a:solidFill>
                      <a:effectLst/>
                      <a:uLnTx/>
                      <a:uFillTx/>
                      <a:latin typeface="Georgia" panose="02040502050405020303" pitchFamily="18" charset="0"/>
                      <a:ea typeface="Inter" pitchFamily="34" charset="-122"/>
                    </a:rPr>
                    <a:t>216 MT of annual produce volume with transactions valued at ₹4</a:t>
                  </a:r>
                  <a:r>
                    <a:rPr lang="en-US" sz="1200" b="1" i="1" dirty="0">
                      <a:solidFill>
                        <a:srgbClr val="14342B"/>
                      </a:solidFill>
                      <a:latin typeface="Georgia" panose="02040502050405020303" pitchFamily="18" charset="0"/>
                      <a:ea typeface="Inter" pitchFamily="34" charset="-122"/>
                    </a:rPr>
                    <a:t>8</a:t>
                  </a:r>
                  <a:r>
                    <a:rPr kumimoji="0" lang="en-US" sz="1200" b="1" i="1" u="none" strike="noStrike" kern="1200" cap="none" spc="0" normalizeH="0" baseline="0" noProof="0" dirty="0">
                      <a:ln>
                        <a:noFill/>
                      </a:ln>
                      <a:solidFill>
                        <a:srgbClr val="14342B"/>
                      </a:solidFill>
                      <a:effectLst/>
                      <a:uLnTx/>
                      <a:uFillTx/>
                      <a:latin typeface="Georgia" panose="02040502050405020303" pitchFamily="18" charset="0"/>
                      <a:ea typeface="Inter" pitchFamily="34" charset="-122"/>
                    </a:rPr>
                    <a:t> lakh (FY 23–24) </a:t>
                  </a:r>
                  <a:r>
                    <a:rPr lang="en-US" sz="1200" b="1" i="1" dirty="0">
                      <a:solidFill>
                        <a:srgbClr val="14342B"/>
                      </a:solidFill>
                      <a:latin typeface="Georgia" panose="02040502050405020303" pitchFamily="18" charset="0"/>
                      <a:ea typeface="Inter" pitchFamily="34" charset="-122"/>
                    </a:rPr>
                    <a:t>for major fruits and vegetables grown like Coconut</a:t>
                  </a:r>
                  <a:endParaRPr kumimoji="0" lang="en-US" sz="1200" b="1" i="1" u="none" strike="noStrike" kern="1200" cap="none" spc="0" normalizeH="0" baseline="0" noProof="0" dirty="0">
                    <a:ln>
                      <a:noFill/>
                    </a:ln>
                    <a:solidFill>
                      <a:srgbClr val="14342B"/>
                    </a:solidFill>
                    <a:effectLst/>
                    <a:uLnTx/>
                    <a:uFillTx/>
                    <a:latin typeface="Georgia" panose="02040502050405020303" pitchFamily="18" charset="0"/>
                    <a:ea typeface="Inter" pitchFamily="34" charset="-122"/>
                  </a:endParaRPr>
                </a:p>
              </p:txBody>
            </p:sp>
            <p:sp>
              <p:nvSpPr>
                <p:cNvPr id="8" name="Shape 98">
                  <a:extLst>
                    <a:ext uri="{FF2B5EF4-FFF2-40B4-BE49-F238E27FC236}">
                      <a16:creationId xmlns:a16="http://schemas.microsoft.com/office/drawing/2014/main" id="{DFB7B1E9-D5FE-6338-EE98-9B9DF6CC903D}"/>
                    </a:ext>
                  </a:extLst>
                </p:cNvPr>
                <p:cNvSpPr/>
                <p:nvPr/>
              </p:nvSpPr>
              <p:spPr>
                <a:xfrm>
                  <a:off x="1799499" y="5452351"/>
                  <a:ext cx="9618977" cy="224097"/>
                </a:xfrm>
                <a:prstGeom prst="roundRect">
                  <a:avLst>
                    <a:gd name="adj" fmla="val 3171"/>
                  </a:avLst>
                </a:prstGeom>
                <a:solidFill>
                  <a:srgbClr val="FFC000"/>
                </a:solidFill>
                <a:ln>
                  <a:noFill/>
                  <a:prstDash val="dash"/>
                </a:ln>
              </p:spPr>
              <p:txBody>
                <a:bodyPr/>
                <a:lstStyle/>
                <a:p>
                  <a:r>
                    <a:rPr lang="en-US" sz="900" i="1" dirty="0">
                      <a:solidFill>
                        <a:srgbClr val="14342B"/>
                      </a:solidFill>
                      <a:latin typeface="Georgia" panose="02040502050405020303" pitchFamily="18" charset="0"/>
                    </a:rPr>
                    <a:t>A total of 18 Self-Help Groups (SHGs) are engaged in natural food production</a:t>
                  </a:r>
                  <a:endParaRPr lang="en-IN" sz="900" i="1" dirty="0">
                    <a:solidFill>
                      <a:srgbClr val="14342B"/>
                    </a:solidFill>
                    <a:latin typeface="Georgia" panose="02040502050405020303" pitchFamily="18" charset="0"/>
                  </a:endParaRPr>
                </a:p>
              </p:txBody>
            </p:sp>
            <p:sp>
              <p:nvSpPr>
                <p:cNvPr id="9" name="Text 64">
                  <a:extLst>
                    <a:ext uri="{FF2B5EF4-FFF2-40B4-BE49-F238E27FC236}">
                      <a16:creationId xmlns:a16="http://schemas.microsoft.com/office/drawing/2014/main" id="{66BBAAEC-378B-46E5-BEA3-E8936ED6A19D}"/>
                    </a:ext>
                  </a:extLst>
                </p:cNvPr>
                <p:cNvSpPr/>
                <p:nvPr/>
              </p:nvSpPr>
              <p:spPr>
                <a:xfrm>
                  <a:off x="6654190" y="4164428"/>
                  <a:ext cx="4764286" cy="1246139"/>
                </a:xfrm>
                <a:prstGeom prst="rect">
                  <a:avLst/>
                </a:prstGeom>
                <a:solidFill>
                  <a:srgbClr val="D4EDDA"/>
                </a:solidFill>
                <a:ln/>
              </p:spPr>
              <p:txBody>
                <a:bodyPr wrap="square" lIns="25400" tIns="25400" rIns="25400" bIns="25400" rtlCol="0" anchor="t">
                  <a:noAutofit/>
                </a:bodyPr>
                <a:lstStyle/>
                <a:p>
                  <a:pPr marL="284163"/>
                  <a:r>
                    <a:rPr lang="en-US" sz="1200" b="1" i="1" dirty="0">
                      <a:solidFill>
                        <a:srgbClr val="14342B"/>
                      </a:solidFill>
                      <a:latin typeface="Georgia" panose="02040502050405020303" pitchFamily="18" charset="0"/>
                      <a:ea typeface="Inter" pitchFamily="34" charset="-122"/>
                    </a:rPr>
                    <a:t>The Watershed Development Department FPOs includes…</a:t>
                  </a:r>
                </a:p>
                <a:p>
                  <a:pPr marL="284163"/>
                  <a:endParaRPr lang="en-US" sz="400" b="1" i="1" dirty="0">
                    <a:solidFill>
                      <a:srgbClr val="14342B"/>
                    </a:solidFill>
                    <a:latin typeface="Georgia" panose="02040502050405020303" pitchFamily="18" charset="0"/>
                    <a:ea typeface="Inter" pitchFamily="34" charset="-122"/>
                  </a:endParaRPr>
                </a:p>
                <a:p>
                  <a:pPr marL="569913" indent="-169863">
                    <a:buFont typeface="Wingdings" panose="05000000000000000000" pitchFamily="2" charset="2"/>
                    <a:buChar char="q"/>
                  </a:pPr>
                  <a:r>
                    <a:rPr lang="en-US" sz="1000" b="1" dirty="0">
                      <a:latin typeface="Georgia" panose="02040502050405020303" pitchFamily="18" charset="0"/>
                      <a:ea typeface="Inter" pitchFamily="34" charset="-122"/>
                    </a:rPr>
                    <a:t>58</a:t>
                  </a:r>
                  <a:r>
                    <a:rPr lang="en-US" sz="1000" dirty="0">
                      <a:latin typeface="Georgia" panose="02040502050405020303" pitchFamily="18" charset="0"/>
                      <a:ea typeface="Inter" pitchFamily="34" charset="-122"/>
                    </a:rPr>
                    <a:t> FPOs with transactions valued at </a:t>
                  </a:r>
                  <a:r>
                    <a:rPr lang="en-US" sz="1000" b="1" dirty="0">
                      <a:latin typeface="Georgia" panose="02040502050405020303" pitchFamily="18" charset="0"/>
                      <a:ea typeface="Inter" pitchFamily="34" charset="-122"/>
                    </a:rPr>
                    <a:t>₹23 crores </a:t>
                  </a:r>
                  <a:r>
                    <a:rPr lang="en-US" sz="1000" dirty="0">
                      <a:latin typeface="Georgia" panose="02040502050405020303" pitchFamily="18" charset="0"/>
                      <a:ea typeface="Inter" pitchFamily="34" charset="-122"/>
                    </a:rPr>
                    <a:t>(FY 23–24) across key crops such as Pomegranate, Onion, Tomato</a:t>
                  </a:r>
                </a:p>
                <a:p>
                  <a:pPr marL="569913" indent="-171450">
                    <a:buFont typeface="Wingdings" panose="05000000000000000000" pitchFamily="2" charset="2"/>
                    <a:buChar char="q"/>
                  </a:pPr>
                  <a:r>
                    <a:rPr lang="en-US" sz="1000" b="1" dirty="0">
                      <a:latin typeface="Georgia" panose="02040502050405020303" pitchFamily="18" charset="0"/>
                      <a:ea typeface="Inter" pitchFamily="34" charset="-122"/>
                    </a:rPr>
                    <a:t>62</a:t>
                  </a:r>
                  <a:r>
                    <a:rPr lang="en-US" sz="1000" dirty="0">
                      <a:latin typeface="Georgia" panose="02040502050405020303" pitchFamily="18" charset="0"/>
                      <a:ea typeface="Inter" pitchFamily="34" charset="-122"/>
                    </a:rPr>
                    <a:t> FPOs with transactions valued at </a:t>
                  </a:r>
                  <a:r>
                    <a:rPr lang="en-US" sz="1000" b="1" dirty="0">
                      <a:latin typeface="Georgia" panose="02040502050405020303" pitchFamily="18" charset="0"/>
                      <a:ea typeface="Inter" pitchFamily="34" charset="-122"/>
                    </a:rPr>
                    <a:t>₹29 crores </a:t>
                  </a:r>
                  <a:r>
                    <a:rPr lang="en-US" sz="1000" dirty="0">
                      <a:latin typeface="Georgia" panose="02040502050405020303" pitchFamily="18" charset="0"/>
                      <a:ea typeface="Inter" pitchFamily="34" charset="-122"/>
                    </a:rPr>
                    <a:t>(FY 23-24) for major fruits and vegetables grown like </a:t>
                  </a:r>
                  <a:r>
                    <a:rPr lang="it-IT" sz="1000" dirty="0">
                      <a:latin typeface="Georgia" panose="02040502050405020303" pitchFamily="18" charset="0"/>
                      <a:ea typeface="Inter" pitchFamily="34" charset="-122"/>
                    </a:rPr>
                    <a:t>Banana, Tomato, Sugarcane, Onion, Pomegranate</a:t>
                  </a:r>
                  <a:endParaRPr lang="en-US" sz="1000" dirty="0">
                    <a:latin typeface="Georgia" panose="02040502050405020303" pitchFamily="18" charset="0"/>
                    <a:ea typeface="Inter" pitchFamily="34" charset="-122"/>
                  </a:endParaRPr>
                </a:p>
              </p:txBody>
            </p:sp>
            <p:pic>
              <p:nvPicPr>
                <p:cNvPr id="10" name="Picture 9">
                  <a:extLst>
                    <a:ext uri="{FF2B5EF4-FFF2-40B4-BE49-F238E27FC236}">
                      <a16:creationId xmlns:a16="http://schemas.microsoft.com/office/drawing/2014/main" id="{BBA325C0-AC03-090F-AAC8-7A4290625603}"/>
                    </a:ext>
                  </a:extLst>
                </p:cNvPr>
                <p:cNvPicPr>
                  <a:picLocks noChangeAspect="1"/>
                </p:cNvPicPr>
                <p:nvPr/>
              </p:nvPicPr>
              <p:blipFill>
                <a:blip r:embed="rId2"/>
                <a:stretch>
                  <a:fillRect/>
                </a:stretch>
              </p:blipFill>
              <p:spPr>
                <a:xfrm>
                  <a:off x="1891750" y="4196651"/>
                  <a:ext cx="160437" cy="160437"/>
                </a:xfrm>
                <a:prstGeom prst="rect">
                  <a:avLst/>
                </a:prstGeom>
              </p:spPr>
            </p:pic>
            <p:pic>
              <p:nvPicPr>
                <p:cNvPr id="11" name="Picture 10">
                  <a:extLst>
                    <a:ext uri="{FF2B5EF4-FFF2-40B4-BE49-F238E27FC236}">
                      <a16:creationId xmlns:a16="http://schemas.microsoft.com/office/drawing/2014/main" id="{7C9C8F48-CCDA-ABAE-372B-A0AE1D0C8D0A}"/>
                    </a:ext>
                  </a:extLst>
                </p:cNvPr>
                <p:cNvPicPr>
                  <a:picLocks noChangeAspect="1"/>
                </p:cNvPicPr>
                <p:nvPr/>
              </p:nvPicPr>
              <p:blipFill>
                <a:blip r:embed="rId3"/>
                <a:stretch>
                  <a:fillRect/>
                </a:stretch>
              </p:blipFill>
              <p:spPr>
                <a:xfrm>
                  <a:off x="6726069" y="4177660"/>
                  <a:ext cx="228600" cy="228600"/>
                </a:xfrm>
                <a:prstGeom prst="rect">
                  <a:avLst/>
                </a:prstGeom>
              </p:spPr>
            </p:pic>
          </p:grpSp>
          <p:pic>
            <p:nvPicPr>
              <p:cNvPr id="4" name="Picture 3">
                <a:extLst>
                  <a:ext uri="{FF2B5EF4-FFF2-40B4-BE49-F238E27FC236}">
                    <a16:creationId xmlns:a16="http://schemas.microsoft.com/office/drawing/2014/main" id="{3F4B94F4-9229-E1E2-BD39-F9987FC2DC6B}"/>
                  </a:ext>
                </a:extLst>
              </p:cNvPr>
              <p:cNvPicPr>
                <a:picLocks noChangeAspect="1"/>
              </p:cNvPicPr>
              <p:nvPr/>
            </p:nvPicPr>
            <p:blipFill>
              <a:blip r:embed="rId5" cstate="print">
                <a:extLst>
                  <a:ext uri="{28A0092B-C50C-407E-A947-70E740481C1C}">
                    <a14:useLocalDpi xmlns:a14="http://schemas.microsoft.com/office/drawing/2010/main" val="0"/>
                  </a:ext>
                </a:extLst>
              </a:blip>
              <a:srcRect l="6026" t="5108" b="11111"/>
              <a:stretch>
                <a:fillRect/>
              </a:stretch>
            </p:blipFill>
            <p:spPr>
              <a:xfrm>
                <a:off x="611549" y="4051682"/>
                <a:ext cx="1079191" cy="1495370"/>
              </a:xfrm>
              <a:prstGeom prst="rect">
                <a:avLst/>
              </a:prstGeom>
            </p:spPr>
          </p:pic>
        </p:grpSp>
      </p:grpSp>
      <p:sp>
        <p:nvSpPr>
          <p:cNvPr id="25" name="Rectangle 24">
            <a:extLst>
              <a:ext uri="{FF2B5EF4-FFF2-40B4-BE49-F238E27FC236}">
                <a16:creationId xmlns:a16="http://schemas.microsoft.com/office/drawing/2014/main" id="{684CA364-65D5-7741-EA65-860812CF7BCC}"/>
              </a:ext>
            </a:extLst>
          </p:cNvPr>
          <p:cNvSpPr/>
          <p:nvPr/>
        </p:nvSpPr>
        <p:spPr>
          <a:xfrm>
            <a:off x="685800" y="5587253"/>
            <a:ext cx="5550528" cy="584947"/>
          </a:xfrm>
          <a:prstGeom prst="rect">
            <a:avLst/>
          </a:prstGeom>
          <a:noFill/>
          <a:ln>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i="1" dirty="0">
                <a:solidFill>
                  <a:schemeClr val="tx1"/>
                </a:solidFill>
                <a:latin typeface="Georgia" panose="02040502050405020303" pitchFamily="18" charset="0"/>
              </a:rPr>
              <a:t>Sources: As per the internal data shared by the following departments under Government of Karnataka, as of March 2026:</a:t>
            </a:r>
          </a:p>
          <a:p>
            <a:endParaRPr lang="en-US" sz="300" i="1" dirty="0">
              <a:solidFill>
                <a:schemeClr val="tx1"/>
              </a:solidFill>
              <a:latin typeface="Georgia" panose="02040502050405020303" pitchFamily="18" charset="0"/>
            </a:endParaRPr>
          </a:p>
          <a:p>
            <a:pPr marL="228600" indent="-228600">
              <a:buFont typeface="Arial" panose="020B0604020202020204" pitchFamily="34" charset="0"/>
              <a:buChar char="•"/>
            </a:pPr>
            <a:r>
              <a:rPr lang="en-IN" sz="700" i="1" dirty="0">
                <a:solidFill>
                  <a:schemeClr val="tx1"/>
                </a:solidFill>
                <a:latin typeface="Georgia" panose="02040502050405020303" pitchFamily="18" charset="0"/>
              </a:rPr>
              <a:t>Directorate of horticulture – Horticulture department FPOs</a:t>
            </a:r>
          </a:p>
          <a:p>
            <a:pPr marL="228600" indent="-228600">
              <a:buFont typeface="Arial" panose="020B0604020202020204" pitchFamily="34" charset="0"/>
              <a:buChar char="•"/>
            </a:pPr>
            <a:r>
              <a:rPr lang="en-IN" sz="700" i="1" dirty="0">
                <a:solidFill>
                  <a:schemeClr val="tx1"/>
                </a:solidFill>
                <a:latin typeface="Georgia" panose="02040502050405020303" pitchFamily="18" charset="0"/>
              </a:rPr>
              <a:t>Watershed development department – WDD FPOs</a:t>
            </a:r>
          </a:p>
          <a:p>
            <a:pPr marL="228600" indent="-228600">
              <a:buFont typeface="Arial" panose="020B0604020202020204" pitchFamily="34" charset="0"/>
              <a:buChar char="•"/>
            </a:pPr>
            <a:r>
              <a:rPr lang="en-IN" sz="700" i="1" dirty="0">
                <a:solidFill>
                  <a:schemeClr val="tx1"/>
                </a:solidFill>
                <a:latin typeface="Georgia" panose="02040502050405020303" pitchFamily="18" charset="0"/>
              </a:rPr>
              <a:t>KSRLPS - SHGs</a:t>
            </a:r>
            <a:endParaRPr lang="en-IN" sz="700" dirty="0">
              <a:solidFill>
                <a:schemeClr val="tx1"/>
              </a:solidFill>
              <a:latin typeface="Georgia" panose="02040502050405020303" pitchFamily="18" charset="0"/>
            </a:endParaRPr>
          </a:p>
        </p:txBody>
      </p:sp>
      <p:pic>
        <p:nvPicPr>
          <p:cNvPr id="26" name="Picture 25">
            <a:extLst>
              <a:ext uri="{FF2B5EF4-FFF2-40B4-BE49-F238E27FC236}">
                <a16:creationId xmlns:a16="http://schemas.microsoft.com/office/drawing/2014/main" id="{503E5F0D-0419-901F-96CB-B5C6395201D0}"/>
              </a:ext>
            </a:extLst>
          </p:cNvPr>
          <p:cNvPicPr>
            <a:picLocks noChangeAspect="1"/>
          </p:cNvPicPr>
          <p:nvPr/>
        </p:nvPicPr>
        <p:blipFill>
          <a:blip r:embed="rId6"/>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3039473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A7DCB-8390-F9C7-4E9B-BBE8781174D8}"/>
            </a:ext>
          </a:extLst>
        </p:cNvPr>
        <p:cNvGrpSpPr/>
        <p:nvPr/>
      </p:nvGrpSpPr>
      <p:grpSpPr>
        <a:xfrm>
          <a:off x="0" y="0"/>
          <a:ext cx="0" cy="0"/>
          <a:chOff x="0" y="0"/>
          <a:chExt cx="0" cy="0"/>
        </a:xfrm>
      </p:grpSpPr>
      <p:sp>
        <p:nvSpPr>
          <p:cNvPr id="7" name="Title 21">
            <a:extLst>
              <a:ext uri="{FF2B5EF4-FFF2-40B4-BE49-F238E27FC236}">
                <a16:creationId xmlns:a16="http://schemas.microsoft.com/office/drawing/2014/main" id="{69DF0034-C515-F8F1-A8B2-1C534A6B14ED}"/>
              </a:ext>
            </a:extLst>
          </p:cNvPr>
          <p:cNvSpPr txBox="1">
            <a:spLocks/>
          </p:cNvSpPr>
          <p:nvPr/>
        </p:nvSpPr>
        <p:spPr>
          <a:xfrm>
            <a:off x="404992" y="284247"/>
            <a:ext cx="11353800" cy="486159"/>
          </a:xfrm>
          <a:prstGeom prst="rect">
            <a:avLst/>
          </a:prstGeom>
        </p:spPr>
        <p:txBody>
          <a:bodyPr/>
          <a:lstStyle>
            <a:lvl1pPr>
              <a:defRPr>
                <a:latin typeface="+mj-lt"/>
                <a:ea typeface="+mj-ea"/>
                <a:cs typeface="+mj-cs"/>
              </a:defRPr>
            </a:lvl1pPr>
          </a:lstStyle>
          <a:p>
            <a:pPr>
              <a:lnSpc>
                <a:spcPct val="150000"/>
              </a:lnSpc>
              <a:spcAft>
                <a:spcPts val="800"/>
              </a:spcAft>
            </a:pPr>
            <a:r>
              <a:rPr lang="en-IN" sz="2200" b="1" dirty="0">
                <a:solidFill>
                  <a:schemeClr val="bg1"/>
                </a:solidFill>
                <a:latin typeface="Georgia" panose="02040502050405020303" pitchFamily="18" charset="0"/>
              </a:rPr>
              <a:t>Challenge category 4: </a:t>
            </a:r>
            <a:r>
              <a:rPr lang="en-IN" sz="2200" b="1" dirty="0">
                <a:solidFill>
                  <a:schemeClr val="bg1"/>
                </a:solidFill>
                <a:latin typeface="Georgia" panose="02040502050405020303" pitchFamily="18" charset="0"/>
                <a:ea typeface="Arial" panose="020B0604020202020204" pitchFamily="34" charset="0"/>
              </a:rPr>
              <a:t>Community-led aggregation and enterprise innovations</a:t>
            </a:r>
            <a:endParaRPr lang="en-US" sz="2200" b="1" dirty="0">
              <a:solidFill>
                <a:schemeClr val="bg1"/>
              </a:solidFill>
              <a:latin typeface="Georgia" panose="02040502050405020303" pitchFamily="18" charset="0"/>
            </a:endParaRPr>
          </a:p>
        </p:txBody>
      </p:sp>
      <p:sp>
        <p:nvSpPr>
          <p:cNvPr id="5" name="Slide Number Placeholder 2">
            <a:extLst>
              <a:ext uri="{FF2B5EF4-FFF2-40B4-BE49-F238E27FC236}">
                <a16:creationId xmlns:a16="http://schemas.microsoft.com/office/drawing/2014/main" id="{A27262F9-840D-7FBE-40BE-BBDFBFC681DC}"/>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20</a:t>
            </a:fld>
            <a:endParaRPr dirty="0">
              <a:latin typeface="Georgia" panose="02040502050405020303" pitchFamily="18" charset="0"/>
            </a:endParaRPr>
          </a:p>
        </p:txBody>
      </p:sp>
      <p:grpSp>
        <p:nvGrpSpPr>
          <p:cNvPr id="3" name="Group 2">
            <a:extLst>
              <a:ext uri="{FF2B5EF4-FFF2-40B4-BE49-F238E27FC236}">
                <a16:creationId xmlns:a16="http://schemas.microsoft.com/office/drawing/2014/main" id="{79668CD8-0E8C-59F3-CA33-0B1E3AD038D5}"/>
              </a:ext>
            </a:extLst>
          </p:cNvPr>
          <p:cNvGrpSpPr/>
          <p:nvPr/>
        </p:nvGrpSpPr>
        <p:grpSpPr>
          <a:xfrm>
            <a:off x="685800" y="1134921"/>
            <a:ext cx="10662684" cy="4199079"/>
            <a:chOff x="533400" y="1115899"/>
            <a:chExt cx="10815084" cy="4199079"/>
          </a:xfrm>
        </p:grpSpPr>
        <p:grpSp>
          <p:nvGrpSpPr>
            <p:cNvPr id="12" name="Group 11">
              <a:extLst>
                <a:ext uri="{FF2B5EF4-FFF2-40B4-BE49-F238E27FC236}">
                  <a16:creationId xmlns:a16="http://schemas.microsoft.com/office/drawing/2014/main" id="{4B307FAB-4A77-3932-D6BE-B22D5813A0B9}"/>
                </a:ext>
              </a:extLst>
            </p:cNvPr>
            <p:cNvGrpSpPr/>
            <p:nvPr/>
          </p:nvGrpSpPr>
          <p:grpSpPr>
            <a:xfrm>
              <a:off x="533400" y="1115899"/>
              <a:ext cx="10815084" cy="4199079"/>
              <a:chOff x="573114" y="1636655"/>
              <a:chExt cx="10815084" cy="4199079"/>
            </a:xfrm>
          </p:grpSpPr>
          <p:grpSp>
            <p:nvGrpSpPr>
              <p:cNvPr id="63" name="Group 62">
                <a:extLst>
                  <a:ext uri="{FF2B5EF4-FFF2-40B4-BE49-F238E27FC236}">
                    <a16:creationId xmlns:a16="http://schemas.microsoft.com/office/drawing/2014/main" id="{0BA8DA0A-54A9-2D8D-0AC4-7E61737401E9}"/>
                  </a:ext>
                </a:extLst>
              </p:cNvPr>
              <p:cNvGrpSpPr/>
              <p:nvPr/>
            </p:nvGrpSpPr>
            <p:grpSpPr>
              <a:xfrm>
                <a:off x="573114" y="1636655"/>
                <a:ext cx="10815084" cy="2020945"/>
                <a:chOff x="573114" y="1636655"/>
                <a:chExt cx="10988080" cy="2020945"/>
              </a:xfrm>
            </p:grpSpPr>
            <p:grpSp>
              <p:nvGrpSpPr>
                <p:cNvPr id="14" name="Group 13">
                  <a:extLst>
                    <a:ext uri="{FF2B5EF4-FFF2-40B4-BE49-F238E27FC236}">
                      <a16:creationId xmlns:a16="http://schemas.microsoft.com/office/drawing/2014/main" id="{AF1D3E18-62FA-DD6A-C840-311E3EB3DC6D}"/>
                    </a:ext>
                  </a:extLst>
                </p:cNvPr>
                <p:cNvGrpSpPr/>
                <p:nvPr/>
              </p:nvGrpSpPr>
              <p:grpSpPr>
                <a:xfrm>
                  <a:off x="573114" y="1636655"/>
                  <a:ext cx="10988080" cy="2020945"/>
                  <a:chOff x="559981" y="1714108"/>
                  <a:chExt cx="5078819" cy="4381892"/>
                </a:xfrm>
              </p:grpSpPr>
              <p:sp>
                <p:nvSpPr>
                  <p:cNvPr id="16" name="Shape 7">
                    <a:extLst>
                      <a:ext uri="{FF2B5EF4-FFF2-40B4-BE49-F238E27FC236}">
                        <a16:creationId xmlns:a16="http://schemas.microsoft.com/office/drawing/2014/main" id="{C8F38B94-DFAA-D8B7-F303-8C4209257180}"/>
                      </a:ext>
                    </a:extLst>
                  </p:cNvPr>
                  <p:cNvSpPr/>
                  <p:nvPr/>
                </p:nvSpPr>
                <p:spPr>
                  <a:xfrm>
                    <a:off x="559981" y="1714108"/>
                    <a:ext cx="5074581" cy="4374754"/>
                  </a:xfrm>
                  <a:prstGeom prst="roundRect">
                    <a:avLst>
                      <a:gd name="adj" fmla="val 2506"/>
                    </a:avLst>
                  </a:prstGeom>
                  <a:solidFill>
                    <a:srgbClr val="FFFFFF"/>
                  </a:solidFill>
                  <a:ln/>
                </p:spPr>
                <p:txBody>
                  <a:bodyPr/>
                  <a:lstStyle/>
                  <a:p>
                    <a:endParaRPr lang="en-IN" sz="1200" dirty="0">
                      <a:latin typeface="Georgia" panose="02040502050405020303" pitchFamily="18" charset="0"/>
                    </a:endParaRPr>
                  </a:p>
                </p:txBody>
              </p:sp>
              <p:sp>
                <p:nvSpPr>
                  <p:cNvPr id="17" name="Shape 9">
                    <a:extLst>
                      <a:ext uri="{FF2B5EF4-FFF2-40B4-BE49-F238E27FC236}">
                        <a16:creationId xmlns:a16="http://schemas.microsoft.com/office/drawing/2014/main" id="{B6A90CDF-F80B-E14A-72C6-408B425A20AF}"/>
                      </a:ext>
                    </a:extLst>
                  </p:cNvPr>
                  <p:cNvSpPr/>
                  <p:nvPr/>
                </p:nvSpPr>
                <p:spPr>
                  <a:xfrm>
                    <a:off x="559981" y="1714110"/>
                    <a:ext cx="5074581" cy="52800"/>
                  </a:xfrm>
                  <a:prstGeom prst="rect">
                    <a:avLst/>
                  </a:prstGeom>
                  <a:solidFill>
                    <a:srgbClr val="0B6E78"/>
                  </a:solidFill>
                  <a:ln/>
                </p:spPr>
                <p:txBody>
                  <a:bodyPr/>
                  <a:lstStyle/>
                  <a:p>
                    <a:endParaRPr lang="en-IN" sz="1200">
                      <a:latin typeface="Georgia" panose="02040502050405020303" pitchFamily="18" charset="0"/>
                    </a:endParaRPr>
                  </a:p>
                </p:txBody>
              </p:sp>
              <p:grpSp>
                <p:nvGrpSpPr>
                  <p:cNvPr id="18" name="Group 17">
                    <a:extLst>
                      <a:ext uri="{FF2B5EF4-FFF2-40B4-BE49-F238E27FC236}">
                        <a16:creationId xmlns:a16="http://schemas.microsoft.com/office/drawing/2014/main" id="{8DCF8858-312C-3323-D026-A706D23591AA}"/>
                      </a:ext>
                    </a:extLst>
                  </p:cNvPr>
                  <p:cNvGrpSpPr/>
                  <p:nvPr/>
                </p:nvGrpSpPr>
                <p:grpSpPr>
                  <a:xfrm>
                    <a:off x="559981" y="1714110"/>
                    <a:ext cx="5078819" cy="4381890"/>
                    <a:chOff x="541169" y="980546"/>
                    <a:chExt cx="2639326" cy="3389658"/>
                  </a:xfrm>
                </p:grpSpPr>
                <p:sp>
                  <p:nvSpPr>
                    <p:cNvPr id="20" name="Shape 8">
                      <a:extLst>
                        <a:ext uri="{FF2B5EF4-FFF2-40B4-BE49-F238E27FC236}">
                          <a16:creationId xmlns:a16="http://schemas.microsoft.com/office/drawing/2014/main" id="{F8B031A4-A4EB-C1CE-0231-6735F4A222D4}"/>
                        </a:ext>
                      </a:extLst>
                    </p:cNvPr>
                    <p:cNvSpPr/>
                    <p:nvPr/>
                  </p:nvSpPr>
                  <p:spPr>
                    <a:xfrm>
                      <a:off x="541169" y="4356380"/>
                      <a:ext cx="2637124" cy="13824"/>
                    </a:xfrm>
                    <a:prstGeom prst="rect">
                      <a:avLst/>
                    </a:prstGeom>
                    <a:solidFill>
                      <a:srgbClr val="D9D3C3"/>
                    </a:solidFill>
                    <a:ln/>
                  </p:spPr>
                  <p:txBody>
                    <a:bodyPr/>
                    <a:lstStyle/>
                    <a:p>
                      <a:endParaRPr lang="en-IN" sz="1200">
                        <a:latin typeface="Georgia" panose="02040502050405020303" pitchFamily="18" charset="0"/>
                      </a:endParaRPr>
                    </a:p>
                  </p:txBody>
                </p:sp>
                <p:sp>
                  <p:nvSpPr>
                    <p:cNvPr id="21" name="Shape 10">
                      <a:extLst>
                        <a:ext uri="{FF2B5EF4-FFF2-40B4-BE49-F238E27FC236}">
                          <a16:creationId xmlns:a16="http://schemas.microsoft.com/office/drawing/2014/main" id="{16E4EB1E-CBB2-40A0-5480-AF6E8D5C92C0}"/>
                        </a:ext>
                      </a:extLst>
                    </p:cNvPr>
                    <p:cNvSpPr/>
                    <p:nvPr/>
                  </p:nvSpPr>
                  <p:spPr>
                    <a:xfrm>
                      <a:off x="541169" y="980546"/>
                      <a:ext cx="11014" cy="3386894"/>
                    </a:xfrm>
                    <a:prstGeom prst="rect">
                      <a:avLst/>
                    </a:prstGeom>
                    <a:solidFill>
                      <a:srgbClr val="D9D3C3"/>
                    </a:solidFill>
                    <a:ln/>
                  </p:spPr>
                  <p:txBody>
                    <a:bodyPr/>
                    <a:lstStyle/>
                    <a:p>
                      <a:endParaRPr lang="en-IN" sz="1200">
                        <a:latin typeface="Georgia" panose="02040502050405020303" pitchFamily="18" charset="0"/>
                      </a:endParaRPr>
                    </a:p>
                  </p:txBody>
                </p:sp>
                <p:sp>
                  <p:nvSpPr>
                    <p:cNvPr id="22" name="Shape 11">
                      <a:extLst>
                        <a:ext uri="{FF2B5EF4-FFF2-40B4-BE49-F238E27FC236}">
                          <a16:creationId xmlns:a16="http://schemas.microsoft.com/office/drawing/2014/main" id="{1F0511FD-D064-42F6-4359-CBF303E7D323}"/>
                        </a:ext>
                      </a:extLst>
                    </p:cNvPr>
                    <p:cNvSpPr/>
                    <p:nvPr/>
                  </p:nvSpPr>
                  <p:spPr>
                    <a:xfrm>
                      <a:off x="3169481" y="980546"/>
                      <a:ext cx="11014" cy="3386894"/>
                    </a:xfrm>
                    <a:prstGeom prst="rect">
                      <a:avLst/>
                    </a:prstGeom>
                    <a:solidFill>
                      <a:srgbClr val="D9D3C3"/>
                    </a:solidFill>
                    <a:ln/>
                  </p:spPr>
                  <p:txBody>
                    <a:bodyPr/>
                    <a:lstStyle/>
                    <a:p>
                      <a:endParaRPr lang="en-IN" sz="1200">
                        <a:latin typeface="Georgia" panose="02040502050405020303" pitchFamily="18" charset="0"/>
                      </a:endParaRPr>
                    </a:p>
                  </p:txBody>
                </p:sp>
              </p:grpSp>
            </p:grpSp>
            <p:sp>
              <p:nvSpPr>
                <p:cNvPr id="23" name="Text 64">
                  <a:extLst>
                    <a:ext uri="{FF2B5EF4-FFF2-40B4-BE49-F238E27FC236}">
                      <a16:creationId xmlns:a16="http://schemas.microsoft.com/office/drawing/2014/main" id="{213921C5-FD95-FC79-029C-7ECFB03E1350}"/>
                    </a:ext>
                  </a:extLst>
                </p:cNvPr>
                <p:cNvSpPr/>
                <p:nvPr/>
              </p:nvSpPr>
              <p:spPr>
                <a:xfrm>
                  <a:off x="1799500" y="2001825"/>
                  <a:ext cx="4764286" cy="1244700"/>
                </a:xfrm>
                <a:prstGeom prst="rect">
                  <a:avLst/>
                </a:prstGeom>
                <a:solidFill>
                  <a:srgbClr val="FFF3C1"/>
                </a:solidFill>
                <a:ln/>
              </p:spPr>
              <p:txBody>
                <a:bodyPr wrap="square" lIns="25400" tIns="25400" rIns="25400" bIns="25400" rtlCol="0" anchor="t">
                  <a:noAutofit/>
                </a:bodyPr>
                <a:lstStyle/>
                <a:p>
                  <a:pPr marL="346075" indent="-61913">
                    <a:defRPr/>
                  </a:pPr>
                  <a:r>
                    <a:rPr lang="en-US" sz="1200" b="1" i="1" dirty="0">
                      <a:solidFill>
                        <a:srgbClr val="14342B"/>
                      </a:solidFill>
                      <a:latin typeface="Georgia" panose="02040502050405020303" pitchFamily="18" charset="0"/>
                      <a:ea typeface="Inter" pitchFamily="34" charset="-122"/>
                    </a:rPr>
                    <a:t>The Horticulture Department FPOs handles…</a:t>
                  </a:r>
                </a:p>
                <a:p>
                  <a:pPr marL="346075" indent="-61913">
                    <a:defRPr/>
                  </a:pPr>
                  <a:endParaRPr lang="en-US" sz="400" b="1" i="1" dirty="0">
                    <a:solidFill>
                      <a:srgbClr val="14342B"/>
                    </a:solidFill>
                    <a:latin typeface="Georgia" panose="02040502050405020303" pitchFamily="18" charset="0"/>
                    <a:ea typeface="Inter" pitchFamily="34" charset="-122"/>
                  </a:endParaRPr>
                </a:p>
                <a:p>
                  <a:pPr marL="568325" indent="-168275">
                    <a:buFont typeface="Wingdings" panose="05000000000000000000" pitchFamily="2" charset="2"/>
                    <a:buChar char="q"/>
                    <a:defRPr/>
                  </a:pPr>
                  <a:r>
                    <a:rPr lang="en-US" sz="1000" b="1" dirty="0">
                      <a:latin typeface="Georgia" panose="02040502050405020303" pitchFamily="18" charset="0"/>
                      <a:ea typeface="Inter" pitchFamily="34" charset="-122"/>
                    </a:rPr>
                    <a:t>1145</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 </a:t>
                  </a:r>
                  <a:r>
                    <a:rPr kumimoji="0" lang="en-US" sz="1000" b="1" u="none" strike="noStrike" kern="1200" cap="none" spc="0" normalizeH="0" baseline="0" noProof="0" dirty="0">
                      <a:ln>
                        <a:noFill/>
                      </a:ln>
                      <a:effectLst/>
                      <a:uLnTx/>
                      <a:uFillTx/>
                      <a:latin typeface="Georgia" panose="02040502050405020303" pitchFamily="18" charset="0"/>
                      <a:ea typeface="Inter" pitchFamily="34" charset="-122"/>
                    </a:rPr>
                    <a:t>MT</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 of annual produce volume</a:t>
                  </a:r>
                  <a:r>
                    <a:rPr lang="en-US" sz="1000" dirty="0">
                      <a:latin typeface="Georgia" panose="02040502050405020303" pitchFamily="18" charset="0"/>
                      <a:ea typeface="Inter" pitchFamily="34" charset="-122"/>
                    </a:rPr>
                    <a:t> with transactions </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valued at </a:t>
                  </a:r>
                  <a:r>
                    <a:rPr kumimoji="0" lang="en-US" sz="1000" b="1" u="none" strike="noStrike" kern="1200" cap="none" spc="0" normalizeH="0" baseline="0" noProof="0" dirty="0">
                      <a:ln>
                        <a:noFill/>
                      </a:ln>
                      <a:effectLst/>
                      <a:uLnTx/>
                      <a:uFillTx/>
                      <a:latin typeface="Georgia" panose="02040502050405020303" pitchFamily="18" charset="0"/>
                      <a:ea typeface="Inter" pitchFamily="34" charset="-122"/>
                    </a:rPr>
                    <a:t>₹</a:t>
                  </a:r>
                  <a:r>
                    <a:rPr lang="en-US" sz="1000" b="1" dirty="0">
                      <a:latin typeface="Georgia" panose="02040502050405020303" pitchFamily="18" charset="0"/>
                      <a:ea typeface="Inter" pitchFamily="34" charset="-122"/>
                    </a:rPr>
                    <a:t>35</a:t>
                  </a:r>
                  <a:r>
                    <a:rPr kumimoji="0" lang="en-US" sz="1000" b="1" u="none" strike="noStrike" kern="1200" cap="none" spc="0" normalizeH="0" baseline="0" noProof="0" dirty="0">
                      <a:ln>
                        <a:noFill/>
                      </a:ln>
                      <a:effectLst/>
                      <a:uLnTx/>
                      <a:uFillTx/>
                      <a:latin typeface="Georgia" panose="02040502050405020303" pitchFamily="18" charset="0"/>
                      <a:ea typeface="Inter" pitchFamily="34" charset="-122"/>
                    </a:rPr>
                    <a:t> lakh </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(FY 23–24) across key crops such as </a:t>
                  </a:r>
                  <a:r>
                    <a:rPr lang="en-US" sz="1000" dirty="0">
                      <a:latin typeface="Georgia" panose="02040502050405020303" pitchFamily="18" charset="0"/>
                      <a:ea typeface="Inter" pitchFamily="34" charset="-122"/>
                    </a:rPr>
                    <a:t>Onion</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 and Tomato</a:t>
                  </a:r>
                  <a:endParaRPr lang="en-US" sz="1000" dirty="0">
                    <a:latin typeface="Georgia" panose="02040502050405020303" pitchFamily="18" charset="0"/>
                    <a:ea typeface="Inter" pitchFamily="34" charset="-122"/>
                  </a:endParaRPr>
                </a:p>
                <a:p>
                  <a:pPr marL="568325" indent="-168275">
                    <a:buFont typeface="Wingdings" panose="05000000000000000000" pitchFamily="2" charset="2"/>
                    <a:buChar char="q"/>
                    <a:defRPr/>
                  </a:pPr>
                  <a:r>
                    <a:rPr kumimoji="0" lang="en-US" sz="1000" b="1" u="none" strike="noStrike" kern="1200" cap="none" spc="0" normalizeH="0" baseline="0" noProof="0" dirty="0">
                      <a:ln>
                        <a:noFill/>
                      </a:ln>
                      <a:effectLst/>
                      <a:uLnTx/>
                      <a:uFillTx/>
                      <a:latin typeface="Georgia" panose="02040502050405020303" pitchFamily="18" charset="0"/>
                      <a:ea typeface="Inter" pitchFamily="34" charset="-122"/>
                    </a:rPr>
                    <a:t>1241 MT </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of annual produce volume</a:t>
                  </a:r>
                  <a:r>
                    <a:rPr lang="en-US" sz="1000" dirty="0">
                      <a:latin typeface="Georgia" panose="02040502050405020303" pitchFamily="18" charset="0"/>
                      <a:ea typeface="Inter" pitchFamily="34" charset="-122"/>
                    </a:rPr>
                    <a:t> with transactions </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valued at </a:t>
                  </a:r>
                  <a:r>
                    <a:rPr lang="en-US" sz="1000" b="1" dirty="0">
                      <a:latin typeface="Georgia" panose="02040502050405020303" pitchFamily="18" charset="0"/>
                      <a:ea typeface="Inter" pitchFamily="34" charset="-122"/>
                    </a:rPr>
                    <a:t>₹123 lakh (</a:t>
                  </a:r>
                  <a:r>
                    <a:rPr lang="en-US" sz="1000" dirty="0">
                      <a:latin typeface="Georgia" panose="02040502050405020303" pitchFamily="18" charset="0"/>
                      <a:ea typeface="Inter" pitchFamily="34" charset="-122"/>
                    </a:rPr>
                    <a:t>FY 23-24) for major fruits and vegetables grown like Onion, Lemon, Sweet Potato</a:t>
                  </a:r>
                </a:p>
                <a:p>
                  <a:pPr>
                    <a:defRPr/>
                  </a:pPr>
                  <a:endParaRPr kumimoji="0" lang="en-US" sz="1000" u="none" strike="noStrike" kern="1200" cap="none" spc="0" normalizeH="0" baseline="0" noProof="0" dirty="0">
                    <a:ln>
                      <a:noFill/>
                    </a:ln>
                    <a:effectLst/>
                    <a:uLnTx/>
                    <a:uFillTx/>
                    <a:latin typeface="Georgia" panose="02040502050405020303" pitchFamily="18" charset="0"/>
                    <a:ea typeface="Inter" pitchFamily="34" charset="-122"/>
                  </a:endParaRPr>
                </a:p>
                <a:p>
                  <a:pPr>
                    <a:defRPr/>
                  </a:pPr>
                  <a:endParaRPr kumimoji="0" lang="en-US" sz="1000" u="none" strike="noStrike" kern="1200" cap="none" spc="0" normalizeH="0" baseline="0" noProof="0" dirty="0">
                    <a:ln>
                      <a:noFill/>
                    </a:ln>
                    <a:effectLst/>
                    <a:uLnTx/>
                    <a:uFillTx/>
                    <a:latin typeface="Georgia" panose="02040502050405020303" pitchFamily="18" charset="0"/>
                    <a:ea typeface="Inter" pitchFamily="34" charset="-122"/>
                  </a:endParaRPr>
                </a:p>
              </p:txBody>
            </p:sp>
            <p:sp>
              <p:nvSpPr>
                <p:cNvPr id="24" name="Text 12">
                  <a:extLst>
                    <a:ext uri="{FF2B5EF4-FFF2-40B4-BE49-F238E27FC236}">
                      <a16:creationId xmlns:a16="http://schemas.microsoft.com/office/drawing/2014/main" id="{748630AF-14E9-23B7-F660-6B602CBDB729}"/>
                    </a:ext>
                  </a:extLst>
                </p:cNvPr>
                <p:cNvSpPr/>
                <p:nvPr/>
              </p:nvSpPr>
              <p:spPr>
                <a:xfrm>
                  <a:off x="1767181" y="1707893"/>
                  <a:ext cx="6233818" cy="343194"/>
                </a:xfrm>
                <a:prstGeom prst="rect">
                  <a:avLst/>
                </a:prstGeom>
                <a:noFill/>
                <a:ln/>
              </p:spPr>
              <p:txBody>
                <a:bodyPr wrap="square" lIns="16933" tIns="16933" rIns="16933" bIns="16933" rtlCol="0" anchor="t">
                  <a:noAutofit/>
                </a:bodyPr>
                <a:lstStyle/>
                <a:p>
                  <a:r>
                    <a:rPr lang="en-US" sz="1400" b="1" dirty="0">
                      <a:solidFill>
                        <a:srgbClr val="14342B"/>
                      </a:solidFill>
                      <a:latin typeface="Georgia" panose="02040502050405020303" pitchFamily="18" charset="0"/>
                    </a:rPr>
                    <a:t>Kalyana Karnataka </a:t>
                  </a:r>
                  <a:r>
                    <a:rPr lang="en-US" sz="1400" b="1" dirty="0">
                      <a:solidFill>
                        <a:srgbClr val="9C3237"/>
                      </a:solidFill>
                      <a:latin typeface="Georgia" panose="02040502050405020303" pitchFamily="18" charset="0"/>
                    </a:rPr>
                    <a:t>Onion-Tomato</a:t>
                  </a:r>
                  <a:r>
                    <a:rPr lang="en-US" sz="1400" b="1" dirty="0">
                      <a:solidFill>
                        <a:srgbClr val="14342B"/>
                      </a:solidFill>
                      <a:latin typeface="Georgia" panose="02040502050405020303" pitchFamily="18" charset="0"/>
                    </a:rPr>
                    <a:t> cluster</a:t>
                  </a:r>
                </a:p>
              </p:txBody>
            </p:sp>
            <p:sp>
              <p:nvSpPr>
                <p:cNvPr id="28" name="Shape 98">
                  <a:extLst>
                    <a:ext uri="{FF2B5EF4-FFF2-40B4-BE49-F238E27FC236}">
                      <a16:creationId xmlns:a16="http://schemas.microsoft.com/office/drawing/2014/main" id="{2DB137B7-6B24-3449-0F5D-EE34746EF84B}"/>
                    </a:ext>
                  </a:extLst>
                </p:cNvPr>
                <p:cNvSpPr/>
                <p:nvPr/>
              </p:nvSpPr>
              <p:spPr>
                <a:xfrm>
                  <a:off x="1799499" y="3298686"/>
                  <a:ext cx="9618977" cy="252192"/>
                </a:xfrm>
                <a:prstGeom prst="roundRect">
                  <a:avLst>
                    <a:gd name="adj" fmla="val 3171"/>
                  </a:avLst>
                </a:prstGeom>
                <a:solidFill>
                  <a:srgbClr val="FFC000"/>
                </a:solidFill>
                <a:ln>
                  <a:noFill/>
                  <a:prstDash val="dash"/>
                </a:ln>
              </p:spPr>
              <p:txBody>
                <a:bodyPr/>
                <a:lstStyle/>
                <a:p>
                  <a:r>
                    <a:rPr lang="en-US" sz="900" i="1" dirty="0">
                      <a:solidFill>
                        <a:srgbClr val="14342B"/>
                      </a:solidFill>
                      <a:latin typeface="Georgia" panose="02040502050405020303" pitchFamily="18" charset="0"/>
                    </a:rPr>
                    <a:t>A total of 16 Self-Help Groups (SHGs) are engaged in natural food production</a:t>
                  </a:r>
                  <a:endParaRPr lang="en-IN" sz="900" i="1" dirty="0">
                    <a:solidFill>
                      <a:srgbClr val="14342B"/>
                    </a:solidFill>
                    <a:latin typeface="Georgia" panose="02040502050405020303" pitchFamily="18" charset="0"/>
                  </a:endParaRPr>
                </a:p>
              </p:txBody>
            </p:sp>
            <p:sp>
              <p:nvSpPr>
                <p:cNvPr id="29" name="Text 64">
                  <a:extLst>
                    <a:ext uri="{FF2B5EF4-FFF2-40B4-BE49-F238E27FC236}">
                      <a16:creationId xmlns:a16="http://schemas.microsoft.com/office/drawing/2014/main" id="{A6037321-9D6F-30C1-29DF-44F2240ED919}"/>
                    </a:ext>
                  </a:extLst>
                </p:cNvPr>
                <p:cNvSpPr/>
                <p:nvPr/>
              </p:nvSpPr>
              <p:spPr>
                <a:xfrm>
                  <a:off x="6654190" y="2001824"/>
                  <a:ext cx="4764286" cy="1244699"/>
                </a:xfrm>
                <a:prstGeom prst="rect">
                  <a:avLst/>
                </a:prstGeom>
                <a:solidFill>
                  <a:srgbClr val="D4EDDA"/>
                </a:solidFill>
                <a:ln/>
              </p:spPr>
              <p:txBody>
                <a:bodyPr wrap="square" lIns="25400" tIns="25400" rIns="25400" bIns="25400" rtlCol="0" anchor="t">
                  <a:noAutofit/>
                </a:bodyPr>
                <a:lstStyle/>
                <a:p>
                  <a:pPr marL="284163"/>
                  <a:r>
                    <a:rPr lang="en-US" sz="1200" b="1" i="1" dirty="0">
                      <a:solidFill>
                        <a:srgbClr val="14342B"/>
                      </a:solidFill>
                      <a:latin typeface="Georgia" panose="02040502050405020303" pitchFamily="18" charset="0"/>
                      <a:ea typeface="Inter" pitchFamily="34" charset="-122"/>
                    </a:rPr>
                    <a:t>The Watershed Development Department FPOs includes…</a:t>
                  </a:r>
                </a:p>
                <a:p>
                  <a:pPr marL="284163"/>
                  <a:endParaRPr lang="en-US" sz="400" b="1" i="1" dirty="0">
                    <a:solidFill>
                      <a:srgbClr val="14342B"/>
                    </a:solidFill>
                    <a:latin typeface="Georgia" panose="02040502050405020303" pitchFamily="18" charset="0"/>
                    <a:ea typeface="Inter" pitchFamily="34" charset="-122"/>
                  </a:endParaRPr>
                </a:p>
                <a:p>
                  <a:pPr marL="569913" indent="-169863">
                    <a:buFont typeface="Wingdings" panose="05000000000000000000" pitchFamily="2" charset="2"/>
                    <a:buChar char="q"/>
                  </a:pPr>
                  <a:r>
                    <a:rPr lang="en-US" sz="1000" b="1" dirty="0">
                      <a:latin typeface="Georgia" panose="02040502050405020303" pitchFamily="18" charset="0"/>
                      <a:ea typeface="Inter" pitchFamily="34" charset="-122"/>
                    </a:rPr>
                    <a:t>20</a:t>
                  </a:r>
                  <a:r>
                    <a:rPr lang="en-US" sz="1000" dirty="0">
                      <a:latin typeface="Georgia" panose="02040502050405020303" pitchFamily="18" charset="0"/>
                      <a:ea typeface="Inter" pitchFamily="34" charset="-122"/>
                    </a:rPr>
                    <a:t> FPOs with transactions valued at </a:t>
                  </a:r>
                  <a:r>
                    <a:rPr lang="en-US" sz="1000" b="1" dirty="0">
                      <a:latin typeface="Georgia" panose="02040502050405020303" pitchFamily="18" charset="0"/>
                      <a:ea typeface="Inter" pitchFamily="34" charset="-122"/>
                    </a:rPr>
                    <a:t>₹2 crores </a:t>
                  </a:r>
                  <a:r>
                    <a:rPr lang="en-US" sz="1000" dirty="0">
                      <a:latin typeface="Georgia" panose="02040502050405020303" pitchFamily="18" charset="0"/>
                      <a:ea typeface="Inter" pitchFamily="34" charset="-122"/>
                    </a:rPr>
                    <a:t>(FY 23–24) across key crops such as Pomegranate, Onion</a:t>
                  </a:r>
                </a:p>
                <a:p>
                  <a:pPr marL="569913" indent="-169863">
                    <a:buFont typeface="Wingdings" panose="05000000000000000000" pitchFamily="2" charset="2"/>
                    <a:buChar char="q"/>
                  </a:pPr>
                  <a:r>
                    <a:rPr lang="en-US" sz="1000" b="1" dirty="0">
                      <a:latin typeface="Georgia" panose="02040502050405020303" pitchFamily="18" charset="0"/>
                      <a:ea typeface="Inter" pitchFamily="34" charset="-122"/>
                    </a:rPr>
                    <a:t>41</a:t>
                  </a:r>
                  <a:r>
                    <a:rPr lang="en-US" sz="1000" dirty="0">
                      <a:latin typeface="Georgia" panose="02040502050405020303" pitchFamily="18" charset="0"/>
                      <a:ea typeface="Inter" pitchFamily="34" charset="-122"/>
                    </a:rPr>
                    <a:t> FPOs with transactions valued at </a:t>
                  </a:r>
                  <a:r>
                    <a:rPr lang="en-US" sz="1000" b="1" dirty="0">
                      <a:latin typeface="Georgia" panose="02040502050405020303" pitchFamily="18" charset="0"/>
                      <a:ea typeface="Inter" pitchFamily="34" charset="-122"/>
                    </a:rPr>
                    <a:t>₹13 crores (</a:t>
                  </a:r>
                  <a:r>
                    <a:rPr lang="en-US" sz="1000" dirty="0">
                      <a:latin typeface="Georgia" panose="02040502050405020303" pitchFamily="18" charset="0"/>
                      <a:ea typeface="Inter" pitchFamily="34" charset="-122"/>
                    </a:rPr>
                    <a:t>FY 23-24) for major fruits and vegetables grown like Soyabean, Onion, Pomegranate</a:t>
                  </a:r>
                </a:p>
              </p:txBody>
            </p:sp>
            <p:pic>
              <p:nvPicPr>
                <p:cNvPr id="30" name="Picture 29">
                  <a:extLst>
                    <a:ext uri="{FF2B5EF4-FFF2-40B4-BE49-F238E27FC236}">
                      <a16:creationId xmlns:a16="http://schemas.microsoft.com/office/drawing/2014/main" id="{3A489D8F-52DE-8030-16B8-51E6807CDE6B}"/>
                    </a:ext>
                  </a:extLst>
                </p:cNvPr>
                <p:cNvPicPr>
                  <a:picLocks noChangeAspect="1"/>
                </p:cNvPicPr>
                <p:nvPr/>
              </p:nvPicPr>
              <p:blipFill>
                <a:blip r:embed="rId2"/>
                <a:stretch>
                  <a:fillRect/>
                </a:stretch>
              </p:blipFill>
              <p:spPr>
                <a:xfrm>
                  <a:off x="1891750" y="2034047"/>
                  <a:ext cx="160437" cy="160437"/>
                </a:xfrm>
                <a:prstGeom prst="rect">
                  <a:avLst/>
                </a:prstGeom>
              </p:spPr>
            </p:pic>
            <p:pic>
              <p:nvPicPr>
                <p:cNvPr id="54" name="Picture 53">
                  <a:extLst>
                    <a:ext uri="{FF2B5EF4-FFF2-40B4-BE49-F238E27FC236}">
                      <a16:creationId xmlns:a16="http://schemas.microsoft.com/office/drawing/2014/main" id="{CEA7B12F-7F33-8850-9084-74CB123EFB2B}"/>
                    </a:ext>
                  </a:extLst>
                </p:cNvPr>
                <p:cNvPicPr>
                  <a:picLocks noChangeAspect="1"/>
                </p:cNvPicPr>
                <p:nvPr/>
              </p:nvPicPr>
              <p:blipFill>
                <a:blip r:embed="rId3"/>
                <a:stretch>
                  <a:fillRect/>
                </a:stretch>
              </p:blipFill>
              <p:spPr>
                <a:xfrm>
                  <a:off x="6726069" y="2015056"/>
                  <a:ext cx="228600" cy="228600"/>
                </a:xfrm>
                <a:prstGeom prst="rect">
                  <a:avLst/>
                </a:prstGeom>
              </p:spPr>
            </p:pic>
          </p:grpSp>
          <p:grpSp>
            <p:nvGrpSpPr>
              <p:cNvPr id="2" name="Group 1">
                <a:extLst>
                  <a:ext uri="{FF2B5EF4-FFF2-40B4-BE49-F238E27FC236}">
                    <a16:creationId xmlns:a16="http://schemas.microsoft.com/office/drawing/2014/main" id="{E56718B3-E855-6A26-C21E-1DB59D172970}"/>
                  </a:ext>
                </a:extLst>
              </p:cNvPr>
              <p:cNvGrpSpPr/>
              <p:nvPr/>
            </p:nvGrpSpPr>
            <p:grpSpPr>
              <a:xfrm>
                <a:off x="573114" y="3814789"/>
                <a:ext cx="10815084" cy="2020945"/>
                <a:chOff x="573114" y="3814789"/>
                <a:chExt cx="10988080" cy="2020945"/>
              </a:xfrm>
            </p:grpSpPr>
            <p:grpSp>
              <p:nvGrpSpPr>
                <p:cNvPr id="82" name="Group 81">
                  <a:extLst>
                    <a:ext uri="{FF2B5EF4-FFF2-40B4-BE49-F238E27FC236}">
                      <a16:creationId xmlns:a16="http://schemas.microsoft.com/office/drawing/2014/main" id="{3B07066C-B5E2-8E57-0DFF-6B3B7387CF90}"/>
                    </a:ext>
                  </a:extLst>
                </p:cNvPr>
                <p:cNvGrpSpPr/>
                <p:nvPr/>
              </p:nvGrpSpPr>
              <p:grpSpPr>
                <a:xfrm>
                  <a:off x="573114" y="3814789"/>
                  <a:ext cx="10988080" cy="2020945"/>
                  <a:chOff x="573114" y="1636655"/>
                  <a:chExt cx="10988080" cy="2020945"/>
                </a:xfrm>
              </p:grpSpPr>
              <p:grpSp>
                <p:nvGrpSpPr>
                  <p:cNvPr id="83" name="Group 82">
                    <a:extLst>
                      <a:ext uri="{FF2B5EF4-FFF2-40B4-BE49-F238E27FC236}">
                        <a16:creationId xmlns:a16="http://schemas.microsoft.com/office/drawing/2014/main" id="{4E96379C-3D1D-A6FC-0692-9F59AB574697}"/>
                      </a:ext>
                    </a:extLst>
                  </p:cNvPr>
                  <p:cNvGrpSpPr/>
                  <p:nvPr/>
                </p:nvGrpSpPr>
                <p:grpSpPr>
                  <a:xfrm>
                    <a:off x="573114" y="1636655"/>
                    <a:ext cx="10988080" cy="2020945"/>
                    <a:chOff x="559981" y="1714108"/>
                    <a:chExt cx="5078819" cy="4381892"/>
                  </a:xfrm>
                </p:grpSpPr>
                <p:sp>
                  <p:nvSpPr>
                    <p:cNvPr id="95" name="Shape 7">
                      <a:extLst>
                        <a:ext uri="{FF2B5EF4-FFF2-40B4-BE49-F238E27FC236}">
                          <a16:creationId xmlns:a16="http://schemas.microsoft.com/office/drawing/2014/main" id="{2B5850B4-654F-08BD-B043-1BAA5A961AEF}"/>
                        </a:ext>
                      </a:extLst>
                    </p:cNvPr>
                    <p:cNvSpPr/>
                    <p:nvPr/>
                  </p:nvSpPr>
                  <p:spPr>
                    <a:xfrm>
                      <a:off x="559981" y="1714108"/>
                      <a:ext cx="5074581" cy="4374754"/>
                    </a:xfrm>
                    <a:prstGeom prst="roundRect">
                      <a:avLst>
                        <a:gd name="adj" fmla="val 2506"/>
                      </a:avLst>
                    </a:prstGeom>
                    <a:solidFill>
                      <a:srgbClr val="FFFFFF"/>
                    </a:solidFill>
                    <a:ln/>
                  </p:spPr>
                  <p:txBody>
                    <a:bodyPr/>
                    <a:lstStyle/>
                    <a:p>
                      <a:endParaRPr lang="en-IN" sz="1200" dirty="0">
                        <a:latin typeface="Georgia" panose="02040502050405020303" pitchFamily="18" charset="0"/>
                      </a:endParaRPr>
                    </a:p>
                  </p:txBody>
                </p:sp>
                <p:sp>
                  <p:nvSpPr>
                    <p:cNvPr id="96" name="Shape 9">
                      <a:extLst>
                        <a:ext uri="{FF2B5EF4-FFF2-40B4-BE49-F238E27FC236}">
                          <a16:creationId xmlns:a16="http://schemas.microsoft.com/office/drawing/2014/main" id="{5E641235-4A39-E97E-D6F1-A74610B11DEC}"/>
                        </a:ext>
                      </a:extLst>
                    </p:cNvPr>
                    <p:cNvSpPr/>
                    <p:nvPr/>
                  </p:nvSpPr>
                  <p:spPr>
                    <a:xfrm>
                      <a:off x="559981" y="1714110"/>
                      <a:ext cx="5074581" cy="52800"/>
                    </a:xfrm>
                    <a:prstGeom prst="rect">
                      <a:avLst/>
                    </a:prstGeom>
                    <a:solidFill>
                      <a:srgbClr val="14342B"/>
                    </a:solidFill>
                    <a:ln/>
                  </p:spPr>
                  <p:txBody>
                    <a:bodyPr/>
                    <a:lstStyle/>
                    <a:p>
                      <a:endParaRPr lang="en-IN" sz="1200">
                        <a:latin typeface="Georgia" panose="02040502050405020303" pitchFamily="18" charset="0"/>
                      </a:endParaRPr>
                    </a:p>
                  </p:txBody>
                </p:sp>
                <p:grpSp>
                  <p:nvGrpSpPr>
                    <p:cNvPr id="97" name="Group 96">
                      <a:extLst>
                        <a:ext uri="{FF2B5EF4-FFF2-40B4-BE49-F238E27FC236}">
                          <a16:creationId xmlns:a16="http://schemas.microsoft.com/office/drawing/2014/main" id="{1DD6EE1B-7FD2-4959-0B1F-D2E96F76F31F}"/>
                        </a:ext>
                      </a:extLst>
                    </p:cNvPr>
                    <p:cNvGrpSpPr/>
                    <p:nvPr/>
                  </p:nvGrpSpPr>
                  <p:grpSpPr>
                    <a:xfrm>
                      <a:off x="559981" y="1714110"/>
                      <a:ext cx="5078819" cy="4381890"/>
                      <a:chOff x="541169" y="980546"/>
                      <a:chExt cx="2639326" cy="3389658"/>
                    </a:xfrm>
                  </p:grpSpPr>
                  <p:sp>
                    <p:nvSpPr>
                      <p:cNvPr id="98" name="Shape 8">
                        <a:extLst>
                          <a:ext uri="{FF2B5EF4-FFF2-40B4-BE49-F238E27FC236}">
                            <a16:creationId xmlns:a16="http://schemas.microsoft.com/office/drawing/2014/main" id="{B8AEFC6D-9945-AA05-2E8C-81C8FB5E92B4}"/>
                          </a:ext>
                        </a:extLst>
                      </p:cNvPr>
                      <p:cNvSpPr/>
                      <p:nvPr/>
                    </p:nvSpPr>
                    <p:spPr>
                      <a:xfrm>
                        <a:off x="541169" y="4356380"/>
                        <a:ext cx="2637124" cy="13824"/>
                      </a:xfrm>
                      <a:prstGeom prst="rect">
                        <a:avLst/>
                      </a:prstGeom>
                      <a:solidFill>
                        <a:srgbClr val="D9D3C3"/>
                      </a:solidFill>
                      <a:ln/>
                    </p:spPr>
                    <p:txBody>
                      <a:bodyPr/>
                      <a:lstStyle/>
                      <a:p>
                        <a:endParaRPr lang="en-IN" sz="1200">
                          <a:latin typeface="Georgia" panose="02040502050405020303" pitchFamily="18" charset="0"/>
                        </a:endParaRPr>
                      </a:p>
                    </p:txBody>
                  </p:sp>
                  <p:sp>
                    <p:nvSpPr>
                      <p:cNvPr id="99" name="Shape 10">
                        <a:extLst>
                          <a:ext uri="{FF2B5EF4-FFF2-40B4-BE49-F238E27FC236}">
                            <a16:creationId xmlns:a16="http://schemas.microsoft.com/office/drawing/2014/main" id="{6A10D259-3617-7A01-6E22-34B35AC5CC02}"/>
                          </a:ext>
                        </a:extLst>
                      </p:cNvPr>
                      <p:cNvSpPr/>
                      <p:nvPr/>
                    </p:nvSpPr>
                    <p:spPr>
                      <a:xfrm>
                        <a:off x="541169" y="980546"/>
                        <a:ext cx="11014" cy="3386894"/>
                      </a:xfrm>
                      <a:prstGeom prst="rect">
                        <a:avLst/>
                      </a:prstGeom>
                      <a:solidFill>
                        <a:srgbClr val="D9D3C3"/>
                      </a:solidFill>
                      <a:ln/>
                    </p:spPr>
                    <p:txBody>
                      <a:bodyPr/>
                      <a:lstStyle/>
                      <a:p>
                        <a:endParaRPr lang="en-IN" sz="1200">
                          <a:latin typeface="Georgia" panose="02040502050405020303" pitchFamily="18" charset="0"/>
                        </a:endParaRPr>
                      </a:p>
                    </p:txBody>
                  </p:sp>
                  <p:sp>
                    <p:nvSpPr>
                      <p:cNvPr id="101" name="Shape 11">
                        <a:extLst>
                          <a:ext uri="{FF2B5EF4-FFF2-40B4-BE49-F238E27FC236}">
                            <a16:creationId xmlns:a16="http://schemas.microsoft.com/office/drawing/2014/main" id="{55074728-6F73-7A31-CFBD-A81EBA1A2C56}"/>
                          </a:ext>
                        </a:extLst>
                      </p:cNvPr>
                      <p:cNvSpPr/>
                      <p:nvPr/>
                    </p:nvSpPr>
                    <p:spPr>
                      <a:xfrm>
                        <a:off x="3169481" y="980546"/>
                        <a:ext cx="11014" cy="3386894"/>
                      </a:xfrm>
                      <a:prstGeom prst="rect">
                        <a:avLst/>
                      </a:prstGeom>
                      <a:solidFill>
                        <a:srgbClr val="D9D3C3"/>
                      </a:solidFill>
                      <a:ln/>
                    </p:spPr>
                    <p:txBody>
                      <a:bodyPr/>
                      <a:lstStyle/>
                      <a:p>
                        <a:endParaRPr lang="en-IN" sz="1200">
                          <a:latin typeface="Georgia" panose="02040502050405020303" pitchFamily="18" charset="0"/>
                        </a:endParaRPr>
                      </a:p>
                    </p:txBody>
                  </p:sp>
                </p:grpSp>
              </p:grpSp>
              <p:sp>
                <p:nvSpPr>
                  <p:cNvPr id="85" name="Text 12">
                    <a:extLst>
                      <a:ext uri="{FF2B5EF4-FFF2-40B4-BE49-F238E27FC236}">
                        <a16:creationId xmlns:a16="http://schemas.microsoft.com/office/drawing/2014/main" id="{56049032-6BDB-8873-EC14-C0AAB264EC29}"/>
                      </a:ext>
                    </a:extLst>
                  </p:cNvPr>
                  <p:cNvSpPr/>
                  <p:nvPr/>
                </p:nvSpPr>
                <p:spPr>
                  <a:xfrm>
                    <a:off x="1767181" y="1707893"/>
                    <a:ext cx="6233818" cy="343194"/>
                  </a:xfrm>
                  <a:prstGeom prst="rect">
                    <a:avLst/>
                  </a:prstGeom>
                  <a:noFill/>
                  <a:ln/>
                </p:spPr>
                <p:txBody>
                  <a:bodyPr wrap="square" lIns="16933" tIns="16933" rIns="16933" bIns="16933" rtlCol="0" anchor="t">
                    <a:noAutofit/>
                  </a:bodyPr>
                  <a:lstStyle/>
                  <a:p>
                    <a:r>
                      <a:rPr lang="en-US" sz="1400" b="1" dirty="0">
                        <a:solidFill>
                          <a:srgbClr val="14342B"/>
                        </a:solidFill>
                        <a:latin typeface="Georgia" panose="02040502050405020303" pitchFamily="18" charset="0"/>
                      </a:rPr>
                      <a:t>South Karnataka </a:t>
                    </a:r>
                    <a:r>
                      <a:rPr lang="en-US" sz="1400" b="1" dirty="0">
                        <a:solidFill>
                          <a:srgbClr val="9C3237"/>
                        </a:solidFill>
                        <a:latin typeface="Georgia" panose="02040502050405020303" pitchFamily="18" charset="0"/>
                      </a:rPr>
                      <a:t>Banana-Tomato-Mango</a:t>
                    </a:r>
                    <a:r>
                      <a:rPr lang="en-US" sz="1400" b="1" dirty="0">
                        <a:latin typeface="Georgia" panose="02040502050405020303" pitchFamily="18" charset="0"/>
                      </a:rPr>
                      <a:t> </a:t>
                    </a:r>
                    <a:r>
                      <a:rPr lang="en-US" sz="1400" b="1" dirty="0">
                        <a:solidFill>
                          <a:srgbClr val="14342B"/>
                        </a:solidFill>
                        <a:latin typeface="Georgia" panose="02040502050405020303" pitchFamily="18" charset="0"/>
                      </a:rPr>
                      <a:t>cluster</a:t>
                    </a:r>
                    <a:endParaRPr lang="en-US" sz="1400" b="1" dirty="0">
                      <a:latin typeface="Georgia" panose="02040502050405020303" pitchFamily="18" charset="0"/>
                    </a:endParaRPr>
                  </a:p>
                </p:txBody>
              </p:sp>
            </p:grpSp>
            <p:sp>
              <p:nvSpPr>
                <p:cNvPr id="6" name="Text 64">
                  <a:extLst>
                    <a:ext uri="{FF2B5EF4-FFF2-40B4-BE49-F238E27FC236}">
                      <a16:creationId xmlns:a16="http://schemas.microsoft.com/office/drawing/2014/main" id="{11157D34-071A-6503-11E3-8AB23EB4FA3F}"/>
                    </a:ext>
                  </a:extLst>
                </p:cNvPr>
                <p:cNvSpPr/>
                <p:nvPr/>
              </p:nvSpPr>
              <p:spPr>
                <a:xfrm>
                  <a:off x="1799500" y="4164429"/>
                  <a:ext cx="4764286" cy="1150836"/>
                </a:xfrm>
                <a:prstGeom prst="rect">
                  <a:avLst/>
                </a:prstGeom>
                <a:solidFill>
                  <a:srgbClr val="FFF3C1"/>
                </a:solidFill>
                <a:ln/>
              </p:spPr>
              <p:txBody>
                <a:bodyPr wrap="square" lIns="25400" tIns="25400" rIns="25400" bIns="25400" rtlCol="0" anchor="t">
                  <a:noAutofit/>
                </a:bodyPr>
                <a:lstStyle/>
                <a:p>
                  <a:pPr marL="346075" indent="-61913">
                    <a:defRPr/>
                  </a:pPr>
                  <a:r>
                    <a:rPr lang="en-US" sz="1200" b="1" i="1" dirty="0">
                      <a:solidFill>
                        <a:srgbClr val="14342B"/>
                      </a:solidFill>
                      <a:latin typeface="Georgia" panose="02040502050405020303" pitchFamily="18" charset="0"/>
                      <a:ea typeface="Inter" pitchFamily="34" charset="-122"/>
                    </a:rPr>
                    <a:t>The Horticulture Department FPOs handles </a:t>
                  </a:r>
                  <a:r>
                    <a:rPr kumimoji="0" lang="en-US" sz="1200" b="1" i="1" u="none" strike="noStrike" kern="1200" cap="none" spc="0" normalizeH="0" baseline="0" noProof="0" dirty="0">
                      <a:ln>
                        <a:noFill/>
                      </a:ln>
                      <a:solidFill>
                        <a:srgbClr val="14342B"/>
                      </a:solidFill>
                      <a:effectLst/>
                      <a:uLnTx/>
                      <a:uFillTx/>
                      <a:latin typeface="Georgia" panose="02040502050405020303" pitchFamily="18" charset="0"/>
                      <a:ea typeface="Inter" pitchFamily="34" charset="-122"/>
                    </a:rPr>
                    <a:t>90 MT of annual produce volume with transactions valued at ₹120 lakh (FY 23–24) </a:t>
                  </a:r>
                  <a:r>
                    <a:rPr lang="en-US" sz="1200" b="1" i="1" dirty="0">
                      <a:solidFill>
                        <a:srgbClr val="14342B"/>
                      </a:solidFill>
                      <a:latin typeface="Georgia" panose="02040502050405020303" pitchFamily="18" charset="0"/>
                      <a:ea typeface="Inter" pitchFamily="34" charset="-122"/>
                    </a:rPr>
                    <a:t>for major fruits and vegetables</a:t>
                  </a:r>
                  <a:endParaRPr kumimoji="0" lang="en-US" sz="1200" b="1" i="1" u="none" strike="noStrike" kern="1200" cap="none" spc="0" normalizeH="0" baseline="0" noProof="0" dirty="0">
                    <a:ln>
                      <a:noFill/>
                    </a:ln>
                    <a:solidFill>
                      <a:srgbClr val="14342B"/>
                    </a:solidFill>
                    <a:effectLst/>
                    <a:uLnTx/>
                    <a:uFillTx/>
                    <a:latin typeface="Georgia" panose="02040502050405020303" pitchFamily="18" charset="0"/>
                    <a:ea typeface="Inter" pitchFamily="34" charset="-122"/>
                  </a:endParaRPr>
                </a:p>
              </p:txBody>
            </p:sp>
            <p:sp>
              <p:nvSpPr>
                <p:cNvPr id="8" name="Shape 98">
                  <a:extLst>
                    <a:ext uri="{FF2B5EF4-FFF2-40B4-BE49-F238E27FC236}">
                      <a16:creationId xmlns:a16="http://schemas.microsoft.com/office/drawing/2014/main" id="{D91F3C74-B42C-7541-7D43-B52ECCE0F9C4}"/>
                    </a:ext>
                  </a:extLst>
                </p:cNvPr>
                <p:cNvSpPr/>
                <p:nvPr/>
              </p:nvSpPr>
              <p:spPr>
                <a:xfrm>
                  <a:off x="1799499" y="5429276"/>
                  <a:ext cx="9618977" cy="284205"/>
                </a:xfrm>
                <a:prstGeom prst="roundRect">
                  <a:avLst>
                    <a:gd name="adj" fmla="val 3171"/>
                  </a:avLst>
                </a:prstGeom>
                <a:solidFill>
                  <a:srgbClr val="FFC000"/>
                </a:solidFill>
                <a:ln>
                  <a:noFill/>
                  <a:prstDash val="dash"/>
                </a:ln>
              </p:spPr>
              <p:txBody>
                <a:bodyPr/>
                <a:lstStyle/>
                <a:p>
                  <a:r>
                    <a:rPr lang="en-US" sz="900" i="1" dirty="0">
                      <a:solidFill>
                        <a:srgbClr val="14342B"/>
                      </a:solidFill>
                      <a:latin typeface="Georgia" panose="02040502050405020303" pitchFamily="18" charset="0"/>
                    </a:rPr>
                    <a:t>A total of 9 Self-Help Groups (SHGs) are engaged in natural food production</a:t>
                  </a:r>
                  <a:endParaRPr lang="en-IN" sz="900" i="1" dirty="0">
                    <a:solidFill>
                      <a:srgbClr val="14342B"/>
                    </a:solidFill>
                    <a:latin typeface="Georgia" panose="02040502050405020303" pitchFamily="18" charset="0"/>
                  </a:endParaRPr>
                </a:p>
              </p:txBody>
            </p:sp>
            <p:sp>
              <p:nvSpPr>
                <p:cNvPr id="9" name="Text 64">
                  <a:extLst>
                    <a:ext uri="{FF2B5EF4-FFF2-40B4-BE49-F238E27FC236}">
                      <a16:creationId xmlns:a16="http://schemas.microsoft.com/office/drawing/2014/main" id="{E2B21E4C-9BFF-E9F5-9F99-8930B771E304}"/>
                    </a:ext>
                  </a:extLst>
                </p:cNvPr>
                <p:cNvSpPr/>
                <p:nvPr/>
              </p:nvSpPr>
              <p:spPr>
                <a:xfrm>
                  <a:off x="6654190" y="4164429"/>
                  <a:ext cx="4764286" cy="1150836"/>
                </a:xfrm>
                <a:prstGeom prst="rect">
                  <a:avLst/>
                </a:prstGeom>
                <a:solidFill>
                  <a:srgbClr val="D4EDDA"/>
                </a:solidFill>
                <a:ln/>
              </p:spPr>
              <p:txBody>
                <a:bodyPr wrap="square" lIns="25400" tIns="25400" rIns="25400" bIns="25400" rtlCol="0" anchor="t">
                  <a:noAutofit/>
                </a:bodyPr>
                <a:lstStyle/>
                <a:p>
                  <a:pPr marL="284163"/>
                  <a:r>
                    <a:rPr lang="en-US" sz="1200" b="1" i="1" dirty="0">
                      <a:solidFill>
                        <a:srgbClr val="14342B"/>
                      </a:solidFill>
                      <a:latin typeface="Georgia" panose="02040502050405020303" pitchFamily="18" charset="0"/>
                      <a:ea typeface="Inter" pitchFamily="34" charset="-122"/>
                    </a:rPr>
                    <a:t>The Watershed Development Department FPOs includes 58 FPOs with transactions valued at ₹18 crores (FY 23–24) across key crops such as Banana, Mango, Tomato, Pomegranate including major fruits and vegetables</a:t>
                  </a:r>
                </a:p>
              </p:txBody>
            </p:sp>
            <p:pic>
              <p:nvPicPr>
                <p:cNvPr id="10" name="Picture 9">
                  <a:extLst>
                    <a:ext uri="{FF2B5EF4-FFF2-40B4-BE49-F238E27FC236}">
                      <a16:creationId xmlns:a16="http://schemas.microsoft.com/office/drawing/2014/main" id="{2CA045C3-57AE-DE47-D524-725DF3D9D375}"/>
                    </a:ext>
                  </a:extLst>
                </p:cNvPr>
                <p:cNvPicPr>
                  <a:picLocks noChangeAspect="1"/>
                </p:cNvPicPr>
                <p:nvPr/>
              </p:nvPicPr>
              <p:blipFill>
                <a:blip r:embed="rId2"/>
                <a:stretch>
                  <a:fillRect/>
                </a:stretch>
              </p:blipFill>
              <p:spPr>
                <a:xfrm>
                  <a:off x="1891750" y="4196651"/>
                  <a:ext cx="160437" cy="160437"/>
                </a:xfrm>
                <a:prstGeom prst="rect">
                  <a:avLst/>
                </a:prstGeom>
              </p:spPr>
            </p:pic>
            <p:pic>
              <p:nvPicPr>
                <p:cNvPr id="11" name="Picture 10">
                  <a:extLst>
                    <a:ext uri="{FF2B5EF4-FFF2-40B4-BE49-F238E27FC236}">
                      <a16:creationId xmlns:a16="http://schemas.microsoft.com/office/drawing/2014/main" id="{AB1F9979-1C22-062C-F6DF-CB7CCE1719FD}"/>
                    </a:ext>
                  </a:extLst>
                </p:cNvPr>
                <p:cNvPicPr>
                  <a:picLocks noChangeAspect="1"/>
                </p:cNvPicPr>
                <p:nvPr/>
              </p:nvPicPr>
              <p:blipFill>
                <a:blip r:embed="rId3"/>
                <a:stretch>
                  <a:fillRect/>
                </a:stretch>
              </p:blipFill>
              <p:spPr>
                <a:xfrm>
                  <a:off x="6726069" y="4177660"/>
                  <a:ext cx="228600" cy="228600"/>
                </a:xfrm>
                <a:prstGeom prst="rect">
                  <a:avLst/>
                </a:prstGeom>
              </p:spPr>
            </p:pic>
          </p:grpSp>
        </p:grpSp>
        <p:pic>
          <p:nvPicPr>
            <p:cNvPr id="15" name="Picture 14">
              <a:extLst>
                <a:ext uri="{FF2B5EF4-FFF2-40B4-BE49-F238E27FC236}">
                  <a16:creationId xmlns:a16="http://schemas.microsoft.com/office/drawing/2014/main" id="{A17ACF99-3669-C6BD-0673-99FA407FE811}"/>
                </a:ext>
              </a:extLst>
            </p:cNvPr>
            <p:cNvPicPr>
              <a:picLocks noChangeAspect="1"/>
            </p:cNvPicPr>
            <p:nvPr/>
          </p:nvPicPr>
          <p:blipFill>
            <a:blip r:embed="rId4" cstate="print">
              <a:extLst>
                <a:ext uri="{28A0092B-C50C-407E-A947-70E740481C1C}">
                  <a14:useLocalDpi xmlns:a14="http://schemas.microsoft.com/office/drawing/2010/main" val="0"/>
                </a:ext>
              </a:extLst>
            </a:blip>
            <a:srcRect l="7165" t="4595" r="10510" b="7627"/>
            <a:stretch>
              <a:fillRect/>
            </a:stretch>
          </p:blipFill>
          <p:spPr>
            <a:xfrm>
              <a:off x="628902" y="1457770"/>
              <a:ext cx="1034312" cy="1572352"/>
            </a:xfrm>
            <a:prstGeom prst="rect">
              <a:avLst/>
            </a:prstGeom>
          </p:spPr>
        </p:pic>
        <p:pic>
          <p:nvPicPr>
            <p:cNvPr id="19" name="Picture 18">
              <a:extLst>
                <a:ext uri="{FF2B5EF4-FFF2-40B4-BE49-F238E27FC236}">
                  <a16:creationId xmlns:a16="http://schemas.microsoft.com/office/drawing/2014/main" id="{98319154-175C-ED13-304B-A066AE82655B}"/>
                </a:ext>
              </a:extLst>
            </p:cNvPr>
            <p:cNvPicPr>
              <a:picLocks noChangeAspect="1"/>
            </p:cNvPicPr>
            <p:nvPr/>
          </p:nvPicPr>
          <p:blipFill>
            <a:blip r:embed="rId5" cstate="print">
              <a:extLst>
                <a:ext uri="{28A0092B-C50C-407E-A947-70E740481C1C}">
                  <a14:useLocalDpi xmlns:a14="http://schemas.microsoft.com/office/drawing/2010/main" val="0"/>
                </a:ext>
              </a:extLst>
            </a:blip>
            <a:srcRect l="4303" t="4159" r="4303" b="10001"/>
            <a:stretch>
              <a:fillRect/>
            </a:stretch>
          </p:blipFill>
          <p:spPr>
            <a:xfrm>
              <a:off x="644611" y="3632323"/>
              <a:ext cx="1028683" cy="1548262"/>
            </a:xfrm>
            <a:prstGeom prst="rect">
              <a:avLst/>
            </a:prstGeom>
          </p:spPr>
        </p:pic>
      </p:grpSp>
      <p:sp>
        <p:nvSpPr>
          <p:cNvPr id="4" name="Rectangle 3">
            <a:extLst>
              <a:ext uri="{FF2B5EF4-FFF2-40B4-BE49-F238E27FC236}">
                <a16:creationId xmlns:a16="http://schemas.microsoft.com/office/drawing/2014/main" id="{1FD3AA52-AA36-1278-8925-2ADA32E41A2D}"/>
              </a:ext>
            </a:extLst>
          </p:cNvPr>
          <p:cNvSpPr/>
          <p:nvPr/>
        </p:nvSpPr>
        <p:spPr>
          <a:xfrm>
            <a:off x="685800" y="5538561"/>
            <a:ext cx="5550528" cy="584947"/>
          </a:xfrm>
          <a:prstGeom prst="rect">
            <a:avLst/>
          </a:prstGeom>
          <a:noFill/>
          <a:ln>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i="1" dirty="0">
                <a:solidFill>
                  <a:schemeClr val="tx1"/>
                </a:solidFill>
                <a:latin typeface="Georgia" panose="02040502050405020303" pitchFamily="18" charset="0"/>
              </a:rPr>
              <a:t>Sources: As per the internal data shared by the following departments under Government of Karnataka, as of March 2026:</a:t>
            </a:r>
          </a:p>
          <a:p>
            <a:endParaRPr lang="en-US" sz="300" i="1" dirty="0">
              <a:solidFill>
                <a:schemeClr val="tx1"/>
              </a:solidFill>
              <a:latin typeface="Georgia" panose="02040502050405020303" pitchFamily="18" charset="0"/>
            </a:endParaRPr>
          </a:p>
          <a:p>
            <a:pPr marL="228600" indent="-228600">
              <a:buFont typeface="Arial" panose="020B0604020202020204" pitchFamily="34" charset="0"/>
              <a:buChar char="•"/>
            </a:pPr>
            <a:r>
              <a:rPr lang="en-IN" sz="700" i="1" dirty="0">
                <a:solidFill>
                  <a:schemeClr val="tx1"/>
                </a:solidFill>
                <a:latin typeface="Georgia" panose="02040502050405020303" pitchFamily="18" charset="0"/>
              </a:rPr>
              <a:t>Directorate of horticulture – Horticulture department FPOs</a:t>
            </a:r>
          </a:p>
          <a:p>
            <a:pPr marL="228600" indent="-228600">
              <a:buFont typeface="Arial" panose="020B0604020202020204" pitchFamily="34" charset="0"/>
              <a:buChar char="•"/>
            </a:pPr>
            <a:r>
              <a:rPr lang="en-IN" sz="700" i="1" dirty="0">
                <a:solidFill>
                  <a:schemeClr val="tx1"/>
                </a:solidFill>
                <a:latin typeface="Georgia" panose="02040502050405020303" pitchFamily="18" charset="0"/>
              </a:rPr>
              <a:t>Watershed development department – WDD FPOs</a:t>
            </a:r>
          </a:p>
          <a:p>
            <a:pPr marL="228600" indent="-228600">
              <a:buFont typeface="Arial" panose="020B0604020202020204" pitchFamily="34" charset="0"/>
              <a:buChar char="•"/>
            </a:pPr>
            <a:r>
              <a:rPr lang="en-IN" sz="700" i="1" dirty="0">
                <a:solidFill>
                  <a:schemeClr val="tx1"/>
                </a:solidFill>
                <a:latin typeface="Georgia" panose="02040502050405020303" pitchFamily="18" charset="0"/>
              </a:rPr>
              <a:t>KSRLPS - SHGs</a:t>
            </a:r>
            <a:endParaRPr lang="en-IN" sz="700" dirty="0">
              <a:solidFill>
                <a:schemeClr val="tx1"/>
              </a:solidFill>
              <a:latin typeface="Georgia" panose="02040502050405020303" pitchFamily="18" charset="0"/>
            </a:endParaRPr>
          </a:p>
        </p:txBody>
      </p:sp>
      <p:pic>
        <p:nvPicPr>
          <p:cNvPr id="25" name="Picture 24">
            <a:extLst>
              <a:ext uri="{FF2B5EF4-FFF2-40B4-BE49-F238E27FC236}">
                <a16:creationId xmlns:a16="http://schemas.microsoft.com/office/drawing/2014/main" id="{9143864F-EFE5-9214-FA69-D1954C8F89EF}"/>
              </a:ext>
            </a:extLst>
          </p:cNvPr>
          <p:cNvPicPr>
            <a:picLocks noChangeAspect="1"/>
          </p:cNvPicPr>
          <p:nvPr/>
        </p:nvPicPr>
        <p:blipFill>
          <a:blip r:embed="rId6"/>
          <a:stretch>
            <a:fillRect/>
          </a:stretch>
        </p:blipFill>
        <p:spPr>
          <a:xfrm>
            <a:off x="45104" y="6127393"/>
            <a:ext cx="12192000" cy="682625"/>
          </a:xfrm>
          <a:prstGeom prst="rect">
            <a:avLst/>
          </a:prstGeom>
        </p:spPr>
      </p:pic>
    </p:spTree>
    <p:extLst>
      <p:ext uri="{BB962C8B-B14F-4D97-AF65-F5344CB8AC3E}">
        <p14:creationId xmlns:p14="http://schemas.microsoft.com/office/powerpoint/2010/main" val="3638549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DD02-2A9F-96D4-7F5C-D229905BCAE8}"/>
            </a:ext>
          </a:extLst>
        </p:cNvPr>
        <p:cNvGrpSpPr/>
        <p:nvPr/>
      </p:nvGrpSpPr>
      <p:grpSpPr>
        <a:xfrm>
          <a:off x="0" y="0"/>
          <a:ext cx="0" cy="0"/>
          <a:chOff x="0" y="0"/>
          <a:chExt cx="0" cy="0"/>
        </a:xfrm>
      </p:grpSpPr>
      <p:sp>
        <p:nvSpPr>
          <p:cNvPr id="7" name="Title 21">
            <a:extLst>
              <a:ext uri="{FF2B5EF4-FFF2-40B4-BE49-F238E27FC236}">
                <a16:creationId xmlns:a16="http://schemas.microsoft.com/office/drawing/2014/main" id="{FF5D7FB9-6BAF-D94C-B695-0DFA1F706787}"/>
              </a:ext>
            </a:extLst>
          </p:cNvPr>
          <p:cNvSpPr txBox="1">
            <a:spLocks/>
          </p:cNvSpPr>
          <p:nvPr/>
        </p:nvSpPr>
        <p:spPr>
          <a:xfrm>
            <a:off x="404992" y="284247"/>
            <a:ext cx="11353800" cy="486159"/>
          </a:xfrm>
          <a:prstGeom prst="rect">
            <a:avLst/>
          </a:prstGeom>
        </p:spPr>
        <p:txBody>
          <a:bodyPr/>
          <a:lstStyle>
            <a:lvl1pPr>
              <a:defRPr>
                <a:latin typeface="+mj-lt"/>
                <a:ea typeface="+mj-ea"/>
                <a:cs typeface="+mj-cs"/>
              </a:defRPr>
            </a:lvl1pPr>
          </a:lstStyle>
          <a:p>
            <a:pPr>
              <a:lnSpc>
                <a:spcPct val="150000"/>
              </a:lnSpc>
              <a:spcAft>
                <a:spcPts val="800"/>
              </a:spcAft>
            </a:pPr>
            <a:r>
              <a:rPr lang="en-IN" sz="2200" b="1" dirty="0">
                <a:solidFill>
                  <a:schemeClr val="bg1"/>
                </a:solidFill>
                <a:latin typeface="Georgia" panose="02040502050405020303" pitchFamily="18" charset="0"/>
              </a:rPr>
              <a:t>Challenge category 4: </a:t>
            </a:r>
            <a:r>
              <a:rPr lang="en-IN" sz="2200" b="1" dirty="0">
                <a:solidFill>
                  <a:schemeClr val="bg1"/>
                </a:solidFill>
                <a:latin typeface="Georgia" panose="02040502050405020303" pitchFamily="18" charset="0"/>
                <a:ea typeface="Arial" panose="020B0604020202020204" pitchFamily="34" charset="0"/>
              </a:rPr>
              <a:t>Community-led aggregation and enterprise innovations</a:t>
            </a:r>
            <a:endParaRPr lang="en-US" sz="2200" b="1" dirty="0">
              <a:solidFill>
                <a:schemeClr val="bg1"/>
              </a:solidFill>
              <a:latin typeface="Georgia" panose="02040502050405020303" pitchFamily="18" charset="0"/>
            </a:endParaRPr>
          </a:p>
        </p:txBody>
      </p:sp>
      <p:sp>
        <p:nvSpPr>
          <p:cNvPr id="5" name="Slide Number Placeholder 2">
            <a:extLst>
              <a:ext uri="{FF2B5EF4-FFF2-40B4-BE49-F238E27FC236}">
                <a16:creationId xmlns:a16="http://schemas.microsoft.com/office/drawing/2014/main" id="{5674DB07-BF38-04A9-958D-BF6BAEE830F9}"/>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21</a:t>
            </a:fld>
            <a:endParaRPr dirty="0">
              <a:latin typeface="Georgia" panose="02040502050405020303" pitchFamily="18" charset="0"/>
            </a:endParaRPr>
          </a:p>
        </p:txBody>
      </p:sp>
      <p:grpSp>
        <p:nvGrpSpPr>
          <p:cNvPr id="63" name="Group 62">
            <a:extLst>
              <a:ext uri="{FF2B5EF4-FFF2-40B4-BE49-F238E27FC236}">
                <a16:creationId xmlns:a16="http://schemas.microsoft.com/office/drawing/2014/main" id="{BF19B088-F2A5-BB08-3888-AE70CEF60522}"/>
              </a:ext>
            </a:extLst>
          </p:cNvPr>
          <p:cNvGrpSpPr/>
          <p:nvPr/>
        </p:nvGrpSpPr>
        <p:grpSpPr>
          <a:xfrm>
            <a:off x="624796" y="1038773"/>
            <a:ext cx="10815084" cy="2135717"/>
            <a:chOff x="573114" y="1636654"/>
            <a:chExt cx="10988080" cy="2051493"/>
          </a:xfrm>
        </p:grpSpPr>
        <p:grpSp>
          <p:nvGrpSpPr>
            <p:cNvPr id="14" name="Group 13">
              <a:extLst>
                <a:ext uri="{FF2B5EF4-FFF2-40B4-BE49-F238E27FC236}">
                  <a16:creationId xmlns:a16="http://schemas.microsoft.com/office/drawing/2014/main" id="{7F7DCCAB-FE47-227C-9983-72D61444F5EC}"/>
                </a:ext>
              </a:extLst>
            </p:cNvPr>
            <p:cNvGrpSpPr/>
            <p:nvPr/>
          </p:nvGrpSpPr>
          <p:grpSpPr>
            <a:xfrm>
              <a:off x="573114" y="1636654"/>
              <a:ext cx="10988080" cy="2051493"/>
              <a:chOff x="559981" y="1714106"/>
              <a:chExt cx="5078819" cy="4448127"/>
            </a:xfrm>
          </p:grpSpPr>
          <p:sp>
            <p:nvSpPr>
              <p:cNvPr id="16" name="Shape 7">
                <a:extLst>
                  <a:ext uri="{FF2B5EF4-FFF2-40B4-BE49-F238E27FC236}">
                    <a16:creationId xmlns:a16="http://schemas.microsoft.com/office/drawing/2014/main" id="{D12FC32B-9EE5-9484-1B2D-EC73D33561FD}"/>
                  </a:ext>
                </a:extLst>
              </p:cNvPr>
              <p:cNvSpPr/>
              <p:nvPr/>
            </p:nvSpPr>
            <p:spPr>
              <a:xfrm>
                <a:off x="559981" y="1714106"/>
                <a:ext cx="5074581" cy="4448127"/>
              </a:xfrm>
              <a:prstGeom prst="roundRect">
                <a:avLst>
                  <a:gd name="adj" fmla="val 2506"/>
                </a:avLst>
              </a:prstGeom>
              <a:solidFill>
                <a:srgbClr val="FFFFFF"/>
              </a:solidFill>
              <a:ln/>
            </p:spPr>
            <p:txBody>
              <a:bodyPr/>
              <a:lstStyle/>
              <a:p>
                <a:endParaRPr lang="en-IN" sz="1200" dirty="0">
                  <a:latin typeface="Georgia" panose="02040502050405020303" pitchFamily="18" charset="0"/>
                </a:endParaRPr>
              </a:p>
            </p:txBody>
          </p:sp>
          <p:sp>
            <p:nvSpPr>
              <p:cNvPr id="17" name="Shape 9">
                <a:extLst>
                  <a:ext uri="{FF2B5EF4-FFF2-40B4-BE49-F238E27FC236}">
                    <a16:creationId xmlns:a16="http://schemas.microsoft.com/office/drawing/2014/main" id="{BC7FA523-87A4-D231-368B-C434B007D4C0}"/>
                  </a:ext>
                </a:extLst>
              </p:cNvPr>
              <p:cNvSpPr/>
              <p:nvPr/>
            </p:nvSpPr>
            <p:spPr>
              <a:xfrm>
                <a:off x="559981" y="1714110"/>
                <a:ext cx="5074581" cy="52800"/>
              </a:xfrm>
              <a:prstGeom prst="rect">
                <a:avLst/>
              </a:prstGeom>
              <a:solidFill>
                <a:srgbClr val="0B6E78"/>
              </a:solidFill>
              <a:ln/>
            </p:spPr>
            <p:txBody>
              <a:bodyPr/>
              <a:lstStyle/>
              <a:p>
                <a:endParaRPr lang="en-IN" sz="1200">
                  <a:latin typeface="Georgia" panose="02040502050405020303" pitchFamily="18" charset="0"/>
                </a:endParaRPr>
              </a:p>
            </p:txBody>
          </p:sp>
          <p:grpSp>
            <p:nvGrpSpPr>
              <p:cNvPr id="18" name="Group 17">
                <a:extLst>
                  <a:ext uri="{FF2B5EF4-FFF2-40B4-BE49-F238E27FC236}">
                    <a16:creationId xmlns:a16="http://schemas.microsoft.com/office/drawing/2014/main" id="{317EFB95-0F83-6E7D-EDB5-A6896488FA4F}"/>
                  </a:ext>
                </a:extLst>
              </p:cNvPr>
              <p:cNvGrpSpPr/>
              <p:nvPr/>
            </p:nvGrpSpPr>
            <p:grpSpPr>
              <a:xfrm>
                <a:off x="559981" y="1714110"/>
                <a:ext cx="5078819" cy="4381890"/>
                <a:chOff x="541169" y="980546"/>
                <a:chExt cx="2639326" cy="3389658"/>
              </a:xfrm>
            </p:grpSpPr>
            <p:sp>
              <p:nvSpPr>
                <p:cNvPr id="20" name="Shape 8">
                  <a:extLst>
                    <a:ext uri="{FF2B5EF4-FFF2-40B4-BE49-F238E27FC236}">
                      <a16:creationId xmlns:a16="http://schemas.microsoft.com/office/drawing/2014/main" id="{27F925F4-2190-7181-EF13-6C96CA1338D9}"/>
                    </a:ext>
                  </a:extLst>
                </p:cNvPr>
                <p:cNvSpPr/>
                <p:nvPr/>
              </p:nvSpPr>
              <p:spPr>
                <a:xfrm>
                  <a:off x="541169" y="4356380"/>
                  <a:ext cx="2637124" cy="13824"/>
                </a:xfrm>
                <a:prstGeom prst="rect">
                  <a:avLst/>
                </a:prstGeom>
                <a:solidFill>
                  <a:srgbClr val="D9D3C3"/>
                </a:solidFill>
                <a:ln/>
              </p:spPr>
              <p:txBody>
                <a:bodyPr/>
                <a:lstStyle/>
                <a:p>
                  <a:endParaRPr lang="en-IN" sz="1200">
                    <a:latin typeface="Georgia" panose="02040502050405020303" pitchFamily="18" charset="0"/>
                  </a:endParaRPr>
                </a:p>
              </p:txBody>
            </p:sp>
            <p:sp>
              <p:nvSpPr>
                <p:cNvPr id="21" name="Shape 10">
                  <a:extLst>
                    <a:ext uri="{FF2B5EF4-FFF2-40B4-BE49-F238E27FC236}">
                      <a16:creationId xmlns:a16="http://schemas.microsoft.com/office/drawing/2014/main" id="{EDB62C0B-FBD7-5A9C-862F-C3CE7C440EBB}"/>
                    </a:ext>
                  </a:extLst>
                </p:cNvPr>
                <p:cNvSpPr/>
                <p:nvPr/>
              </p:nvSpPr>
              <p:spPr>
                <a:xfrm>
                  <a:off x="541169" y="980546"/>
                  <a:ext cx="11014" cy="3386894"/>
                </a:xfrm>
                <a:prstGeom prst="rect">
                  <a:avLst/>
                </a:prstGeom>
                <a:solidFill>
                  <a:srgbClr val="D9D3C3"/>
                </a:solidFill>
                <a:ln/>
              </p:spPr>
              <p:txBody>
                <a:bodyPr/>
                <a:lstStyle/>
                <a:p>
                  <a:endParaRPr lang="en-IN" sz="1200">
                    <a:latin typeface="Georgia" panose="02040502050405020303" pitchFamily="18" charset="0"/>
                  </a:endParaRPr>
                </a:p>
              </p:txBody>
            </p:sp>
            <p:sp>
              <p:nvSpPr>
                <p:cNvPr id="22" name="Shape 11">
                  <a:extLst>
                    <a:ext uri="{FF2B5EF4-FFF2-40B4-BE49-F238E27FC236}">
                      <a16:creationId xmlns:a16="http://schemas.microsoft.com/office/drawing/2014/main" id="{3862D0F1-FEEF-6A7C-0CDD-03315E8B4851}"/>
                    </a:ext>
                  </a:extLst>
                </p:cNvPr>
                <p:cNvSpPr/>
                <p:nvPr/>
              </p:nvSpPr>
              <p:spPr>
                <a:xfrm>
                  <a:off x="3169481" y="980546"/>
                  <a:ext cx="11014" cy="3386894"/>
                </a:xfrm>
                <a:prstGeom prst="rect">
                  <a:avLst/>
                </a:prstGeom>
                <a:solidFill>
                  <a:srgbClr val="D9D3C3"/>
                </a:solidFill>
                <a:ln/>
              </p:spPr>
              <p:txBody>
                <a:bodyPr/>
                <a:lstStyle/>
                <a:p>
                  <a:endParaRPr lang="en-IN" sz="1200">
                    <a:latin typeface="Georgia" panose="02040502050405020303" pitchFamily="18" charset="0"/>
                  </a:endParaRPr>
                </a:p>
              </p:txBody>
            </p:sp>
          </p:grpSp>
        </p:grpSp>
        <p:sp>
          <p:nvSpPr>
            <p:cNvPr id="23" name="Text 64">
              <a:extLst>
                <a:ext uri="{FF2B5EF4-FFF2-40B4-BE49-F238E27FC236}">
                  <a16:creationId xmlns:a16="http://schemas.microsoft.com/office/drawing/2014/main" id="{7FC53574-5050-75EB-61F2-CA8124B9ED04}"/>
                </a:ext>
              </a:extLst>
            </p:cNvPr>
            <p:cNvSpPr/>
            <p:nvPr/>
          </p:nvSpPr>
          <p:spPr>
            <a:xfrm>
              <a:off x="1799500" y="2001825"/>
              <a:ext cx="4764286" cy="1181782"/>
            </a:xfrm>
            <a:prstGeom prst="rect">
              <a:avLst/>
            </a:prstGeom>
            <a:solidFill>
              <a:srgbClr val="FFF3C1"/>
            </a:solidFill>
            <a:ln/>
          </p:spPr>
          <p:txBody>
            <a:bodyPr wrap="square" lIns="25400" tIns="25400" rIns="25400" bIns="25400" rtlCol="0" anchor="t">
              <a:noAutofit/>
            </a:bodyPr>
            <a:lstStyle/>
            <a:p>
              <a:pPr marL="346075" indent="-61913">
                <a:defRPr/>
              </a:pPr>
              <a:r>
                <a:rPr lang="en-US" sz="1200" b="1" i="1" dirty="0">
                  <a:solidFill>
                    <a:srgbClr val="14342B"/>
                  </a:solidFill>
                  <a:latin typeface="Georgia" panose="02040502050405020303" pitchFamily="18" charset="0"/>
                  <a:ea typeface="Inter" pitchFamily="34" charset="-122"/>
                </a:rPr>
                <a:t>The Horticulture Department FPOs handles…</a:t>
              </a:r>
            </a:p>
            <a:p>
              <a:pPr marL="346075" indent="-61913">
                <a:defRPr/>
              </a:pPr>
              <a:endParaRPr lang="en-US" sz="400" b="1" i="1" dirty="0">
                <a:solidFill>
                  <a:srgbClr val="14342B"/>
                </a:solidFill>
                <a:latin typeface="Georgia" panose="02040502050405020303" pitchFamily="18" charset="0"/>
                <a:ea typeface="Inter" pitchFamily="34" charset="-122"/>
              </a:endParaRPr>
            </a:p>
            <a:p>
              <a:pPr marL="568325" indent="-168275">
                <a:buFont typeface="Wingdings" panose="05000000000000000000" pitchFamily="2" charset="2"/>
                <a:buChar char="q"/>
                <a:defRPr/>
              </a:pPr>
              <a:r>
                <a:rPr kumimoji="0" lang="en-US" sz="1000" b="1" u="none" strike="noStrike" kern="1200" cap="none" spc="0" normalizeH="0" baseline="0" noProof="0" dirty="0">
                  <a:ln>
                    <a:noFill/>
                  </a:ln>
                  <a:effectLst/>
                  <a:uLnTx/>
                  <a:uFillTx/>
                  <a:latin typeface="Georgia" panose="02040502050405020303" pitchFamily="18" charset="0"/>
                  <a:ea typeface="Inter" pitchFamily="34" charset="-122"/>
                </a:rPr>
                <a:t>667 MT </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of annual produce volume</a:t>
              </a:r>
              <a:r>
                <a:rPr lang="en-US" sz="1000" dirty="0">
                  <a:latin typeface="Georgia" panose="02040502050405020303" pitchFamily="18" charset="0"/>
                  <a:ea typeface="Inter" pitchFamily="34" charset="-122"/>
                </a:rPr>
                <a:t> with transactions </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valued at </a:t>
              </a:r>
              <a:r>
                <a:rPr kumimoji="0" lang="en-US" sz="1000" b="1" u="none" strike="noStrike" kern="1200" cap="none" spc="0" normalizeH="0" baseline="0" noProof="0" dirty="0">
                  <a:ln>
                    <a:noFill/>
                  </a:ln>
                  <a:effectLst/>
                  <a:uLnTx/>
                  <a:uFillTx/>
                  <a:latin typeface="Georgia" panose="02040502050405020303" pitchFamily="18" charset="0"/>
                  <a:ea typeface="Inter" pitchFamily="34" charset="-122"/>
                </a:rPr>
                <a:t>₹148 lakh</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 (FY 23–24) across key crops such as </a:t>
              </a:r>
              <a:r>
                <a:rPr lang="en-US" sz="1000" dirty="0">
                  <a:latin typeface="Georgia" panose="02040502050405020303" pitchFamily="18" charset="0"/>
                  <a:ea typeface="Inter" pitchFamily="34" charset="-122"/>
                </a:rPr>
                <a:t>Onion, Mango, </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Pomegranate</a:t>
              </a:r>
              <a:endParaRPr lang="en-US" sz="1000" dirty="0">
                <a:latin typeface="Georgia" panose="02040502050405020303" pitchFamily="18" charset="0"/>
                <a:ea typeface="Inter" pitchFamily="34" charset="-122"/>
              </a:endParaRPr>
            </a:p>
            <a:p>
              <a:pPr marL="568325" indent="-168275">
                <a:buFont typeface="Wingdings" panose="05000000000000000000" pitchFamily="2" charset="2"/>
                <a:buChar char="q"/>
                <a:defRPr/>
              </a:pPr>
              <a:r>
                <a:rPr kumimoji="0" lang="en-US" sz="1000" b="1" u="none" strike="noStrike" kern="1200" cap="none" spc="0" normalizeH="0" baseline="0" noProof="0" dirty="0">
                  <a:ln>
                    <a:noFill/>
                  </a:ln>
                  <a:effectLst/>
                  <a:uLnTx/>
                  <a:uFillTx/>
                  <a:latin typeface="Georgia" panose="02040502050405020303" pitchFamily="18" charset="0"/>
                  <a:ea typeface="Inter" pitchFamily="34" charset="-122"/>
                </a:rPr>
                <a:t>698 MT </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of annual produce volume</a:t>
              </a:r>
              <a:r>
                <a:rPr lang="en-US" sz="1000" dirty="0">
                  <a:latin typeface="Georgia" panose="02040502050405020303" pitchFamily="18" charset="0"/>
                  <a:ea typeface="Inter" pitchFamily="34" charset="-122"/>
                </a:rPr>
                <a:t> with transactions valued </a:t>
              </a:r>
              <a:r>
                <a:rPr kumimoji="0" lang="en-US" sz="1000" u="none" strike="noStrike" kern="1200" cap="none" spc="0" normalizeH="0" baseline="0" noProof="0" dirty="0">
                  <a:ln>
                    <a:noFill/>
                  </a:ln>
                  <a:effectLst/>
                  <a:uLnTx/>
                  <a:uFillTx/>
                  <a:latin typeface="Georgia" panose="02040502050405020303" pitchFamily="18" charset="0"/>
                  <a:ea typeface="Inter" pitchFamily="34" charset="-122"/>
                </a:rPr>
                <a:t>at </a:t>
              </a:r>
              <a:r>
                <a:rPr lang="en-US" sz="1000" b="1" dirty="0">
                  <a:latin typeface="Georgia" panose="02040502050405020303" pitchFamily="18" charset="0"/>
                  <a:ea typeface="Inter" pitchFamily="34" charset="-122"/>
                </a:rPr>
                <a:t>₹157 lakh </a:t>
              </a:r>
              <a:r>
                <a:rPr lang="en-US" sz="1000" dirty="0">
                  <a:latin typeface="Georgia" panose="02040502050405020303" pitchFamily="18" charset="0"/>
                  <a:ea typeface="Inter" pitchFamily="34" charset="-122"/>
                </a:rPr>
                <a:t>(FY 23-24) for major fruits and vegetables</a:t>
              </a:r>
              <a:endParaRPr kumimoji="0" lang="en-US" sz="1000" u="none" strike="noStrike" kern="1200" cap="none" spc="0" normalizeH="0" baseline="0" noProof="0" dirty="0">
                <a:ln>
                  <a:noFill/>
                </a:ln>
                <a:effectLst/>
                <a:uLnTx/>
                <a:uFillTx/>
                <a:latin typeface="Georgia" panose="02040502050405020303" pitchFamily="18" charset="0"/>
                <a:ea typeface="Inter" pitchFamily="34" charset="-122"/>
              </a:endParaRPr>
            </a:p>
            <a:p>
              <a:pPr>
                <a:defRPr/>
              </a:pPr>
              <a:endParaRPr kumimoji="0" lang="en-US" sz="1000" u="none" strike="noStrike" kern="1200" cap="none" spc="0" normalizeH="0" baseline="0" noProof="0" dirty="0">
                <a:ln>
                  <a:noFill/>
                </a:ln>
                <a:effectLst/>
                <a:uLnTx/>
                <a:uFillTx/>
                <a:latin typeface="Georgia" panose="02040502050405020303" pitchFamily="18" charset="0"/>
                <a:ea typeface="Inter" pitchFamily="34" charset="-122"/>
              </a:endParaRPr>
            </a:p>
          </p:txBody>
        </p:sp>
        <p:sp>
          <p:nvSpPr>
            <p:cNvPr id="24" name="Text 12">
              <a:extLst>
                <a:ext uri="{FF2B5EF4-FFF2-40B4-BE49-F238E27FC236}">
                  <a16:creationId xmlns:a16="http://schemas.microsoft.com/office/drawing/2014/main" id="{E6442C57-1786-6B3F-0378-B11E8ECF769C}"/>
                </a:ext>
              </a:extLst>
            </p:cNvPr>
            <p:cNvSpPr/>
            <p:nvPr/>
          </p:nvSpPr>
          <p:spPr>
            <a:xfrm>
              <a:off x="1767181" y="1707893"/>
              <a:ext cx="6233818" cy="343194"/>
            </a:xfrm>
            <a:prstGeom prst="rect">
              <a:avLst/>
            </a:prstGeom>
            <a:noFill/>
            <a:ln/>
          </p:spPr>
          <p:txBody>
            <a:bodyPr wrap="square" lIns="16933" tIns="16933" rIns="16933" bIns="16933" rtlCol="0" anchor="t">
              <a:noAutofit/>
            </a:bodyPr>
            <a:lstStyle/>
            <a:p>
              <a:r>
                <a:rPr lang="en-US" sz="1400" b="1" dirty="0">
                  <a:solidFill>
                    <a:srgbClr val="14342B"/>
                  </a:solidFill>
                  <a:latin typeface="Georgia" panose="02040502050405020303" pitchFamily="18" charset="0"/>
                </a:rPr>
                <a:t>East Karnataka </a:t>
              </a:r>
              <a:r>
                <a:rPr lang="en-US" sz="1400" b="1" dirty="0">
                  <a:solidFill>
                    <a:srgbClr val="9C3237"/>
                  </a:solidFill>
                  <a:latin typeface="Georgia" panose="02040502050405020303" pitchFamily="18" charset="0"/>
                </a:rPr>
                <a:t>Tomato-Mango</a:t>
              </a:r>
              <a:r>
                <a:rPr lang="en-US" sz="1400" b="1" dirty="0">
                  <a:solidFill>
                    <a:srgbClr val="14342B"/>
                  </a:solidFill>
                  <a:latin typeface="Georgia" panose="02040502050405020303" pitchFamily="18" charset="0"/>
                </a:rPr>
                <a:t> cluster</a:t>
              </a:r>
              <a:endParaRPr lang="en-US" sz="1400" b="1" dirty="0">
                <a:latin typeface="Georgia" panose="02040502050405020303" pitchFamily="18" charset="0"/>
              </a:endParaRPr>
            </a:p>
          </p:txBody>
        </p:sp>
        <p:sp>
          <p:nvSpPr>
            <p:cNvPr id="28" name="Shape 98">
              <a:extLst>
                <a:ext uri="{FF2B5EF4-FFF2-40B4-BE49-F238E27FC236}">
                  <a16:creationId xmlns:a16="http://schemas.microsoft.com/office/drawing/2014/main" id="{CDDB7F61-A22E-0339-B4D7-2FC81A6CEF0C}"/>
                </a:ext>
              </a:extLst>
            </p:cNvPr>
            <p:cNvSpPr/>
            <p:nvPr/>
          </p:nvSpPr>
          <p:spPr>
            <a:xfrm>
              <a:off x="1799499" y="3266672"/>
              <a:ext cx="9618977" cy="284205"/>
            </a:xfrm>
            <a:prstGeom prst="roundRect">
              <a:avLst>
                <a:gd name="adj" fmla="val 3171"/>
              </a:avLst>
            </a:prstGeom>
            <a:solidFill>
              <a:srgbClr val="FFC000"/>
            </a:solidFill>
            <a:ln>
              <a:noFill/>
              <a:prstDash val="dash"/>
            </a:ln>
          </p:spPr>
          <p:txBody>
            <a:bodyPr/>
            <a:lstStyle/>
            <a:p>
              <a:r>
                <a:rPr lang="en-US" sz="900" i="1" dirty="0">
                  <a:solidFill>
                    <a:srgbClr val="14342B"/>
                  </a:solidFill>
                  <a:latin typeface="Georgia" panose="02040502050405020303" pitchFamily="18" charset="0"/>
                </a:rPr>
                <a:t>A total of 12 Self-Help Groups (SHGs) are engaged in natural food production</a:t>
              </a:r>
              <a:endParaRPr lang="en-IN" sz="900" i="1" dirty="0">
                <a:solidFill>
                  <a:srgbClr val="14342B"/>
                </a:solidFill>
                <a:latin typeface="Georgia" panose="02040502050405020303" pitchFamily="18" charset="0"/>
              </a:endParaRPr>
            </a:p>
          </p:txBody>
        </p:sp>
        <p:sp>
          <p:nvSpPr>
            <p:cNvPr id="29" name="Text 64">
              <a:extLst>
                <a:ext uri="{FF2B5EF4-FFF2-40B4-BE49-F238E27FC236}">
                  <a16:creationId xmlns:a16="http://schemas.microsoft.com/office/drawing/2014/main" id="{E5B23FE4-460B-FC2A-3274-3B09C76AFA1A}"/>
                </a:ext>
              </a:extLst>
            </p:cNvPr>
            <p:cNvSpPr/>
            <p:nvPr/>
          </p:nvSpPr>
          <p:spPr>
            <a:xfrm>
              <a:off x="6654190" y="2001825"/>
              <a:ext cx="4764286" cy="1179280"/>
            </a:xfrm>
            <a:prstGeom prst="rect">
              <a:avLst/>
            </a:prstGeom>
            <a:solidFill>
              <a:srgbClr val="D4EDDA"/>
            </a:solidFill>
            <a:ln/>
          </p:spPr>
          <p:txBody>
            <a:bodyPr wrap="square" lIns="25400" tIns="25400" rIns="25400" bIns="25400" rtlCol="0" anchor="t">
              <a:noAutofit/>
            </a:bodyPr>
            <a:lstStyle/>
            <a:p>
              <a:pPr marL="284163"/>
              <a:r>
                <a:rPr lang="en-US" sz="1200" b="1" i="1" dirty="0">
                  <a:solidFill>
                    <a:srgbClr val="14342B"/>
                  </a:solidFill>
                  <a:latin typeface="Georgia" panose="02040502050405020303" pitchFamily="18" charset="0"/>
                  <a:ea typeface="Inter" pitchFamily="34" charset="-122"/>
                </a:rPr>
                <a:t>The Watershed Development Department FPOs includes…</a:t>
              </a:r>
            </a:p>
            <a:p>
              <a:pPr marL="284163"/>
              <a:endParaRPr lang="en-US" sz="400" b="1" i="1" dirty="0">
                <a:solidFill>
                  <a:srgbClr val="14342B"/>
                </a:solidFill>
                <a:latin typeface="Georgia" panose="02040502050405020303" pitchFamily="18" charset="0"/>
                <a:ea typeface="Inter" pitchFamily="34" charset="-122"/>
              </a:endParaRPr>
            </a:p>
            <a:p>
              <a:pPr marL="569913" indent="-169863">
                <a:buFont typeface="Wingdings" panose="05000000000000000000" pitchFamily="2" charset="2"/>
                <a:buChar char="q"/>
              </a:pPr>
              <a:r>
                <a:rPr lang="en-US" sz="1000" b="1" dirty="0">
                  <a:latin typeface="Georgia" panose="02040502050405020303" pitchFamily="18" charset="0"/>
                  <a:ea typeface="Inter" pitchFamily="34" charset="-122"/>
                </a:rPr>
                <a:t>22</a:t>
              </a:r>
              <a:r>
                <a:rPr lang="en-US" sz="1000" dirty="0">
                  <a:latin typeface="Georgia" panose="02040502050405020303" pitchFamily="18" charset="0"/>
                  <a:ea typeface="Inter" pitchFamily="34" charset="-122"/>
                </a:rPr>
                <a:t> FPOs with transactions valued at </a:t>
              </a:r>
              <a:r>
                <a:rPr lang="en-US" sz="1000" b="1" dirty="0">
                  <a:latin typeface="Georgia" panose="02040502050405020303" pitchFamily="18" charset="0"/>
                  <a:ea typeface="Inter" pitchFamily="34" charset="-122"/>
                </a:rPr>
                <a:t>₹9 crores </a:t>
              </a:r>
              <a:r>
                <a:rPr lang="en-US" sz="1000" dirty="0">
                  <a:latin typeface="Georgia" panose="02040502050405020303" pitchFamily="18" charset="0"/>
                  <a:ea typeface="Inter" pitchFamily="34" charset="-122"/>
                </a:rPr>
                <a:t>(FY 23–24) across key crops such as Grapes, Mango, Tomato, Pomegranate</a:t>
              </a:r>
            </a:p>
            <a:p>
              <a:pPr marL="569913" indent="-171450">
                <a:buFont typeface="Wingdings" panose="05000000000000000000" pitchFamily="2" charset="2"/>
                <a:buChar char="q"/>
              </a:pPr>
              <a:r>
                <a:rPr lang="en-US" sz="1000" b="1" dirty="0">
                  <a:latin typeface="Georgia" panose="02040502050405020303" pitchFamily="18" charset="0"/>
                  <a:ea typeface="Inter" pitchFamily="34" charset="-122"/>
                </a:rPr>
                <a:t>40</a:t>
              </a:r>
              <a:r>
                <a:rPr lang="en-US" sz="1000" dirty="0">
                  <a:latin typeface="Georgia" panose="02040502050405020303" pitchFamily="18" charset="0"/>
                  <a:ea typeface="Inter" pitchFamily="34" charset="-122"/>
                </a:rPr>
                <a:t> FPOs with transactions valued at </a:t>
              </a:r>
              <a:r>
                <a:rPr lang="en-US" sz="1000" b="1" dirty="0">
                  <a:latin typeface="Georgia" panose="02040502050405020303" pitchFamily="18" charset="0"/>
                  <a:ea typeface="Inter" pitchFamily="34" charset="-122"/>
                </a:rPr>
                <a:t>₹13 crores </a:t>
              </a:r>
              <a:r>
                <a:rPr lang="en-US" sz="1000" dirty="0">
                  <a:latin typeface="Georgia" panose="02040502050405020303" pitchFamily="18" charset="0"/>
                  <a:ea typeface="Inter" pitchFamily="34" charset="-122"/>
                </a:rPr>
                <a:t>(FY 23-24) for major fruits and vegetables grown like Tomato, Grapes, Cabbage, Mango, Chilli</a:t>
              </a:r>
            </a:p>
          </p:txBody>
        </p:sp>
        <p:pic>
          <p:nvPicPr>
            <p:cNvPr id="30" name="Picture 29">
              <a:extLst>
                <a:ext uri="{FF2B5EF4-FFF2-40B4-BE49-F238E27FC236}">
                  <a16:creationId xmlns:a16="http://schemas.microsoft.com/office/drawing/2014/main" id="{6FF9E5A9-ECDA-6A8C-E5B3-341899EE04D2}"/>
                </a:ext>
              </a:extLst>
            </p:cNvPr>
            <p:cNvPicPr>
              <a:picLocks noChangeAspect="1"/>
            </p:cNvPicPr>
            <p:nvPr/>
          </p:nvPicPr>
          <p:blipFill>
            <a:blip r:embed="rId2"/>
            <a:stretch>
              <a:fillRect/>
            </a:stretch>
          </p:blipFill>
          <p:spPr>
            <a:xfrm>
              <a:off x="1891750" y="2034047"/>
              <a:ext cx="160437" cy="160437"/>
            </a:xfrm>
            <a:prstGeom prst="rect">
              <a:avLst/>
            </a:prstGeom>
          </p:spPr>
        </p:pic>
        <p:pic>
          <p:nvPicPr>
            <p:cNvPr id="54" name="Picture 53">
              <a:extLst>
                <a:ext uri="{FF2B5EF4-FFF2-40B4-BE49-F238E27FC236}">
                  <a16:creationId xmlns:a16="http://schemas.microsoft.com/office/drawing/2014/main" id="{0A658455-BCA2-6C0C-44DD-BEDCCF473281}"/>
                </a:ext>
              </a:extLst>
            </p:cNvPr>
            <p:cNvPicPr>
              <a:picLocks noChangeAspect="1"/>
            </p:cNvPicPr>
            <p:nvPr/>
          </p:nvPicPr>
          <p:blipFill>
            <a:blip r:embed="rId3"/>
            <a:stretch>
              <a:fillRect/>
            </a:stretch>
          </p:blipFill>
          <p:spPr>
            <a:xfrm>
              <a:off x="6726069" y="2015056"/>
              <a:ext cx="228600" cy="228600"/>
            </a:xfrm>
            <a:prstGeom prst="rect">
              <a:avLst/>
            </a:prstGeom>
          </p:spPr>
        </p:pic>
      </p:grpSp>
      <p:grpSp>
        <p:nvGrpSpPr>
          <p:cNvPr id="2" name="Group 1">
            <a:extLst>
              <a:ext uri="{FF2B5EF4-FFF2-40B4-BE49-F238E27FC236}">
                <a16:creationId xmlns:a16="http://schemas.microsoft.com/office/drawing/2014/main" id="{E57FA595-A5E5-F012-FEF6-F8A7270C11E4}"/>
              </a:ext>
            </a:extLst>
          </p:cNvPr>
          <p:cNvGrpSpPr/>
          <p:nvPr/>
        </p:nvGrpSpPr>
        <p:grpSpPr>
          <a:xfrm>
            <a:off x="639198" y="3362175"/>
            <a:ext cx="10815084" cy="2102198"/>
            <a:chOff x="573114" y="3814789"/>
            <a:chExt cx="10988080" cy="2020945"/>
          </a:xfrm>
        </p:grpSpPr>
        <p:grpSp>
          <p:nvGrpSpPr>
            <p:cNvPr id="82" name="Group 81">
              <a:extLst>
                <a:ext uri="{FF2B5EF4-FFF2-40B4-BE49-F238E27FC236}">
                  <a16:creationId xmlns:a16="http://schemas.microsoft.com/office/drawing/2014/main" id="{6B73A3B0-F21C-822B-05E5-5244E5AC0E8E}"/>
                </a:ext>
              </a:extLst>
            </p:cNvPr>
            <p:cNvGrpSpPr/>
            <p:nvPr/>
          </p:nvGrpSpPr>
          <p:grpSpPr>
            <a:xfrm>
              <a:off x="573114" y="3814789"/>
              <a:ext cx="10988080" cy="2020945"/>
              <a:chOff x="573114" y="1636655"/>
              <a:chExt cx="10988080" cy="2020945"/>
            </a:xfrm>
          </p:grpSpPr>
          <p:grpSp>
            <p:nvGrpSpPr>
              <p:cNvPr id="83" name="Group 82">
                <a:extLst>
                  <a:ext uri="{FF2B5EF4-FFF2-40B4-BE49-F238E27FC236}">
                    <a16:creationId xmlns:a16="http://schemas.microsoft.com/office/drawing/2014/main" id="{C964233F-E386-4FC8-CFCB-87B5C84DA235}"/>
                  </a:ext>
                </a:extLst>
              </p:cNvPr>
              <p:cNvGrpSpPr/>
              <p:nvPr/>
            </p:nvGrpSpPr>
            <p:grpSpPr>
              <a:xfrm>
                <a:off x="573114" y="1636655"/>
                <a:ext cx="10988080" cy="2020945"/>
                <a:chOff x="559981" y="1714108"/>
                <a:chExt cx="5078819" cy="4381892"/>
              </a:xfrm>
            </p:grpSpPr>
            <p:sp>
              <p:nvSpPr>
                <p:cNvPr id="95" name="Shape 7">
                  <a:extLst>
                    <a:ext uri="{FF2B5EF4-FFF2-40B4-BE49-F238E27FC236}">
                      <a16:creationId xmlns:a16="http://schemas.microsoft.com/office/drawing/2014/main" id="{F36F0F04-6C59-3573-45DD-850CD5CC0623}"/>
                    </a:ext>
                  </a:extLst>
                </p:cNvPr>
                <p:cNvSpPr/>
                <p:nvPr/>
              </p:nvSpPr>
              <p:spPr>
                <a:xfrm>
                  <a:off x="559981" y="1714108"/>
                  <a:ext cx="5074581" cy="4374754"/>
                </a:xfrm>
                <a:prstGeom prst="roundRect">
                  <a:avLst>
                    <a:gd name="adj" fmla="val 2506"/>
                  </a:avLst>
                </a:prstGeom>
                <a:solidFill>
                  <a:srgbClr val="FFFFFF"/>
                </a:solidFill>
                <a:ln/>
              </p:spPr>
              <p:txBody>
                <a:bodyPr/>
                <a:lstStyle/>
                <a:p>
                  <a:endParaRPr lang="en-IN" sz="1200" dirty="0">
                    <a:latin typeface="Georgia" panose="02040502050405020303" pitchFamily="18" charset="0"/>
                  </a:endParaRPr>
                </a:p>
              </p:txBody>
            </p:sp>
            <p:sp>
              <p:nvSpPr>
                <p:cNvPr id="96" name="Shape 9">
                  <a:extLst>
                    <a:ext uri="{FF2B5EF4-FFF2-40B4-BE49-F238E27FC236}">
                      <a16:creationId xmlns:a16="http://schemas.microsoft.com/office/drawing/2014/main" id="{50598436-DF09-02EC-343A-18EAE9110933}"/>
                    </a:ext>
                  </a:extLst>
                </p:cNvPr>
                <p:cNvSpPr/>
                <p:nvPr/>
              </p:nvSpPr>
              <p:spPr>
                <a:xfrm>
                  <a:off x="559981" y="1714110"/>
                  <a:ext cx="5074581" cy="52800"/>
                </a:xfrm>
                <a:prstGeom prst="rect">
                  <a:avLst/>
                </a:prstGeom>
                <a:solidFill>
                  <a:srgbClr val="14342B"/>
                </a:solidFill>
                <a:ln/>
              </p:spPr>
              <p:txBody>
                <a:bodyPr/>
                <a:lstStyle/>
                <a:p>
                  <a:endParaRPr lang="en-IN" sz="1200">
                    <a:latin typeface="Georgia" panose="02040502050405020303" pitchFamily="18" charset="0"/>
                  </a:endParaRPr>
                </a:p>
              </p:txBody>
            </p:sp>
            <p:grpSp>
              <p:nvGrpSpPr>
                <p:cNvPr id="97" name="Group 96">
                  <a:extLst>
                    <a:ext uri="{FF2B5EF4-FFF2-40B4-BE49-F238E27FC236}">
                      <a16:creationId xmlns:a16="http://schemas.microsoft.com/office/drawing/2014/main" id="{4A7F2049-CED3-3E38-E7D6-D6A64D0B6E85}"/>
                    </a:ext>
                  </a:extLst>
                </p:cNvPr>
                <p:cNvGrpSpPr/>
                <p:nvPr/>
              </p:nvGrpSpPr>
              <p:grpSpPr>
                <a:xfrm>
                  <a:off x="559981" y="1714110"/>
                  <a:ext cx="5078819" cy="4381890"/>
                  <a:chOff x="541169" y="980546"/>
                  <a:chExt cx="2639326" cy="3389658"/>
                </a:xfrm>
              </p:grpSpPr>
              <p:sp>
                <p:nvSpPr>
                  <p:cNvPr id="98" name="Shape 8">
                    <a:extLst>
                      <a:ext uri="{FF2B5EF4-FFF2-40B4-BE49-F238E27FC236}">
                        <a16:creationId xmlns:a16="http://schemas.microsoft.com/office/drawing/2014/main" id="{8751E0FB-B974-63AD-7395-58CBFDB83C65}"/>
                      </a:ext>
                    </a:extLst>
                  </p:cNvPr>
                  <p:cNvSpPr/>
                  <p:nvPr/>
                </p:nvSpPr>
                <p:spPr>
                  <a:xfrm>
                    <a:off x="541169" y="4356380"/>
                    <a:ext cx="2637124" cy="13824"/>
                  </a:xfrm>
                  <a:prstGeom prst="rect">
                    <a:avLst/>
                  </a:prstGeom>
                  <a:solidFill>
                    <a:srgbClr val="D9D3C3"/>
                  </a:solidFill>
                  <a:ln/>
                </p:spPr>
                <p:txBody>
                  <a:bodyPr/>
                  <a:lstStyle/>
                  <a:p>
                    <a:endParaRPr lang="en-IN" sz="1200">
                      <a:latin typeface="Georgia" panose="02040502050405020303" pitchFamily="18" charset="0"/>
                    </a:endParaRPr>
                  </a:p>
                </p:txBody>
              </p:sp>
              <p:sp>
                <p:nvSpPr>
                  <p:cNvPr id="99" name="Shape 10">
                    <a:extLst>
                      <a:ext uri="{FF2B5EF4-FFF2-40B4-BE49-F238E27FC236}">
                        <a16:creationId xmlns:a16="http://schemas.microsoft.com/office/drawing/2014/main" id="{3DA59849-597B-B11E-DB7C-57F7F16103C0}"/>
                      </a:ext>
                    </a:extLst>
                  </p:cNvPr>
                  <p:cNvSpPr/>
                  <p:nvPr/>
                </p:nvSpPr>
                <p:spPr>
                  <a:xfrm>
                    <a:off x="541169" y="980546"/>
                    <a:ext cx="11014" cy="3386894"/>
                  </a:xfrm>
                  <a:prstGeom prst="rect">
                    <a:avLst/>
                  </a:prstGeom>
                  <a:solidFill>
                    <a:srgbClr val="D9D3C3"/>
                  </a:solidFill>
                  <a:ln/>
                </p:spPr>
                <p:txBody>
                  <a:bodyPr/>
                  <a:lstStyle/>
                  <a:p>
                    <a:endParaRPr lang="en-IN" sz="1200">
                      <a:latin typeface="Georgia" panose="02040502050405020303" pitchFamily="18" charset="0"/>
                    </a:endParaRPr>
                  </a:p>
                </p:txBody>
              </p:sp>
              <p:sp>
                <p:nvSpPr>
                  <p:cNvPr id="101" name="Shape 11">
                    <a:extLst>
                      <a:ext uri="{FF2B5EF4-FFF2-40B4-BE49-F238E27FC236}">
                        <a16:creationId xmlns:a16="http://schemas.microsoft.com/office/drawing/2014/main" id="{D8852BF1-5264-3517-59CF-FE731758A5C3}"/>
                      </a:ext>
                    </a:extLst>
                  </p:cNvPr>
                  <p:cNvSpPr/>
                  <p:nvPr/>
                </p:nvSpPr>
                <p:spPr>
                  <a:xfrm>
                    <a:off x="3169481" y="980546"/>
                    <a:ext cx="11014" cy="3386894"/>
                  </a:xfrm>
                  <a:prstGeom prst="rect">
                    <a:avLst/>
                  </a:prstGeom>
                  <a:solidFill>
                    <a:srgbClr val="D9D3C3"/>
                  </a:solidFill>
                  <a:ln/>
                </p:spPr>
                <p:txBody>
                  <a:bodyPr/>
                  <a:lstStyle/>
                  <a:p>
                    <a:endParaRPr lang="en-IN" sz="1200">
                      <a:latin typeface="Georgia" panose="02040502050405020303" pitchFamily="18" charset="0"/>
                    </a:endParaRPr>
                  </a:p>
                </p:txBody>
              </p:sp>
            </p:grpSp>
          </p:grpSp>
          <p:sp>
            <p:nvSpPr>
              <p:cNvPr id="85" name="Text 12">
                <a:extLst>
                  <a:ext uri="{FF2B5EF4-FFF2-40B4-BE49-F238E27FC236}">
                    <a16:creationId xmlns:a16="http://schemas.microsoft.com/office/drawing/2014/main" id="{AA848987-4EAE-66C7-3982-B21E1E460296}"/>
                  </a:ext>
                </a:extLst>
              </p:cNvPr>
              <p:cNvSpPr/>
              <p:nvPr/>
            </p:nvSpPr>
            <p:spPr>
              <a:xfrm>
                <a:off x="1767181" y="1707893"/>
                <a:ext cx="6233818" cy="343194"/>
              </a:xfrm>
              <a:prstGeom prst="rect">
                <a:avLst/>
              </a:prstGeom>
              <a:noFill/>
              <a:ln/>
            </p:spPr>
            <p:txBody>
              <a:bodyPr wrap="square" lIns="16933" tIns="16933" rIns="16933" bIns="16933" rtlCol="0" anchor="t">
                <a:noAutofit/>
              </a:bodyPr>
              <a:lstStyle/>
              <a:p>
                <a:r>
                  <a:rPr lang="en-US" sz="1400" b="1" dirty="0">
                    <a:solidFill>
                      <a:srgbClr val="14342B"/>
                    </a:solidFill>
                    <a:latin typeface="Georgia" panose="02040502050405020303" pitchFamily="18" charset="0"/>
                  </a:rPr>
                  <a:t>Northwest Karnataka </a:t>
                </a:r>
                <a:r>
                  <a:rPr lang="en-US" sz="1400" b="1" dirty="0">
                    <a:solidFill>
                      <a:srgbClr val="9C3237"/>
                    </a:solidFill>
                    <a:latin typeface="Georgia" panose="02040502050405020303" pitchFamily="18" charset="0"/>
                  </a:rPr>
                  <a:t>multi-crop</a:t>
                </a:r>
                <a:r>
                  <a:rPr lang="en-US" sz="1400" b="1" dirty="0">
                    <a:latin typeface="Georgia" panose="02040502050405020303" pitchFamily="18" charset="0"/>
                  </a:rPr>
                  <a:t> </a:t>
                </a:r>
                <a:r>
                  <a:rPr lang="en-US" sz="1400" b="1" dirty="0">
                    <a:solidFill>
                      <a:srgbClr val="14342B"/>
                    </a:solidFill>
                    <a:latin typeface="Georgia" panose="02040502050405020303" pitchFamily="18" charset="0"/>
                  </a:rPr>
                  <a:t>cluster</a:t>
                </a:r>
                <a:endParaRPr lang="en-US" sz="1400" b="1" dirty="0">
                  <a:latin typeface="Georgia" panose="02040502050405020303" pitchFamily="18" charset="0"/>
                </a:endParaRPr>
              </a:p>
            </p:txBody>
          </p:sp>
        </p:grpSp>
        <p:sp>
          <p:nvSpPr>
            <p:cNvPr id="6" name="Text 64">
              <a:extLst>
                <a:ext uri="{FF2B5EF4-FFF2-40B4-BE49-F238E27FC236}">
                  <a16:creationId xmlns:a16="http://schemas.microsoft.com/office/drawing/2014/main" id="{BE033DF5-4196-7A4A-2817-E3262FCC4081}"/>
                </a:ext>
              </a:extLst>
            </p:cNvPr>
            <p:cNvSpPr/>
            <p:nvPr/>
          </p:nvSpPr>
          <p:spPr>
            <a:xfrm>
              <a:off x="1799500" y="4164429"/>
              <a:ext cx="4764286" cy="1173020"/>
            </a:xfrm>
            <a:prstGeom prst="rect">
              <a:avLst/>
            </a:prstGeom>
            <a:solidFill>
              <a:srgbClr val="FFF3C1"/>
            </a:solidFill>
            <a:ln/>
          </p:spPr>
          <p:txBody>
            <a:bodyPr wrap="square" lIns="25400" tIns="25400" rIns="25400" bIns="25400" rtlCol="0" anchor="t">
              <a:noAutofit/>
            </a:bodyPr>
            <a:lstStyle/>
            <a:p>
              <a:pPr marL="346075" indent="-61913">
                <a:defRPr/>
              </a:pPr>
              <a:r>
                <a:rPr lang="en-US" sz="1200" b="1" i="1" dirty="0">
                  <a:solidFill>
                    <a:srgbClr val="14342B"/>
                  </a:solidFill>
                  <a:latin typeface="Georgia" panose="02040502050405020303" pitchFamily="18" charset="0"/>
                  <a:ea typeface="Inter" pitchFamily="34" charset="-122"/>
                </a:rPr>
                <a:t>The Horticulture Department FPOs handles…</a:t>
              </a:r>
            </a:p>
            <a:p>
              <a:pPr marL="346075" indent="-61913">
                <a:defRPr/>
              </a:pPr>
              <a:endParaRPr lang="en-US" sz="400" b="1" i="1" dirty="0">
                <a:solidFill>
                  <a:srgbClr val="14342B"/>
                </a:solidFill>
                <a:latin typeface="Georgia" panose="02040502050405020303" pitchFamily="18" charset="0"/>
                <a:ea typeface="Inter" pitchFamily="34" charset="-122"/>
              </a:endParaRPr>
            </a:p>
            <a:p>
              <a:pPr marL="568325" indent="-168275">
                <a:buFont typeface="Wingdings" panose="05000000000000000000" pitchFamily="2" charset="2"/>
                <a:buChar char="q"/>
                <a:defRPr/>
              </a:pPr>
              <a:r>
                <a:rPr lang="en-US" sz="1000" b="1" dirty="0">
                  <a:latin typeface="Georgia" panose="02040502050405020303" pitchFamily="18" charset="0"/>
                  <a:ea typeface="Inter" pitchFamily="34" charset="-122"/>
                </a:rPr>
                <a:t>103 MT </a:t>
              </a:r>
              <a:r>
                <a:rPr lang="en-US" sz="1000" dirty="0">
                  <a:latin typeface="Georgia" panose="02040502050405020303" pitchFamily="18" charset="0"/>
                  <a:ea typeface="Inter" pitchFamily="34" charset="-122"/>
                </a:rPr>
                <a:t>of annual produce volume with transactions valued at </a:t>
              </a:r>
              <a:r>
                <a:rPr lang="en-US" sz="1000" b="1" dirty="0">
                  <a:latin typeface="Georgia" panose="02040502050405020303" pitchFamily="18" charset="0"/>
                  <a:ea typeface="Inter" pitchFamily="34" charset="-122"/>
                </a:rPr>
                <a:t>₹31 lakh </a:t>
              </a:r>
              <a:r>
                <a:rPr lang="en-US" sz="1000" dirty="0">
                  <a:latin typeface="Georgia" panose="02040502050405020303" pitchFamily="18" charset="0"/>
                  <a:ea typeface="Inter" pitchFamily="34" charset="-122"/>
                </a:rPr>
                <a:t>(FY 23–24) across key crops such as Onion, Banana</a:t>
              </a:r>
            </a:p>
            <a:p>
              <a:pPr marL="568325" indent="-168275">
                <a:buFont typeface="Wingdings" panose="05000000000000000000" pitchFamily="2" charset="2"/>
                <a:buChar char="q"/>
                <a:defRPr/>
              </a:pPr>
              <a:r>
                <a:rPr lang="en-US" sz="1000" b="1" dirty="0">
                  <a:latin typeface="Georgia" panose="02040502050405020303" pitchFamily="18" charset="0"/>
                  <a:ea typeface="Inter" pitchFamily="34" charset="-122"/>
                </a:rPr>
                <a:t>133 MT</a:t>
              </a:r>
              <a:r>
                <a:rPr lang="en-US" sz="1000" dirty="0">
                  <a:latin typeface="Georgia" panose="02040502050405020303" pitchFamily="18" charset="0"/>
                  <a:ea typeface="Inter" pitchFamily="34" charset="-122"/>
                </a:rPr>
                <a:t> of annual produce volume with transactions valued at ₹</a:t>
              </a:r>
              <a:r>
                <a:rPr lang="en-US" sz="1000" b="1" dirty="0">
                  <a:latin typeface="Georgia" panose="02040502050405020303" pitchFamily="18" charset="0"/>
                  <a:ea typeface="Inter" pitchFamily="34" charset="-122"/>
                </a:rPr>
                <a:t>33 lakh (</a:t>
              </a:r>
              <a:r>
                <a:rPr lang="en-US" sz="1000" dirty="0">
                  <a:latin typeface="Georgia" panose="02040502050405020303" pitchFamily="18" charset="0"/>
                  <a:ea typeface="Inter" pitchFamily="34" charset="-122"/>
                </a:rPr>
                <a:t>FY 23-24) for major fruits and vegetables</a:t>
              </a:r>
            </a:p>
            <a:p>
              <a:pPr marL="346075" indent="-61913">
                <a:defRPr/>
              </a:pPr>
              <a:endParaRPr lang="en-US" sz="1200" b="1" i="1" dirty="0">
                <a:solidFill>
                  <a:srgbClr val="14342B"/>
                </a:solidFill>
                <a:latin typeface="Georgia" panose="02040502050405020303" pitchFamily="18" charset="0"/>
                <a:ea typeface="Inter" pitchFamily="34" charset="-122"/>
              </a:endParaRPr>
            </a:p>
          </p:txBody>
        </p:sp>
        <p:sp>
          <p:nvSpPr>
            <p:cNvPr id="8" name="Shape 98">
              <a:extLst>
                <a:ext uri="{FF2B5EF4-FFF2-40B4-BE49-F238E27FC236}">
                  <a16:creationId xmlns:a16="http://schemas.microsoft.com/office/drawing/2014/main" id="{36320C0A-D8CB-C427-9B46-8159772FDE50}"/>
                </a:ext>
              </a:extLst>
            </p:cNvPr>
            <p:cNvSpPr/>
            <p:nvPr/>
          </p:nvSpPr>
          <p:spPr>
            <a:xfrm>
              <a:off x="1799499" y="5429276"/>
              <a:ext cx="9618977" cy="284205"/>
            </a:xfrm>
            <a:prstGeom prst="roundRect">
              <a:avLst>
                <a:gd name="adj" fmla="val 3171"/>
              </a:avLst>
            </a:prstGeom>
            <a:solidFill>
              <a:srgbClr val="FFC000"/>
            </a:solidFill>
            <a:ln>
              <a:noFill/>
              <a:prstDash val="dash"/>
            </a:ln>
          </p:spPr>
          <p:txBody>
            <a:bodyPr/>
            <a:lstStyle/>
            <a:p>
              <a:r>
                <a:rPr lang="en-US" sz="900" i="1" dirty="0">
                  <a:solidFill>
                    <a:srgbClr val="14342B"/>
                  </a:solidFill>
                  <a:latin typeface="Georgia" panose="02040502050405020303" pitchFamily="18" charset="0"/>
                </a:rPr>
                <a:t>A total of 9 Self-Help Groups (SHGs) are engaged in natural food production</a:t>
              </a:r>
              <a:endParaRPr lang="en-IN" sz="900" i="1" dirty="0">
                <a:solidFill>
                  <a:srgbClr val="14342B"/>
                </a:solidFill>
                <a:latin typeface="Georgia" panose="02040502050405020303" pitchFamily="18" charset="0"/>
              </a:endParaRPr>
            </a:p>
          </p:txBody>
        </p:sp>
        <p:sp>
          <p:nvSpPr>
            <p:cNvPr id="9" name="Text 64">
              <a:extLst>
                <a:ext uri="{FF2B5EF4-FFF2-40B4-BE49-F238E27FC236}">
                  <a16:creationId xmlns:a16="http://schemas.microsoft.com/office/drawing/2014/main" id="{8DC12ECB-5CA5-71AC-A46E-D5A339DAA141}"/>
                </a:ext>
              </a:extLst>
            </p:cNvPr>
            <p:cNvSpPr/>
            <p:nvPr/>
          </p:nvSpPr>
          <p:spPr>
            <a:xfrm>
              <a:off x="6654190" y="4164429"/>
              <a:ext cx="4764286" cy="1173020"/>
            </a:xfrm>
            <a:prstGeom prst="rect">
              <a:avLst/>
            </a:prstGeom>
            <a:solidFill>
              <a:srgbClr val="D4EDDA"/>
            </a:solidFill>
            <a:ln/>
          </p:spPr>
          <p:txBody>
            <a:bodyPr wrap="square" lIns="25400" tIns="25400" rIns="25400" bIns="25400" rtlCol="0" anchor="t">
              <a:noAutofit/>
            </a:bodyPr>
            <a:lstStyle/>
            <a:p>
              <a:pPr marL="284163"/>
              <a:r>
                <a:rPr lang="en-US" sz="1200" b="1" i="1" dirty="0">
                  <a:solidFill>
                    <a:srgbClr val="14342B"/>
                  </a:solidFill>
                  <a:latin typeface="Georgia" panose="02040502050405020303" pitchFamily="18" charset="0"/>
                  <a:ea typeface="Inter" pitchFamily="34" charset="-122"/>
                </a:rPr>
                <a:t>The Watershed Development Department FPOs includes…</a:t>
              </a:r>
            </a:p>
            <a:p>
              <a:pPr marL="284163"/>
              <a:endParaRPr lang="en-US" sz="400" b="1" i="1" dirty="0">
                <a:solidFill>
                  <a:srgbClr val="14342B"/>
                </a:solidFill>
                <a:latin typeface="Georgia" panose="02040502050405020303" pitchFamily="18" charset="0"/>
                <a:ea typeface="Inter" pitchFamily="34" charset="-122"/>
              </a:endParaRPr>
            </a:p>
            <a:p>
              <a:pPr marL="569913" indent="-169863">
                <a:buFont typeface="Wingdings" panose="05000000000000000000" pitchFamily="2" charset="2"/>
                <a:buChar char="q"/>
              </a:pPr>
              <a:r>
                <a:rPr lang="en-US" sz="1000" b="1" dirty="0">
                  <a:latin typeface="Georgia" panose="02040502050405020303" pitchFamily="18" charset="0"/>
                  <a:ea typeface="Inter" pitchFamily="34" charset="-122"/>
                </a:rPr>
                <a:t>14</a:t>
              </a:r>
              <a:r>
                <a:rPr lang="en-US" sz="1000" dirty="0">
                  <a:latin typeface="Georgia" panose="02040502050405020303" pitchFamily="18" charset="0"/>
                  <a:ea typeface="Inter" pitchFamily="34" charset="-122"/>
                </a:rPr>
                <a:t> FPOs with transactions valued at </a:t>
              </a:r>
              <a:r>
                <a:rPr lang="en-US" sz="1000" b="1" dirty="0">
                  <a:latin typeface="Georgia" panose="02040502050405020303" pitchFamily="18" charset="0"/>
                  <a:ea typeface="Inter" pitchFamily="34" charset="-122"/>
                </a:rPr>
                <a:t>₹7 crores (</a:t>
              </a:r>
              <a:r>
                <a:rPr lang="en-US" sz="1000" dirty="0">
                  <a:latin typeface="Georgia" panose="02040502050405020303" pitchFamily="18" charset="0"/>
                  <a:ea typeface="Inter" pitchFamily="34" charset="-122"/>
                </a:rPr>
                <a:t>FY 23–24) across key crops such as Banana</a:t>
              </a:r>
            </a:p>
            <a:p>
              <a:pPr marL="569913" indent="-169863">
                <a:buFont typeface="Wingdings" panose="05000000000000000000" pitchFamily="2" charset="2"/>
                <a:buChar char="q"/>
              </a:pPr>
              <a:r>
                <a:rPr lang="en-US" sz="1000" b="1" dirty="0">
                  <a:latin typeface="Georgia" panose="02040502050405020303" pitchFamily="18" charset="0"/>
                  <a:ea typeface="Inter" pitchFamily="34" charset="-122"/>
                </a:rPr>
                <a:t>48</a:t>
              </a:r>
              <a:r>
                <a:rPr lang="en-US" sz="1000" dirty="0">
                  <a:latin typeface="Georgia" panose="02040502050405020303" pitchFamily="18" charset="0"/>
                  <a:ea typeface="Inter" pitchFamily="34" charset="-122"/>
                </a:rPr>
                <a:t> FPOs with transactions valued at </a:t>
              </a:r>
              <a:r>
                <a:rPr lang="en-US" sz="1000" b="1" dirty="0">
                  <a:latin typeface="Georgia" panose="02040502050405020303" pitchFamily="18" charset="0"/>
                  <a:ea typeface="Inter" pitchFamily="34" charset="-122"/>
                </a:rPr>
                <a:t>₹33 crores (</a:t>
              </a:r>
              <a:r>
                <a:rPr lang="en-US" sz="1000" dirty="0">
                  <a:latin typeface="Georgia" panose="02040502050405020303" pitchFamily="18" charset="0"/>
                  <a:ea typeface="Inter" pitchFamily="34" charset="-122"/>
                </a:rPr>
                <a:t>FY 23-24) for major fruits and vegetables grown like </a:t>
              </a:r>
              <a:r>
                <a:rPr lang="it-IT" sz="1000" dirty="0">
                  <a:latin typeface="Georgia" panose="02040502050405020303" pitchFamily="18" charset="0"/>
                  <a:ea typeface="Inter" pitchFamily="34" charset="-122"/>
                </a:rPr>
                <a:t>Banana, Soyabean, Chilli</a:t>
              </a:r>
              <a:endParaRPr lang="en-US" sz="1000" dirty="0">
                <a:latin typeface="Georgia" panose="02040502050405020303" pitchFamily="18" charset="0"/>
                <a:ea typeface="Inter" pitchFamily="34" charset="-122"/>
              </a:endParaRPr>
            </a:p>
          </p:txBody>
        </p:sp>
        <p:pic>
          <p:nvPicPr>
            <p:cNvPr id="10" name="Picture 9">
              <a:extLst>
                <a:ext uri="{FF2B5EF4-FFF2-40B4-BE49-F238E27FC236}">
                  <a16:creationId xmlns:a16="http://schemas.microsoft.com/office/drawing/2014/main" id="{FA56A575-0B2F-7724-426E-002082B92D64}"/>
                </a:ext>
              </a:extLst>
            </p:cNvPr>
            <p:cNvPicPr>
              <a:picLocks noChangeAspect="1"/>
            </p:cNvPicPr>
            <p:nvPr/>
          </p:nvPicPr>
          <p:blipFill>
            <a:blip r:embed="rId2"/>
            <a:stretch>
              <a:fillRect/>
            </a:stretch>
          </p:blipFill>
          <p:spPr>
            <a:xfrm>
              <a:off x="1891750" y="4196651"/>
              <a:ext cx="160437" cy="160437"/>
            </a:xfrm>
            <a:prstGeom prst="rect">
              <a:avLst/>
            </a:prstGeom>
          </p:spPr>
        </p:pic>
        <p:pic>
          <p:nvPicPr>
            <p:cNvPr id="11" name="Picture 10">
              <a:extLst>
                <a:ext uri="{FF2B5EF4-FFF2-40B4-BE49-F238E27FC236}">
                  <a16:creationId xmlns:a16="http://schemas.microsoft.com/office/drawing/2014/main" id="{F1480893-30ED-A71B-4E4B-8549EF20FB48}"/>
                </a:ext>
              </a:extLst>
            </p:cNvPr>
            <p:cNvPicPr>
              <a:picLocks noChangeAspect="1"/>
            </p:cNvPicPr>
            <p:nvPr/>
          </p:nvPicPr>
          <p:blipFill>
            <a:blip r:embed="rId3"/>
            <a:stretch>
              <a:fillRect/>
            </a:stretch>
          </p:blipFill>
          <p:spPr>
            <a:xfrm>
              <a:off x="6726069" y="4177660"/>
              <a:ext cx="228600" cy="228600"/>
            </a:xfrm>
            <a:prstGeom prst="rect">
              <a:avLst/>
            </a:prstGeom>
          </p:spPr>
        </p:pic>
      </p:grpSp>
      <p:pic>
        <p:nvPicPr>
          <p:cNvPr id="13" name="Picture 12">
            <a:extLst>
              <a:ext uri="{FF2B5EF4-FFF2-40B4-BE49-F238E27FC236}">
                <a16:creationId xmlns:a16="http://schemas.microsoft.com/office/drawing/2014/main" id="{5E52571A-6D08-FE36-D52A-E32972ED73CE}"/>
              </a:ext>
            </a:extLst>
          </p:cNvPr>
          <p:cNvPicPr>
            <a:picLocks noChangeAspect="1"/>
          </p:cNvPicPr>
          <p:nvPr/>
        </p:nvPicPr>
        <p:blipFill>
          <a:blip r:embed="rId4" cstate="print">
            <a:extLst>
              <a:ext uri="{28A0092B-C50C-407E-A947-70E740481C1C}">
                <a14:useLocalDpi xmlns:a14="http://schemas.microsoft.com/office/drawing/2010/main" val="0"/>
              </a:ext>
            </a:extLst>
          </a:blip>
          <a:srcRect l="2839" t="4793" r="3802" b="12571"/>
          <a:stretch>
            <a:fillRect/>
          </a:stretch>
        </p:blipFill>
        <p:spPr>
          <a:xfrm>
            <a:off x="701738" y="1429410"/>
            <a:ext cx="1089301" cy="1594399"/>
          </a:xfrm>
          <a:prstGeom prst="rect">
            <a:avLst/>
          </a:prstGeom>
        </p:spPr>
      </p:pic>
      <p:pic>
        <p:nvPicPr>
          <p:cNvPr id="15" name="Picture 14">
            <a:extLst>
              <a:ext uri="{FF2B5EF4-FFF2-40B4-BE49-F238E27FC236}">
                <a16:creationId xmlns:a16="http://schemas.microsoft.com/office/drawing/2014/main" id="{A85DC955-3C18-4FA0-A0A2-54A26948CD61}"/>
              </a:ext>
            </a:extLst>
          </p:cNvPr>
          <p:cNvPicPr>
            <a:picLocks noChangeAspect="1"/>
          </p:cNvPicPr>
          <p:nvPr/>
        </p:nvPicPr>
        <p:blipFill>
          <a:blip r:embed="rId5" cstate="print">
            <a:extLst>
              <a:ext uri="{28A0092B-C50C-407E-A947-70E740481C1C}">
                <a14:useLocalDpi xmlns:a14="http://schemas.microsoft.com/office/drawing/2010/main" val="0"/>
              </a:ext>
            </a:extLst>
          </a:blip>
          <a:srcRect l="3304" t="4534" r="3955" b="9497"/>
          <a:stretch>
            <a:fillRect/>
          </a:stretch>
        </p:blipFill>
        <p:spPr>
          <a:xfrm>
            <a:off x="691738" y="3702764"/>
            <a:ext cx="1099302" cy="1634441"/>
          </a:xfrm>
          <a:prstGeom prst="rect">
            <a:avLst/>
          </a:prstGeom>
        </p:spPr>
      </p:pic>
      <p:sp>
        <p:nvSpPr>
          <p:cNvPr id="3" name="Rectangle 2">
            <a:extLst>
              <a:ext uri="{FF2B5EF4-FFF2-40B4-BE49-F238E27FC236}">
                <a16:creationId xmlns:a16="http://schemas.microsoft.com/office/drawing/2014/main" id="{F0127C95-51E3-510E-5691-1A7C98523F7F}"/>
              </a:ext>
            </a:extLst>
          </p:cNvPr>
          <p:cNvSpPr/>
          <p:nvPr/>
        </p:nvSpPr>
        <p:spPr>
          <a:xfrm>
            <a:off x="685800" y="5538561"/>
            <a:ext cx="5550528" cy="584947"/>
          </a:xfrm>
          <a:prstGeom prst="rect">
            <a:avLst/>
          </a:prstGeom>
          <a:noFill/>
          <a:ln>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i="1" dirty="0">
                <a:solidFill>
                  <a:schemeClr val="tx1"/>
                </a:solidFill>
                <a:latin typeface="Georgia" panose="02040502050405020303" pitchFamily="18" charset="0"/>
              </a:rPr>
              <a:t>Sources: As per the internal data shared by the following departments under Government of Karnataka, as of March 2026:</a:t>
            </a:r>
          </a:p>
          <a:p>
            <a:endParaRPr lang="en-US" sz="300" i="1" dirty="0">
              <a:solidFill>
                <a:schemeClr val="tx1"/>
              </a:solidFill>
              <a:latin typeface="Georgia" panose="02040502050405020303" pitchFamily="18" charset="0"/>
            </a:endParaRPr>
          </a:p>
          <a:p>
            <a:pPr marL="228600" indent="-228600">
              <a:buFont typeface="Arial" panose="020B0604020202020204" pitchFamily="34" charset="0"/>
              <a:buChar char="•"/>
            </a:pPr>
            <a:r>
              <a:rPr lang="en-IN" sz="700" i="1" dirty="0">
                <a:solidFill>
                  <a:schemeClr val="tx1"/>
                </a:solidFill>
                <a:latin typeface="Georgia" panose="02040502050405020303" pitchFamily="18" charset="0"/>
              </a:rPr>
              <a:t>Directorate of horticulture – Horticulture department FPOs</a:t>
            </a:r>
          </a:p>
          <a:p>
            <a:pPr marL="228600" indent="-228600">
              <a:buFont typeface="Arial" panose="020B0604020202020204" pitchFamily="34" charset="0"/>
              <a:buChar char="•"/>
            </a:pPr>
            <a:r>
              <a:rPr lang="en-IN" sz="700" i="1" dirty="0">
                <a:solidFill>
                  <a:schemeClr val="tx1"/>
                </a:solidFill>
                <a:latin typeface="Georgia" panose="02040502050405020303" pitchFamily="18" charset="0"/>
              </a:rPr>
              <a:t>Watershed development department – WDD FPOs</a:t>
            </a:r>
          </a:p>
          <a:p>
            <a:pPr marL="228600" indent="-228600">
              <a:buFont typeface="Arial" panose="020B0604020202020204" pitchFamily="34" charset="0"/>
              <a:buChar char="•"/>
            </a:pPr>
            <a:r>
              <a:rPr lang="en-IN" sz="700" i="1" dirty="0">
                <a:solidFill>
                  <a:schemeClr val="tx1"/>
                </a:solidFill>
                <a:latin typeface="Georgia" panose="02040502050405020303" pitchFamily="18" charset="0"/>
              </a:rPr>
              <a:t>KSRLPS - SHGs</a:t>
            </a:r>
            <a:endParaRPr lang="en-IN" sz="700" dirty="0">
              <a:solidFill>
                <a:schemeClr val="tx1"/>
              </a:solidFill>
              <a:latin typeface="Georgia" panose="02040502050405020303" pitchFamily="18" charset="0"/>
            </a:endParaRPr>
          </a:p>
        </p:txBody>
      </p:sp>
      <p:pic>
        <p:nvPicPr>
          <p:cNvPr id="12" name="Picture 11">
            <a:extLst>
              <a:ext uri="{FF2B5EF4-FFF2-40B4-BE49-F238E27FC236}">
                <a16:creationId xmlns:a16="http://schemas.microsoft.com/office/drawing/2014/main" id="{7B82DB04-7C6C-6E97-8A2F-1D9EC8A1D353}"/>
              </a:ext>
            </a:extLst>
          </p:cNvPr>
          <p:cNvPicPr>
            <a:picLocks noChangeAspect="1"/>
          </p:cNvPicPr>
          <p:nvPr/>
        </p:nvPicPr>
        <p:blipFill>
          <a:blip r:embed="rId6"/>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5739873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180A5-8FB6-FF74-25E8-04D98CDA0300}"/>
            </a:ext>
          </a:extLst>
        </p:cNvPr>
        <p:cNvGrpSpPr/>
        <p:nvPr/>
      </p:nvGrpSpPr>
      <p:grpSpPr>
        <a:xfrm>
          <a:off x="0" y="0"/>
          <a:ext cx="0" cy="0"/>
          <a:chOff x="0" y="0"/>
          <a:chExt cx="0" cy="0"/>
        </a:xfrm>
      </p:grpSpPr>
      <p:sp>
        <p:nvSpPr>
          <p:cNvPr id="7" name="Title 21">
            <a:extLst>
              <a:ext uri="{FF2B5EF4-FFF2-40B4-BE49-F238E27FC236}">
                <a16:creationId xmlns:a16="http://schemas.microsoft.com/office/drawing/2014/main" id="{924D5452-5D74-91CC-BBAE-F7F575C9083D}"/>
              </a:ext>
            </a:extLst>
          </p:cNvPr>
          <p:cNvSpPr txBox="1">
            <a:spLocks/>
          </p:cNvSpPr>
          <p:nvPr/>
        </p:nvSpPr>
        <p:spPr>
          <a:xfrm>
            <a:off x="404992" y="284247"/>
            <a:ext cx="12091808" cy="486159"/>
          </a:xfrm>
          <a:prstGeom prst="rect">
            <a:avLst/>
          </a:prstGeom>
        </p:spPr>
        <p:txBody>
          <a:bodyPr/>
          <a:lstStyle>
            <a:lvl1pPr>
              <a:defRPr>
                <a:latin typeface="+mj-lt"/>
                <a:ea typeface="+mj-ea"/>
                <a:cs typeface="+mj-cs"/>
              </a:defRPr>
            </a:lvl1pPr>
          </a:lstStyle>
          <a:p>
            <a:pPr>
              <a:lnSpc>
                <a:spcPct val="150000"/>
              </a:lnSpc>
              <a:spcAft>
                <a:spcPts val="800"/>
              </a:spcAft>
            </a:pPr>
            <a:r>
              <a:rPr lang="en-IN" sz="2200" b="1" dirty="0">
                <a:solidFill>
                  <a:schemeClr val="bg1"/>
                </a:solidFill>
                <a:latin typeface="Georgia" panose="02040502050405020303" pitchFamily="18" charset="0"/>
              </a:rPr>
              <a:t>Challenge category 4: </a:t>
            </a:r>
            <a:r>
              <a:rPr lang="en-IN" sz="2200" b="1" dirty="0">
                <a:solidFill>
                  <a:schemeClr val="bg1"/>
                </a:solidFill>
                <a:latin typeface="Georgia" panose="02040502050405020303" pitchFamily="18" charset="0"/>
                <a:ea typeface="Arial" panose="020B0604020202020204" pitchFamily="34" charset="0"/>
              </a:rPr>
              <a:t>Community-led aggregation and enterprise innovations</a:t>
            </a:r>
            <a:endParaRPr lang="en-US" sz="2200" b="1" dirty="0">
              <a:solidFill>
                <a:schemeClr val="bg1"/>
              </a:solidFill>
              <a:latin typeface="Georgia" panose="02040502050405020303" pitchFamily="18" charset="0"/>
            </a:endParaRPr>
          </a:p>
        </p:txBody>
      </p:sp>
      <p:sp>
        <p:nvSpPr>
          <p:cNvPr id="5" name="Slide Number Placeholder 2">
            <a:extLst>
              <a:ext uri="{FF2B5EF4-FFF2-40B4-BE49-F238E27FC236}">
                <a16:creationId xmlns:a16="http://schemas.microsoft.com/office/drawing/2014/main" id="{5401160F-0044-1FB0-AA28-7F37F24550AA}"/>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22</a:t>
            </a:fld>
            <a:endParaRPr dirty="0">
              <a:latin typeface="Georgia" panose="02040502050405020303" pitchFamily="18" charset="0"/>
            </a:endParaRPr>
          </a:p>
        </p:txBody>
      </p:sp>
      <p:grpSp>
        <p:nvGrpSpPr>
          <p:cNvPr id="64" name="Group 63">
            <a:extLst>
              <a:ext uri="{FF2B5EF4-FFF2-40B4-BE49-F238E27FC236}">
                <a16:creationId xmlns:a16="http://schemas.microsoft.com/office/drawing/2014/main" id="{9A8F0F50-F676-F64E-0254-9E06D3864A9C}"/>
              </a:ext>
            </a:extLst>
          </p:cNvPr>
          <p:cNvGrpSpPr/>
          <p:nvPr/>
        </p:nvGrpSpPr>
        <p:grpSpPr>
          <a:xfrm>
            <a:off x="671692" y="2209800"/>
            <a:ext cx="10820400" cy="2239271"/>
            <a:chOff x="573114" y="3814789"/>
            <a:chExt cx="10988080" cy="2020945"/>
          </a:xfrm>
        </p:grpSpPr>
        <p:grpSp>
          <p:nvGrpSpPr>
            <p:cNvPr id="66" name="Group 65">
              <a:extLst>
                <a:ext uri="{FF2B5EF4-FFF2-40B4-BE49-F238E27FC236}">
                  <a16:creationId xmlns:a16="http://schemas.microsoft.com/office/drawing/2014/main" id="{AA85814D-629A-3AB1-FBB6-78EA496EA2FF}"/>
                </a:ext>
              </a:extLst>
            </p:cNvPr>
            <p:cNvGrpSpPr/>
            <p:nvPr/>
          </p:nvGrpSpPr>
          <p:grpSpPr>
            <a:xfrm>
              <a:off x="573114" y="3814789"/>
              <a:ext cx="10988080" cy="2020945"/>
              <a:chOff x="573114" y="1636655"/>
              <a:chExt cx="10988080" cy="2020945"/>
            </a:xfrm>
          </p:grpSpPr>
          <p:grpSp>
            <p:nvGrpSpPr>
              <p:cNvPr id="72" name="Group 71">
                <a:extLst>
                  <a:ext uri="{FF2B5EF4-FFF2-40B4-BE49-F238E27FC236}">
                    <a16:creationId xmlns:a16="http://schemas.microsoft.com/office/drawing/2014/main" id="{D581F326-2392-B8CA-5FAF-A52E30981B86}"/>
                  </a:ext>
                </a:extLst>
              </p:cNvPr>
              <p:cNvGrpSpPr/>
              <p:nvPr/>
            </p:nvGrpSpPr>
            <p:grpSpPr>
              <a:xfrm>
                <a:off x="573114" y="1636655"/>
                <a:ext cx="10988080" cy="2020945"/>
                <a:chOff x="559981" y="1714108"/>
                <a:chExt cx="5078819" cy="4381892"/>
              </a:xfrm>
            </p:grpSpPr>
            <p:sp>
              <p:nvSpPr>
                <p:cNvPr id="74" name="Shape 7">
                  <a:extLst>
                    <a:ext uri="{FF2B5EF4-FFF2-40B4-BE49-F238E27FC236}">
                      <a16:creationId xmlns:a16="http://schemas.microsoft.com/office/drawing/2014/main" id="{2B3B905D-88A0-08E5-84C6-532852D362B6}"/>
                    </a:ext>
                  </a:extLst>
                </p:cNvPr>
                <p:cNvSpPr/>
                <p:nvPr/>
              </p:nvSpPr>
              <p:spPr>
                <a:xfrm>
                  <a:off x="559981" y="1714108"/>
                  <a:ext cx="5074581" cy="4374754"/>
                </a:xfrm>
                <a:prstGeom prst="roundRect">
                  <a:avLst>
                    <a:gd name="adj" fmla="val 2506"/>
                  </a:avLst>
                </a:prstGeom>
                <a:solidFill>
                  <a:srgbClr val="FFFFFF"/>
                </a:solidFill>
                <a:ln/>
              </p:spPr>
              <p:txBody>
                <a:bodyPr/>
                <a:lstStyle/>
                <a:p>
                  <a:endParaRPr lang="en-IN" sz="1200" dirty="0">
                    <a:latin typeface="Georgia" panose="02040502050405020303" pitchFamily="18" charset="0"/>
                  </a:endParaRPr>
                </a:p>
              </p:txBody>
            </p:sp>
            <p:sp>
              <p:nvSpPr>
                <p:cNvPr id="75" name="Shape 9">
                  <a:extLst>
                    <a:ext uri="{FF2B5EF4-FFF2-40B4-BE49-F238E27FC236}">
                      <a16:creationId xmlns:a16="http://schemas.microsoft.com/office/drawing/2014/main" id="{75C95AD4-8753-2567-DF32-9EC24EBE353C}"/>
                    </a:ext>
                  </a:extLst>
                </p:cNvPr>
                <p:cNvSpPr/>
                <p:nvPr/>
              </p:nvSpPr>
              <p:spPr>
                <a:xfrm>
                  <a:off x="559981" y="1714110"/>
                  <a:ext cx="5074581" cy="52800"/>
                </a:xfrm>
                <a:prstGeom prst="rect">
                  <a:avLst/>
                </a:prstGeom>
                <a:solidFill>
                  <a:srgbClr val="14342B"/>
                </a:solidFill>
                <a:ln/>
              </p:spPr>
              <p:txBody>
                <a:bodyPr/>
                <a:lstStyle/>
                <a:p>
                  <a:endParaRPr lang="en-IN" sz="1200">
                    <a:latin typeface="Georgia" panose="02040502050405020303" pitchFamily="18" charset="0"/>
                  </a:endParaRPr>
                </a:p>
              </p:txBody>
            </p:sp>
            <p:grpSp>
              <p:nvGrpSpPr>
                <p:cNvPr id="76" name="Group 75">
                  <a:extLst>
                    <a:ext uri="{FF2B5EF4-FFF2-40B4-BE49-F238E27FC236}">
                      <a16:creationId xmlns:a16="http://schemas.microsoft.com/office/drawing/2014/main" id="{0587F54F-39EA-15E0-7618-851622D29A47}"/>
                    </a:ext>
                  </a:extLst>
                </p:cNvPr>
                <p:cNvGrpSpPr/>
                <p:nvPr/>
              </p:nvGrpSpPr>
              <p:grpSpPr>
                <a:xfrm>
                  <a:off x="559981" y="1714110"/>
                  <a:ext cx="5078819" cy="4381890"/>
                  <a:chOff x="541169" y="980546"/>
                  <a:chExt cx="2639326" cy="3389658"/>
                </a:xfrm>
              </p:grpSpPr>
              <p:sp>
                <p:nvSpPr>
                  <p:cNvPr id="77" name="Shape 8">
                    <a:extLst>
                      <a:ext uri="{FF2B5EF4-FFF2-40B4-BE49-F238E27FC236}">
                        <a16:creationId xmlns:a16="http://schemas.microsoft.com/office/drawing/2014/main" id="{E2139958-44F5-DA21-BD72-02BF5DFAF45B}"/>
                      </a:ext>
                    </a:extLst>
                  </p:cNvPr>
                  <p:cNvSpPr/>
                  <p:nvPr/>
                </p:nvSpPr>
                <p:spPr>
                  <a:xfrm>
                    <a:off x="541169" y="4356380"/>
                    <a:ext cx="2637124" cy="13824"/>
                  </a:xfrm>
                  <a:prstGeom prst="rect">
                    <a:avLst/>
                  </a:prstGeom>
                  <a:solidFill>
                    <a:srgbClr val="D9D3C3"/>
                  </a:solidFill>
                  <a:ln/>
                </p:spPr>
                <p:txBody>
                  <a:bodyPr/>
                  <a:lstStyle/>
                  <a:p>
                    <a:endParaRPr lang="en-IN" sz="1200">
                      <a:latin typeface="Georgia" panose="02040502050405020303" pitchFamily="18" charset="0"/>
                    </a:endParaRPr>
                  </a:p>
                </p:txBody>
              </p:sp>
              <p:sp>
                <p:nvSpPr>
                  <p:cNvPr id="78" name="Shape 10">
                    <a:extLst>
                      <a:ext uri="{FF2B5EF4-FFF2-40B4-BE49-F238E27FC236}">
                        <a16:creationId xmlns:a16="http://schemas.microsoft.com/office/drawing/2014/main" id="{72FC72CD-E57D-0D4B-276F-7A7C5B931DD6}"/>
                      </a:ext>
                    </a:extLst>
                  </p:cNvPr>
                  <p:cNvSpPr/>
                  <p:nvPr/>
                </p:nvSpPr>
                <p:spPr>
                  <a:xfrm>
                    <a:off x="541169" y="980546"/>
                    <a:ext cx="11014" cy="3386894"/>
                  </a:xfrm>
                  <a:prstGeom prst="rect">
                    <a:avLst/>
                  </a:prstGeom>
                  <a:solidFill>
                    <a:srgbClr val="D9D3C3"/>
                  </a:solidFill>
                  <a:ln/>
                </p:spPr>
                <p:txBody>
                  <a:bodyPr/>
                  <a:lstStyle/>
                  <a:p>
                    <a:endParaRPr lang="en-IN" sz="1200">
                      <a:latin typeface="Georgia" panose="02040502050405020303" pitchFamily="18" charset="0"/>
                    </a:endParaRPr>
                  </a:p>
                </p:txBody>
              </p:sp>
              <p:sp>
                <p:nvSpPr>
                  <p:cNvPr id="79" name="Shape 11">
                    <a:extLst>
                      <a:ext uri="{FF2B5EF4-FFF2-40B4-BE49-F238E27FC236}">
                        <a16:creationId xmlns:a16="http://schemas.microsoft.com/office/drawing/2014/main" id="{ABA2A0A6-11BA-B18D-45BC-89A53F7A58EE}"/>
                      </a:ext>
                    </a:extLst>
                  </p:cNvPr>
                  <p:cNvSpPr/>
                  <p:nvPr/>
                </p:nvSpPr>
                <p:spPr>
                  <a:xfrm>
                    <a:off x="3169481" y="980546"/>
                    <a:ext cx="11014" cy="3386894"/>
                  </a:xfrm>
                  <a:prstGeom prst="rect">
                    <a:avLst/>
                  </a:prstGeom>
                  <a:solidFill>
                    <a:srgbClr val="D9D3C3"/>
                  </a:solidFill>
                  <a:ln/>
                </p:spPr>
                <p:txBody>
                  <a:bodyPr/>
                  <a:lstStyle/>
                  <a:p>
                    <a:endParaRPr lang="en-IN" sz="1200">
                      <a:latin typeface="Georgia" panose="02040502050405020303" pitchFamily="18" charset="0"/>
                    </a:endParaRPr>
                  </a:p>
                </p:txBody>
              </p:sp>
            </p:grpSp>
          </p:grpSp>
          <p:sp>
            <p:nvSpPr>
              <p:cNvPr id="73" name="Text 12">
                <a:extLst>
                  <a:ext uri="{FF2B5EF4-FFF2-40B4-BE49-F238E27FC236}">
                    <a16:creationId xmlns:a16="http://schemas.microsoft.com/office/drawing/2014/main" id="{11165F68-DC72-415F-79FF-8516F1FBD6F3}"/>
                  </a:ext>
                </a:extLst>
              </p:cNvPr>
              <p:cNvSpPr/>
              <p:nvPr/>
            </p:nvSpPr>
            <p:spPr>
              <a:xfrm>
                <a:off x="1767181" y="1707893"/>
                <a:ext cx="6233818" cy="343194"/>
              </a:xfrm>
              <a:prstGeom prst="rect">
                <a:avLst/>
              </a:prstGeom>
              <a:noFill/>
              <a:ln/>
            </p:spPr>
            <p:txBody>
              <a:bodyPr wrap="square" lIns="16933" tIns="16933" rIns="16933" bIns="16933" rtlCol="0" anchor="t">
                <a:noAutofit/>
              </a:bodyPr>
              <a:lstStyle/>
              <a:p>
                <a:r>
                  <a:rPr lang="en-US" sz="1400" b="1" dirty="0">
                    <a:solidFill>
                      <a:srgbClr val="14342B"/>
                    </a:solidFill>
                    <a:latin typeface="Georgia" panose="02040502050405020303" pitchFamily="18" charset="0"/>
                  </a:rPr>
                  <a:t>Western Ghats </a:t>
                </a:r>
                <a:r>
                  <a:rPr lang="en-US" sz="1400" b="1" dirty="0">
                    <a:solidFill>
                      <a:srgbClr val="9C3237"/>
                    </a:solidFill>
                    <a:latin typeface="Georgia" panose="02040502050405020303" pitchFamily="18" charset="0"/>
                  </a:rPr>
                  <a:t>Banana-Pineapple</a:t>
                </a:r>
                <a:r>
                  <a:rPr lang="en-US" sz="1400" b="1" dirty="0">
                    <a:latin typeface="Georgia" panose="02040502050405020303" pitchFamily="18" charset="0"/>
                  </a:rPr>
                  <a:t> </a:t>
                </a:r>
                <a:r>
                  <a:rPr lang="en-US" sz="1400" b="1" dirty="0">
                    <a:solidFill>
                      <a:srgbClr val="14342B"/>
                    </a:solidFill>
                    <a:latin typeface="Georgia" panose="02040502050405020303" pitchFamily="18" charset="0"/>
                  </a:rPr>
                  <a:t>cluster</a:t>
                </a:r>
                <a:endParaRPr lang="en-US" sz="1400" b="1" dirty="0">
                  <a:latin typeface="Georgia" panose="02040502050405020303" pitchFamily="18" charset="0"/>
                </a:endParaRPr>
              </a:p>
            </p:txBody>
          </p:sp>
        </p:grpSp>
        <p:sp>
          <p:nvSpPr>
            <p:cNvPr id="67" name="Text 64">
              <a:extLst>
                <a:ext uri="{FF2B5EF4-FFF2-40B4-BE49-F238E27FC236}">
                  <a16:creationId xmlns:a16="http://schemas.microsoft.com/office/drawing/2014/main" id="{13984E17-A9B6-2B98-167B-295AFDFED60E}"/>
                </a:ext>
              </a:extLst>
            </p:cNvPr>
            <p:cNvSpPr/>
            <p:nvPr/>
          </p:nvSpPr>
          <p:spPr>
            <a:xfrm>
              <a:off x="1799500" y="4164428"/>
              <a:ext cx="4764286" cy="1286177"/>
            </a:xfrm>
            <a:prstGeom prst="rect">
              <a:avLst/>
            </a:prstGeom>
            <a:solidFill>
              <a:srgbClr val="FFF3C1"/>
            </a:solidFill>
            <a:ln/>
          </p:spPr>
          <p:txBody>
            <a:bodyPr wrap="square" lIns="25400" tIns="25400" rIns="25400" bIns="25400" rtlCol="0" anchor="t">
              <a:noAutofit/>
            </a:bodyPr>
            <a:lstStyle/>
            <a:p>
              <a:pPr marL="346075" indent="-61913">
                <a:defRPr/>
              </a:pPr>
              <a:r>
                <a:rPr lang="en-US" sz="1200" b="1" i="1" dirty="0">
                  <a:solidFill>
                    <a:srgbClr val="14342B"/>
                  </a:solidFill>
                  <a:latin typeface="Georgia" panose="02040502050405020303" pitchFamily="18" charset="0"/>
                  <a:ea typeface="Inter" pitchFamily="34" charset="-122"/>
                </a:rPr>
                <a:t>The Horticulture Department FPOs handles…</a:t>
              </a:r>
            </a:p>
            <a:p>
              <a:pPr marL="346075" indent="-61913">
                <a:defRPr/>
              </a:pPr>
              <a:endParaRPr lang="en-US" sz="400" b="1" i="1" dirty="0">
                <a:solidFill>
                  <a:srgbClr val="14342B"/>
                </a:solidFill>
                <a:latin typeface="Georgia" panose="02040502050405020303" pitchFamily="18" charset="0"/>
                <a:ea typeface="Inter" pitchFamily="34" charset="-122"/>
              </a:endParaRPr>
            </a:p>
            <a:p>
              <a:pPr marL="568325" indent="-168275">
                <a:buFont typeface="Wingdings" panose="05000000000000000000" pitchFamily="2" charset="2"/>
                <a:buChar char="q"/>
                <a:defRPr/>
              </a:pPr>
              <a:r>
                <a:rPr lang="en-US" sz="1000" b="1" dirty="0">
                  <a:latin typeface="Georgia" panose="02040502050405020303" pitchFamily="18" charset="0"/>
                  <a:ea typeface="Inter" pitchFamily="34" charset="-122"/>
                </a:rPr>
                <a:t>144 MT </a:t>
              </a:r>
              <a:r>
                <a:rPr lang="en-US" sz="1000" dirty="0">
                  <a:latin typeface="Georgia" panose="02040502050405020303" pitchFamily="18" charset="0"/>
                  <a:ea typeface="Inter" pitchFamily="34" charset="-122"/>
                </a:rPr>
                <a:t>of annual produce volume with transactions valued at </a:t>
              </a:r>
              <a:r>
                <a:rPr lang="en-US" sz="1000" b="1" dirty="0">
                  <a:latin typeface="Georgia" panose="02040502050405020303" pitchFamily="18" charset="0"/>
                  <a:ea typeface="Inter" pitchFamily="34" charset="-122"/>
                </a:rPr>
                <a:t>₹374 lakh </a:t>
              </a:r>
              <a:r>
                <a:rPr lang="en-US" sz="1000" dirty="0">
                  <a:latin typeface="Georgia" panose="02040502050405020303" pitchFamily="18" charset="0"/>
                  <a:ea typeface="Inter" pitchFamily="34" charset="-122"/>
                </a:rPr>
                <a:t>(FY 23–24) across key crops such as Pomegranate, Pineapple</a:t>
              </a:r>
            </a:p>
            <a:p>
              <a:pPr marL="568325" indent="-168275">
                <a:buFont typeface="Wingdings" panose="05000000000000000000" pitchFamily="2" charset="2"/>
                <a:buChar char="q"/>
                <a:defRPr/>
              </a:pPr>
              <a:r>
                <a:rPr lang="en-US" sz="1000" b="1" dirty="0">
                  <a:latin typeface="Georgia" panose="02040502050405020303" pitchFamily="18" charset="0"/>
                  <a:ea typeface="Inter" pitchFamily="34" charset="-122"/>
                </a:rPr>
                <a:t>227 MT </a:t>
              </a:r>
              <a:r>
                <a:rPr lang="en-US" sz="1000" dirty="0">
                  <a:latin typeface="Georgia" panose="02040502050405020303" pitchFamily="18" charset="0"/>
                  <a:ea typeface="Inter" pitchFamily="34" charset="-122"/>
                </a:rPr>
                <a:t>of annual produce volume with transactions valued at </a:t>
              </a:r>
              <a:r>
                <a:rPr lang="en-US" sz="1000" b="1" dirty="0">
                  <a:latin typeface="Georgia" panose="02040502050405020303" pitchFamily="18" charset="0"/>
                  <a:ea typeface="Inter" pitchFamily="34" charset="-122"/>
                </a:rPr>
                <a:t>₹607 lakh </a:t>
              </a:r>
              <a:r>
                <a:rPr lang="en-US" sz="1000" dirty="0">
                  <a:latin typeface="Georgia" panose="02040502050405020303" pitchFamily="18" charset="0"/>
                  <a:ea typeface="Inter" pitchFamily="34" charset="-122"/>
                </a:rPr>
                <a:t>(FY 23-24) for major fruits and vegetables grown like Pineapple, Rose onion, Pomegranate, Jackfruit</a:t>
              </a:r>
            </a:p>
            <a:p>
              <a:pPr marL="346075" indent="-61913">
                <a:defRPr/>
              </a:pPr>
              <a:endParaRPr lang="en-US" sz="1200" b="1" i="1" dirty="0">
                <a:solidFill>
                  <a:srgbClr val="14342B"/>
                </a:solidFill>
                <a:latin typeface="Georgia" panose="02040502050405020303" pitchFamily="18" charset="0"/>
                <a:ea typeface="Inter" pitchFamily="34" charset="-122"/>
              </a:endParaRPr>
            </a:p>
          </p:txBody>
        </p:sp>
        <p:sp>
          <p:nvSpPr>
            <p:cNvPr id="68" name="Shape 98">
              <a:extLst>
                <a:ext uri="{FF2B5EF4-FFF2-40B4-BE49-F238E27FC236}">
                  <a16:creationId xmlns:a16="http://schemas.microsoft.com/office/drawing/2014/main" id="{C9366C37-FDA4-F48D-874E-C323EA6A08BC}"/>
                </a:ext>
              </a:extLst>
            </p:cNvPr>
            <p:cNvSpPr/>
            <p:nvPr/>
          </p:nvSpPr>
          <p:spPr>
            <a:xfrm>
              <a:off x="1799499" y="5513665"/>
              <a:ext cx="9618977" cy="262227"/>
            </a:xfrm>
            <a:prstGeom prst="roundRect">
              <a:avLst>
                <a:gd name="adj" fmla="val 3171"/>
              </a:avLst>
            </a:prstGeom>
            <a:solidFill>
              <a:srgbClr val="FFC000"/>
            </a:solidFill>
            <a:ln>
              <a:noFill/>
              <a:prstDash val="dash"/>
            </a:ln>
          </p:spPr>
          <p:txBody>
            <a:bodyPr/>
            <a:lstStyle/>
            <a:p>
              <a:r>
                <a:rPr lang="en-US" sz="900" i="1" dirty="0">
                  <a:solidFill>
                    <a:srgbClr val="14342B"/>
                  </a:solidFill>
                  <a:latin typeface="Georgia" panose="02040502050405020303" pitchFamily="18" charset="0"/>
                </a:rPr>
                <a:t>A total of 29 Self-Help Groups (SHGs) are engaged in natural food production</a:t>
              </a:r>
              <a:endParaRPr lang="en-IN" sz="900" i="1" dirty="0">
                <a:solidFill>
                  <a:srgbClr val="14342B"/>
                </a:solidFill>
                <a:latin typeface="Georgia" panose="02040502050405020303" pitchFamily="18" charset="0"/>
              </a:endParaRPr>
            </a:p>
          </p:txBody>
        </p:sp>
        <p:sp>
          <p:nvSpPr>
            <p:cNvPr id="69" name="Text 64">
              <a:extLst>
                <a:ext uri="{FF2B5EF4-FFF2-40B4-BE49-F238E27FC236}">
                  <a16:creationId xmlns:a16="http://schemas.microsoft.com/office/drawing/2014/main" id="{A1B635CA-A74F-C617-7AEC-D91367EB7824}"/>
                </a:ext>
              </a:extLst>
            </p:cNvPr>
            <p:cNvSpPr/>
            <p:nvPr/>
          </p:nvSpPr>
          <p:spPr>
            <a:xfrm>
              <a:off x="6654190" y="4164430"/>
              <a:ext cx="4764286" cy="1286174"/>
            </a:xfrm>
            <a:prstGeom prst="rect">
              <a:avLst/>
            </a:prstGeom>
            <a:solidFill>
              <a:srgbClr val="D4EDDA"/>
            </a:solidFill>
            <a:ln/>
          </p:spPr>
          <p:txBody>
            <a:bodyPr wrap="square" lIns="25400" tIns="25400" rIns="25400" bIns="25400" rtlCol="0" anchor="t">
              <a:noAutofit/>
            </a:bodyPr>
            <a:lstStyle/>
            <a:p>
              <a:pPr marL="284163"/>
              <a:r>
                <a:rPr lang="en-US" sz="1200" b="1" i="1" dirty="0">
                  <a:solidFill>
                    <a:srgbClr val="14342B"/>
                  </a:solidFill>
                  <a:latin typeface="Georgia" panose="02040502050405020303" pitchFamily="18" charset="0"/>
                  <a:ea typeface="Inter" pitchFamily="34" charset="-122"/>
                </a:rPr>
                <a:t>The Watershed Development Department FPOs includes…</a:t>
              </a:r>
            </a:p>
            <a:p>
              <a:pPr marL="284163"/>
              <a:endParaRPr lang="en-US" sz="400" b="1" i="1" dirty="0">
                <a:solidFill>
                  <a:srgbClr val="14342B"/>
                </a:solidFill>
                <a:latin typeface="Georgia" panose="02040502050405020303" pitchFamily="18" charset="0"/>
                <a:ea typeface="Inter" pitchFamily="34" charset="-122"/>
              </a:endParaRPr>
            </a:p>
            <a:p>
              <a:pPr marL="569913" indent="-169863">
                <a:buFont typeface="Wingdings" panose="05000000000000000000" pitchFamily="2" charset="2"/>
                <a:buChar char="q"/>
              </a:pPr>
              <a:r>
                <a:rPr lang="en-US" sz="1000" b="1" dirty="0">
                  <a:latin typeface="Georgia" panose="02040502050405020303" pitchFamily="18" charset="0"/>
                  <a:ea typeface="Inter" pitchFamily="34" charset="-122"/>
                </a:rPr>
                <a:t>16</a:t>
              </a:r>
              <a:r>
                <a:rPr lang="en-US" sz="1000" dirty="0">
                  <a:latin typeface="Georgia" panose="02040502050405020303" pitchFamily="18" charset="0"/>
                  <a:ea typeface="Inter" pitchFamily="34" charset="-122"/>
                </a:rPr>
                <a:t> FPOs with transactions valued at </a:t>
              </a:r>
              <a:r>
                <a:rPr lang="en-US" sz="1000" b="1" dirty="0">
                  <a:latin typeface="Georgia" panose="02040502050405020303" pitchFamily="18" charset="0"/>
                  <a:ea typeface="Inter" pitchFamily="34" charset="-122"/>
                </a:rPr>
                <a:t>₹19 crores </a:t>
              </a:r>
              <a:r>
                <a:rPr lang="en-US" sz="1000" dirty="0">
                  <a:latin typeface="Georgia" panose="02040502050405020303" pitchFamily="18" charset="0"/>
                  <a:ea typeface="Inter" pitchFamily="34" charset="-122"/>
                </a:rPr>
                <a:t>(FY 23–24) across key crops such as Pineapple, Banana, Tomato</a:t>
              </a:r>
            </a:p>
            <a:p>
              <a:pPr marL="569913" indent="-171450">
                <a:buFont typeface="Wingdings" panose="05000000000000000000" pitchFamily="2" charset="2"/>
                <a:buChar char="q"/>
              </a:pPr>
              <a:r>
                <a:rPr lang="en-US" sz="1000" b="1" dirty="0">
                  <a:latin typeface="Georgia" panose="02040502050405020303" pitchFamily="18" charset="0"/>
                  <a:ea typeface="Inter" pitchFamily="34" charset="-122"/>
                </a:rPr>
                <a:t>25</a:t>
              </a:r>
              <a:r>
                <a:rPr lang="en-US" sz="1000" dirty="0">
                  <a:latin typeface="Georgia" panose="02040502050405020303" pitchFamily="18" charset="0"/>
                  <a:ea typeface="Inter" pitchFamily="34" charset="-122"/>
                </a:rPr>
                <a:t> FPOs with transactions valued at </a:t>
              </a:r>
              <a:r>
                <a:rPr lang="en-US" sz="1000" b="1" dirty="0">
                  <a:latin typeface="Georgia" panose="02040502050405020303" pitchFamily="18" charset="0"/>
                  <a:ea typeface="Inter" pitchFamily="34" charset="-122"/>
                </a:rPr>
                <a:t>₹22 crores </a:t>
              </a:r>
              <a:r>
                <a:rPr lang="en-US" sz="1000" dirty="0">
                  <a:latin typeface="Georgia" panose="02040502050405020303" pitchFamily="18" charset="0"/>
                  <a:ea typeface="Inter" pitchFamily="34" charset="-122"/>
                </a:rPr>
                <a:t>(FY 23-24) for major fruits and vegetables grown like </a:t>
              </a:r>
              <a:r>
                <a:rPr lang="it-IT" sz="1000" dirty="0">
                  <a:latin typeface="Georgia" panose="02040502050405020303" pitchFamily="18" charset="0"/>
                  <a:ea typeface="Inter" pitchFamily="34" charset="-122"/>
                </a:rPr>
                <a:t>Banana, Tomato, Pineapple</a:t>
              </a:r>
              <a:endParaRPr lang="en-US" sz="1000" dirty="0">
                <a:latin typeface="Georgia" panose="02040502050405020303" pitchFamily="18" charset="0"/>
                <a:ea typeface="Inter" pitchFamily="34" charset="-122"/>
              </a:endParaRPr>
            </a:p>
          </p:txBody>
        </p:sp>
        <p:pic>
          <p:nvPicPr>
            <p:cNvPr id="70" name="Picture 69">
              <a:extLst>
                <a:ext uri="{FF2B5EF4-FFF2-40B4-BE49-F238E27FC236}">
                  <a16:creationId xmlns:a16="http://schemas.microsoft.com/office/drawing/2014/main" id="{8A4991B2-40F3-EE34-05A3-73E221A72BAD}"/>
                </a:ext>
              </a:extLst>
            </p:cNvPr>
            <p:cNvPicPr>
              <a:picLocks noChangeAspect="1"/>
            </p:cNvPicPr>
            <p:nvPr/>
          </p:nvPicPr>
          <p:blipFill>
            <a:blip r:embed="rId2"/>
            <a:stretch>
              <a:fillRect/>
            </a:stretch>
          </p:blipFill>
          <p:spPr>
            <a:xfrm>
              <a:off x="1891750" y="4196651"/>
              <a:ext cx="160437" cy="160437"/>
            </a:xfrm>
            <a:prstGeom prst="rect">
              <a:avLst/>
            </a:prstGeom>
          </p:spPr>
        </p:pic>
        <p:pic>
          <p:nvPicPr>
            <p:cNvPr id="71" name="Picture 70">
              <a:extLst>
                <a:ext uri="{FF2B5EF4-FFF2-40B4-BE49-F238E27FC236}">
                  <a16:creationId xmlns:a16="http://schemas.microsoft.com/office/drawing/2014/main" id="{2C851ED3-080C-AF64-6379-E70DF7D1C5C1}"/>
                </a:ext>
              </a:extLst>
            </p:cNvPr>
            <p:cNvPicPr>
              <a:picLocks noChangeAspect="1"/>
            </p:cNvPicPr>
            <p:nvPr/>
          </p:nvPicPr>
          <p:blipFill>
            <a:blip r:embed="rId3"/>
            <a:stretch>
              <a:fillRect/>
            </a:stretch>
          </p:blipFill>
          <p:spPr>
            <a:xfrm>
              <a:off x="6726069" y="4177660"/>
              <a:ext cx="228600" cy="228600"/>
            </a:xfrm>
            <a:prstGeom prst="rect">
              <a:avLst/>
            </a:prstGeom>
          </p:spPr>
        </p:pic>
      </p:grpSp>
      <p:sp>
        <p:nvSpPr>
          <p:cNvPr id="80" name="Rectangle 79">
            <a:extLst>
              <a:ext uri="{FF2B5EF4-FFF2-40B4-BE49-F238E27FC236}">
                <a16:creationId xmlns:a16="http://schemas.microsoft.com/office/drawing/2014/main" id="{9684BFCE-B63A-6487-C554-6E85603CC4D2}"/>
              </a:ext>
            </a:extLst>
          </p:cNvPr>
          <p:cNvSpPr/>
          <p:nvPr/>
        </p:nvSpPr>
        <p:spPr>
          <a:xfrm>
            <a:off x="685800" y="5538561"/>
            <a:ext cx="5550528" cy="584947"/>
          </a:xfrm>
          <a:prstGeom prst="rect">
            <a:avLst/>
          </a:prstGeom>
          <a:noFill/>
          <a:ln>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i="1" dirty="0">
                <a:solidFill>
                  <a:schemeClr val="tx1"/>
                </a:solidFill>
                <a:latin typeface="Georgia" panose="02040502050405020303" pitchFamily="18" charset="0"/>
              </a:rPr>
              <a:t>Sources: As per the internal data shared by the following departments under Government of Karnataka, as of March 2026:</a:t>
            </a:r>
          </a:p>
          <a:p>
            <a:endParaRPr lang="en-US" sz="300" i="1" dirty="0">
              <a:solidFill>
                <a:schemeClr val="tx1"/>
              </a:solidFill>
              <a:latin typeface="Georgia" panose="02040502050405020303" pitchFamily="18" charset="0"/>
            </a:endParaRPr>
          </a:p>
          <a:p>
            <a:pPr marL="228600" indent="-228600">
              <a:buFont typeface="Arial" panose="020B0604020202020204" pitchFamily="34" charset="0"/>
              <a:buChar char="•"/>
            </a:pPr>
            <a:r>
              <a:rPr lang="en-IN" sz="700" i="1" dirty="0">
                <a:solidFill>
                  <a:schemeClr val="tx1"/>
                </a:solidFill>
                <a:latin typeface="Georgia" panose="02040502050405020303" pitchFamily="18" charset="0"/>
              </a:rPr>
              <a:t>Directorate of horticulture – Horticulture department FPOs</a:t>
            </a:r>
          </a:p>
          <a:p>
            <a:pPr marL="228600" indent="-228600">
              <a:buFont typeface="Arial" panose="020B0604020202020204" pitchFamily="34" charset="0"/>
              <a:buChar char="•"/>
            </a:pPr>
            <a:r>
              <a:rPr lang="en-IN" sz="700" i="1" dirty="0">
                <a:solidFill>
                  <a:schemeClr val="tx1"/>
                </a:solidFill>
                <a:latin typeface="Georgia" panose="02040502050405020303" pitchFamily="18" charset="0"/>
              </a:rPr>
              <a:t>Watershed development department – WDD FPOs</a:t>
            </a:r>
          </a:p>
          <a:p>
            <a:pPr marL="228600" indent="-228600">
              <a:buFont typeface="Arial" panose="020B0604020202020204" pitchFamily="34" charset="0"/>
              <a:buChar char="•"/>
            </a:pPr>
            <a:r>
              <a:rPr lang="en-IN" sz="700" i="1" dirty="0">
                <a:solidFill>
                  <a:schemeClr val="tx1"/>
                </a:solidFill>
                <a:latin typeface="Georgia" panose="02040502050405020303" pitchFamily="18" charset="0"/>
              </a:rPr>
              <a:t>KSRLPS - SHGs</a:t>
            </a:r>
            <a:endParaRPr lang="en-IN" sz="700" dirty="0">
              <a:solidFill>
                <a:schemeClr val="tx1"/>
              </a:solidFill>
              <a:latin typeface="Georgia" panose="02040502050405020303" pitchFamily="18" charset="0"/>
            </a:endParaRPr>
          </a:p>
        </p:txBody>
      </p:sp>
      <p:pic>
        <p:nvPicPr>
          <p:cNvPr id="2" name="Picture 1">
            <a:extLst>
              <a:ext uri="{FF2B5EF4-FFF2-40B4-BE49-F238E27FC236}">
                <a16:creationId xmlns:a16="http://schemas.microsoft.com/office/drawing/2014/main" id="{92ABDE78-7019-B019-58AA-B2B2E43F2AEF}"/>
              </a:ext>
            </a:extLst>
          </p:cNvPr>
          <p:cNvPicPr>
            <a:picLocks noChangeAspect="1"/>
          </p:cNvPicPr>
          <p:nvPr/>
        </p:nvPicPr>
        <p:blipFill>
          <a:blip r:embed="rId4" cstate="print">
            <a:extLst>
              <a:ext uri="{28A0092B-C50C-407E-A947-70E740481C1C}">
                <a14:useLocalDpi xmlns:a14="http://schemas.microsoft.com/office/drawing/2010/main" val="0"/>
              </a:ext>
            </a:extLst>
          </a:blip>
          <a:srcRect l="9279" t="4046" r="10349" b="10001"/>
          <a:stretch>
            <a:fillRect/>
          </a:stretch>
        </p:blipFill>
        <p:spPr>
          <a:xfrm>
            <a:off x="834504" y="2580005"/>
            <a:ext cx="989667" cy="1802759"/>
          </a:xfrm>
          <a:prstGeom prst="rect">
            <a:avLst/>
          </a:prstGeom>
        </p:spPr>
      </p:pic>
      <p:pic>
        <p:nvPicPr>
          <p:cNvPr id="4" name="Picture 3">
            <a:extLst>
              <a:ext uri="{FF2B5EF4-FFF2-40B4-BE49-F238E27FC236}">
                <a16:creationId xmlns:a16="http://schemas.microsoft.com/office/drawing/2014/main" id="{8BB83D7C-FAE9-BBAD-A300-F37A027B9F55}"/>
              </a:ext>
            </a:extLst>
          </p:cNvPr>
          <p:cNvPicPr>
            <a:picLocks noChangeAspect="1"/>
          </p:cNvPicPr>
          <p:nvPr/>
        </p:nvPicPr>
        <p:blipFill>
          <a:blip r:embed="rId5"/>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1388430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a:spLocks/>
          </p:cNvSpPr>
          <p:nvPr/>
        </p:nvSpPr>
        <p:spPr>
          <a:xfrm>
            <a:off x="457200" y="199641"/>
            <a:ext cx="10561116" cy="486159"/>
          </a:xfrm>
          <a:prstGeom prst="rect">
            <a:avLst/>
          </a:prstGeom>
        </p:spPr>
        <p:txBody>
          <a:bodyPr/>
          <a:lstStyle/>
          <a:p>
            <a:pPr>
              <a:lnSpc>
                <a:spcPct val="150000"/>
              </a:lnSpc>
              <a:spcAft>
                <a:spcPts val="800"/>
              </a:spcAft>
            </a:pPr>
            <a:r>
              <a:rPr lang="en-IN" sz="2400" b="1" dirty="0">
                <a:solidFill>
                  <a:srgbClr val="E8A33D"/>
                </a:solidFill>
                <a:latin typeface="Georgia" panose="02040502050405020303" pitchFamily="18" charset="0"/>
              </a:rPr>
              <a:t>Challenge category 5: </a:t>
            </a:r>
            <a:r>
              <a:rPr lang="en-IN" sz="2400" b="1" dirty="0">
                <a:solidFill>
                  <a:schemeClr val="bg1"/>
                </a:solidFill>
                <a:latin typeface="Georgia" panose="02040502050405020303" pitchFamily="18" charset="0"/>
              </a:rPr>
              <a:t>Innovative Financial Access Solutions</a:t>
            </a:r>
          </a:p>
        </p:txBody>
      </p:sp>
      <p:sp>
        <p:nvSpPr>
          <p:cNvPr id="10" name="Stat1BG"/>
          <p:cNvSpPr/>
          <p:nvPr/>
        </p:nvSpPr>
        <p:spPr>
          <a:xfrm>
            <a:off x="591000" y="1083669"/>
            <a:ext cx="3600000" cy="1184400"/>
          </a:xfrm>
          <a:prstGeom prst="rect">
            <a:avLst/>
          </a:prstGeom>
          <a:solidFill>
            <a:srgbClr val="1A4731"/>
          </a:solidFill>
          <a:ln/>
        </p:spPr>
        <p:txBody>
          <a:bodyPr/>
          <a:lstStyle/>
          <a:p>
            <a:endParaRPr lang="en-IN">
              <a:latin typeface="Georgia" panose="02040502050405020303" pitchFamily="18" charset="0"/>
            </a:endParaRPr>
          </a:p>
        </p:txBody>
      </p:sp>
      <p:sp>
        <p:nvSpPr>
          <p:cNvPr id="12" name="Stat1Label"/>
          <p:cNvSpPr/>
          <p:nvPr/>
        </p:nvSpPr>
        <p:spPr>
          <a:xfrm>
            <a:off x="683800" y="1206000"/>
            <a:ext cx="3260000" cy="851400"/>
          </a:xfrm>
          <a:prstGeom prst="rect">
            <a:avLst/>
          </a:prstGeom>
          <a:noFill/>
          <a:ln/>
        </p:spPr>
        <p:txBody>
          <a:bodyPr wrap="square" lIns="0" tIns="0" rIns="0" bIns="0" rtlCol="0" anchor="ctr"/>
          <a:lstStyle/>
          <a:p>
            <a:pPr algn="ctr"/>
            <a:r>
              <a:rPr lang="en-US" sz="1200" dirty="0">
                <a:solidFill>
                  <a:schemeClr val="bg1"/>
                </a:solidFill>
                <a:latin typeface="Georgia" panose="02040502050405020303" pitchFamily="18" charset="0"/>
              </a:rPr>
              <a:t>FPOs often face persistent challenges in accessing adequate and timely credit across all stages of their growth trajectory*.</a:t>
            </a:r>
            <a:endParaRPr lang="en-US" sz="1200" i="1" dirty="0">
              <a:solidFill>
                <a:schemeClr val="bg1"/>
              </a:solidFill>
              <a:latin typeface="Georgia" panose="02040502050405020303" pitchFamily="18" charset="0"/>
            </a:endParaRPr>
          </a:p>
        </p:txBody>
      </p:sp>
      <p:sp>
        <p:nvSpPr>
          <p:cNvPr id="20" name="Stat2BG"/>
          <p:cNvSpPr/>
          <p:nvPr/>
        </p:nvSpPr>
        <p:spPr>
          <a:xfrm>
            <a:off x="4324800" y="1066800"/>
            <a:ext cx="3600000" cy="1184400"/>
          </a:xfrm>
          <a:prstGeom prst="rect">
            <a:avLst/>
          </a:prstGeom>
          <a:solidFill>
            <a:srgbClr val="E6922A"/>
          </a:solidFill>
          <a:ln/>
        </p:spPr>
        <p:txBody>
          <a:bodyPr/>
          <a:lstStyle/>
          <a:p>
            <a:endParaRPr lang="en-IN">
              <a:latin typeface="Georgia" panose="02040502050405020303" pitchFamily="18" charset="0"/>
            </a:endParaRPr>
          </a:p>
        </p:txBody>
      </p:sp>
      <p:sp>
        <p:nvSpPr>
          <p:cNvPr id="22" name="Stat2Label"/>
          <p:cNvSpPr/>
          <p:nvPr/>
        </p:nvSpPr>
        <p:spPr>
          <a:xfrm>
            <a:off x="4512400" y="1227766"/>
            <a:ext cx="3260000" cy="857000"/>
          </a:xfrm>
          <a:prstGeom prst="rect">
            <a:avLst/>
          </a:prstGeom>
          <a:noFill/>
          <a:ln/>
        </p:spPr>
        <p:txBody>
          <a:bodyPr wrap="square" lIns="0" tIns="0" rIns="0" bIns="0" rtlCol="0" anchor="ctr"/>
          <a:lstStyle/>
          <a:p>
            <a:pPr algn="ctr"/>
            <a:r>
              <a:rPr lang="en-US" sz="1200" i="1" dirty="0">
                <a:solidFill>
                  <a:schemeClr val="bg1"/>
                </a:solidFill>
                <a:latin typeface="Georgia" panose="02040502050405020303" pitchFamily="18" charset="0"/>
              </a:rPr>
              <a:t>20 - 22% of Karnataka's horticulture produce is lost post-harvest, directly attributed to absence of financed cold chain, pack-houses, and transport**</a:t>
            </a:r>
          </a:p>
        </p:txBody>
      </p:sp>
      <p:sp>
        <p:nvSpPr>
          <p:cNvPr id="30" name="Stat3BG"/>
          <p:cNvSpPr/>
          <p:nvPr/>
        </p:nvSpPr>
        <p:spPr>
          <a:xfrm>
            <a:off x="8058600" y="1066800"/>
            <a:ext cx="3600000" cy="1184400"/>
          </a:xfrm>
          <a:prstGeom prst="rect">
            <a:avLst/>
          </a:prstGeom>
          <a:solidFill>
            <a:srgbClr val="1A4731"/>
          </a:solidFill>
          <a:ln/>
        </p:spPr>
        <p:txBody>
          <a:bodyPr/>
          <a:lstStyle/>
          <a:p>
            <a:endParaRPr lang="en-IN" dirty="0">
              <a:latin typeface="Georgia" panose="02040502050405020303" pitchFamily="18" charset="0"/>
            </a:endParaRPr>
          </a:p>
        </p:txBody>
      </p:sp>
      <p:sp>
        <p:nvSpPr>
          <p:cNvPr id="40" name="SchemesHeader"/>
          <p:cNvSpPr txBox="1"/>
          <p:nvPr/>
        </p:nvSpPr>
        <p:spPr>
          <a:xfrm>
            <a:off x="533400" y="2307000"/>
            <a:ext cx="11125200" cy="360000"/>
          </a:xfrm>
          <a:prstGeom prst="rect">
            <a:avLst/>
          </a:prstGeom>
          <a:solidFill>
            <a:srgbClr val="14342B"/>
          </a:solidFill>
          <a:ln/>
        </p:spPr>
        <p:txBody>
          <a:bodyPr wrap="square" anchor="ctr"/>
          <a:lstStyle/>
          <a:p>
            <a:pPr marL="91440" algn="l">
              <a:buNone/>
            </a:pPr>
            <a:r>
              <a:rPr lang="en-US" sz="1300" b="1" dirty="0">
                <a:solidFill>
                  <a:srgbClr val="E8A33D"/>
                </a:solidFill>
                <a:latin typeface="Georgia" panose="02040502050405020303" pitchFamily="18" charset="0"/>
              </a:rPr>
              <a:t>Key Government Schemes Supporting Agri-Tech Entrepreneurs in Karnataka</a:t>
            </a:r>
          </a:p>
        </p:txBody>
      </p:sp>
      <p:sp>
        <p:nvSpPr>
          <p:cNvPr id="5" name="Slide Number Placeholde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 </a:t>
            </a:r>
            <a:fld id="{81D60167-4931-47E6-BA6A-407CBD079E48}" type="slidenum">
              <a:rPr smtClean="0">
                <a:latin typeface="Georgia" panose="02040502050405020303" pitchFamily="18" charset="0"/>
              </a:rPr>
              <a:t>23</a:t>
            </a:fld>
            <a:endParaRPr>
              <a:latin typeface="Georgia" panose="02040502050405020303" pitchFamily="18" charset="0"/>
            </a:endParaRPr>
          </a:p>
        </p:txBody>
      </p:sp>
      <p:grpSp>
        <p:nvGrpSpPr>
          <p:cNvPr id="3" name="Group 2">
            <a:extLst>
              <a:ext uri="{FF2B5EF4-FFF2-40B4-BE49-F238E27FC236}">
                <a16:creationId xmlns:a16="http://schemas.microsoft.com/office/drawing/2014/main" id="{DEC393BA-A150-CEAD-FFAB-6FC81072C369}"/>
              </a:ext>
            </a:extLst>
          </p:cNvPr>
          <p:cNvGrpSpPr/>
          <p:nvPr/>
        </p:nvGrpSpPr>
        <p:grpSpPr>
          <a:xfrm>
            <a:off x="610100" y="2723699"/>
            <a:ext cx="11048500" cy="2744335"/>
            <a:chOff x="610100" y="2781533"/>
            <a:chExt cx="10971800" cy="2531553"/>
          </a:xfrm>
        </p:grpSpPr>
        <p:sp>
          <p:nvSpPr>
            <p:cNvPr id="50" name="Card1"/>
            <p:cNvSpPr txBox="1"/>
            <p:nvPr/>
          </p:nvSpPr>
          <p:spPr>
            <a:xfrm>
              <a:off x="610100" y="2781533"/>
              <a:ext cx="2133100" cy="2520000"/>
            </a:xfrm>
            <a:prstGeom prst="rect">
              <a:avLst/>
            </a:prstGeom>
            <a:solidFill>
              <a:srgbClr val="EAF4EE"/>
            </a:solidFill>
            <a:ln w="19050">
              <a:solidFill>
                <a:srgbClr val="1A4731"/>
              </a:solidFill>
            </a:ln>
          </p:spPr>
          <p:txBody>
            <a:bodyPr wrap="square" lIns="91440" tIns="91440" rIns="91440" bIns="91440"/>
            <a:lstStyle/>
            <a:p>
              <a:pPr>
                <a:spcAft>
                  <a:spcPts val="300"/>
                </a:spcAft>
              </a:pPr>
              <a:r>
                <a:rPr lang="en-US" sz="1000" b="1" dirty="0">
                  <a:solidFill>
                    <a:srgbClr val="1A4731"/>
                  </a:solidFill>
                  <a:latin typeface="Georgia" panose="02040502050405020303" pitchFamily="18" charset="0"/>
                </a:rPr>
                <a:t>Agriculture Infrastructure Fund (AIF)</a:t>
              </a:r>
              <a:endParaRPr lang="en-US" altLang="en-US" sz="1000" dirty="0">
                <a:latin typeface="Georgia" panose="02040502050405020303" pitchFamily="18" charset="0"/>
              </a:endParaRPr>
            </a:p>
            <a:p>
              <a:pPr marL="269875" lvl="0" indent="-176213" eaLnBrk="0" fontAlgn="base" hangingPunct="0">
                <a:spcBef>
                  <a:spcPct val="0"/>
                </a:spcBef>
                <a:spcAft>
                  <a:spcPct val="0"/>
                </a:spcAft>
                <a:buFontTx/>
                <a:buChar char="•"/>
              </a:pPr>
              <a:r>
                <a:rPr lang="en-US" altLang="en-US" sz="1000" dirty="0">
                  <a:latin typeface="Georgia" panose="02040502050405020303" pitchFamily="18" charset="0"/>
                </a:rPr>
                <a:t>₹1 lakh crore national financing facility for post-harvest infrastructure </a:t>
              </a:r>
            </a:p>
            <a:p>
              <a:pPr marL="269875" lvl="0" indent="-176213" eaLnBrk="0" fontAlgn="base" hangingPunct="0">
                <a:spcBef>
                  <a:spcPct val="0"/>
                </a:spcBef>
                <a:spcAft>
                  <a:spcPct val="0"/>
                </a:spcAft>
                <a:buFontTx/>
                <a:buChar char="•"/>
              </a:pPr>
              <a:r>
                <a:rPr lang="en-US" altLang="en-US" sz="1000" dirty="0">
                  <a:latin typeface="Georgia" panose="02040502050405020303" pitchFamily="18" charset="0"/>
                </a:rPr>
                <a:t>3% interest subvention on loans up to ₹2 crore </a:t>
              </a:r>
            </a:p>
            <a:p>
              <a:pPr marL="269875" lvl="0" indent="-176213" eaLnBrk="0" fontAlgn="base" hangingPunct="0">
                <a:spcBef>
                  <a:spcPct val="0"/>
                </a:spcBef>
                <a:spcAft>
                  <a:spcPct val="0"/>
                </a:spcAft>
                <a:buFontTx/>
                <a:buChar char="•"/>
              </a:pPr>
              <a:r>
                <a:rPr lang="en-US" altLang="en-US" sz="1000" dirty="0">
                  <a:latin typeface="Georgia" panose="02040502050405020303" pitchFamily="18" charset="0"/>
                </a:rPr>
                <a:t>Credit guarantee support for warehouses, cold storage, pack houses, and logistics infrastructure </a:t>
              </a:r>
            </a:p>
            <a:p>
              <a:pPr marL="269875" lvl="0" indent="-176213" eaLnBrk="0" fontAlgn="base" hangingPunct="0">
                <a:spcBef>
                  <a:spcPct val="0"/>
                </a:spcBef>
                <a:spcAft>
                  <a:spcPct val="0"/>
                </a:spcAft>
                <a:buFontTx/>
                <a:buChar char="•"/>
              </a:pPr>
              <a:r>
                <a:rPr lang="en-US" altLang="en-US" sz="1000" dirty="0">
                  <a:latin typeface="Georgia" panose="02040502050405020303" pitchFamily="18" charset="0"/>
                </a:rPr>
                <a:t>Supports warehouse receipt financing and FPO working capital models </a:t>
              </a:r>
            </a:p>
          </p:txBody>
        </p:sp>
        <p:sp>
          <p:nvSpPr>
            <p:cNvPr id="51" name="Card2"/>
            <p:cNvSpPr txBox="1"/>
            <p:nvPr/>
          </p:nvSpPr>
          <p:spPr>
            <a:xfrm>
              <a:off x="9448800" y="2793086"/>
              <a:ext cx="2133100" cy="2520000"/>
            </a:xfrm>
            <a:prstGeom prst="rect">
              <a:avLst/>
            </a:prstGeom>
            <a:solidFill>
              <a:srgbClr val="EAF4EE"/>
            </a:solidFill>
            <a:ln w="19050">
              <a:solidFill>
                <a:srgbClr val="1A4731"/>
              </a:solidFill>
            </a:ln>
          </p:spPr>
          <p:txBody>
            <a:bodyPr wrap="square" lIns="91440" tIns="91440" rIns="91440" bIns="91440"/>
            <a:lstStyle/>
            <a:p>
              <a:pPr>
                <a:spcAft>
                  <a:spcPts val="300"/>
                </a:spcAft>
              </a:pPr>
              <a:r>
                <a:rPr lang="en-US" sz="1000" b="1" dirty="0">
                  <a:solidFill>
                    <a:srgbClr val="B57A10"/>
                  </a:solidFill>
                  <a:latin typeface="Georgia" panose="02040502050405020303" pitchFamily="18" charset="0"/>
                </a:rPr>
                <a:t>RKVY-RAFTAAR (Central)</a:t>
              </a:r>
            </a:p>
            <a:p>
              <a:pPr marL="176213" indent="-176213" eaLnBrk="0" fontAlgn="base" hangingPunct="0">
                <a:spcBef>
                  <a:spcPct val="0"/>
                </a:spcBef>
                <a:spcAft>
                  <a:spcPct val="0"/>
                </a:spcAft>
                <a:buFontTx/>
                <a:buChar char="•"/>
              </a:pPr>
              <a:r>
                <a:rPr lang="en-US" sz="1000" dirty="0">
                  <a:latin typeface="Georgia" panose="02040502050405020303" pitchFamily="18" charset="0"/>
                </a:rPr>
                <a:t>Grants up to </a:t>
              </a:r>
              <a:r>
                <a:rPr lang="en-US" sz="1000" dirty="0" err="1">
                  <a:latin typeface="Georgia" panose="02040502050405020303" pitchFamily="18" charset="0"/>
                </a:rPr>
                <a:t>Rs.25</a:t>
              </a:r>
              <a:r>
                <a:rPr lang="en-US" sz="1000" dirty="0">
                  <a:latin typeface="Georgia" panose="02040502050405020303" pitchFamily="18" charset="0"/>
                </a:rPr>
                <a:t> Lakh for </a:t>
              </a:r>
              <a:r>
                <a:rPr lang="en-US" sz="1000" dirty="0" err="1">
                  <a:latin typeface="Georgia" panose="02040502050405020303" pitchFamily="18" charset="0"/>
                </a:rPr>
                <a:t>agri</a:t>
              </a:r>
              <a:r>
                <a:rPr lang="en-US" sz="1000" dirty="0">
                  <a:latin typeface="Georgia" panose="02040502050405020303" pitchFamily="18" charset="0"/>
                </a:rPr>
                <a:t>-tech startups at seed stage via ICAR/MANAGE incubators. </a:t>
              </a:r>
            </a:p>
            <a:p>
              <a:pPr marL="176213" indent="-176213" eaLnBrk="0" fontAlgn="base" hangingPunct="0">
                <a:spcBef>
                  <a:spcPct val="0"/>
                </a:spcBef>
                <a:spcAft>
                  <a:spcPct val="0"/>
                </a:spcAft>
                <a:buFontTx/>
                <a:buChar char="•"/>
              </a:pPr>
              <a:r>
                <a:rPr lang="en-US" sz="1000" dirty="0">
                  <a:latin typeface="Georgia" panose="02040502050405020303" pitchFamily="18" charset="0"/>
                </a:rPr>
                <a:t>Covers fintech, digital lending and market platforms. </a:t>
              </a:r>
            </a:p>
            <a:p>
              <a:pPr marL="176213" indent="-176213" eaLnBrk="0" fontAlgn="base" hangingPunct="0">
                <a:spcBef>
                  <a:spcPct val="0"/>
                </a:spcBef>
                <a:spcAft>
                  <a:spcPct val="0"/>
                </a:spcAft>
                <a:buFontTx/>
                <a:buChar char="•"/>
              </a:pPr>
              <a:r>
                <a:rPr lang="en-US" sz="1000" dirty="0" err="1">
                  <a:latin typeface="Georgia" panose="02040502050405020303" pitchFamily="18" charset="0"/>
                </a:rPr>
                <a:t>RKVY</a:t>
              </a:r>
              <a:r>
                <a:rPr lang="en-US" sz="1000" dirty="0">
                  <a:latin typeface="Georgia" panose="02040502050405020303" pitchFamily="18" charset="0"/>
                </a:rPr>
                <a:t> Agribusiness Incubators (R-ABIs) active across Karnataka.</a:t>
              </a:r>
            </a:p>
          </p:txBody>
        </p:sp>
        <p:sp>
          <p:nvSpPr>
            <p:cNvPr id="52" name="Card3"/>
            <p:cNvSpPr txBox="1"/>
            <p:nvPr/>
          </p:nvSpPr>
          <p:spPr>
            <a:xfrm>
              <a:off x="5035877" y="2781533"/>
              <a:ext cx="2133100" cy="2520000"/>
            </a:xfrm>
            <a:prstGeom prst="rect">
              <a:avLst/>
            </a:prstGeom>
            <a:solidFill>
              <a:srgbClr val="EAF4EE"/>
            </a:solidFill>
            <a:ln w="19050">
              <a:solidFill>
                <a:srgbClr val="1A4731"/>
              </a:solidFill>
            </a:ln>
          </p:spPr>
          <p:txBody>
            <a:bodyPr wrap="square" lIns="91440" tIns="91440" rIns="91440" bIns="91440"/>
            <a:lstStyle/>
            <a:p>
              <a:pPr>
                <a:spcAft>
                  <a:spcPts val="300"/>
                </a:spcAft>
              </a:pPr>
              <a:r>
                <a:rPr lang="en-US" sz="1000" b="1" dirty="0">
                  <a:solidFill>
                    <a:srgbClr val="1A4731"/>
                  </a:solidFill>
                  <a:latin typeface="Georgia" panose="02040502050405020303" pitchFamily="18" charset="0"/>
                </a:rPr>
                <a:t>ELEVATE (GoK Startup Scheme)</a:t>
              </a:r>
            </a:p>
            <a:p>
              <a:pPr marL="176213" indent="-176213" eaLnBrk="0" fontAlgn="base" hangingPunct="0">
                <a:spcBef>
                  <a:spcPct val="0"/>
                </a:spcBef>
                <a:spcAft>
                  <a:spcPct val="0"/>
                </a:spcAft>
                <a:buFontTx/>
                <a:buChar char="•"/>
              </a:pPr>
              <a:r>
                <a:rPr lang="en-US" sz="1000" dirty="0">
                  <a:latin typeface="Georgia" panose="02040502050405020303" pitchFamily="18" charset="0"/>
                </a:rPr>
                <a:t>Karnataka Govt grants up to Rs.50 Lakh for early-stage startups. </a:t>
              </a:r>
            </a:p>
            <a:p>
              <a:pPr marL="176213" indent="-176213" eaLnBrk="0" fontAlgn="base" hangingPunct="0">
                <a:spcBef>
                  <a:spcPct val="0"/>
                </a:spcBef>
                <a:spcAft>
                  <a:spcPct val="0"/>
                </a:spcAft>
                <a:buFontTx/>
                <a:buChar char="•"/>
              </a:pPr>
              <a:r>
                <a:rPr lang="en-US" sz="1000" dirty="0">
                  <a:latin typeface="Georgia" panose="02040502050405020303" pitchFamily="18" charset="0"/>
                </a:rPr>
                <a:t>Includes mentoring, VC network access and incubation support. </a:t>
              </a:r>
            </a:p>
            <a:p>
              <a:pPr marL="176213" indent="-176213" eaLnBrk="0" fontAlgn="base" hangingPunct="0">
                <a:spcBef>
                  <a:spcPct val="0"/>
                </a:spcBef>
                <a:spcAft>
                  <a:spcPct val="0"/>
                </a:spcAft>
                <a:buFontTx/>
                <a:buChar char="•"/>
              </a:pPr>
              <a:r>
                <a:rPr lang="en-US" sz="1000" dirty="0">
                  <a:latin typeface="Georgia" panose="02040502050405020303" pitchFamily="18" charset="0"/>
                </a:rPr>
                <a:t>Special ELEVATE Unnati track for SC/ST founders. </a:t>
              </a:r>
            </a:p>
            <a:p>
              <a:pPr marL="176213" indent="-176213" eaLnBrk="0" fontAlgn="base" hangingPunct="0">
                <a:spcBef>
                  <a:spcPct val="0"/>
                </a:spcBef>
                <a:spcAft>
                  <a:spcPct val="0"/>
                </a:spcAft>
                <a:buFontTx/>
                <a:buChar char="•"/>
              </a:pPr>
              <a:r>
                <a:rPr lang="en-US" sz="1000" dirty="0">
                  <a:latin typeface="Georgia" panose="02040502050405020303" pitchFamily="18" charset="0"/>
                </a:rPr>
                <a:t>Agri-fintech and digital financial inclusion solutions are eligible under the program</a:t>
              </a:r>
            </a:p>
          </p:txBody>
        </p:sp>
        <p:sp>
          <p:nvSpPr>
            <p:cNvPr id="53" name="Card4"/>
            <p:cNvSpPr txBox="1"/>
            <p:nvPr/>
          </p:nvSpPr>
          <p:spPr>
            <a:xfrm>
              <a:off x="7227578" y="2781533"/>
              <a:ext cx="2133100" cy="2520000"/>
            </a:xfrm>
            <a:prstGeom prst="rect">
              <a:avLst/>
            </a:prstGeom>
            <a:solidFill>
              <a:srgbClr val="FEF9EE"/>
            </a:solidFill>
            <a:ln w="19050">
              <a:solidFill>
                <a:srgbClr val="E8A33D"/>
              </a:solidFill>
            </a:ln>
          </p:spPr>
          <p:txBody>
            <a:bodyPr wrap="square" lIns="91440" tIns="91440" rIns="91440" bIns="91440"/>
            <a:lstStyle/>
            <a:p>
              <a:pPr>
                <a:spcAft>
                  <a:spcPts val="300"/>
                </a:spcAft>
              </a:pPr>
              <a:r>
                <a:rPr lang="en-US" sz="1000" b="1" dirty="0">
                  <a:solidFill>
                    <a:srgbClr val="B57A10"/>
                  </a:solidFill>
                  <a:latin typeface="Georgia" panose="02040502050405020303" pitchFamily="18" charset="0"/>
                </a:rPr>
                <a:t>NABARD: FPO Credit + e-NWR</a:t>
              </a:r>
            </a:p>
            <a:p>
              <a:pPr marL="176213" indent="-176213" eaLnBrk="0" fontAlgn="base" hangingPunct="0">
                <a:spcBef>
                  <a:spcPct val="0"/>
                </a:spcBef>
                <a:spcAft>
                  <a:spcPct val="0"/>
                </a:spcAft>
                <a:buFontTx/>
                <a:buChar char="•"/>
              </a:pPr>
              <a:r>
                <a:rPr lang="en-US" sz="1000" dirty="0">
                  <a:latin typeface="Georgia" panose="02040502050405020303" pitchFamily="18" charset="0"/>
                </a:rPr>
                <a:t>Credit guarantee up to Rs.1.5 Cr for FPOs (85% coverage). </a:t>
              </a:r>
            </a:p>
            <a:p>
              <a:pPr marL="176213" indent="-176213" eaLnBrk="0" fontAlgn="base" hangingPunct="0">
                <a:spcBef>
                  <a:spcPct val="0"/>
                </a:spcBef>
                <a:spcAft>
                  <a:spcPct val="0"/>
                </a:spcAft>
                <a:buFontTx/>
                <a:buChar char="•"/>
              </a:pPr>
              <a:r>
                <a:rPr lang="en-US" sz="1000" dirty="0">
                  <a:latin typeface="Georgia" panose="02040502050405020303" pitchFamily="18" charset="0"/>
                </a:rPr>
                <a:t>e-Negotiable Warehouse Receipts (e-NWR) enable post-harvest collateral loans.</a:t>
              </a:r>
            </a:p>
            <a:p>
              <a:pPr marL="176213" indent="-176213" eaLnBrk="0" fontAlgn="base" hangingPunct="0">
                <a:spcBef>
                  <a:spcPct val="0"/>
                </a:spcBef>
                <a:spcAft>
                  <a:spcPct val="0"/>
                </a:spcAft>
                <a:buFontTx/>
                <a:buChar char="•"/>
              </a:pPr>
              <a:r>
                <a:rPr lang="en-US" sz="1000" dirty="0" err="1">
                  <a:latin typeface="Georgia" panose="02040502050405020303" pitchFamily="18" charset="0"/>
                </a:rPr>
                <a:t>NABVENTURES</a:t>
              </a:r>
              <a:r>
                <a:rPr lang="en-US" sz="1000" dirty="0">
                  <a:latin typeface="Georgia" panose="02040502050405020303" pitchFamily="18" charset="0"/>
                </a:rPr>
                <a:t> equity funding available for </a:t>
              </a:r>
              <a:r>
                <a:rPr lang="en-US" sz="1000" dirty="0" err="1">
                  <a:latin typeface="Georgia" panose="02040502050405020303" pitchFamily="18" charset="0"/>
                </a:rPr>
                <a:t>agri</a:t>
              </a:r>
              <a:r>
                <a:rPr lang="en-US" sz="1000" dirty="0">
                  <a:latin typeface="Georgia" panose="02040502050405020303" pitchFamily="18" charset="0"/>
                </a:rPr>
                <a:t>-fintech startups.</a:t>
              </a:r>
            </a:p>
            <a:p>
              <a:pPr marL="176213" indent="-176213" eaLnBrk="0" fontAlgn="base" hangingPunct="0">
                <a:spcBef>
                  <a:spcPct val="0"/>
                </a:spcBef>
                <a:spcAft>
                  <a:spcPct val="0"/>
                </a:spcAft>
                <a:buFontTx/>
                <a:buChar char="•"/>
              </a:pPr>
              <a:r>
                <a:rPr lang="en-US" sz="1000" dirty="0">
                  <a:latin typeface="Georgia" panose="02040502050405020303" pitchFamily="18" charset="0"/>
                </a:rPr>
                <a:t>Credit Guarantee Scheme for e-NWR-based pledge financing has a ₹1,000 crore corpus to support post-harvest lending</a:t>
              </a:r>
            </a:p>
          </p:txBody>
        </p:sp>
        <p:sp>
          <p:nvSpPr>
            <p:cNvPr id="9" name="Card4">
              <a:extLst>
                <a:ext uri="{FF2B5EF4-FFF2-40B4-BE49-F238E27FC236}">
                  <a16:creationId xmlns:a16="http://schemas.microsoft.com/office/drawing/2014/main" id="{8C64423F-C182-1EED-0222-698F05E202E2}"/>
                </a:ext>
              </a:extLst>
            </p:cNvPr>
            <p:cNvSpPr txBox="1"/>
            <p:nvPr/>
          </p:nvSpPr>
          <p:spPr>
            <a:xfrm>
              <a:off x="2819400" y="2781533"/>
              <a:ext cx="2133100" cy="2520000"/>
            </a:xfrm>
            <a:prstGeom prst="rect">
              <a:avLst/>
            </a:prstGeom>
            <a:solidFill>
              <a:srgbClr val="FEF9EE"/>
            </a:solidFill>
            <a:ln w="19050">
              <a:solidFill>
                <a:srgbClr val="E8A33D"/>
              </a:solidFill>
            </a:ln>
          </p:spPr>
          <p:txBody>
            <a:bodyPr wrap="square" lIns="91440" tIns="91440" rIns="91440" bIns="91440"/>
            <a:lstStyle/>
            <a:p>
              <a:pPr lvl="0" fontAlgn="base">
                <a:spcBef>
                  <a:spcPct val="0"/>
                </a:spcBef>
                <a:spcAft>
                  <a:spcPts val="300"/>
                </a:spcAft>
              </a:pPr>
              <a:r>
                <a:rPr lang="en-US" sz="1000" b="1" dirty="0">
                  <a:solidFill>
                    <a:srgbClr val="B57A10"/>
                  </a:solidFill>
                  <a:latin typeface="Georgia" panose="02040502050405020303" pitchFamily="18" charset="0"/>
                </a:rPr>
                <a:t>PM </a:t>
              </a:r>
              <a:r>
                <a:rPr lang="en-US" sz="1000" b="1" dirty="0" err="1">
                  <a:solidFill>
                    <a:srgbClr val="B57A10"/>
                  </a:solidFill>
                  <a:latin typeface="Georgia" panose="02040502050405020303" pitchFamily="18" charset="0"/>
                </a:rPr>
                <a:t>Formalisation</a:t>
              </a:r>
              <a:r>
                <a:rPr lang="en-US" sz="1000" b="1" dirty="0">
                  <a:solidFill>
                    <a:srgbClr val="B57A10"/>
                  </a:solidFill>
                  <a:latin typeface="Georgia" panose="02040502050405020303" pitchFamily="18" charset="0"/>
                </a:rPr>
                <a:t> of Micro Food Processing Enterprises (</a:t>
              </a:r>
              <a:r>
                <a:rPr lang="en-US" sz="1000" b="1" dirty="0" err="1">
                  <a:solidFill>
                    <a:srgbClr val="B57A10"/>
                  </a:solidFill>
                  <a:latin typeface="Georgia" panose="02040502050405020303" pitchFamily="18" charset="0"/>
                </a:rPr>
                <a:t>PMFME</a:t>
              </a:r>
              <a:r>
                <a:rPr lang="en-US" sz="1000" b="1" dirty="0">
                  <a:solidFill>
                    <a:srgbClr val="B57A10"/>
                  </a:solidFill>
                  <a:latin typeface="Georgia" panose="02040502050405020303" pitchFamily="18" charset="0"/>
                </a:rPr>
                <a:t>)</a:t>
              </a:r>
              <a:endParaRPr lang="en-US" altLang="en-US" sz="1000" b="1" dirty="0">
                <a:solidFill>
                  <a:srgbClr val="B57A10"/>
                </a:solidFill>
                <a:latin typeface="Georgia" panose="02040502050405020303" pitchFamily="18" charset="0"/>
              </a:endParaRPr>
            </a:p>
            <a:p>
              <a:pPr marL="176213" lvl="0" indent="-176213" eaLnBrk="0" fontAlgn="base" hangingPunct="0">
                <a:spcBef>
                  <a:spcPct val="0"/>
                </a:spcBef>
                <a:spcAft>
                  <a:spcPct val="0"/>
                </a:spcAft>
                <a:buFontTx/>
                <a:buChar char="•"/>
              </a:pPr>
              <a:r>
                <a:rPr lang="en-US" altLang="en-US" sz="1000" dirty="0">
                  <a:latin typeface="Georgia" panose="02040502050405020303" pitchFamily="18" charset="0"/>
                </a:rPr>
                <a:t>₹10,000 crore scheme (2020 -2025) with 35% credit-linked subsidy up to ₹10 lakh for individuals, ₹3 crore for FPOs, SHGs, and cooperatives</a:t>
              </a:r>
            </a:p>
            <a:p>
              <a:pPr marL="176213" lvl="0" indent="-176213" eaLnBrk="0" fontAlgn="base" hangingPunct="0">
                <a:spcBef>
                  <a:spcPct val="0"/>
                </a:spcBef>
                <a:spcAft>
                  <a:spcPct val="0"/>
                </a:spcAft>
                <a:buFontTx/>
                <a:buChar char="•"/>
              </a:pPr>
              <a:r>
                <a:rPr lang="en-US" altLang="en-US" sz="1000" dirty="0">
                  <a:latin typeface="Georgia" panose="02040502050405020303" pitchFamily="18" charset="0"/>
                </a:rPr>
                <a:t>₹40,000 seed capital per SHG member; 50% support for group-based branding and marketing</a:t>
              </a:r>
            </a:p>
            <a:p>
              <a:pPr marL="176213" lvl="0" indent="-176213" eaLnBrk="0" fontAlgn="base" hangingPunct="0">
                <a:spcBef>
                  <a:spcPct val="0"/>
                </a:spcBef>
                <a:spcAft>
                  <a:spcPct val="0"/>
                </a:spcAft>
                <a:buFontTx/>
                <a:buChar char="•"/>
              </a:pPr>
              <a:r>
                <a:rPr lang="en-US" altLang="en-US" sz="1000" dirty="0">
                  <a:latin typeface="Georgia" panose="02040502050405020303" pitchFamily="18" charset="0"/>
                </a:rPr>
                <a:t>Supports processing, aggregation, value addition, and post-harvest enterprises across horticulture value chains</a:t>
              </a:r>
            </a:p>
          </p:txBody>
        </p:sp>
      </p:grpSp>
      <p:sp>
        <p:nvSpPr>
          <p:cNvPr id="4" name="Stat2Label">
            <a:extLst>
              <a:ext uri="{FF2B5EF4-FFF2-40B4-BE49-F238E27FC236}">
                <a16:creationId xmlns:a16="http://schemas.microsoft.com/office/drawing/2014/main" id="{4A4510CB-D376-8B8A-551E-90499F56DA43}"/>
              </a:ext>
            </a:extLst>
          </p:cNvPr>
          <p:cNvSpPr/>
          <p:nvPr/>
        </p:nvSpPr>
        <p:spPr>
          <a:xfrm>
            <a:off x="8311445" y="1230500"/>
            <a:ext cx="3260000" cy="857000"/>
          </a:xfrm>
          <a:prstGeom prst="rect">
            <a:avLst/>
          </a:prstGeom>
          <a:noFill/>
          <a:ln/>
        </p:spPr>
        <p:txBody>
          <a:bodyPr wrap="square" lIns="0" tIns="0" rIns="0" bIns="0" rtlCol="0" anchor="ctr"/>
          <a:lstStyle/>
          <a:p>
            <a:r>
              <a:rPr lang="en-US" sz="1200" i="1" dirty="0">
                <a:solidFill>
                  <a:schemeClr val="bg1"/>
                </a:solidFill>
                <a:latin typeface="Georgia" panose="02040502050405020303" pitchFamily="18" charset="0"/>
              </a:rPr>
              <a:t>30.3% of indebted agricultural households in India rely exclusively on informal moneylenders for credit , paying rates far above institutional lenders***</a:t>
            </a:r>
            <a:endParaRPr lang="en-IN" sz="1200" i="1" dirty="0">
              <a:solidFill>
                <a:schemeClr val="bg1"/>
              </a:solidFill>
              <a:latin typeface="Georgia" panose="02040502050405020303" pitchFamily="18" charset="0"/>
            </a:endParaRPr>
          </a:p>
        </p:txBody>
      </p:sp>
      <p:sp>
        <p:nvSpPr>
          <p:cNvPr id="6" name="TextBox 5">
            <a:extLst>
              <a:ext uri="{FF2B5EF4-FFF2-40B4-BE49-F238E27FC236}">
                <a16:creationId xmlns:a16="http://schemas.microsoft.com/office/drawing/2014/main" id="{29D2142E-7E2D-2295-0C8C-C0EAF9F10C68}"/>
              </a:ext>
            </a:extLst>
          </p:cNvPr>
          <p:cNvSpPr txBox="1"/>
          <p:nvPr/>
        </p:nvSpPr>
        <p:spPr>
          <a:xfrm>
            <a:off x="533400" y="5648980"/>
            <a:ext cx="11004755" cy="523220"/>
          </a:xfrm>
          <a:prstGeom prst="rect">
            <a:avLst/>
          </a:prstGeom>
          <a:noFill/>
        </p:spPr>
        <p:txBody>
          <a:bodyPr wrap="square" rtlCol="0">
            <a:spAutoFit/>
          </a:bodyPr>
          <a:lstStyle/>
          <a:p>
            <a:r>
              <a:rPr lang="en-IN" sz="700" i="1" dirty="0">
                <a:latin typeface="Georgia" panose="02040502050405020303" pitchFamily="18" charset="0"/>
              </a:rPr>
              <a:t>Sources:  </a:t>
            </a:r>
          </a:p>
          <a:p>
            <a:pPr marL="171450" indent="-171450">
              <a:buFont typeface="Arial" panose="020B0604020202020204" pitchFamily="34" charset="0"/>
              <a:buChar char="•"/>
            </a:pPr>
            <a:r>
              <a:rPr lang="en-US" sz="700" i="1" dirty="0">
                <a:latin typeface="Georgia" panose="02040502050405020303" pitchFamily="18" charset="0"/>
              </a:rPr>
              <a:t>*</a:t>
            </a:r>
            <a:r>
              <a:rPr lang="en-US" sz="700" i="1" dirty="0" err="1">
                <a:latin typeface="Georgia" panose="02040502050405020303" pitchFamily="18" charset="0"/>
              </a:rPr>
              <a:t>Dvara</a:t>
            </a:r>
            <a:r>
              <a:rPr lang="en-US" sz="700" i="1" dirty="0">
                <a:latin typeface="Georgia" panose="02040502050405020303" pitchFamily="18" charset="0"/>
              </a:rPr>
              <a:t> Research and </a:t>
            </a:r>
            <a:r>
              <a:rPr lang="en-US" sz="700" i="1" dirty="0" err="1">
                <a:latin typeface="Georgia" panose="02040502050405020303" pitchFamily="18" charset="0"/>
              </a:rPr>
              <a:t>NAFPO</a:t>
            </a:r>
            <a:r>
              <a:rPr lang="en-US" sz="700" i="1" dirty="0">
                <a:latin typeface="Georgia" panose="02040502050405020303" pitchFamily="18" charset="0"/>
              </a:rPr>
              <a:t>. Credit Demand of FPOs: A Credit Market Estimation Exercise. Chennai: </a:t>
            </a:r>
            <a:r>
              <a:rPr lang="en-US" sz="700" i="1" dirty="0" err="1">
                <a:latin typeface="Georgia" panose="02040502050405020303" pitchFamily="18" charset="0"/>
              </a:rPr>
              <a:t>Dvara</a:t>
            </a:r>
            <a:r>
              <a:rPr lang="en-US" sz="700" i="1" dirty="0">
                <a:latin typeface="Georgia" panose="02040502050405020303" pitchFamily="18" charset="0"/>
              </a:rPr>
              <a:t> Research, 2025</a:t>
            </a:r>
            <a:endParaRPr lang="en-IN" sz="700" i="1" dirty="0">
              <a:latin typeface="Georgia" panose="02040502050405020303" pitchFamily="18" charset="0"/>
            </a:endParaRPr>
          </a:p>
          <a:p>
            <a:pPr marL="171450" indent="-171450">
              <a:buFont typeface="Arial" panose="020B0604020202020204" pitchFamily="34" charset="0"/>
              <a:buChar char="•"/>
            </a:pPr>
            <a:r>
              <a:rPr lang="en-US" sz="700" i="1" dirty="0">
                <a:latin typeface="Georgia" panose="02040502050405020303" pitchFamily="18" charset="0"/>
              </a:rPr>
              <a:t>**NABARD, State Focus Paper 2025-26: Karnataka</a:t>
            </a:r>
          </a:p>
          <a:p>
            <a:pPr marL="171450" indent="-171450">
              <a:buFont typeface="Arial" panose="020B0604020202020204" pitchFamily="34" charset="0"/>
              <a:buChar char="•"/>
            </a:pPr>
            <a:r>
              <a:rPr lang="en-US" sz="700" i="1" dirty="0">
                <a:latin typeface="Georgia" panose="02040502050405020303" pitchFamily="18" charset="0"/>
              </a:rPr>
              <a:t>***NABARD, All India Rural Financial Inclusion Survey (NAFIS) 2020-22</a:t>
            </a:r>
          </a:p>
        </p:txBody>
      </p:sp>
      <p:pic>
        <p:nvPicPr>
          <p:cNvPr id="8" name="Picture 7">
            <a:extLst>
              <a:ext uri="{FF2B5EF4-FFF2-40B4-BE49-F238E27FC236}">
                <a16:creationId xmlns:a16="http://schemas.microsoft.com/office/drawing/2014/main" id="{1A148B85-8E45-EE7C-7F89-5FE533649044}"/>
              </a:ext>
            </a:extLst>
          </p:cNvPr>
          <p:cNvPicPr>
            <a:picLocks noChangeAspect="1"/>
          </p:cNvPicPr>
          <p:nvPr/>
        </p:nvPicPr>
        <p:blipFill>
          <a:blip r:embed="rId2"/>
          <a:stretch>
            <a:fillRect/>
          </a:stretch>
        </p:blipFill>
        <p:spPr>
          <a:xfrm>
            <a:off x="-14108" y="6180332"/>
            <a:ext cx="12192000" cy="6826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0168C-361C-7B3E-8334-2F9FCD57D793}"/>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AD4A9E02-1C38-45CA-46F9-50156A0FD690}"/>
              </a:ext>
            </a:extLst>
          </p:cNvPr>
          <p:cNvGrpSpPr/>
          <p:nvPr/>
        </p:nvGrpSpPr>
        <p:grpSpPr>
          <a:xfrm>
            <a:off x="486071" y="4088088"/>
            <a:ext cx="10990663" cy="1988504"/>
            <a:chOff x="486071" y="4302326"/>
            <a:chExt cx="10990663" cy="2079692"/>
          </a:xfrm>
        </p:grpSpPr>
        <p:grpSp>
          <p:nvGrpSpPr>
            <p:cNvPr id="25" name="Group 6">
              <a:extLst>
                <a:ext uri="{FF2B5EF4-FFF2-40B4-BE49-F238E27FC236}">
                  <a16:creationId xmlns:a16="http://schemas.microsoft.com/office/drawing/2014/main" id="{C0E37F59-0C7D-6C14-6142-FA3F86D73547}"/>
                </a:ext>
              </a:extLst>
            </p:cNvPr>
            <p:cNvGrpSpPr/>
            <p:nvPr/>
          </p:nvGrpSpPr>
          <p:grpSpPr>
            <a:xfrm rot="16200000">
              <a:off x="545269" y="4654577"/>
              <a:ext cx="301062" cy="419458"/>
              <a:chOff x="0" y="0"/>
              <a:chExt cx="323825" cy="401148"/>
            </a:xfrm>
          </p:grpSpPr>
          <p:sp>
            <p:nvSpPr>
              <p:cNvPr id="138" name="Freeform 7">
                <a:extLst>
                  <a:ext uri="{FF2B5EF4-FFF2-40B4-BE49-F238E27FC236}">
                    <a16:creationId xmlns:a16="http://schemas.microsoft.com/office/drawing/2014/main" id="{E9DAFD46-C66A-F655-89C1-32586E971076}"/>
                  </a:ext>
                </a:extLst>
              </p:cNvPr>
              <p:cNvSpPr/>
              <p:nvPr/>
            </p:nvSpPr>
            <p:spPr>
              <a:xfrm>
                <a:off x="0" y="0"/>
                <a:ext cx="323825" cy="401148"/>
              </a:xfrm>
              <a:custGeom>
                <a:avLst/>
                <a:gdLst/>
                <a:ahLst/>
                <a:cxnLst/>
                <a:rect l="l" t="t" r="r" b="b"/>
                <a:pathLst>
                  <a:path w="323825" h="401148">
                    <a:moveTo>
                      <a:pt x="161912" y="0"/>
                    </a:moveTo>
                    <a:lnTo>
                      <a:pt x="323825" y="401148"/>
                    </a:lnTo>
                    <a:lnTo>
                      <a:pt x="0" y="401148"/>
                    </a:lnTo>
                    <a:lnTo>
                      <a:pt x="161912" y="0"/>
                    </a:lnTo>
                    <a:close/>
                  </a:path>
                </a:pathLst>
              </a:custGeom>
              <a:solidFill>
                <a:srgbClr val="478D50"/>
              </a:solidFill>
            </p:spPr>
            <p:txBody>
              <a:bodyPr/>
              <a:lstStyle/>
              <a:p>
                <a:endParaRPr lang="en-IN">
                  <a:latin typeface="Georgia" panose="02040502050405020303" pitchFamily="18" charset="0"/>
                </a:endParaRPr>
              </a:p>
            </p:txBody>
          </p:sp>
          <p:sp>
            <p:nvSpPr>
              <p:cNvPr id="139" name="TextBox 8">
                <a:extLst>
                  <a:ext uri="{FF2B5EF4-FFF2-40B4-BE49-F238E27FC236}">
                    <a16:creationId xmlns:a16="http://schemas.microsoft.com/office/drawing/2014/main" id="{9947FC1D-4A27-F835-8EB9-A52C615EE968}"/>
                  </a:ext>
                </a:extLst>
              </p:cNvPr>
              <p:cNvSpPr txBox="1"/>
              <p:nvPr/>
            </p:nvSpPr>
            <p:spPr>
              <a:xfrm>
                <a:off x="50598" y="138622"/>
                <a:ext cx="222629" cy="233872"/>
              </a:xfrm>
              <a:prstGeom prst="rect">
                <a:avLst/>
              </a:prstGeom>
            </p:spPr>
            <p:txBody>
              <a:bodyPr lIns="50800" tIns="50800" rIns="50800" bIns="50800" rtlCol="0" anchor="ctr"/>
              <a:lstStyle/>
              <a:p>
                <a:pPr algn="ctr">
                  <a:lnSpc>
                    <a:spcPts val="2520"/>
                  </a:lnSpc>
                </a:pPr>
                <a:endParaRPr>
                  <a:latin typeface="Georgia" panose="02040502050405020303" pitchFamily="18" charset="0"/>
                </a:endParaRPr>
              </a:p>
            </p:txBody>
          </p:sp>
        </p:grpSp>
        <p:grpSp>
          <p:nvGrpSpPr>
            <p:cNvPr id="27" name="Group 12">
              <a:extLst>
                <a:ext uri="{FF2B5EF4-FFF2-40B4-BE49-F238E27FC236}">
                  <a16:creationId xmlns:a16="http://schemas.microsoft.com/office/drawing/2014/main" id="{ABB1A006-2E92-CECF-D0AA-3CA8D8970F14}"/>
                </a:ext>
              </a:extLst>
            </p:cNvPr>
            <p:cNvGrpSpPr/>
            <p:nvPr/>
          </p:nvGrpSpPr>
          <p:grpSpPr>
            <a:xfrm rot="16200000">
              <a:off x="4376840" y="4654577"/>
              <a:ext cx="301062" cy="419458"/>
              <a:chOff x="0" y="0"/>
              <a:chExt cx="323825" cy="401148"/>
            </a:xfrm>
          </p:grpSpPr>
          <p:sp>
            <p:nvSpPr>
              <p:cNvPr id="134" name="Freeform 13">
                <a:extLst>
                  <a:ext uri="{FF2B5EF4-FFF2-40B4-BE49-F238E27FC236}">
                    <a16:creationId xmlns:a16="http://schemas.microsoft.com/office/drawing/2014/main" id="{E2A70E62-F8E7-EAE9-228B-770932C64EA3}"/>
                  </a:ext>
                </a:extLst>
              </p:cNvPr>
              <p:cNvSpPr/>
              <p:nvPr/>
            </p:nvSpPr>
            <p:spPr>
              <a:xfrm>
                <a:off x="0" y="0"/>
                <a:ext cx="323825" cy="401148"/>
              </a:xfrm>
              <a:custGeom>
                <a:avLst/>
                <a:gdLst/>
                <a:ahLst/>
                <a:cxnLst/>
                <a:rect l="l" t="t" r="r" b="b"/>
                <a:pathLst>
                  <a:path w="323825" h="401148">
                    <a:moveTo>
                      <a:pt x="161912" y="0"/>
                    </a:moveTo>
                    <a:lnTo>
                      <a:pt x="323825" y="401148"/>
                    </a:lnTo>
                    <a:lnTo>
                      <a:pt x="0" y="401148"/>
                    </a:lnTo>
                    <a:lnTo>
                      <a:pt x="161912" y="0"/>
                    </a:lnTo>
                    <a:close/>
                  </a:path>
                </a:pathLst>
              </a:custGeom>
              <a:solidFill>
                <a:srgbClr val="0F6858"/>
              </a:solidFill>
            </p:spPr>
            <p:txBody>
              <a:bodyPr/>
              <a:lstStyle/>
              <a:p>
                <a:endParaRPr lang="en-IN">
                  <a:latin typeface="Georgia" panose="02040502050405020303" pitchFamily="18" charset="0"/>
                </a:endParaRPr>
              </a:p>
            </p:txBody>
          </p:sp>
          <p:sp>
            <p:nvSpPr>
              <p:cNvPr id="135" name="TextBox 14">
                <a:extLst>
                  <a:ext uri="{FF2B5EF4-FFF2-40B4-BE49-F238E27FC236}">
                    <a16:creationId xmlns:a16="http://schemas.microsoft.com/office/drawing/2014/main" id="{253A78B3-75F3-C8E1-50CB-1E3F184D7744}"/>
                  </a:ext>
                </a:extLst>
              </p:cNvPr>
              <p:cNvSpPr txBox="1"/>
              <p:nvPr/>
            </p:nvSpPr>
            <p:spPr>
              <a:xfrm>
                <a:off x="50598" y="138622"/>
                <a:ext cx="222629" cy="233872"/>
              </a:xfrm>
              <a:prstGeom prst="rect">
                <a:avLst/>
              </a:prstGeom>
            </p:spPr>
            <p:txBody>
              <a:bodyPr lIns="50800" tIns="50800" rIns="50800" bIns="50800" rtlCol="0" anchor="ctr"/>
              <a:lstStyle/>
              <a:p>
                <a:pPr algn="ctr">
                  <a:lnSpc>
                    <a:spcPts val="2520"/>
                  </a:lnSpc>
                </a:pPr>
                <a:endParaRPr>
                  <a:latin typeface="Georgia" panose="02040502050405020303" pitchFamily="18" charset="0"/>
                </a:endParaRPr>
              </a:p>
            </p:txBody>
          </p:sp>
        </p:grpSp>
        <p:grpSp>
          <p:nvGrpSpPr>
            <p:cNvPr id="28" name="Group 15">
              <a:extLst>
                <a:ext uri="{FF2B5EF4-FFF2-40B4-BE49-F238E27FC236}">
                  <a16:creationId xmlns:a16="http://schemas.microsoft.com/office/drawing/2014/main" id="{9C8E6BC1-FDBB-B6BF-FC8A-CFE5ECFC9948}"/>
                </a:ext>
              </a:extLst>
            </p:cNvPr>
            <p:cNvGrpSpPr/>
            <p:nvPr/>
          </p:nvGrpSpPr>
          <p:grpSpPr>
            <a:xfrm rot="16200000">
              <a:off x="8211356" y="4654577"/>
              <a:ext cx="301062" cy="419458"/>
              <a:chOff x="0" y="0"/>
              <a:chExt cx="323825" cy="401148"/>
            </a:xfrm>
          </p:grpSpPr>
          <p:sp>
            <p:nvSpPr>
              <p:cNvPr id="132" name="Freeform 16">
                <a:extLst>
                  <a:ext uri="{FF2B5EF4-FFF2-40B4-BE49-F238E27FC236}">
                    <a16:creationId xmlns:a16="http://schemas.microsoft.com/office/drawing/2014/main" id="{131C3B69-F5C6-29EA-8698-8EA2AAB2E018}"/>
                  </a:ext>
                </a:extLst>
              </p:cNvPr>
              <p:cNvSpPr/>
              <p:nvPr/>
            </p:nvSpPr>
            <p:spPr>
              <a:xfrm>
                <a:off x="0" y="0"/>
                <a:ext cx="323825" cy="401148"/>
              </a:xfrm>
              <a:custGeom>
                <a:avLst/>
                <a:gdLst/>
                <a:ahLst/>
                <a:cxnLst/>
                <a:rect l="l" t="t" r="r" b="b"/>
                <a:pathLst>
                  <a:path w="323825" h="401148">
                    <a:moveTo>
                      <a:pt x="161912" y="0"/>
                    </a:moveTo>
                    <a:lnTo>
                      <a:pt x="323825" y="401148"/>
                    </a:lnTo>
                    <a:lnTo>
                      <a:pt x="0" y="401148"/>
                    </a:lnTo>
                    <a:lnTo>
                      <a:pt x="161912" y="0"/>
                    </a:lnTo>
                    <a:close/>
                  </a:path>
                </a:pathLst>
              </a:custGeom>
              <a:solidFill>
                <a:srgbClr val="000000"/>
              </a:solidFill>
            </p:spPr>
            <p:txBody>
              <a:bodyPr/>
              <a:lstStyle/>
              <a:p>
                <a:endParaRPr lang="en-IN">
                  <a:latin typeface="Georgia" panose="02040502050405020303" pitchFamily="18" charset="0"/>
                </a:endParaRPr>
              </a:p>
            </p:txBody>
          </p:sp>
          <p:sp>
            <p:nvSpPr>
              <p:cNvPr id="133" name="TextBox 17">
                <a:extLst>
                  <a:ext uri="{FF2B5EF4-FFF2-40B4-BE49-F238E27FC236}">
                    <a16:creationId xmlns:a16="http://schemas.microsoft.com/office/drawing/2014/main" id="{5BCC829A-95B9-EDCC-EAC8-32D32442B6D3}"/>
                  </a:ext>
                </a:extLst>
              </p:cNvPr>
              <p:cNvSpPr txBox="1"/>
              <p:nvPr/>
            </p:nvSpPr>
            <p:spPr>
              <a:xfrm>
                <a:off x="50598" y="138622"/>
                <a:ext cx="222629" cy="233872"/>
              </a:xfrm>
              <a:prstGeom prst="rect">
                <a:avLst/>
              </a:prstGeom>
            </p:spPr>
            <p:txBody>
              <a:bodyPr lIns="50800" tIns="50800" rIns="50800" bIns="50800" rtlCol="0" anchor="ctr"/>
              <a:lstStyle/>
              <a:p>
                <a:pPr algn="ctr">
                  <a:lnSpc>
                    <a:spcPts val="2520"/>
                  </a:lnSpc>
                </a:pPr>
                <a:endParaRPr>
                  <a:latin typeface="Georgia" panose="02040502050405020303" pitchFamily="18" charset="0"/>
                </a:endParaRPr>
              </a:p>
            </p:txBody>
          </p:sp>
        </p:grpSp>
        <p:grpSp>
          <p:nvGrpSpPr>
            <p:cNvPr id="70" name="Group 26">
              <a:extLst>
                <a:ext uri="{FF2B5EF4-FFF2-40B4-BE49-F238E27FC236}">
                  <a16:creationId xmlns:a16="http://schemas.microsoft.com/office/drawing/2014/main" id="{11F9B8C8-43A3-CE9F-D81E-FCC5150B99D4}"/>
                </a:ext>
              </a:extLst>
            </p:cNvPr>
            <p:cNvGrpSpPr/>
            <p:nvPr/>
          </p:nvGrpSpPr>
          <p:grpSpPr>
            <a:xfrm rot="16200000">
              <a:off x="545269" y="5528246"/>
              <a:ext cx="301062" cy="419458"/>
              <a:chOff x="0" y="0"/>
              <a:chExt cx="323825" cy="401148"/>
            </a:xfrm>
          </p:grpSpPr>
          <p:sp>
            <p:nvSpPr>
              <p:cNvPr id="128" name="Freeform 27">
                <a:extLst>
                  <a:ext uri="{FF2B5EF4-FFF2-40B4-BE49-F238E27FC236}">
                    <a16:creationId xmlns:a16="http://schemas.microsoft.com/office/drawing/2014/main" id="{C51B076A-D6B9-23A0-3050-361DC72D09B8}"/>
                  </a:ext>
                </a:extLst>
              </p:cNvPr>
              <p:cNvSpPr/>
              <p:nvPr/>
            </p:nvSpPr>
            <p:spPr>
              <a:xfrm>
                <a:off x="0" y="0"/>
                <a:ext cx="323825" cy="401148"/>
              </a:xfrm>
              <a:custGeom>
                <a:avLst/>
                <a:gdLst/>
                <a:ahLst/>
                <a:cxnLst/>
                <a:rect l="l" t="t" r="r" b="b"/>
                <a:pathLst>
                  <a:path w="323825" h="401148">
                    <a:moveTo>
                      <a:pt x="161912" y="0"/>
                    </a:moveTo>
                    <a:lnTo>
                      <a:pt x="323825" y="401148"/>
                    </a:lnTo>
                    <a:lnTo>
                      <a:pt x="0" y="401148"/>
                    </a:lnTo>
                    <a:lnTo>
                      <a:pt x="161912" y="0"/>
                    </a:lnTo>
                    <a:close/>
                  </a:path>
                </a:pathLst>
              </a:custGeom>
              <a:solidFill>
                <a:srgbClr val="478D50"/>
              </a:solidFill>
            </p:spPr>
            <p:txBody>
              <a:bodyPr/>
              <a:lstStyle/>
              <a:p>
                <a:endParaRPr lang="en-IN">
                  <a:latin typeface="Georgia" panose="02040502050405020303" pitchFamily="18" charset="0"/>
                </a:endParaRPr>
              </a:p>
            </p:txBody>
          </p:sp>
          <p:sp>
            <p:nvSpPr>
              <p:cNvPr id="129" name="TextBox 28">
                <a:extLst>
                  <a:ext uri="{FF2B5EF4-FFF2-40B4-BE49-F238E27FC236}">
                    <a16:creationId xmlns:a16="http://schemas.microsoft.com/office/drawing/2014/main" id="{52B748BD-BCB7-B825-3DD1-3E12C3820F61}"/>
                  </a:ext>
                </a:extLst>
              </p:cNvPr>
              <p:cNvSpPr txBox="1"/>
              <p:nvPr/>
            </p:nvSpPr>
            <p:spPr>
              <a:xfrm>
                <a:off x="50598" y="138622"/>
                <a:ext cx="222629" cy="233872"/>
              </a:xfrm>
              <a:prstGeom prst="rect">
                <a:avLst/>
              </a:prstGeom>
            </p:spPr>
            <p:txBody>
              <a:bodyPr lIns="50800" tIns="50800" rIns="50800" bIns="50800" rtlCol="0" anchor="ctr"/>
              <a:lstStyle/>
              <a:p>
                <a:pPr algn="ctr">
                  <a:lnSpc>
                    <a:spcPts val="2520"/>
                  </a:lnSpc>
                </a:pPr>
                <a:endParaRPr>
                  <a:latin typeface="Georgia" panose="02040502050405020303" pitchFamily="18" charset="0"/>
                </a:endParaRPr>
              </a:p>
            </p:txBody>
          </p:sp>
        </p:grpSp>
        <p:grpSp>
          <p:nvGrpSpPr>
            <p:cNvPr id="74" name="Group 32">
              <a:extLst>
                <a:ext uri="{FF2B5EF4-FFF2-40B4-BE49-F238E27FC236}">
                  <a16:creationId xmlns:a16="http://schemas.microsoft.com/office/drawing/2014/main" id="{CF59EC52-6601-A7A2-D3C7-DBAA09D2DC56}"/>
                </a:ext>
              </a:extLst>
            </p:cNvPr>
            <p:cNvGrpSpPr/>
            <p:nvPr/>
          </p:nvGrpSpPr>
          <p:grpSpPr>
            <a:xfrm rot="16200000">
              <a:off x="4376840" y="5528246"/>
              <a:ext cx="301062" cy="419458"/>
              <a:chOff x="0" y="0"/>
              <a:chExt cx="323825" cy="401148"/>
            </a:xfrm>
          </p:grpSpPr>
          <p:sp>
            <p:nvSpPr>
              <p:cNvPr id="124" name="Freeform 33">
                <a:extLst>
                  <a:ext uri="{FF2B5EF4-FFF2-40B4-BE49-F238E27FC236}">
                    <a16:creationId xmlns:a16="http://schemas.microsoft.com/office/drawing/2014/main" id="{A391C00B-8CAB-EE27-020E-986FC4F0B7B9}"/>
                  </a:ext>
                </a:extLst>
              </p:cNvPr>
              <p:cNvSpPr/>
              <p:nvPr/>
            </p:nvSpPr>
            <p:spPr>
              <a:xfrm>
                <a:off x="0" y="0"/>
                <a:ext cx="323825" cy="401148"/>
              </a:xfrm>
              <a:custGeom>
                <a:avLst/>
                <a:gdLst/>
                <a:ahLst/>
                <a:cxnLst/>
                <a:rect l="l" t="t" r="r" b="b"/>
                <a:pathLst>
                  <a:path w="323825" h="401148">
                    <a:moveTo>
                      <a:pt x="161912" y="0"/>
                    </a:moveTo>
                    <a:lnTo>
                      <a:pt x="323825" y="401148"/>
                    </a:lnTo>
                    <a:lnTo>
                      <a:pt x="0" y="401148"/>
                    </a:lnTo>
                    <a:lnTo>
                      <a:pt x="161912" y="0"/>
                    </a:lnTo>
                    <a:close/>
                  </a:path>
                </a:pathLst>
              </a:custGeom>
              <a:solidFill>
                <a:srgbClr val="0F6858"/>
              </a:solidFill>
            </p:spPr>
            <p:txBody>
              <a:bodyPr/>
              <a:lstStyle/>
              <a:p>
                <a:endParaRPr lang="en-IN">
                  <a:latin typeface="Georgia" panose="02040502050405020303" pitchFamily="18" charset="0"/>
                </a:endParaRPr>
              </a:p>
            </p:txBody>
          </p:sp>
          <p:sp>
            <p:nvSpPr>
              <p:cNvPr id="125" name="TextBox 34">
                <a:extLst>
                  <a:ext uri="{FF2B5EF4-FFF2-40B4-BE49-F238E27FC236}">
                    <a16:creationId xmlns:a16="http://schemas.microsoft.com/office/drawing/2014/main" id="{FA99F1EC-7DB2-4A46-4A0F-68D0948C048B}"/>
                  </a:ext>
                </a:extLst>
              </p:cNvPr>
              <p:cNvSpPr txBox="1"/>
              <p:nvPr/>
            </p:nvSpPr>
            <p:spPr>
              <a:xfrm>
                <a:off x="50598" y="138622"/>
                <a:ext cx="222629" cy="233872"/>
              </a:xfrm>
              <a:prstGeom prst="rect">
                <a:avLst/>
              </a:prstGeom>
            </p:spPr>
            <p:txBody>
              <a:bodyPr lIns="50800" tIns="50800" rIns="50800" bIns="50800" rtlCol="0" anchor="ctr"/>
              <a:lstStyle/>
              <a:p>
                <a:pPr algn="ctr">
                  <a:lnSpc>
                    <a:spcPts val="2520"/>
                  </a:lnSpc>
                </a:pPr>
                <a:endParaRPr>
                  <a:latin typeface="Georgia" panose="02040502050405020303" pitchFamily="18" charset="0"/>
                </a:endParaRPr>
              </a:p>
            </p:txBody>
          </p:sp>
        </p:grpSp>
        <p:grpSp>
          <p:nvGrpSpPr>
            <p:cNvPr id="75" name="Group 35">
              <a:extLst>
                <a:ext uri="{FF2B5EF4-FFF2-40B4-BE49-F238E27FC236}">
                  <a16:creationId xmlns:a16="http://schemas.microsoft.com/office/drawing/2014/main" id="{51223B87-BFBA-C959-3915-AFFD715330CB}"/>
                </a:ext>
              </a:extLst>
            </p:cNvPr>
            <p:cNvGrpSpPr/>
            <p:nvPr/>
          </p:nvGrpSpPr>
          <p:grpSpPr>
            <a:xfrm rot="16200000">
              <a:off x="8211356" y="5528246"/>
              <a:ext cx="301062" cy="419458"/>
              <a:chOff x="0" y="0"/>
              <a:chExt cx="323825" cy="401148"/>
            </a:xfrm>
          </p:grpSpPr>
          <p:sp>
            <p:nvSpPr>
              <p:cNvPr id="122" name="Freeform 36">
                <a:extLst>
                  <a:ext uri="{FF2B5EF4-FFF2-40B4-BE49-F238E27FC236}">
                    <a16:creationId xmlns:a16="http://schemas.microsoft.com/office/drawing/2014/main" id="{CC980CC5-2721-9381-6A20-0C9AC34B960C}"/>
                  </a:ext>
                </a:extLst>
              </p:cNvPr>
              <p:cNvSpPr/>
              <p:nvPr/>
            </p:nvSpPr>
            <p:spPr>
              <a:xfrm>
                <a:off x="0" y="0"/>
                <a:ext cx="323825" cy="401148"/>
              </a:xfrm>
              <a:custGeom>
                <a:avLst/>
                <a:gdLst/>
                <a:ahLst/>
                <a:cxnLst/>
                <a:rect l="l" t="t" r="r" b="b"/>
                <a:pathLst>
                  <a:path w="323825" h="401148">
                    <a:moveTo>
                      <a:pt x="161912" y="0"/>
                    </a:moveTo>
                    <a:lnTo>
                      <a:pt x="323825" y="401148"/>
                    </a:lnTo>
                    <a:lnTo>
                      <a:pt x="0" y="401148"/>
                    </a:lnTo>
                    <a:lnTo>
                      <a:pt x="161912" y="0"/>
                    </a:lnTo>
                    <a:close/>
                  </a:path>
                </a:pathLst>
              </a:custGeom>
              <a:solidFill>
                <a:srgbClr val="000000"/>
              </a:solidFill>
            </p:spPr>
            <p:txBody>
              <a:bodyPr/>
              <a:lstStyle/>
              <a:p>
                <a:endParaRPr lang="en-IN">
                  <a:latin typeface="Georgia" panose="02040502050405020303" pitchFamily="18" charset="0"/>
                </a:endParaRPr>
              </a:p>
            </p:txBody>
          </p:sp>
          <p:sp>
            <p:nvSpPr>
              <p:cNvPr id="123" name="TextBox 37">
                <a:extLst>
                  <a:ext uri="{FF2B5EF4-FFF2-40B4-BE49-F238E27FC236}">
                    <a16:creationId xmlns:a16="http://schemas.microsoft.com/office/drawing/2014/main" id="{D09C12D0-EC47-A2CA-BFDE-B0D35B845AE9}"/>
                  </a:ext>
                </a:extLst>
              </p:cNvPr>
              <p:cNvSpPr txBox="1"/>
              <p:nvPr/>
            </p:nvSpPr>
            <p:spPr>
              <a:xfrm>
                <a:off x="50598" y="138622"/>
                <a:ext cx="222629" cy="233872"/>
              </a:xfrm>
              <a:prstGeom prst="rect">
                <a:avLst/>
              </a:prstGeom>
            </p:spPr>
            <p:txBody>
              <a:bodyPr lIns="50800" tIns="50800" rIns="50800" bIns="50800" rtlCol="0" anchor="ctr"/>
              <a:lstStyle/>
              <a:p>
                <a:pPr algn="ctr">
                  <a:lnSpc>
                    <a:spcPts val="2520"/>
                  </a:lnSpc>
                </a:pPr>
                <a:endParaRPr>
                  <a:latin typeface="Georgia" panose="02040502050405020303" pitchFamily="18" charset="0"/>
                </a:endParaRPr>
              </a:p>
            </p:txBody>
          </p:sp>
        </p:grpSp>
        <p:grpSp>
          <p:nvGrpSpPr>
            <p:cNvPr id="77" name="Group 41">
              <a:extLst>
                <a:ext uri="{FF2B5EF4-FFF2-40B4-BE49-F238E27FC236}">
                  <a16:creationId xmlns:a16="http://schemas.microsoft.com/office/drawing/2014/main" id="{34F5F9BD-BAAA-2CE9-1F98-0A6180E70753}"/>
                </a:ext>
              </a:extLst>
            </p:cNvPr>
            <p:cNvGrpSpPr/>
            <p:nvPr/>
          </p:nvGrpSpPr>
          <p:grpSpPr>
            <a:xfrm>
              <a:off x="750281" y="4302327"/>
              <a:ext cx="3245050" cy="2079691"/>
              <a:chOff x="0" y="-47625"/>
              <a:chExt cx="957840" cy="690410"/>
            </a:xfrm>
          </p:grpSpPr>
          <p:sp>
            <p:nvSpPr>
              <p:cNvPr id="118" name="Freeform 42">
                <a:extLst>
                  <a:ext uri="{FF2B5EF4-FFF2-40B4-BE49-F238E27FC236}">
                    <a16:creationId xmlns:a16="http://schemas.microsoft.com/office/drawing/2014/main" id="{25B18FD9-E519-07EE-BAF7-21492315E2F0}"/>
                  </a:ext>
                </a:extLst>
              </p:cNvPr>
              <p:cNvSpPr/>
              <p:nvPr/>
            </p:nvSpPr>
            <p:spPr>
              <a:xfrm>
                <a:off x="0" y="-15471"/>
                <a:ext cx="957840" cy="658256"/>
              </a:xfrm>
              <a:custGeom>
                <a:avLst/>
                <a:gdLst/>
                <a:ahLst/>
                <a:cxnLst/>
                <a:rect l="l" t="t" r="r" b="b"/>
                <a:pathLst>
                  <a:path w="903327" h="567917">
                    <a:moveTo>
                      <a:pt x="42888" y="0"/>
                    </a:moveTo>
                    <a:lnTo>
                      <a:pt x="860439" y="0"/>
                    </a:lnTo>
                    <a:cubicBezTo>
                      <a:pt x="884125" y="0"/>
                      <a:pt x="903327" y="19201"/>
                      <a:pt x="903327" y="42888"/>
                    </a:cubicBezTo>
                    <a:lnTo>
                      <a:pt x="903327" y="525030"/>
                    </a:lnTo>
                    <a:cubicBezTo>
                      <a:pt x="903327" y="536404"/>
                      <a:pt x="898808" y="547313"/>
                      <a:pt x="890765" y="555356"/>
                    </a:cubicBezTo>
                    <a:cubicBezTo>
                      <a:pt x="882722" y="563399"/>
                      <a:pt x="871814" y="567917"/>
                      <a:pt x="860439" y="567917"/>
                    </a:cubicBezTo>
                    <a:lnTo>
                      <a:pt x="42888" y="567917"/>
                    </a:lnTo>
                    <a:cubicBezTo>
                      <a:pt x="19201" y="567917"/>
                      <a:pt x="0" y="548716"/>
                      <a:pt x="0" y="525030"/>
                    </a:cubicBezTo>
                    <a:lnTo>
                      <a:pt x="0" y="42888"/>
                    </a:lnTo>
                    <a:cubicBezTo>
                      <a:pt x="0" y="31513"/>
                      <a:pt x="4518" y="20604"/>
                      <a:pt x="12561" y="12561"/>
                    </a:cubicBezTo>
                    <a:cubicBezTo>
                      <a:pt x="20604" y="4518"/>
                      <a:pt x="31513" y="0"/>
                      <a:pt x="42888" y="0"/>
                    </a:cubicBezTo>
                    <a:close/>
                  </a:path>
                </a:pathLst>
              </a:custGeom>
              <a:solidFill>
                <a:schemeClr val="bg2">
                  <a:lumMod val="90000"/>
                </a:schemeClr>
              </a:solidFill>
            </p:spPr>
            <p:txBody>
              <a:bodyPr/>
              <a:lstStyle/>
              <a:p>
                <a:endParaRPr lang="en-IN">
                  <a:latin typeface="Georgia" panose="02040502050405020303" pitchFamily="18" charset="0"/>
                </a:endParaRPr>
              </a:p>
            </p:txBody>
          </p:sp>
          <p:sp>
            <p:nvSpPr>
              <p:cNvPr id="119" name="TextBox 43">
                <a:extLst>
                  <a:ext uri="{FF2B5EF4-FFF2-40B4-BE49-F238E27FC236}">
                    <a16:creationId xmlns:a16="http://schemas.microsoft.com/office/drawing/2014/main" id="{EDD55332-A4F8-2B33-76EE-A0F266B39EC3}"/>
                  </a:ext>
                </a:extLst>
              </p:cNvPr>
              <p:cNvSpPr txBox="1"/>
              <p:nvPr/>
            </p:nvSpPr>
            <p:spPr>
              <a:xfrm>
                <a:off x="0" y="-47625"/>
                <a:ext cx="903327" cy="615542"/>
              </a:xfrm>
              <a:prstGeom prst="rect">
                <a:avLst/>
              </a:prstGeom>
            </p:spPr>
            <p:txBody>
              <a:bodyPr lIns="50800" tIns="50800" rIns="50800" bIns="50800" rtlCol="0" anchor="ctr"/>
              <a:lstStyle/>
              <a:p>
                <a:pPr algn="ctr">
                  <a:lnSpc>
                    <a:spcPts val="2520"/>
                  </a:lnSpc>
                </a:pPr>
                <a:endParaRPr>
                  <a:latin typeface="Georgia" panose="02040502050405020303" pitchFamily="18" charset="0"/>
                </a:endParaRPr>
              </a:p>
            </p:txBody>
          </p:sp>
        </p:grpSp>
        <p:grpSp>
          <p:nvGrpSpPr>
            <p:cNvPr id="79" name="Group 47">
              <a:extLst>
                <a:ext uri="{FF2B5EF4-FFF2-40B4-BE49-F238E27FC236}">
                  <a16:creationId xmlns:a16="http://schemas.microsoft.com/office/drawing/2014/main" id="{EA349565-3521-6611-B241-6DCEE5CE9DDA}"/>
                </a:ext>
              </a:extLst>
            </p:cNvPr>
            <p:cNvGrpSpPr/>
            <p:nvPr/>
          </p:nvGrpSpPr>
          <p:grpSpPr>
            <a:xfrm>
              <a:off x="4581852" y="4302326"/>
              <a:ext cx="3060366" cy="2079692"/>
              <a:chOff x="0" y="-47625"/>
              <a:chExt cx="903327" cy="690410"/>
            </a:xfrm>
          </p:grpSpPr>
          <p:sp>
            <p:nvSpPr>
              <p:cNvPr id="114" name="Freeform 48">
                <a:extLst>
                  <a:ext uri="{FF2B5EF4-FFF2-40B4-BE49-F238E27FC236}">
                    <a16:creationId xmlns:a16="http://schemas.microsoft.com/office/drawing/2014/main" id="{871DA109-42C5-0E0A-7E5A-CFD84D669B03}"/>
                  </a:ext>
                </a:extLst>
              </p:cNvPr>
              <p:cNvSpPr/>
              <p:nvPr/>
            </p:nvSpPr>
            <p:spPr>
              <a:xfrm>
                <a:off x="0" y="0"/>
                <a:ext cx="903327" cy="642785"/>
              </a:xfrm>
              <a:custGeom>
                <a:avLst/>
                <a:gdLst/>
                <a:ahLst/>
                <a:cxnLst/>
                <a:rect l="l" t="t" r="r" b="b"/>
                <a:pathLst>
                  <a:path w="903327" h="567917">
                    <a:moveTo>
                      <a:pt x="42888" y="0"/>
                    </a:moveTo>
                    <a:lnTo>
                      <a:pt x="860439" y="0"/>
                    </a:lnTo>
                    <a:cubicBezTo>
                      <a:pt x="884125" y="0"/>
                      <a:pt x="903327" y="19201"/>
                      <a:pt x="903327" y="42888"/>
                    </a:cubicBezTo>
                    <a:lnTo>
                      <a:pt x="903327" y="525030"/>
                    </a:lnTo>
                    <a:cubicBezTo>
                      <a:pt x="903327" y="536404"/>
                      <a:pt x="898808" y="547313"/>
                      <a:pt x="890765" y="555356"/>
                    </a:cubicBezTo>
                    <a:cubicBezTo>
                      <a:pt x="882722" y="563399"/>
                      <a:pt x="871814" y="567917"/>
                      <a:pt x="860439" y="567917"/>
                    </a:cubicBezTo>
                    <a:lnTo>
                      <a:pt x="42888" y="567917"/>
                    </a:lnTo>
                    <a:cubicBezTo>
                      <a:pt x="19201" y="567917"/>
                      <a:pt x="0" y="548716"/>
                      <a:pt x="0" y="525030"/>
                    </a:cubicBezTo>
                    <a:lnTo>
                      <a:pt x="0" y="42888"/>
                    </a:lnTo>
                    <a:cubicBezTo>
                      <a:pt x="0" y="31513"/>
                      <a:pt x="4518" y="20604"/>
                      <a:pt x="12561" y="12561"/>
                    </a:cubicBezTo>
                    <a:cubicBezTo>
                      <a:pt x="20604" y="4518"/>
                      <a:pt x="31513" y="0"/>
                      <a:pt x="42888" y="0"/>
                    </a:cubicBezTo>
                    <a:close/>
                  </a:path>
                </a:pathLst>
              </a:custGeom>
              <a:solidFill>
                <a:schemeClr val="bg2">
                  <a:lumMod val="90000"/>
                </a:schemeClr>
              </a:solidFill>
            </p:spPr>
            <p:txBody>
              <a:bodyPr/>
              <a:lstStyle/>
              <a:p>
                <a:endParaRPr lang="en-IN">
                  <a:latin typeface="Georgia" panose="02040502050405020303" pitchFamily="18" charset="0"/>
                </a:endParaRPr>
              </a:p>
            </p:txBody>
          </p:sp>
          <p:sp>
            <p:nvSpPr>
              <p:cNvPr id="115" name="TextBox 49">
                <a:extLst>
                  <a:ext uri="{FF2B5EF4-FFF2-40B4-BE49-F238E27FC236}">
                    <a16:creationId xmlns:a16="http://schemas.microsoft.com/office/drawing/2014/main" id="{05817C7C-B483-5B49-16C0-3B05E3C462F0}"/>
                  </a:ext>
                </a:extLst>
              </p:cNvPr>
              <p:cNvSpPr txBox="1"/>
              <p:nvPr/>
            </p:nvSpPr>
            <p:spPr>
              <a:xfrm>
                <a:off x="0" y="-47625"/>
                <a:ext cx="903327" cy="615542"/>
              </a:xfrm>
              <a:prstGeom prst="rect">
                <a:avLst/>
              </a:prstGeom>
            </p:spPr>
            <p:txBody>
              <a:bodyPr lIns="50800" tIns="50800" rIns="50800" bIns="50800" rtlCol="0" anchor="ctr"/>
              <a:lstStyle/>
              <a:p>
                <a:pPr algn="ctr">
                  <a:lnSpc>
                    <a:spcPts val="2520"/>
                  </a:lnSpc>
                </a:pPr>
                <a:endParaRPr>
                  <a:latin typeface="Georgia" panose="02040502050405020303" pitchFamily="18" charset="0"/>
                </a:endParaRPr>
              </a:p>
            </p:txBody>
          </p:sp>
        </p:grpSp>
        <p:grpSp>
          <p:nvGrpSpPr>
            <p:cNvPr id="80" name="Group 50">
              <a:extLst>
                <a:ext uri="{FF2B5EF4-FFF2-40B4-BE49-F238E27FC236}">
                  <a16:creationId xmlns:a16="http://schemas.microsoft.com/office/drawing/2014/main" id="{31B2969F-AEA0-7274-87A1-8ED8BDC78417}"/>
                </a:ext>
              </a:extLst>
            </p:cNvPr>
            <p:cNvGrpSpPr/>
            <p:nvPr/>
          </p:nvGrpSpPr>
          <p:grpSpPr>
            <a:xfrm>
              <a:off x="8416368" y="4302326"/>
              <a:ext cx="3060366" cy="2079689"/>
              <a:chOff x="0" y="-47625"/>
              <a:chExt cx="903327" cy="690409"/>
            </a:xfrm>
          </p:grpSpPr>
          <p:sp>
            <p:nvSpPr>
              <p:cNvPr id="112" name="Freeform 51">
                <a:extLst>
                  <a:ext uri="{FF2B5EF4-FFF2-40B4-BE49-F238E27FC236}">
                    <a16:creationId xmlns:a16="http://schemas.microsoft.com/office/drawing/2014/main" id="{1DBEA015-131E-DC75-5001-B3DDE9D87C74}"/>
                  </a:ext>
                </a:extLst>
              </p:cNvPr>
              <p:cNvSpPr/>
              <p:nvPr/>
            </p:nvSpPr>
            <p:spPr>
              <a:xfrm>
                <a:off x="0" y="0"/>
                <a:ext cx="903327" cy="642784"/>
              </a:xfrm>
              <a:custGeom>
                <a:avLst/>
                <a:gdLst/>
                <a:ahLst/>
                <a:cxnLst/>
                <a:rect l="l" t="t" r="r" b="b"/>
                <a:pathLst>
                  <a:path w="903327" h="567917">
                    <a:moveTo>
                      <a:pt x="42888" y="0"/>
                    </a:moveTo>
                    <a:lnTo>
                      <a:pt x="860439" y="0"/>
                    </a:lnTo>
                    <a:cubicBezTo>
                      <a:pt x="884125" y="0"/>
                      <a:pt x="903327" y="19201"/>
                      <a:pt x="903327" y="42888"/>
                    </a:cubicBezTo>
                    <a:lnTo>
                      <a:pt x="903327" y="525030"/>
                    </a:lnTo>
                    <a:cubicBezTo>
                      <a:pt x="903327" y="536404"/>
                      <a:pt x="898808" y="547313"/>
                      <a:pt x="890765" y="555356"/>
                    </a:cubicBezTo>
                    <a:cubicBezTo>
                      <a:pt x="882722" y="563399"/>
                      <a:pt x="871814" y="567917"/>
                      <a:pt x="860439" y="567917"/>
                    </a:cubicBezTo>
                    <a:lnTo>
                      <a:pt x="42888" y="567917"/>
                    </a:lnTo>
                    <a:cubicBezTo>
                      <a:pt x="19201" y="567917"/>
                      <a:pt x="0" y="548716"/>
                      <a:pt x="0" y="525030"/>
                    </a:cubicBezTo>
                    <a:lnTo>
                      <a:pt x="0" y="42888"/>
                    </a:lnTo>
                    <a:cubicBezTo>
                      <a:pt x="0" y="31513"/>
                      <a:pt x="4518" y="20604"/>
                      <a:pt x="12561" y="12561"/>
                    </a:cubicBezTo>
                    <a:cubicBezTo>
                      <a:pt x="20604" y="4518"/>
                      <a:pt x="31513" y="0"/>
                      <a:pt x="42888" y="0"/>
                    </a:cubicBezTo>
                    <a:close/>
                  </a:path>
                </a:pathLst>
              </a:custGeom>
              <a:solidFill>
                <a:schemeClr val="bg2">
                  <a:lumMod val="90000"/>
                </a:schemeClr>
              </a:solidFill>
            </p:spPr>
            <p:txBody>
              <a:bodyPr/>
              <a:lstStyle/>
              <a:p>
                <a:endParaRPr lang="en-IN">
                  <a:latin typeface="Georgia" panose="02040502050405020303" pitchFamily="18" charset="0"/>
                </a:endParaRPr>
              </a:p>
            </p:txBody>
          </p:sp>
          <p:sp>
            <p:nvSpPr>
              <p:cNvPr id="113" name="TextBox 52">
                <a:extLst>
                  <a:ext uri="{FF2B5EF4-FFF2-40B4-BE49-F238E27FC236}">
                    <a16:creationId xmlns:a16="http://schemas.microsoft.com/office/drawing/2014/main" id="{928DF13D-2EBC-9E98-2E3D-0D779C99DB0C}"/>
                  </a:ext>
                </a:extLst>
              </p:cNvPr>
              <p:cNvSpPr txBox="1"/>
              <p:nvPr/>
            </p:nvSpPr>
            <p:spPr>
              <a:xfrm>
                <a:off x="0" y="-47625"/>
                <a:ext cx="903327" cy="615542"/>
              </a:xfrm>
              <a:prstGeom prst="rect">
                <a:avLst/>
              </a:prstGeom>
            </p:spPr>
            <p:txBody>
              <a:bodyPr lIns="50800" tIns="50800" rIns="50800" bIns="50800" rtlCol="0" anchor="ctr"/>
              <a:lstStyle/>
              <a:p>
                <a:pPr algn="ctr">
                  <a:lnSpc>
                    <a:spcPts val="2520"/>
                  </a:lnSpc>
                </a:pPr>
                <a:endParaRPr>
                  <a:latin typeface="Georgia" panose="02040502050405020303" pitchFamily="18" charset="0"/>
                </a:endParaRPr>
              </a:p>
            </p:txBody>
          </p:sp>
        </p:grpSp>
        <p:grpSp>
          <p:nvGrpSpPr>
            <p:cNvPr id="82" name="Group 56">
              <a:extLst>
                <a:ext uri="{FF2B5EF4-FFF2-40B4-BE49-F238E27FC236}">
                  <a16:creationId xmlns:a16="http://schemas.microsoft.com/office/drawing/2014/main" id="{21129747-037E-8502-CAAE-E4F65E21B938}"/>
                </a:ext>
              </a:extLst>
            </p:cNvPr>
            <p:cNvGrpSpPr/>
            <p:nvPr/>
          </p:nvGrpSpPr>
          <p:grpSpPr>
            <a:xfrm rot="5400000">
              <a:off x="479171" y="4871206"/>
              <a:ext cx="873669" cy="859870"/>
              <a:chOff x="0" y="0"/>
              <a:chExt cx="660400" cy="577905"/>
            </a:xfrm>
          </p:grpSpPr>
          <p:sp>
            <p:nvSpPr>
              <p:cNvPr id="108" name="Freeform 57">
                <a:extLst>
                  <a:ext uri="{FF2B5EF4-FFF2-40B4-BE49-F238E27FC236}">
                    <a16:creationId xmlns:a16="http://schemas.microsoft.com/office/drawing/2014/main" id="{6AD23CDF-7EF0-FE73-731F-84E68093F226}"/>
                  </a:ext>
                </a:extLst>
              </p:cNvPr>
              <p:cNvSpPr/>
              <p:nvPr/>
            </p:nvSpPr>
            <p:spPr>
              <a:xfrm>
                <a:off x="0" y="0"/>
                <a:ext cx="660400" cy="577905"/>
              </a:xfrm>
              <a:custGeom>
                <a:avLst/>
                <a:gdLst/>
                <a:ahLst/>
                <a:cxnLst/>
                <a:rect l="l" t="t" r="r" b="b"/>
                <a:pathLst>
                  <a:path w="660400" h="577905">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3284"/>
                    </a:cubicBezTo>
                    <a:lnTo>
                      <a:pt x="660400" y="577905"/>
                    </a:lnTo>
                    <a:lnTo>
                      <a:pt x="0" y="577905"/>
                    </a:lnTo>
                    <a:lnTo>
                      <a:pt x="0" y="323473"/>
                    </a:lnTo>
                    <a:cubicBezTo>
                      <a:pt x="1782" y="185660"/>
                      <a:pt x="93019" y="64045"/>
                      <a:pt x="220252" y="19070"/>
                    </a:cubicBezTo>
                    <a:close/>
                  </a:path>
                </a:pathLst>
              </a:custGeom>
              <a:solidFill>
                <a:srgbClr val="539B5C"/>
              </a:solidFill>
            </p:spPr>
            <p:txBody>
              <a:bodyPr/>
              <a:lstStyle/>
              <a:p>
                <a:endParaRPr lang="en-IN">
                  <a:latin typeface="Georgia" panose="02040502050405020303" pitchFamily="18" charset="0"/>
                </a:endParaRPr>
              </a:p>
            </p:txBody>
          </p:sp>
          <p:sp>
            <p:nvSpPr>
              <p:cNvPr id="109" name="TextBox 58">
                <a:extLst>
                  <a:ext uri="{FF2B5EF4-FFF2-40B4-BE49-F238E27FC236}">
                    <a16:creationId xmlns:a16="http://schemas.microsoft.com/office/drawing/2014/main" id="{528DF0C2-957F-49DB-B7D9-94899DD1D46E}"/>
                  </a:ext>
                </a:extLst>
              </p:cNvPr>
              <p:cNvSpPr txBox="1"/>
              <p:nvPr/>
            </p:nvSpPr>
            <p:spPr>
              <a:xfrm>
                <a:off x="0" y="79375"/>
                <a:ext cx="660400" cy="498530"/>
              </a:xfrm>
              <a:prstGeom prst="rect">
                <a:avLst/>
              </a:prstGeom>
            </p:spPr>
            <p:txBody>
              <a:bodyPr lIns="50800" tIns="50800" rIns="50800" bIns="50800" rtlCol="0" anchor="ctr"/>
              <a:lstStyle/>
              <a:p>
                <a:pPr marL="0" lvl="0" indent="0" algn="ctr">
                  <a:lnSpc>
                    <a:spcPts val="2520"/>
                  </a:lnSpc>
                  <a:spcBef>
                    <a:spcPct val="0"/>
                  </a:spcBef>
                </a:pPr>
                <a:endParaRPr>
                  <a:latin typeface="Georgia" panose="02040502050405020303" pitchFamily="18" charset="0"/>
                </a:endParaRPr>
              </a:p>
            </p:txBody>
          </p:sp>
        </p:grpSp>
        <p:grpSp>
          <p:nvGrpSpPr>
            <p:cNvPr id="84" name="Group 62">
              <a:extLst>
                <a:ext uri="{FF2B5EF4-FFF2-40B4-BE49-F238E27FC236}">
                  <a16:creationId xmlns:a16="http://schemas.microsoft.com/office/drawing/2014/main" id="{C28C9CDD-0D38-E340-919D-98D22E7D7969}"/>
                </a:ext>
              </a:extLst>
            </p:cNvPr>
            <p:cNvGrpSpPr/>
            <p:nvPr/>
          </p:nvGrpSpPr>
          <p:grpSpPr>
            <a:xfrm rot="5400000">
              <a:off x="4310742" y="4871206"/>
              <a:ext cx="873669" cy="859870"/>
              <a:chOff x="0" y="0"/>
              <a:chExt cx="660400" cy="577905"/>
            </a:xfrm>
          </p:grpSpPr>
          <p:sp>
            <p:nvSpPr>
              <p:cNvPr id="104" name="Freeform 63">
                <a:extLst>
                  <a:ext uri="{FF2B5EF4-FFF2-40B4-BE49-F238E27FC236}">
                    <a16:creationId xmlns:a16="http://schemas.microsoft.com/office/drawing/2014/main" id="{D352AC06-DC55-C13C-F899-CF2ACBF1EAA4}"/>
                  </a:ext>
                </a:extLst>
              </p:cNvPr>
              <p:cNvSpPr/>
              <p:nvPr/>
            </p:nvSpPr>
            <p:spPr>
              <a:xfrm>
                <a:off x="0" y="0"/>
                <a:ext cx="660400" cy="577905"/>
              </a:xfrm>
              <a:custGeom>
                <a:avLst/>
                <a:gdLst/>
                <a:ahLst/>
                <a:cxnLst/>
                <a:rect l="l" t="t" r="r" b="b"/>
                <a:pathLst>
                  <a:path w="660400" h="577905">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3284"/>
                    </a:cubicBezTo>
                    <a:lnTo>
                      <a:pt x="660400" y="577905"/>
                    </a:lnTo>
                    <a:lnTo>
                      <a:pt x="0" y="577905"/>
                    </a:lnTo>
                    <a:lnTo>
                      <a:pt x="0" y="323473"/>
                    </a:lnTo>
                    <a:cubicBezTo>
                      <a:pt x="1782" y="185660"/>
                      <a:pt x="93019" y="64045"/>
                      <a:pt x="220252" y="19070"/>
                    </a:cubicBezTo>
                    <a:close/>
                  </a:path>
                </a:pathLst>
              </a:custGeom>
              <a:solidFill>
                <a:srgbClr val="157664"/>
              </a:solidFill>
            </p:spPr>
            <p:txBody>
              <a:bodyPr/>
              <a:lstStyle/>
              <a:p>
                <a:endParaRPr lang="en-IN">
                  <a:latin typeface="Georgia" panose="02040502050405020303" pitchFamily="18" charset="0"/>
                </a:endParaRPr>
              </a:p>
            </p:txBody>
          </p:sp>
          <p:sp>
            <p:nvSpPr>
              <p:cNvPr id="105" name="TextBox 64">
                <a:extLst>
                  <a:ext uri="{FF2B5EF4-FFF2-40B4-BE49-F238E27FC236}">
                    <a16:creationId xmlns:a16="http://schemas.microsoft.com/office/drawing/2014/main" id="{0370CDEF-4A8B-8978-355A-98532744CC31}"/>
                  </a:ext>
                </a:extLst>
              </p:cNvPr>
              <p:cNvSpPr txBox="1"/>
              <p:nvPr/>
            </p:nvSpPr>
            <p:spPr>
              <a:xfrm>
                <a:off x="0" y="79375"/>
                <a:ext cx="660400" cy="498530"/>
              </a:xfrm>
              <a:prstGeom prst="rect">
                <a:avLst/>
              </a:prstGeom>
            </p:spPr>
            <p:txBody>
              <a:bodyPr lIns="50800" tIns="50800" rIns="50800" bIns="50800" rtlCol="0" anchor="ctr"/>
              <a:lstStyle/>
              <a:p>
                <a:pPr marL="0" lvl="0" indent="0" algn="ctr">
                  <a:lnSpc>
                    <a:spcPts val="2520"/>
                  </a:lnSpc>
                  <a:spcBef>
                    <a:spcPct val="0"/>
                  </a:spcBef>
                </a:pPr>
                <a:endParaRPr>
                  <a:latin typeface="Georgia" panose="02040502050405020303" pitchFamily="18" charset="0"/>
                </a:endParaRPr>
              </a:p>
            </p:txBody>
          </p:sp>
        </p:grpSp>
        <p:grpSp>
          <p:nvGrpSpPr>
            <p:cNvPr id="85" name="Group 65">
              <a:extLst>
                <a:ext uri="{FF2B5EF4-FFF2-40B4-BE49-F238E27FC236}">
                  <a16:creationId xmlns:a16="http://schemas.microsoft.com/office/drawing/2014/main" id="{56D0D883-44D3-C139-1B53-2343AC006137}"/>
                </a:ext>
              </a:extLst>
            </p:cNvPr>
            <p:cNvGrpSpPr/>
            <p:nvPr/>
          </p:nvGrpSpPr>
          <p:grpSpPr>
            <a:xfrm rot="5400000">
              <a:off x="8145258" y="4871206"/>
              <a:ext cx="873669" cy="859870"/>
              <a:chOff x="0" y="0"/>
              <a:chExt cx="660400" cy="577905"/>
            </a:xfrm>
          </p:grpSpPr>
          <p:sp>
            <p:nvSpPr>
              <p:cNvPr id="102" name="Freeform 66">
                <a:extLst>
                  <a:ext uri="{FF2B5EF4-FFF2-40B4-BE49-F238E27FC236}">
                    <a16:creationId xmlns:a16="http://schemas.microsoft.com/office/drawing/2014/main" id="{A04E16DC-D682-2B5E-F6E0-AB1DDE2E61DA}"/>
                  </a:ext>
                </a:extLst>
              </p:cNvPr>
              <p:cNvSpPr/>
              <p:nvPr/>
            </p:nvSpPr>
            <p:spPr>
              <a:xfrm>
                <a:off x="0" y="0"/>
                <a:ext cx="660400" cy="577905"/>
              </a:xfrm>
              <a:custGeom>
                <a:avLst/>
                <a:gdLst/>
                <a:ahLst/>
                <a:cxnLst/>
                <a:rect l="l" t="t" r="r" b="b"/>
                <a:pathLst>
                  <a:path w="660400" h="577905">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3284"/>
                    </a:cubicBezTo>
                    <a:lnTo>
                      <a:pt x="660400" y="577905"/>
                    </a:lnTo>
                    <a:lnTo>
                      <a:pt x="0" y="577905"/>
                    </a:lnTo>
                    <a:lnTo>
                      <a:pt x="0" y="323473"/>
                    </a:lnTo>
                    <a:cubicBezTo>
                      <a:pt x="1782" y="185660"/>
                      <a:pt x="93019" y="64045"/>
                      <a:pt x="220252" y="19070"/>
                    </a:cubicBezTo>
                    <a:close/>
                  </a:path>
                </a:pathLst>
              </a:custGeom>
              <a:solidFill>
                <a:srgbClr val="172B36"/>
              </a:solidFill>
            </p:spPr>
            <p:txBody>
              <a:bodyPr/>
              <a:lstStyle/>
              <a:p>
                <a:endParaRPr lang="en-IN">
                  <a:latin typeface="Georgia" panose="02040502050405020303" pitchFamily="18" charset="0"/>
                </a:endParaRPr>
              </a:p>
            </p:txBody>
          </p:sp>
          <p:sp>
            <p:nvSpPr>
              <p:cNvPr id="103" name="TextBox 67">
                <a:extLst>
                  <a:ext uri="{FF2B5EF4-FFF2-40B4-BE49-F238E27FC236}">
                    <a16:creationId xmlns:a16="http://schemas.microsoft.com/office/drawing/2014/main" id="{767C9D85-4DDC-B6C0-0545-2A8AAB5B3CF9}"/>
                  </a:ext>
                </a:extLst>
              </p:cNvPr>
              <p:cNvSpPr txBox="1"/>
              <p:nvPr/>
            </p:nvSpPr>
            <p:spPr>
              <a:xfrm>
                <a:off x="0" y="79375"/>
                <a:ext cx="660400" cy="498530"/>
              </a:xfrm>
              <a:prstGeom prst="rect">
                <a:avLst/>
              </a:prstGeom>
            </p:spPr>
            <p:txBody>
              <a:bodyPr lIns="50800" tIns="50800" rIns="50800" bIns="50800" rtlCol="0" anchor="ctr"/>
              <a:lstStyle/>
              <a:p>
                <a:pPr marL="0" lvl="0" indent="0" algn="ctr">
                  <a:lnSpc>
                    <a:spcPts val="2520"/>
                  </a:lnSpc>
                  <a:spcBef>
                    <a:spcPct val="0"/>
                  </a:spcBef>
                </a:pPr>
                <a:endParaRPr>
                  <a:latin typeface="Georgia" panose="02040502050405020303" pitchFamily="18" charset="0"/>
                </a:endParaRPr>
              </a:p>
            </p:txBody>
          </p:sp>
        </p:grpSp>
        <p:sp>
          <p:nvSpPr>
            <p:cNvPr id="87" name="TextBox 91">
              <a:extLst>
                <a:ext uri="{FF2B5EF4-FFF2-40B4-BE49-F238E27FC236}">
                  <a16:creationId xmlns:a16="http://schemas.microsoft.com/office/drawing/2014/main" id="{9F0B6430-268D-EDDF-EAF9-DED2D9A35BE6}"/>
                </a:ext>
              </a:extLst>
            </p:cNvPr>
            <p:cNvSpPr txBox="1"/>
            <p:nvPr/>
          </p:nvSpPr>
          <p:spPr>
            <a:xfrm>
              <a:off x="1375856" y="4773788"/>
              <a:ext cx="2543726" cy="1477328"/>
            </a:xfrm>
            <a:prstGeom prst="rect">
              <a:avLst/>
            </a:prstGeom>
          </p:spPr>
          <p:txBody>
            <a:bodyPr wrap="square" lIns="0" tIns="0" rIns="0" bIns="0" rtlCol="0" anchor="t">
              <a:spAutoFit/>
            </a:bodyPr>
            <a:lstStyle/>
            <a:p>
              <a:r>
                <a:rPr lang="en-US" sz="1200" dirty="0">
                  <a:latin typeface="Georgia" panose="02040502050405020303" pitchFamily="18" charset="0"/>
                </a:rPr>
                <a:t>An AI-driven digital agriculture platform recognized by the Government of Karnataka that includes inventory management, weather forecasting, dashboards, and farm management systems to improve decision-making and reduce losses.</a:t>
              </a:r>
              <a:endParaRPr lang="en-US" sz="1200" dirty="0">
                <a:solidFill>
                  <a:srgbClr val="000000"/>
                </a:solidFill>
                <a:latin typeface="Georgia" panose="02040502050405020303" pitchFamily="18" charset="0"/>
                <a:ea typeface="TT Hoves"/>
                <a:cs typeface="TT Hoves"/>
                <a:sym typeface="TT Hoves"/>
              </a:endParaRPr>
            </a:p>
          </p:txBody>
        </p:sp>
        <p:sp>
          <p:nvSpPr>
            <p:cNvPr id="89" name="TextBox 93">
              <a:extLst>
                <a:ext uri="{FF2B5EF4-FFF2-40B4-BE49-F238E27FC236}">
                  <a16:creationId xmlns:a16="http://schemas.microsoft.com/office/drawing/2014/main" id="{4B0A31B9-2BA4-68A4-CC13-1795EC3487BF}"/>
                </a:ext>
              </a:extLst>
            </p:cNvPr>
            <p:cNvSpPr txBox="1"/>
            <p:nvPr/>
          </p:nvSpPr>
          <p:spPr>
            <a:xfrm>
              <a:off x="5378948" y="4967796"/>
              <a:ext cx="2016799" cy="923330"/>
            </a:xfrm>
            <a:prstGeom prst="rect">
              <a:avLst/>
            </a:prstGeom>
          </p:spPr>
          <p:txBody>
            <a:bodyPr lIns="0" tIns="0" rIns="0" bIns="0" rtlCol="0" anchor="t">
              <a:spAutoFit/>
            </a:bodyPr>
            <a:lstStyle/>
            <a:p>
              <a:r>
                <a:rPr lang="en-US" sz="1200" dirty="0">
                  <a:latin typeface="Georgia" panose="02040502050405020303" pitchFamily="18" charset="0"/>
                </a:rPr>
                <a:t>Includes support for storage, logistics, and market linkage systems that improve post-harvest coordination and information access.</a:t>
              </a:r>
              <a:endParaRPr lang="en-US" sz="1200" dirty="0">
                <a:solidFill>
                  <a:srgbClr val="000000"/>
                </a:solidFill>
                <a:latin typeface="Georgia" panose="02040502050405020303" pitchFamily="18" charset="0"/>
                <a:ea typeface="TT Hoves"/>
                <a:cs typeface="TT Hoves"/>
                <a:sym typeface="TT Hoves"/>
              </a:endParaRPr>
            </a:p>
          </p:txBody>
        </p:sp>
        <p:sp>
          <p:nvSpPr>
            <p:cNvPr id="90" name="TextBox 94">
              <a:extLst>
                <a:ext uri="{FF2B5EF4-FFF2-40B4-BE49-F238E27FC236}">
                  <a16:creationId xmlns:a16="http://schemas.microsoft.com/office/drawing/2014/main" id="{E11E39EE-6D2A-1A34-187A-C5ABDF3CD441}"/>
                </a:ext>
              </a:extLst>
            </p:cNvPr>
            <p:cNvSpPr txBox="1"/>
            <p:nvPr/>
          </p:nvSpPr>
          <p:spPr>
            <a:xfrm>
              <a:off x="9242065" y="4975124"/>
              <a:ext cx="2016799" cy="738664"/>
            </a:xfrm>
            <a:prstGeom prst="rect">
              <a:avLst/>
            </a:prstGeom>
          </p:spPr>
          <p:txBody>
            <a:bodyPr lIns="0" tIns="0" rIns="0" bIns="0" rtlCol="0" anchor="t">
              <a:spAutoFit/>
            </a:bodyPr>
            <a:lstStyle/>
            <a:p>
              <a:r>
                <a:rPr lang="en-US" sz="1200" dirty="0">
                  <a:latin typeface="Georgia" panose="02040502050405020303" pitchFamily="18" charset="0"/>
                </a:rPr>
                <a:t>Supports horticulture value chains through aggregation, market connectivity, and digital trade systems.</a:t>
              </a:r>
            </a:p>
          </p:txBody>
        </p:sp>
        <p:sp>
          <p:nvSpPr>
            <p:cNvPr id="92" name="TextBox 96">
              <a:extLst>
                <a:ext uri="{FF2B5EF4-FFF2-40B4-BE49-F238E27FC236}">
                  <a16:creationId xmlns:a16="http://schemas.microsoft.com/office/drawing/2014/main" id="{C0EFF4B3-A3C0-A5FD-461D-0B494B2C5630}"/>
                </a:ext>
              </a:extLst>
            </p:cNvPr>
            <p:cNvSpPr txBox="1"/>
            <p:nvPr/>
          </p:nvSpPr>
          <p:spPr>
            <a:xfrm>
              <a:off x="833026" y="4483885"/>
              <a:ext cx="2125516" cy="215444"/>
            </a:xfrm>
            <a:prstGeom prst="rect">
              <a:avLst/>
            </a:prstGeom>
          </p:spPr>
          <p:txBody>
            <a:bodyPr wrap="square" lIns="0" tIns="0" rIns="0" bIns="0" rtlCol="0" anchor="t">
              <a:spAutoFit/>
            </a:bodyPr>
            <a:lstStyle/>
            <a:p>
              <a:r>
                <a:rPr lang="en-IN" sz="1400" b="1" dirty="0">
                  <a:latin typeface="Georgia" panose="02040502050405020303" pitchFamily="18" charset="0"/>
                </a:rPr>
                <a:t>BE-</a:t>
              </a:r>
              <a:r>
                <a:rPr lang="en-IN" sz="1400" b="1" dirty="0" err="1">
                  <a:latin typeface="Georgia" panose="02040502050405020303" pitchFamily="18" charset="0"/>
                </a:rPr>
                <a:t>AgSmart</a:t>
              </a:r>
              <a:r>
                <a:rPr lang="en-IN" sz="1400" b="1" dirty="0">
                  <a:latin typeface="Georgia" panose="02040502050405020303" pitchFamily="18" charset="0"/>
                </a:rPr>
                <a:t> platform</a:t>
              </a:r>
              <a:endParaRPr lang="en-US" sz="1400" b="1" dirty="0">
                <a:solidFill>
                  <a:srgbClr val="000000"/>
                </a:solidFill>
                <a:latin typeface="Georgia" panose="02040502050405020303" pitchFamily="18" charset="0"/>
                <a:ea typeface="TT Hoves Bold"/>
                <a:cs typeface="TT Hoves Bold"/>
                <a:sym typeface="TT Hoves Bold"/>
              </a:endParaRPr>
            </a:p>
          </p:txBody>
        </p:sp>
        <p:sp>
          <p:nvSpPr>
            <p:cNvPr id="94" name="TextBox 98">
              <a:extLst>
                <a:ext uri="{FF2B5EF4-FFF2-40B4-BE49-F238E27FC236}">
                  <a16:creationId xmlns:a16="http://schemas.microsoft.com/office/drawing/2014/main" id="{84F8E2FF-6C94-009A-5EB7-8366B3F2DBA4}"/>
                </a:ext>
              </a:extLst>
            </p:cNvPr>
            <p:cNvSpPr txBox="1"/>
            <p:nvPr/>
          </p:nvSpPr>
          <p:spPr>
            <a:xfrm>
              <a:off x="4794578" y="4545587"/>
              <a:ext cx="1966723" cy="215444"/>
            </a:xfrm>
            <a:prstGeom prst="rect">
              <a:avLst/>
            </a:prstGeom>
          </p:spPr>
          <p:txBody>
            <a:bodyPr wrap="square" lIns="0" tIns="0" rIns="0" bIns="0" rtlCol="0" anchor="t">
              <a:spAutoFit/>
            </a:bodyPr>
            <a:lstStyle/>
            <a:p>
              <a:r>
                <a:rPr lang="en-US" sz="1400" b="1" dirty="0">
                  <a:latin typeface="Georgia" panose="02040502050405020303" pitchFamily="18" charset="0"/>
                </a:rPr>
                <a:t>NABARD</a:t>
              </a:r>
              <a:endParaRPr lang="en-US" sz="1400" b="1" dirty="0">
                <a:solidFill>
                  <a:srgbClr val="000000"/>
                </a:solidFill>
                <a:latin typeface="Georgia" panose="02040502050405020303" pitchFamily="18" charset="0"/>
                <a:ea typeface="TT Hoves Bold"/>
                <a:cs typeface="TT Hoves Bold"/>
                <a:sym typeface="TT Hoves Bold"/>
              </a:endParaRPr>
            </a:p>
          </p:txBody>
        </p:sp>
        <p:sp>
          <p:nvSpPr>
            <p:cNvPr id="95" name="TextBox 99">
              <a:extLst>
                <a:ext uri="{FF2B5EF4-FFF2-40B4-BE49-F238E27FC236}">
                  <a16:creationId xmlns:a16="http://schemas.microsoft.com/office/drawing/2014/main" id="{1ED39D63-2338-79D9-E9F6-066E22336EE9}"/>
                </a:ext>
              </a:extLst>
            </p:cNvPr>
            <p:cNvSpPr txBox="1"/>
            <p:nvPr/>
          </p:nvSpPr>
          <p:spPr>
            <a:xfrm>
              <a:off x="8629094" y="4545587"/>
              <a:ext cx="1966723" cy="215444"/>
            </a:xfrm>
            <a:prstGeom prst="rect">
              <a:avLst/>
            </a:prstGeom>
          </p:spPr>
          <p:txBody>
            <a:bodyPr wrap="square" lIns="0" tIns="0" rIns="0" bIns="0" rtlCol="0" anchor="t">
              <a:spAutoFit/>
            </a:bodyPr>
            <a:lstStyle/>
            <a:p>
              <a:r>
                <a:rPr lang="en-IN" sz="1400" b="1" dirty="0">
                  <a:latin typeface="Georgia" panose="02040502050405020303" pitchFamily="18" charset="0"/>
                </a:rPr>
                <a:t>KAPPEC</a:t>
              </a:r>
              <a:endParaRPr lang="en-US" sz="1400" b="1" dirty="0">
                <a:solidFill>
                  <a:srgbClr val="000000"/>
                </a:solidFill>
                <a:latin typeface="Georgia" panose="02040502050405020303" pitchFamily="18" charset="0"/>
                <a:ea typeface="TT Hoves Bold"/>
                <a:cs typeface="TT Hoves Bold"/>
                <a:sym typeface="TT Hoves Bold"/>
              </a:endParaRPr>
            </a:p>
          </p:txBody>
        </p:sp>
        <p:sp>
          <p:nvSpPr>
            <p:cNvPr id="97" name="TextBox 101">
              <a:extLst>
                <a:ext uri="{FF2B5EF4-FFF2-40B4-BE49-F238E27FC236}">
                  <a16:creationId xmlns:a16="http://schemas.microsoft.com/office/drawing/2014/main" id="{0FD33285-407A-D2A1-B52F-E2C02867F71E}"/>
                </a:ext>
              </a:extLst>
            </p:cNvPr>
            <p:cNvSpPr txBox="1"/>
            <p:nvPr/>
          </p:nvSpPr>
          <p:spPr>
            <a:xfrm>
              <a:off x="695800" y="5110157"/>
              <a:ext cx="647602" cy="410882"/>
            </a:xfrm>
            <a:prstGeom prst="rect">
              <a:avLst/>
            </a:prstGeom>
          </p:spPr>
          <p:txBody>
            <a:bodyPr lIns="0" tIns="0" rIns="0" bIns="0" rtlCol="0" anchor="t">
              <a:spAutoFit/>
            </a:bodyPr>
            <a:lstStyle/>
            <a:p>
              <a:pPr algn="l">
                <a:lnSpc>
                  <a:spcPts val="3499"/>
                </a:lnSpc>
              </a:pPr>
              <a:r>
                <a:rPr lang="en-US" sz="2499" b="1" dirty="0">
                  <a:solidFill>
                    <a:schemeClr val="bg1"/>
                  </a:solidFill>
                  <a:latin typeface="Georgia" panose="02040502050405020303" pitchFamily="18" charset="0"/>
                  <a:ea typeface="TT Hoves Bold"/>
                  <a:cs typeface="TT Hoves Bold"/>
                  <a:sym typeface="TT Hoves Bold"/>
                </a:rPr>
                <a:t>04</a:t>
              </a:r>
            </a:p>
          </p:txBody>
        </p:sp>
        <p:sp>
          <p:nvSpPr>
            <p:cNvPr id="99" name="TextBox 103">
              <a:extLst>
                <a:ext uri="{FF2B5EF4-FFF2-40B4-BE49-F238E27FC236}">
                  <a16:creationId xmlns:a16="http://schemas.microsoft.com/office/drawing/2014/main" id="{E0770FF6-0DBD-796B-465F-0BA15A689506}"/>
                </a:ext>
              </a:extLst>
            </p:cNvPr>
            <p:cNvSpPr txBox="1"/>
            <p:nvPr/>
          </p:nvSpPr>
          <p:spPr>
            <a:xfrm>
              <a:off x="4527371" y="5110157"/>
              <a:ext cx="647602" cy="410882"/>
            </a:xfrm>
            <a:prstGeom prst="rect">
              <a:avLst/>
            </a:prstGeom>
          </p:spPr>
          <p:txBody>
            <a:bodyPr lIns="0" tIns="0" rIns="0" bIns="0" rtlCol="0" anchor="t">
              <a:spAutoFit/>
            </a:bodyPr>
            <a:lstStyle/>
            <a:p>
              <a:pPr algn="l">
                <a:lnSpc>
                  <a:spcPts val="3499"/>
                </a:lnSpc>
              </a:pPr>
              <a:r>
                <a:rPr lang="en-US" sz="2499" b="1" dirty="0">
                  <a:solidFill>
                    <a:schemeClr val="bg1"/>
                  </a:solidFill>
                  <a:latin typeface="Georgia" panose="02040502050405020303" pitchFamily="18" charset="0"/>
                  <a:ea typeface="TT Hoves Bold"/>
                  <a:cs typeface="TT Hoves Bold"/>
                  <a:sym typeface="TT Hoves Bold"/>
                </a:rPr>
                <a:t>05</a:t>
              </a:r>
            </a:p>
          </p:txBody>
        </p:sp>
        <p:sp>
          <p:nvSpPr>
            <p:cNvPr id="101" name="TextBox 104">
              <a:extLst>
                <a:ext uri="{FF2B5EF4-FFF2-40B4-BE49-F238E27FC236}">
                  <a16:creationId xmlns:a16="http://schemas.microsoft.com/office/drawing/2014/main" id="{0FD5D8F6-659B-9166-A62D-79CCF4265CF7}"/>
                </a:ext>
              </a:extLst>
            </p:cNvPr>
            <p:cNvSpPr txBox="1"/>
            <p:nvPr/>
          </p:nvSpPr>
          <p:spPr>
            <a:xfrm>
              <a:off x="8356133" y="5110157"/>
              <a:ext cx="647602" cy="410882"/>
            </a:xfrm>
            <a:prstGeom prst="rect">
              <a:avLst/>
            </a:prstGeom>
          </p:spPr>
          <p:txBody>
            <a:bodyPr lIns="0" tIns="0" rIns="0" bIns="0" rtlCol="0" anchor="t">
              <a:spAutoFit/>
            </a:bodyPr>
            <a:lstStyle/>
            <a:p>
              <a:pPr algn="l">
                <a:lnSpc>
                  <a:spcPts val="3499"/>
                </a:lnSpc>
              </a:pPr>
              <a:r>
                <a:rPr lang="en-US" sz="2499" b="1" dirty="0">
                  <a:solidFill>
                    <a:srgbClr val="FFFFFF"/>
                  </a:solidFill>
                  <a:latin typeface="Georgia" panose="02040502050405020303" pitchFamily="18" charset="0"/>
                  <a:ea typeface="TT Hoves Bold"/>
                  <a:cs typeface="TT Hoves Bold"/>
                  <a:sym typeface="TT Hoves Bold"/>
                </a:rPr>
                <a:t>06</a:t>
              </a:r>
            </a:p>
          </p:txBody>
        </p:sp>
      </p:grpSp>
      <p:sp>
        <p:nvSpPr>
          <p:cNvPr id="7" name="Title 21">
            <a:extLst>
              <a:ext uri="{FF2B5EF4-FFF2-40B4-BE49-F238E27FC236}">
                <a16:creationId xmlns:a16="http://schemas.microsoft.com/office/drawing/2014/main" id="{2A19F605-8A2A-8E8F-5249-D007D2BC5F44}"/>
              </a:ext>
            </a:extLst>
          </p:cNvPr>
          <p:cNvSpPr txBox="1">
            <a:spLocks/>
          </p:cNvSpPr>
          <p:nvPr/>
        </p:nvSpPr>
        <p:spPr>
          <a:xfrm>
            <a:off x="404992" y="228600"/>
            <a:ext cx="11353800" cy="486159"/>
          </a:xfrm>
          <a:prstGeom prst="rect">
            <a:avLst/>
          </a:prstGeom>
        </p:spPr>
        <p:txBody>
          <a:bodyPr/>
          <a:lstStyle>
            <a:lvl1pPr>
              <a:defRPr>
                <a:latin typeface="+mj-lt"/>
                <a:ea typeface="+mj-ea"/>
                <a:cs typeface="+mj-cs"/>
              </a:defRPr>
            </a:lvl1pPr>
          </a:lstStyle>
          <a:p>
            <a:pPr>
              <a:lnSpc>
                <a:spcPct val="150000"/>
              </a:lnSpc>
              <a:spcAft>
                <a:spcPts val="800"/>
              </a:spcAft>
            </a:pPr>
            <a:r>
              <a:rPr lang="en-IN" sz="2400" b="1" dirty="0">
                <a:solidFill>
                  <a:schemeClr val="bg1"/>
                </a:solidFill>
                <a:latin typeface="Georgia" panose="02040502050405020303" pitchFamily="18" charset="0"/>
              </a:rPr>
              <a:t>Challenge category 6: </a:t>
            </a:r>
            <a:r>
              <a:rPr lang="en-US" sz="2400" b="1" dirty="0">
                <a:solidFill>
                  <a:schemeClr val="bg1"/>
                </a:solidFill>
                <a:latin typeface="Georgia" panose="02040502050405020303" pitchFamily="18" charset="0"/>
              </a:rPr>
              <a:t>Digital decision systems for food loss reduction</a:t>
            </a:r>
          </a:p>
          <a:p>
            <a:pPr>
              <a:lnSpc>
                <a:spcPct val="150000"/>
              </a:lnSpc>
              <a:spcAft>
                <a:spcPts val="800"/>
              </a:spcAft>
            </a:pPr>
            <a:endParaRPr lang="en-IN" sz="2400" b="1" dirty="0">
              <a:solidFill>
                <a:schemeClr val="bg1"/>
              </a:solidFill>
              <a:latin typeface="Georgia" panose="02040502050405020303" pitchFamily="18" charset="0"/>
            </a:endParaRPr>
          </a:p>
        </p:txBody>
      </p:sp>
      <p:sp>
        <p:nvSpPr>
          <p:cNvPr id="5" name="Slide Number Placeholder 2">
            <a:extLst>
              <a:ext uri="{FF2B5EF4-FFF2-40B4-BE49-F238E27FC236}">
                <a16:creationId xmlns:a16="http://schemas.microsoft.com/office/drawing/2014/main" id="{A3F89960-578A-D723-D802-1481A25BF028}"/>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24</a:t>
            </a:fld>
            <a:endParaRPr dirty="0">
              <a:latin typeface="Georgia" panose="02040502050405020303" pitchFamily="18" charset="0"/>
            </a:endParaRPr>
          </a:p>
        </p:txBody>
      </p:sp>
      <p:sp>
        <p:nvSpPr>
          <p:cNvPr id="100" name="TextBox 99">
            <a:extLst>
              <a:ext uri="{FF2B5EF4-FFF2-40B4-BE49-F238E27FC236}">
                <a16:creationId xmlns:a16="http://schemas.microsoft.com/office/drawing/2014/main" id="{131D7C07-AB31-D36E-124F-E7676A8F3851}"/>
              </a:ext>
            </a:extLst>
          </p:cNvPr>
          <p:cNvSpPr txBox="1"/>
          <p:nvPr/>
        </p:nvSpPr>
        <p:spPr>
          <a:xfrm>
            <a:off x="567798" y="972698"/>
            <a:ext cx="10820400" cy="738664"/>
          </a:xfrm>
          <a:prstGeom prst="rect">
            <a:avLst/>
          </a:prstGeom>
          <a:noFill/>
          <a:ln>
            <a:solidFill>
              <a:srgbClr val="AE4543"/>
            </a:solidFill>
          </a:ln>
        </p:spPr>
        <p:txBody>
          <a:bodyPr wrap="square">
            <a:spAutoFit/>
          </a:bodyPr>
          <a:lstStyle/>
          <a:p>
            <a:r>
              <a:rPr lang="en-US" altLang="en-US" sz="1400" dirty="0">
                <a:latin typeface="Georgia" panose="02040502050405020303" pitchFamily="18" charset="0"/>
              </a:rPr>
              <a:t>This challenge category seeks to develop solutions that improve real-time visibility and decision-making across the post-harvest value chain, enabling farmers, FPOs, and other stakeholders to better manage volumes, quality, pricing, storage, and logistics during peak harvest periods.</a:t>
            </a:r>
          </a:p>
        </p:txBody>
      </p:sp>
      <p:grpSp>
        <p:nvGrpSpPr>
          <p:cNvPr id="24" name="Group 3">
            <a:extLst>
              <a:ext uri="{FF2B5EF4-FFF2-40B4-BE49-F238E27FC236}">
                <a16:creationId xmlns:a16="http://schemas.microsoft.com/office/drawing/2014/main" id="{6A36BBBE-62FF-CF6F-4C09-48128093B954}"/>
              </a:ext>
            </a:extLst>
          </p:cNvPr>
          <p:cNvGrpSpPr/>
          <p:nvPr/>
        </p:nvGrpSpPr>
        <p:grpSpPr>
          <a:xfrm rot="16200000">
            <a:off x="545269" y="2409651"/>
            <a:ext cx="301062" cy="419458"/>
            <a:chOff x="0" y="0"/>
            <a:chExt cx="323825" cy="401148"/>
          </a:xfrm>
        </p:grpSpPr>
        <p:sp>
          <p:nvSpPr>
            <p:cNvPr id="140" name="Freeform 4">
              <a:extLst>
                <a:ext uri="{FF2B5EF4-FFF2-40B4-BE49-F238E27FC236}">
                  <a16:creationId xmlns:a16="http://schemas.microsoft.com/office/drawing/2014/main" id="{BA06AC7F-D3BF-E450-5397-7841F4DA33B6}"/>
                </a:ext>
              </a:extLst>
            </p:cNvPr>
            <p:cNvSpPr/>
            <p:nvPr/>
          </p:nvSpPr>
          <p:spPr>
            <a:xfrm>
              <a:off x="0" y="0"/>
              <a:ext cx="323825" cy="401148"/>
            </a:xfrm>
            <a:custGeom>
              <a:avLst/>
              <a:gdLst/>
              <a:ahLst/>
              <a:cxnLst/>
              <a:rect l="l" t="t" r="r" b="b"/>
              <a:pathLst>
                <a:path w="323825" h="401148">
                  <a:moveTo>
                    <a:pt x="161912" y="0"/>
                  </a:moveTo>
                  <a:lnTo>
                    <a:pt x="323825" y="401148"/>
                  </a:lnTo>
                  <a:lnTo>
                    <a:pt x="0" y="401148"/>
                  </a:lnTo>
                  <a:lnTo>
                    <a:pt x="161912" y="0"/>
                  </a:lnTo>
                  <a:close/>
                </a:path>
              </a:pathLst>
            </a:custGeom>
            <a:solidFill>
              <a:srgbClr val="F3BE00"/>
            </a:solidFill>
          </p:spPr>
          <p:txBody>
            <a:bodyPr/>
            <a:lstStyle/>
            <a:p>
              <a:endParaRPr lang="en-IN">
                <a:latin typeface="Georgia" panose="02040502050405020303" pitchFamily="18" charset="0"/>
              </a:endParaRPr>
            </a:p>
          </p:txBody>
        </p:sp>
        <p:sp>
          <p:nvSpPr>
            <p:cNvPr id="141" name="TextBox 5">
              <a:extLst>
                <a:ext uri="{FF2B5EF4-FFF2-40B4-BE49-F238E27FC236}">
                  <a16:creationId xmlns:a16="http://schemas.microsoft.com/office/drawing/2014/main" id="{2BAE58FD-878A-1545-9449-9735DB82ECE9}"/>
                </a:ext>
              </a:extLst>
            </p:cNvPr>
            <p:cNvSpPr txBox="1"/>
            <p:nvPr/>
          </p:nvSpPr>
          <p:spPr>
            <a:xfrm>
              <a:off x="50598" y="138622"/>
              <a:ext cx="222629" cy="233872"/>
            </a:xfrm>
            <a:prstGeom prst="rect">
              <a:avLst/>
            </a:prstGeom>
          </p:spPr>
          <p:txBody>
            <a:bodyPr lIns="50800" tIns="50800" rIns="50800" bIns="50800" rtlCol="0" anchor="ctr"/>
            <a:lstStyle/>
            <a:p>
              <a:pPr algn="ctr">
                <a:lnSpc>
                  <a:spcPts val="2520"/>
                </a:lnSpc>
              </a:pPr>
              <a:endParaRPr>
                <a:latin typeface="Georgia" panose="02040502050405020303" pitchFamily="18" charset="0"/>
              </a:endParaRPr>
            </a:p>
          </p:txBody>
        </p:sp>
      </p:grpSp>
      <p:grpSp>
        <p:nvGrpSpPr>
          <p:cNvPr id="26" name="Group 9">
            <a:extLst>
              <a:ext uri="{FF2B5EF4-FFF2-40B4-BE49-F238E27FC236}">
                <a16:creationId xmlns:a16="http://schemas.microsoft.com/office/drawing/2014/main" id="{21F69CA1-73EA-C30F-40FB-16D919438E87}"/>
              </a:ext>
            </a:extLst>
          </p:cNvPr>
          <p:cNvGrpSpPr/>
          <p:nvPr/>
        </p:nvGrpSpPr>
        <p:grpSpPr>
          <a:xfrm rot="16200000">
            <a:off x="4376840" y="2409651"/>
            <a:ext cx="301062" cy="419458"/>
            <a:chOff x="0" y="0"/>
            <a:chExt cx="323825" cy="401148"/>
          </a:xfrm>
        </p:grpSpPr>
        <p:sp>
          <p:nvSpPr>
            <p:cNvPr id="136" name="Freeform 10">
              <a:extLst>
                <a:ext uri="{FF2B5EF4-FFF2-40B4-BE49-F238E27FC236}">
                  <a16:creationId xmlns:a16="http://schemas.microsoft.com/office/drawing/2014/main" id="{0819FF5B-CC0E-B95E-6F52-A4BF32C14C4B}"/>
                </a:ext>
              </a:extLst>
            </p:cNvPr>
            <p:cNvSpPr/>
            <p:nvPr/>
          </p:nvSpPr>
          <p:spPr>
            <a:xfrm>
              <a:off x="0" y="0"/>
              <a:ext cx="323825" cy="401148"/>
            </a:xfrm>
            <a:custGeom>
              <a:avLst/>
              <a:gdLst/>
              <a:ahLst/>
              <a:cxnLst/>
              <a:rect l="l" t="t" r="r" b="b"/>
              <a:pathLst>
                <a:path w="323825" h="401148">
                  <a:moveTo>
                    <a:pt x="161912" y="0"/>
                  </a:moveTo>
                  <a:lnTo>
                    <a:pt x="323825" y="401148"/>
                  </a:lnTo>
                  <a:lnTo>
                    <a:pt x="0" y="401148"/>
                  </a:lnTo>
                  <a:lnTo>
                    <a:pt x="161912" y="0"/>
                  </a:lnTo>
                  <a:close/>
                </a:path>
              </a:pathLst>
            </a:custGeom>
            <a:solidFill>
              <a:srgbClr val="98AA33"/>
            </a:solidFill>
          </p:spPr>
          <p:txBody>
            <a:bodyPr/>
            <a:lstStyle/>
            <a:p>
              <a:endParaRPr lang="en-IN">
                <a:latin typeface="Georgia" panose="02040502050405020303" pitchFamily="18" charset="0"/>
              </a:endParaRPr>
            </a:p>
          </p:txBody>
        </p:sp>
        <p:sp>
          <p:nvSpPr>
            <p:cNvPr id="137" name="TextBox 11">
              <a:extLst>
                <a:ext uri="{FF2B5EF4-FFF2-40B4-BE49-F238E27FC236}">
                  <a16:creationId xmlns:a16="http://schemas.microsoft.com/office/drawing/2014/main" id="{AB2C3E8D-635E-7CB6-4C16-813032603F57}"/>
                </a:ext>
              </a:extLst>
            </p:cNvPr>
            <p:cNvSpPr txBox="1"/>
            <p:nvPr/>
          </p:nvSpPr>
          <p:spPr>
            <a:xfrm>
              <a:off x="50598" y="138622"/>
              <a:ext cx="222629" cy="233872"/>
            </a:xfrm>
            <a:prstGeom prst="rect">
              <a:avLst/>
            </a:prstGeom>
          </p:spPr>
          <p:txBody>
            <a:bodyPr lIns="50800" tIns="50800" rIns="50800" bIns="50800" rtlCol="0" anchor="ctr"/>
            <a:lstStyle/>
            <a:p>
              <a:pPr algn="ctr">
                <a:lnSpc>
                  <a:spcPts val="2520"/>
                </a:lnSpc>
              </a:pPr>
              <a:endParaRPr>
                <a:latin typeface="Georgia" panose="02040502050405020303" pitchFamily="18" charset="0"/>
              </a:endParaRPr>
            </a:p>
          </p:txBody>
        </p:sp>
      </p:grpSp>
      <p:sp>
        <p:nvSpPr>
          <p:cNvPr id="29" name="Freeform 18">
            <a:extLst>
              <a:ext uri="{FF2B5EF4-FFF2-40B4-BE49-F238E27FC236}">
                <a16:creationId xmlns:a16="http://schemas.microsoft.com/office/drawing/2014/main" id="{28080286-F44B-5739-F508-727767F68D57}"/>
              </a:ext>
            </a:extLst>
          </p:cNvPr>
          <p:cNvSpPr/>
          <p:nvPr/>
        </p:nvSpPr>
        <p:spPr>
          <a:xfrm>
            <a:off x="750281" y="3493049"/>
            <a:ext cx="3060366" cy="712421"/>
          </a:xfrm>
          <a:custGeom>
            <a:avLst/>
            <a:gdLst/>
            <a:ahLst/>
            <a:cxnLst/>
            <a:rect l="l" t="t" r="r" b="b"/>
            <a:pathLst>
              <a:path w="3429819" h="897989">
                <a:moveTo>
                  <a:pt x="0" y="0"/>
                </a:moveTo>
                <a:lnTo>
                  <a:pt x="3429819" y="0"/>
                </a:lnTo>
                <a:lnTo>
                  <a:pt x="3429819" y="897989"/>
                </a:lnTo>
                <a:lnTo>
                  <a:pt x="0" y="897989"/>
                </a:lnTo>
                <a:lnTo>
                  <a:pt x="0" y="0"/>
                </a:lnTo>
                <a:close/>
              </a:path>
            </a:pathLst>
          </a:custGeom>
          <a:blipFill>
            <a:blip r:embed="rId2">
              <a:alphaModFix amt="24000"/>
            </a:blip>
            <a:stretch>
              <a:fillRect/>
            </a:stretch>
          </a:blipFill>
        </p:spPr>
        <p:txBody>
          <a:bodyPr/>
          <a:lstStyle/>
          <a:p>
            <a:endParaRPr lang="en-IN">
              <a:latin typeface="Georgia" panose="02040502050405020303" pitchFamily="18" charset="0"/>
            </a:endParaRPr>
          </a:p>
        </p:txBody>
      </p:sp>
      <p:grpSp>
        <p:nvGrpSpPr>
          <p:cNvPr id="35" name="Group 23">
            <a:extLst>
              <a:ext uri="{FF2B5EF4-FFF2-40B4-BE49-F238E27FC236}">
                <a16:creationId xmlns:a16="http://schemas.microsoft.com/office/drawing/2014/main" id="{EBA5ABEF-1B59-05FB-DF90-718D1D90F7D8}"/>
              </a:ext>
            </a:extLst>
          </p:cNvPr>
          <p:cNvGrpSpPr/>
          <p:nvPr/>
        </p:nvGrpSpPr>
        <p:grpSpPr>
          <a:xfrm rot="16200000">
            <a:off x="545269" y="3283320"/>
            <a:ext cx="301062" cy="419458"/>
            <a:chOff x="0" y="0"/>
            <a:chExt cx="323825" cy="401148"/>
          </a:xfrm>
        </p:grpSpPr>
        <p:sp>
          <p:nvSpPr>
            <p:cNvPr id="130" name="Freeform 24">
              <a:extLst>
                <a:ext uri="{FF2B5EF4-FFF2-40B4-BE49-F238E27FC236}">
                  <a16:creationId xmlns:a16="http://schemas.microsoft.com/office/drawing/2014/main" id="{A12B1AA1-E389-E240-B55A-AFE3BA23B1C9}"/>
                </a:ext>
              </a:extLst>
            </p:cNvPr>
            <p:cNvSpPr/>
            <p:nvPr/>
          </p:nvSpPr>
          <p:spPr>
            <a:xfrm>
              <a:off x="0" y="0"/>
              <a:ext cx="323825" cy="401148"/>
            </a:xfrm>
            <a:custGeom>
              <a:avLst/>
              <a:gdLst/>
              <a:ahLst/>
              <a:cxnLst/>
              <a:rect l="l" t="t" r="r" b="b"/>
              <a:pathLst>
                <a:path w="323825" h="401148">
                  <a:moveTo>
                    <a:pt x="161912" y="0"/>
                  </a:moveTo>
                  <a:lnTo>
                    <a:pt x="323825" y="401148"/>
                  </a:lnTo>
                  <a:lnTo>
                    <a:pt x="0" y="401148"/>
                  </a:lnTo>
                  <a:lnTo>
                    <a:pt x="161912" y="0"/>
                  </a:lnTo>
                  <a:close/>
                </a:path>
              </a:pathLst>
            </a:custGeom>
            <a:solidFill>
              <a:srgbClr val="F3BE00"/>
            </a:solidFill>
          </p:spPr>
          <p:txBody>
            <a:bodyPr/>
            <a:lstStyle/>
            <a:p>
              <a:endParaRPr lang="en-IN">
                <a:latin typeface="Georgia" panose="02040502050405020303" pitchFamily="18" charset="0"/>
              </a:endParaRPr>
            </a:p>
          </p:txBody>
        </p:sp>
        <p:sp>
          <p:nvSpPr>
            <p:cNvPr id="131" name="TextBox 25">
              <a:extLst>
                <a:ext uri="{FF2B5EF4-FFF2-40B4-BE49-F238E27FC236}">
                  <a16:creationId xmlns:a16="http://schemas.microsoft.com/office/drawing/2014/main" id="{69EC1D44-7C6C-5459-309E-D4D51DA5FA37}"/>
                </a:ext>
              </a:extLst>
            </p:cNvPr>
            <p:cNvSpPr txBox="1"/>
            <p:nvPr/>
          </p:nvSpPr>
          <p:spPr>
            <a:xfrm>
              <a:off x="50598" y="138622"/>
              <a:ext cx="222629" cy="233872"/>
            </a:xfrm>
            <a:prstGeom prst="rect">
              <a:avLst/>
            </a:prstGeom>
          </p:spPr>
          <p:txBody>
            <a:bodyPr lIns="50800" tIns="50800" rIns="50800" bIns="50800" rtlCol="0" anchor="ctr"/>
            <a:lstStyle/>
            <a:p>
              <a:pPr algn="ctr">
                <a:lnSpc>
                  <a:spcPts val="2520"/>
                </a:lnSpc>
              </a:pPr>
              <a:endParaRPr>
                <a:latin typeface="Georgia" panose="02040502050405020303" pitchFamily="18" charset="0"/>
              </a:endParaRPr>
            </a:p>
          </p:txBody>
        </p:sp>
      </p:grpSp>
      <p:grpSp>
        <p:nvGrpSpPr>
          <p:cNvPr id="72" name="Group 29">
            <a:extLst>
              <a:ext uri="{FF2B5EF4-FFF2-40B4-BE49-F238E27FC236}">
                <a16:creationId xmlns:a16="http://schemas.microsoft.com/office/drawing/2014/main" id="{6F1AD89F-81A8-B942-704F-222BC69A9772}"/>
              </a:ext>
            </a:extLst>
          </p:cNvPr>
          <p:cNvGrpSpPr/>
          <p:nvPr/>
        </p:nvGrpSpPr>
        <p:grpSpPr>
          <a:xfrm rot="16200000">
            <a:off x="4376840" y="3283320"/>
            <a:ext cx="301062" cy="419458"/>
            <a:chOff x="0" y="0"/>
            <a:chExt cx="323825" cy="401148"/>
          </a:xfrm>
        </p:grpSpPr>
        <p:sp>
          <p:nvSpPr>
            <p:cNvPr id="126" name="Freeform 30">
              <a:extLst>
                <a:ext uri="{FF2B5EF4-FFF2-40B4-BE49-F238E27FC236}">
                  <a16:creationId xmlns:a16="http://schemas.microsoft.com/office/drawing/2014/main" id="{955C7AAF-92EF-0FE8-3A9C-899CE5D3B485}"/>
                </a:ext>
              </a:extLst>
            </p:cNvPr>
            <p:cNvSpPr/>
            <p:nvPr/>
          </p:nvSpPr>
          <p:spPr>
            <a:xfrm>
              <a:off x="0" y="0"/>
              <a:ext cx="323825" cy="401148"/>
            </a:xfrm>
            <a:custGeom>
              <a:avLst/>
              <a:gdLst/>
              <a:ahLst/>
              <a:cxnLst/>
              <a:rect l="l" t="t" r="r" b="b"/>
              <a:pathLst>
                <a:path w="323825" h="401148">
                  <a:moveTo>
                    <a:pt x="161912" y="0"/>
                  </a:moveTo>
                  <a:lnTo>
                    <a:pt x="323825" y="401148"/>
                  </a:lnTo>
                  <a:lnTo>
                    <a:pt x="0" y="401148"/>
                  </a:lnTo>
                  <a:lnTo>
                    <a:pt x="161912" y="0"/>
                  </a:lnTo>
                  <a:close/>
                </a:path>
              </a:pathLst>
            </a:custGeom>
            <a:solidFill>
              <a:srgbClr val="98AA33"/>
            </a:solidFill>
          </p:spPr>
          <p:txBody>
            <a:bodyPr/>
            <a:lstStyle/>
            <a:p>
              <a:endParaRPr lang="en-IN">
                <a:latin typeface="Georgia" panose="02040502050405020303" pitchFamily="18" charset="0"/>
              </a:endParaRPr>
            </a:p>
          </p:txBody>
        </p:sp>
        <p:sp>
          <p:nvSpPr>
            <p:cNvPr id="127" name="TextBox 31">
              <a:extLst>
                <a:ext uri="{FF2B5EF4-FFF2-40B4-BE49-F238E27FC236}">
                  <a16:creationId xmlns:a16="http://schemas.microsoft.com/office/drawing/2014/main" id="{6B9FE428-F987-670C-F16F-C72EDDF280CE}"/>
                </a:ext>
              </a:extLst>
            </p:cNvPr>
            <p:cNvSpPr txBox="1"/>
            <p:nvPr/>
          </p:nvSpPr>
          <p:spPr>
            <a:xfrm>
              <a:off x="50598" y="138622"/>
              <a:ext cx="222629" cy="233872"/>
            </a:xfrm>
            <a:prstGeom prst="rect">
              <a:avLst/>
            </a:prstGeom>
          </p:spPr>
          <p:txBody>
            <a:bodyPr lIns="50800" tIns="50800" rIns="50800" bIns="50800" rtlCol="0" anchor="ctr"/>
            <a:lstStyle/>
            <a:p>
              <a:pPr algn="ctr">
                <a:lnSpc>
                  <a:spcPts val="2520"/>
                </a:lnSpc>
              </a:pPr>
              <a:endParaRPr>
                <a:latin typeface="Georgia" panose="02040502050405020303" pitchFamily="18" charset="0"/>
              </a:endParaRPr>
            </a:p>
          </p:txBody>
        </p:sp>
      </p:grpSp>
      <p:grpSp>
        <p:nvGrpSpPr>
          <p:cNvPr id="76" name="Group 38">
            <a:extLst>
              <a:ext uri="{FF2B5EF4-FFF2-40B4-BE49-F238E27FC236}">
                <a16:creationId xmlns:a16="http://schemas.microsoft.com/office/drawing/2014/main" id="{B672D171-FF3E-C84E-45DC-D396B42125A9}"/>
              </a:ext>
            </a:extLst>
          </p:cNvPr>
          <p:cNvGrpSpPr/>
          <p:nvPr/>
        </p:nvGrpSpPr>
        <p:grpSpPr>
          <a:xfrm>
            <a:off x="750281" y="2200858"/>
            <a:ext cx="3060366" cy="1790319"/>
            <a:chOff x="0" y="0"/>
            <a:chExt cx="903327" cy="567917"/>
          </a:xfrm>
        </p:grpSpPr>
        <p:sp>
          <p:nvSpPr>
            <p:cNvPr id="120" name="Freeform 39">
              <a:extLst>
                <a:ext uri="{FF2B5EF4-FFF2-40B4-BE49-F238E27FC236}">
                  <a16:creationId xmlns:a16="http://schemas.microsoft.com/office/drawing/2014/main" id="{C0AD4B67-A898-B56B-36F0-481851B918E4}"/>
                </a:ext>
              </a:extLst>
            </p:cNvPr>
            <p:cNvSpPr/>
            <p:nvPr/>
          </p:nvSpPr>
          <p:spPr>
            <a:xfrm>
              <a:off x="0" y="0"/>
              <a:ext cx="903327" cy="567917"/>
            </a:xfrm>
            <a:custGeom>
              <a:avLst/>
              <a:gdLst/>
              <a:ahLst/>
              <a:cxnLst/>
              <a:rect l="l" t="t" r="r" b="b"/>
              <a:pathLst>
                <a:path w="903327" h="567917">
                  <a:moveTo>
                    <a:pt x="42888" y="0"/>
                  </a:moveTo>
                  <a:lnTo>
                    <a:pt x="860439" y="0"/>
                  </a:lnTo>
                  <a:cubicBezTo>
                    <a:pt x="884125" y="0"/>
                    <a:pt x="903327" y="19201"/>
                    <a:pt x="903327" y="42888"/>
                  </a:cubicBezTo>
                  <a:lnTo>
                    <a:pt x="903327" y="525030"/>
                  </a:lnTo>
                  <a:cubicBezTo>
                    <a:pt x="903327" y="536404"/>
                    <a:pt x="898808" y="547313"/>
                    <a:pt x="890765" y="555356"/>
                  </a:cubicBezTo>
                  <a:cubicBezTo>
                    <a:pt x="882722" y="563399"/>
                    <a:pt x="871814" y="567917"/>
                    <a:pt x="860439" y="567917"/>
                  </a:cubicBezTo>
                  <a:lnTo>
                    <a:pt x="42888" y="567917"/>
                  </a:lnTo>
                  <a:cubicBezTo>
                    <a:pt x="19201" y="567917"/>
                    <a:pt x="0" y="548716"/>
                    <a:pt x="0" y="525030"/>
                  </a:cubicBezTo>
                  <a:lnTo>
                    <a:pt x="0" y="42888"/>
                  </a:lnTo>
                  <a:cubicBezTo>
                    <a:pt x="0" y="31513"/>
                    <a:pt x="4518" y="20604"/>
                    <a:pt x="12561" y="12561"/>
                  </a:cubicBezTo>
                  <a:cubicBezTo>
                    <a:pt x="20604" y="4518"/>
                    <a:pt x="31513" y="0"/>
                    <a:pt x="42888" y="0"/>
                  </a:cubicBezTo>
                  <a:close/>
                </a:path>
              </a:pathLst>
            </a:custGeom>
            <a:solidFill>
              <a:schemeClr val="bg2">
                <a:lumMod val="90000"/>
              </a:schemeClr>
            </a:solidFill>
          </p:spPr>
          <p:txBody>
            <a:bodyPr/>
            <a:lstStyle/>
            <a:p>
              <a:endParaRPr lang="en-IN">
                <a:latin typeface="Georgia" panose="02040502050405020303" pitchFamily="18" charset="0"/>
              </a:endParaRPr>
            </a:p>
          </p:txBody>
        </p:sp>
        <p:sp>
          <p:nvSpPr>
            <p:cNvPr id="121" name="TextBox 40">
              <a:extLst>
                <a:ext uri="{FF2B5EF4-FFF2-40B4-BE49-F238E27FC236}">
                  <a16:creationId xmlns:a16="http://schemas.microsoft.com/office/drawing/2014/main" id="{52F597D7-B59A-5CDD-F7C2-177C0ED0E6E9}"/>
                </a:ext>
              </a:extLst>
            </p:cNvPr>
            <p:cNvSpPr txBox="1"/>
            <p:nvPr/>
          </p:nvSpPr>
          <p:spPr>
            <a:xfrm>
              <a:off x="0" y="-47625"/>
              <a:ext cx="903327" cy="615542"/>
            </a:xfrm>
            <a:prstGeom prst="rect">
              <a:avLst/>
            </a:prstGeom>
          </p:spPr>
          <p:txBody>
            <a:bodyPr lIns="50800" tIns="50800" rIns="50800" bIns="50800" rtlCol="0" anchor="ctr"/>
            <a:lstStyle/>
            <a:p>
              <a:pPr algn="ctr">
                <a:lnSpc>
                  <a:spcPts val="2520"/>
                </a:lnSpc>
              </a:pPr>
              <a:endParaRPr>
                <a:latin typeface="Georgia" panose="02040502050405020303" pitchFamily="18" charset="0"/>
              </a:endParaRPr>
            </a:p>
          </p:txBody>
        </p:sp>
      </p:grpSp>
      <p:grpSp>
        <p:nvGrpSpPr>
          <p:cNvPr id="78" name="Group 44">
            <a:extLst>
              <a:ext uri="{FF2B5EF4-FFF2-40B4-BE49-F238E27FC236}">
                <a16:creationId xmlns:a16="http://schemas.microsoft.com/office/drawing/2014/main" id="{77349743-545A-2601-E16E-1E5504092EC0}"/>
              </a:ext>
            </a:extLst>
          </p:cNvPr>
          <p:cNvGrpSpPr/>
          <p:nvPr/>
        </p:nvGrpSpPr>
        <p:grpSpPr>
          <a:xfrm>
            <a:off x="4581852" y="2057399"/>
            <a:ext cx="3187761" cy="1916715"/>
            <a:chOff x="0" y="-47625"/>
            <a:chExt cx="940930" cy="615542"/>
          </a:xfrm>
        </p:grpSpPr>
        <p:sp>
          <p:nvSpPr>
            <p:cNvPr id="116" name="Freeform 45">
              <a:extLst>
                <a:ext uri="{FF2B5EF4-FFF2-40B4-BE49-F238E27FC236}">
                  <a16:creationId xmlns:a16="http://schemas.microsoft.com/office/drawing/2014/main" id="{D8272F51-AE05-69B5-53F4-8ED38DB268D8}"/>
                </a:ext>
              </a:extLst>
            </p:cNvPr>
            <p:cNvSpPr/>
            <p:nvPr/>
          </p:nvSpPr>
          <p:spPr>
            <a:xfrm>
              <a:off x="0" y="0"/>
              <a:ext cx="940930" cy="567917"/>
            </a:xfrm>
            <a:custGeom>
              <a:avLst/>
              <a:gdLst/>
              <a:ahLst/>
              <a:cxnLst/>
              <a:rect l="l" t="t" r="r" b="b"/>
              <a:pathLst>
                <a:path w="903327" h="567917">
                  <a:moveTo>
                    <a:pt x="42888" y="0"/>
                  </a:moveTo>
                  <a:lnTo>
                    <a:pt x="860439" y="0"/>
                  </a:lnTo>
                  <a:cubicBezTo>
                    <a:pt x="884125" y="0"/>
                    <a:pt x="903327" y="19201"/>
                    <a:pt x="903327" y="42888"/>
                  </a:cubicBezTo>
                  <a:lnTo>
                    <a:pt x="903327" y="525030"/>
                  </a:lnTo>
                  <a:cubicBezTo>
                    <a:pt x="903327" y="536404"/>
                    <a:pt x="898808" y="547313"/>
                    <a:pt x="890765" y="555356"/>
                  </a:cubicBezTo>
                  <a:cubicBezTo>
                    <a:pt x="882722" y="563399"/>
                    <a:pt x="871814" y="567917"/>
                    <a:pt x="860439" y="567917"/>
                  </a:cubicBezTo>
                  <a:lnTo>
                    <a:pt x="42888" y="567917"/>
                  </a:lnTo>
                  <a:cubicBezTo>
                    <a:pt x="19201" y="567917"/>
                    <a:pt x="0" y="548716"/>
                    <a:pt x="0" y="525030"/>
                  </a:cubicBezTo>
                  <a:lnTo>
                    <a:pt x="0" y="42888"/>
                  </a:lnTo>
                  <a:cubicBezTo>
                    <a:pt x="0" y="31513"/>
                    <a:pt x="4518" y="20604"/>
                    <a:pt x="12561" y="12561"/>
                  </a:cubicBezTo>
                  <a:cubicBezTo>
                    <a:pt x="20604" y="4518"/>
                    <a:pt x="31513" y="0"/>
                    <a:pt x="42888" y="0"/>
                  </a:cubicBezTo>
                  <a:close/>
                </a:path>
              </a:pathLst>
            </a:custGeom>
            <a:solidFill>
              <a:schemeClr val="bg2">
                <a:lumMod val="90000"/>
              </a:schemeClr>
            </a:solidFill>
          </p:spPr>
          <p:txBody>
            <a:bodyPr/>
            <a:lstStyle/>
            <a:p>
              <a:endParaRPr lang="en-IN">
                <a:latin typeface="Georgia" panose="02040502050405020303" pitchFamily="18" charset="0"/>
              </a:endParaRPr>
            </a:p>
          </p:txBody>
        </p:sp>
        <p:sp>
          <p:nvSpPr>
            <p:cNvPr id="117" name="TextBox 46">
              <a:extLst>
                <a:ext uri="{FF2B5EF4-FFF2-40B4-BE49-F238E27FC236}">
                  <a16:creationId xmlns:a16="http://schemas.microsoft.com/office/drawing/2014/main" id="{EA72697D-7E9B-2A18-F34D-87945C2C9737}"/>
                </a:ext>
              </a:extLst>
            </p:cNvPr>
            <p:cNvSpPr txBox="1"/>
            <p:nvPr/>
          </p:nvSpPr>
          <p:spPr>
            <a:xfrm>
              <a:off x="0" y="-47625"/>
              <a:ext cx="903327" cy="615542"/>
            </a:xfrm>
            <a:prstGeom prst="rect">
              <a:avLst/>
            </a:prstGeom>
          </p:spPr>
          <p:txBody>
            <a:bodyPr lIns="50800" tIns="50800" rIns="50800" bIns="50800" rtlCol="0" anchor="ctr"/>
            <a:lstStyle/>
            <a:p>
              <a:pPr algn="ctr">
                <a:lnSpc>
                  <a:spcPts val="2520"/>
                </a:lnSpc>
              </a:pPr>
              <a:endParaRPr>
                <a:latin typeface="Georgia" panose="02040502050405020303" pitchFamily="18" charset="0"/>
              </a:endParaRPr>
            </a:p>
          </p:txBody>
        </p:sp>
      </p:grpSp>
      <p:grpSp>
        <p:nvGrpSpPr>
          <p:cNvPr id="81" name="Group 53">
            <a:extLst>
              <a:ext uri="{FF2B5EF4-FFF2-40B4-BE49-F238E27FC236}">
                <a16:creationId xmlns:a16="http://schemas.microsoft.com/office/drawing/2014/main" id="{5A19A2ED-B378-AA05-8364-980989312BCB}"/>
              </a:ext>
            </a:extLst>
          </p:cNvPr>
          <p:cNvGrpSpPr/>
          <p:nvPr/>
        </p:nvGrpSpPr>
        <p:grpSpPr>
          <a:xfrm rot="5400000">
            <a:off x="479171" y="2626279"/>
            <a:ext cx="873669" cy="859870"/>
            <a:chOff x="0" y="0"/>
            <a:chExt cx="660400" cy="577905"/>
          </a:xfrm>
        </p:grpSpPr>
        <p:sp>
          <p:nvSpPr>
            <p:cNvPr id="110" name="Freeform 54">
              <a:extLst>
                <a:ext uri="{FF2B5EF4-FFF2-40B4-BE49-F238E27FC236}">
                  <a16:creationId xmlns:a16="http://schemas.microsoft.com/office/drawing/2014/main" id="{4ECBC716-1F65-D499-06EA-60A430E05129}"/>
                </a:ext>
              </a:extLst>
            </p:cNvPr>
            <p:cNvSpPr/>
            <p:nvPr/>
          </p:nvSpPr>
          <p:spPr>
            <a:xfrm>
              <a:off x="0" y="0"/>
              <a:ext cx="660400" cy="577905"/>
            </a:xfrm>
            <a:custGeom>
              <a:avLst/>
              <a:gdLst/>
              <a:ahLst/>
              <a:cxnLst/>
              <a:rect l="l" t="t" r="r" b="b"/>
              <a:pathLst>
                <a:path w="660400" h="577905">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3284"/>
                  </a:cubicBezTo>
                  <a:lnTo>
                    <a:pt x="660400" y="577905"/>
                  </a:lnTo>
                  <a:lnTo>
                    <a:pt x="0" y="577905"/>
                  </a:lnTo>
                  <a:lnTo>
                    <a:pt x="0" y="323473"/>
                  </a:lnTo>
                  <a:cubicBezTo>
                    <a:pt x="1782" y="185660"/>
                    <a:pt x="93019" y="64045"/>
                    <a:pt x="220252" y="19070"/>
                  </a:cubicBezTo>
                  <a:close/>
                </a:path>
              </a:pathLst>
            </a:custGeom>
            <a:solidFill>
              <a:srgbClr val="FFC801"/>
            </a:solidFill>
          </p:spPr>
          <p:txBody>
            <a:bodyPr/>
            <a:lstStyle/>
            <a:p>
              <a:endParaRPr lang="en-IN">
                <a:latin typeface="Georgia" panose="02040502050405020303" pitchFamily="18" charset="0"/>
              </a:endParaRPr>
            </a:p>
          </p:txBody>
        </p:sp>
        <p:sp>
          <p:nvSpPr>
            <p:cNvPr id="111" name="TextBox 55">
              <a:extLst>
                <a:ext uri="{FF2B5EF4-FFF2-40B4-BE49-F238E27FC236}">
                  <a16:creationId xmlns:a16="http://schemas.microsoft.com/office/drawing/2014/main" id="{C3DAD450-5F08-44F4-6387-E4B993CB1259}"/>
                </a:ext>
              </a:extLst>
            </p:cNvPr>
            <p:cNvSpPr txBox="1"/>
            <p:nvPr/>
          </p:nvSpPr>
          <p:spPr>
            <a:xfrm>
              <a:off x="0" y="79375"/>
              <a:ext cx="660400" cy="498530"/>
            </a:xfrm>
            <a:prstGeom prst="rect">
              <a:avLst/>
            </a:prstGeom>
          </p:spPr>
          <p:txBody>
            <a:bodyPr lIns="50800" tIns="50800" rIns="50800" bIns="50800" rtlCol="0" anchor="ctr"/>
            <a:lstStyle/>
            <a:p>
              <a:pPr marL="0" lvl="0" indent="0" algn="ctr">
                <a:lnSpc>
                  <a:spcPts val="2520"/>
                </a:lnSpc>
                <a:spcBef>
                  <a:spcPct val="0"/>
                </a:spcBef>
              </a:pPr>
              <a:endParaRPr>
                <a:latin typeface="Georgia" panose="02040502050405020303" pitchFamily="18" charset="0"/>
              </a:endParaRPr>
            </a:p>
          </p:txBody>
        </p:sp>
      </p:grpSp>
      <p:grpSp>
        <p:nvGrpSpPr>
          <p:cNvPr id="83" name="Group 59">
            <a:extLst>
              <a:ext uri="{FF2B5EF4-FFF2-40B4-BE49-F238E27FC236}">
                <a16:creationId xmlns:a16="http://schemas.microsoft.com/office/drawing/2014/main" id="{7E15E5E5-8C0C-4E43-C857-55032DED000B}"/>
              </a:ext>
            </a:extLst>
          </p:cNvPr>
          <p:cNvGrpSpPr/>
          <p:nvPr/>
        </p:nvGrpSpPr>
        <p:grpSpPr>
          <a:xfrm rot="5400000">
            <a:off x="4310742" y="2626279"/>
            <a:ext cx="873669" cy="859870"/>
            <a:chOff x="0" y="0"/>
            <a:chExt cx="660400" cy="577905"/>
          </a:xfrm>
        </p:grpSpPr>
        <p:sp>
          <p:nvSpPr>
            <p:cNvPr id="106" name="Freeform 60">
              <a:extLst>
                <a:ext uri="{FF2B5EF4-FFF2-40B4-BE49-F238E27FC236}">
                  <a16:creationId xmlns:a16="http://schemas.microsoft.com/office/drawing/2014/main" id="{08BF0776-3549-1D76-57F3-B367EAEA82F4}"/>
                </a:ext>
              </a:extLst>
            </p:cNvPr>
            <p:cNvSpPr/>
            <p:nvPr/>
          </p:nvSpPr>
          <p:spPr>
            <a:xfrm>
              <a:off x="0" y="0"/>
              <a:ext cx="660400" cy="577905"/>
            </a:xfrm>
            <a:custGeom>
              <a:avLst/>
              <a:gdLst/>
              <a:ahLst/>
              <a:cxnLst/>
              <a:rect l="l" t="t" r="r" b="b"/>
              <a:pathLst>
                <a:path w="660400" h="577905">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3284"/>
                  </a:cubicBezTo>
                  <a:lnTo>
                    <a:pt x="660400" y="577905"/>
                  </a:lnTo>
                  <a:lnTo>
                    <a:pt x="0" y="577905"/>
                  </a:lnTo>
                  <a:lnTo>
                    <a:pt x="0" y="323473"/>
                  </a:lnTo>
                  <a:cubicBezTo>
                    <a:pt x="1782" y="185660"/>
                    <a:pt x="93019" y="64045"/>
                    <a:pt x="220252" y="19070"/>
                  </a:cubicBezTo>
                  <a:close/>
                </a:path>
              </a:pathLst>
            </a:custGeom>
            <a:solidFill>
              <a:srgbClr val="A4B73C"/>
            </a:solidFill>
          </p:spPr>
          <p:txBody>
            <a:bodyPr/>
            <a:lstStyle/>
            <a:p>
              <a:endParaRPr lang="en-IN">
                <a:latin typeface="Georgia" panose="02040502050405020303" pitchFamily="18" charset="0"/>
              </a:endParaRPr>
            </a:p>
          </p:txBody>
        </p:sp>
        <p:sp>
          <p:nvSpPr>
            <p:cNvPr id="107" name="TextBox 61">
              <a:extLst>
                <a:ext uri="{FF2B5EF4-FFF2-40B4-BE49-F238E27FC236}">
                  <a16:creationId xmlns:a16="http://schemas.microsoft.com/office/drawing/2014/main" id="{70DB1B63-6A60-AD6C-B121-DDFC7CFCA968}"/>
                </a:ext>
              </a:extLst>
            </p:cNvPr>
            <p:cNvSpPr txBox="1"/>
            <p:nvPr/>
          </p:nvSpPr>
          <p:spPr>
            <a:xfrm>
              <a:off x="0" y="79375"/>
              <a:ext cx="660400" cy="498530"/>
            </a:xfrm>
            <a:prstGeom prst="rect">
              <a:avLst/>
            </a:prstGeom>
          </p:spPr>
          <p:txBody>
            <a:bodyPr lIns="50800" tIns="50800" rIns="50800" bIns="50800" rtlCol="0" anchor="ctr"/>
            <a:lstStyle/>
            <a:p>
              <a:pPr marL="0" lvl="0" indent="0" algn="ctr">
                <a:lnSpc>
                  <a:spcPts val="2520"/>
                </a:lnSpc>
                <a:spcBef>
                  <a:spcPct val="0"/>
                </a:spcBef>
              </a:pPr>
              <a:endParaRPr>
                <a:latin typeface="Georgia" panose="02040502050405020303" pitchFamily="18" charset="0"/>
              </a:endParaRPr>
            </a:p>
          </p:txBody>
        </p:sp>
      </p:grpSp>
      <p:sp>
        <p:nvSpPr>
          <p:cNvPr id="86" name="TextBox 90">
            <a:extLst>
              <a:ext uri="{FF2B5EF4-FFF2-40B4-BE49-F238E27FC236}">
                <a16:creationId xmlns:a16="http://schemas.microsoft.com/office/drawing/2014/main" id="{C7F2D514-A84E-ED44-F5CF-20584567AF36}"/>
              </a:ext>
            </a:extLst>
          </p:cNvPr>
          <p:cNvSpPr txBox="1"/>
          <p:nvPr/>
        </p:nvSpPr>
        <p:spPr>
          <a:xfrm>
            <a:off x="1404565" y="2672746"/>
            <a:ext cx="2283876" cy="1292662"/>
          </a:xfrm>
          <a:prstGeom prst="rect">
            <a:avLst/>
          </a:prstGeom>
        </p:spPr>
        <p:txBody>
          <a:bodyPr wrap="square" lIns="0" tIns="0" rIns="0" bIns="0" rtlCol="0" anchor="t">
            <a:spAutoFit/>
          </a:bodyPr>
          <a:lstStyle/>
          <a:p>
            <a:r>
              <a:rPr lang="en-US" sz="1200" dirty="0">
                <a:latin typeface="Georgia" panose="02040502050405020303" pitchFamily="18" charset="0"/>
              </a:rPr>
              <a:t>Karnataka’s unified digital agricultural market platform that supports transparent price discovery, online trading, and market information systems.</a:t>
            </a:r>
          </a:p>
          <a:p>
            <a:endParaRPr lang="en-US" sz="1200" dirty="0">
              <a:solidFill>
                <a:srgbClr val="000000"/>
              </a:solidFill>
              <a:latin typeface="Georgia" panose="02040502050405020303" pitchFamily="18" charset="0"/>
              <a:ea typeface="TT Hoves"/>
              <a:cs typeface="TT Hoves"/>
              <a:sym typeface="TT Hoves"/>
            </a:endParaRPr>
          </a:p>
          <a:p>
            <a:endParaRPr lang="en-US" sz="1200" dirty="0">
              <a:solidFill>
                <a:srgbClr val="000000"/>
              </a:solidFill>
              <a:latin typeface="Georgia" panose="02040502050405020303" pitchFamily="18" charset="0"/>
              <a:ea typeface="TT Hoves"/>
              <a:cs typeface="TT Hoves"/>
              <a:sym typeface="TT Hoves"/>
            </a:endParaRPr>
          </a:p>
        </p:txBody>
      </p:sp>
      <p:sp>
        <p:nvSpPr>
          <p:cNvPr id="88" name="TextBox 92">
            <a:extLst>
              <a:ext uri="{FF2B5EF4-FFF2-40B4-BE49-F238E27FC236}">
                <a16:creationId xmlns:a16="http://schemas.microsoft.com/office/drawing/2014/main" id="{E82E41A7-014A-709A-9C5E-C744DD3D220E}"/>
              </a:ext>
            </a:extLst>
          </p:cNvPr>
          <p:cNvSpPr txBox="1"/>
          <p:nvPr/>
        </p:nvSpPr>
        <p:spPr>
          <a:xfrm>
            <a:off x="5229454" y="2548752"/>
            <a:ext cx="2378834" cy="1292662"/>
          </a:xfrm>
          <a:prstGeom prst="rect">
            <a:avLst/>
          </a:prstGeom>
        </p:spPr>
        <p:txBody>
          <a:bodyPr wrap="square" lIns="0" tIns="0" rIns="0" bIns="0" rtlCol="0" anchor="t">
            <a:spAutoFit/>
          </a:bodyPr>
          <a:lstStyle/>
          <a:p>
            <a:r>
              <a:rPr lang="en-US" sz="1200" dirty="0">
                <a:latin typeface="Georgia" panose="02040502050405020303" pitchFamily="18" charset="0"/>
              </a:rPr>
              <a:t>A Karnataka-focused unified market platform launched through collaboration between KAPPEC, NABARD, the Watershed Development Department, and the Horticulture Department to support online trading by FPOs. </a:t>
            </a:r>
            <a:endParaRPr lang="en-US" sz="1200" dirty="0">
              <a:solidFill>
                <a:srgbClr val="000000"/>
              </a:solidFill>
              <a:latin typeface="Georgia" panose="02040502050405020303" pitchFamily="18" charset="0"/>
              <a:ea typeface="TT Hoves"/>
              <a:cs typeface="TT Hoves"/>
              <a:sym typeface="TT Hoves"/>
            </a:endParaRPr>
          </a:p>
        </p:txBody>
      </p:sp>
      <p:sp>
        <p:nvSpPr>
          <p:cNvPr id="91" name="TextBox 95">
            <a:extLst>
              <a:ext uri="{FF2B5EF4-FFF2-40B4-BE49-F238E27FC236}">
                <a16:creationId xmlns:a16="http://schemas.microsoft.com/office/drawing/2014/main" id="{F09FF2AA-7752-8333-369D-F415C00ED472}"/>
              </a:ext>
            </a:extLst>
          </p:cNvPr>
          <p:cNvSpPr txBox="1"/>
          <p:nvPr/>
        </p:nvSpPr>
        <p:spPr>
          <a:xfrm>
            <a:off x="822491" y="2316779"/>
            <a:ext cx="3345113" cy="184666"/>
          </a:xfrm>
          <a:prstGeom prst="rect">
            <a:avLst/>
          </a:prstGeom>
        </p:spPr>
        <p:txBody>
          <a:bodyPr wrap="square" lIns="0" tIns="0" rIns="0" bIns="0" rtlCol="0" anchor="t">
            <a:spAutoFit/>
          </a:bodyPr>
          <a:lstStyle/>
          <a:p>
            <a:r>
              <a:rPr lang="en-IN" sz="1200" b="1" dirty="0">
                <a:latin typeface="Georgia" panose="02040502050405020303" pitchFamily="18" charset="0"/>
              </a:rPr>
              <a:t>Rashtriya e-Market Services (</a:t>
            </a:r>
            <a:r>
              <a:rPr lang="en-IN" sz="1200" b="1" dirty="0" err="1">
                <a:latin typeface="Georgia" panose="02040502050405020303" pitchFamily="18" charset="0"/>
              </a:rPr>
              <a:t>ReMS</a:t>
            </a:r>
            <a:r>
              <a:rPr lang="en-IN" sz="1200" b="1" dirty="0">
                <a:latin typeface="Georgia" panose="02040502050405020303" pitchFamily="18" charset="0"/>
              </a:rPr>
              <a:t>)</a:t>
            </a:r>
            <a:endParaRPr lang="en-US" sz="1200" b="1" dirty="0">
              <a:solidFill>
                <a:srgbClr val="000000"/>
              </a:solidFill>
              <a:latin typeface="Georgia" panose="02040502050405020303" pitchFamily="18" charset="0"/>
              <a:ea typeface="TT Hoves Bold"/>
              <a:cs typeface="TT Hoves Bold"/>
              <a:sym typeface="TT Hoves Bold"/>
            </a:endParaRPr>
          </a:p>
        </p:txBody>
      </p:sp>
      <p:sp>
        <p:nvSpPr>
          <p:cNvPr id="93" name="TextBox 97">
            <a:extLst>
              <a:ext uri="{FF2B5EF4-FFF2-40B4-BE49-F238E27FC236}">
                <a16:creationId xmlns:a16="http://schemas.microsoft.com/office/drawing/2014/main" id="{938C76BD-B3F0-9A79-FAAB-F94B80148B8D}"/>
              </a:ext>
            </a:extLst>
          </p:cNvPr>
          <p:cNvSpPr txBox="1"/>
          <p:nvPr/>
        </p:nvSpPr>
        <p:spPr>
          <a:xfrm>
            <a:off x="4681260" y="2290324"/>
            <a:ext cx="2125516" cy="215444"/>
          </a:xfrm>
          <a:prstGeom prst="rect">
            <a:avLst/>
          </a:prstGeom>
        </p:spPr>
        <p:txBody>
          <a:bodyPr wrap="square" lIns="0" tIns="0" rIns="0" bIns="0" rtlCol="0" anchor="t">
            <a:spAutoFit/>
          </a:bodyPr>
          <a:lstStyle/>
          <a:p>
            <a:r>
              <a:rPr lang="en-IN" sz="1400" b="1" dirty="0">
                <a:latin typeface="Georgia" panose="02040502050405020303" pitchFamily="18" charset="0"/>
              </a:rPr>
              <a:t>FPO market platform</a:t>
            </a:r>
            <a:endParaRPr lang="en-US" sz="1400" b="1" dirty="0">
              <a:solidFill>
                <a:srgbClr val="000000"/>
              </a:solidFill>
              <a:latin typeface="Georgia" panose="02040502050405020303" pitchFamily="18" charset="0"/>
              <a:ea typeface="TT Hoves Bold"/>
              <a:cs typeface="TT Hoves Bold"/>
              <a:sym typeface="TT Hoves Bold"/>
            </a:endParaRPr>
          </a:p>
        </p:txBody>
      </p:sp>
      <p:sp>
        <p:nvSpPr>
          <p:cNvPr id="98" name="TextBox 102">
            <a:extLst>
              <a:ext uri="{FF2B5EF4-FFF2-40B4-BE49-F238E27FC236}">
                <a16:creationId xmlns:a16="http://schemas.microsoft.com/office/drawing/2014/main" id="{F6B1F051-74A1-661E-F99A-030183E5D06E}"/>
              </a:ext>
            </a:extLst>
          </p:cNvPr>
          <p:cNvSpPr txBox="1"/>
          <p:nvPr/>
        </p:nvSpPr>
        <p:spPr>
          <a:xfrm>
            <a:off x="4527371" y="2869831"/>
            <a:ext cx="647602" cy="410882"/>
          </a:xfrm>
          <a:prstGeom prst="rect">
            <a:avLst/>
          </a:prstGeom>
        </p:spPr>
        <p:txBody>
          <a:bodyPr lIns="0" tIns="0" rIns="0" bIns="0" rtlCol="0" anchor="t">
            <a:spAutoFit/>
          </a:bodyPr>
          <a:lstStyle/>
          <a:p>
            <a:pPr algn="l">
              <a:lnSpc>
                <a:spcPts val="3499"/>
              </a:lnSpc>
            </a:pPr>
            <a:r>
              <a:rPr lang="en-US" sz="2499" b="1" dirty="0">
                <a:solidFill>
                  <a:schemeClr val="bg1"/>
                </a:solidFill>
                <a:latin typeface="Georgia" panose="02040502050405020303" pitchFamily="18" charset="0"/>
                <a:ea typeface="TT Hoves Bold"/>
                <a:cs typeface="TT Hoves Bold"/>
                <a:sym typeface="TT Hoves Bold"/>
              </a:rPr>
              <a:t>02</a:t>
            </a:r>
          </a:p>
        </p:txBody>
      </p:sp>
      <p:sp>
        <p:nvSpPr>
          <p:cNvPr id="142" name="Freeform 16">
            <a:extLst>
              <a:ext uri="{FF2B5EF4-FFF2-40B4-BE49-F238E27FC236}">
                <a16:creationId xmlns:a16="http://schemas.microsoft.com/office/drawing/2014/main" id="{27364A97-8734-E2EB-DF49-C55AAB9A972A}"/>
              </a:ext>
            </a:extLst>
          </p:cNvPr>
          <p:cNvSpPr/>
          <p:nvPr/>
        </p:nvSpPr>
        <p:spPr>
          <a:xfrm rot="16200000">
            <a:off x="8151121" y="2414561"/>
            <a:ext cx="301062" cy="419458"/>
          </a:xfrm>
          <a:custGeom>
            <a:avLst/>
            <a:gdLst/>
            <a:ahLst/>
            <a:cxnLst/>
            <a:rect l="l" t="t" r="r" b="b"/>
            <a:pathLst>
              <a:path w="323825" h="401148">
                <a:moveTo>
                  <a:pt x="161912" y="0"/>
                </a:moveTo>
                <a:lnTo>
                  <a:pt x="323825" y="401148"/>
                </a:lnTo>
                <a:lnTo>
                  <a:pt x="0" y="401148"/>
                </a:lnTo>
                <a:lnTo>
                  <a:pt x="161912" y="0"/>
                </a:lnTo>
                <a:close/>
              </a:path>
            </a:pathLst>
          </a:custGeom>
          <a:solidFill>
            <a:srgbClr val="00B050"/>
          </a:solidFill>
        </p:spPr>
        <p:txBody>
          <a:bodyPr/>
          <a:lstStyle/>
          <a:p>
            <a:endParaRPr lang="en-IN">
              <a:latin typeface="Georgia" panose="02040502050405020303" pitchFamily="18" charset="0"/>
            </a:endParaRPr>
          </a:p>
        </p:txBody>
      </p:sp>
      <p:sp>
        <p:nvSpPr>
          <p:cNvPr id="143" name="Freeform 36">
            <a:extLst>
              <a:ext uri="{FF2B5EF4-FFF2-40B4-BE49-F238E27FC236}">
                <a16:creationId xmlns:a16="http://schemas.microsoft.com/office/drawing/2014/main" id="{9F409776-E4E8-FE6E-9A21-3CBDEBB64436}"/>
              </a:ext>
            </a:extLst>
          </p:cNvPr>
          <p:cNvSpPr/>
          <p:nvPr/>
        </p:nvSpPr>
        <p:spPr>
          <a:xfrm rot="16200000">
            <a:off x="8151121" y="3288230"/>
            <a:ext cx="301062" cy="419458"/>
          </a:xfrm>
          <a:custGeom>
            <a:avLst/>
            <a:gdLst/>
            <a:ahLst/>
            <a:cxnLst/>
            <a:rect l="l" t="t" r="r" b="b"/>
            <a:pathLst>
              <a:path w="323825" h="401148">
                <a:moveTo>
                  <a:pt x="161912" y="0"/>
                </a:moveTo>
                <a:lnTo>
                  <a:pt x="323825" y="401148"/>
                </a:lnTo>
                <a:lnTo>
                  <a:pt x="0" y="401148"/>
                </a:lnTo>
                <a:lnTo>
                  <a:pt x="161912" y="0"/>
                </a:lnTo>
                <a:close/>
              </a:path>
            </a:pathLst>
          </a:custGeom>
          <a:solidFill>
            <a:srgbClr val="00B050"/>
          </a:solidFill>
        </p:spPr>
        <p:txBody>
          <a:bodyPr/>
          <a:lstStyle/>
          <a:p>
            <a:endParaRPr lang="en-IN">
              <a:latin typeface="Georgia" panose="02040502050405020303" pitchFamily="18" charset="0"/>
            </a:endParaRPr>
          </a:p>
        </p:txBody>
      </p:sp>
      <p:sp>
        <p:nvSpPr>
          <p:cNvPr id="144" name="Freeform 51">
            <a:extLst>
              <a:ext uri="{FF2B5EF4-FFF2-40B4-BE49-F238E27FC236}">
                <a16:creationId xmlns:a16="http://schemas.microsoft.com/office/drawing/2014/main" id="{C65E58DD-9116-91ED-5109-EF31AF059940}"/>
              </a:ext>
            </a:extLst>
          </p:cNvPr>
          <p:cNvSpPr/>
          <p:nvPr/>
        </p:nvSpPr>
        <p:spPr>
          <a:xfrm>
            <a:off x="8356133" y="2205769"/>
            <a:ext cx="3060366" cy="1774851"/>
          </a:xfrm>
          <a:custGeom>
            <a:avLst/>
            <a:gdLst/>
            <a:ahLst/>
            <a:cxnLst/>
            <a:rect l="l" t="t" r="r" b="b"/>
            <a:pathLst>
              <a:path w="903327" h="567917">
                <a:moveTo>
                  <a:pt x="42888" y="0"/>
                </a:moveTo>
                <a:lnTo>
                  <a:pt x="860439" y="0"/>
                </a:lnTo>
                <a:cubicBezTo>
                  <a:pt x="884125" y="0"/>
                  <a:pt x="903327" y="19201"/>
                  <a:pt x="903327" y="42888"/>
                </a:cubicBezTo>
                <a:lnTo>
                  <a:pt x="903327" y="525030"/>
                </a:lnTo>
                <a:cubicBezTo>
                  <a:pt x="903327" y="536404"/>
                  <a:pt x="898808" y="547313"/>
                  <a:pt x="890765" y="555356"/>
                </a:cubicBezTo>
                <a:cubicBezTo>
                  <a:pt x="882722" y="563399"/>
                  <a:pt x="871814" y="567917"/>
                  <a:pt x="860439" y="567917"/>
                </a:cubicBezTo>
                <a:lnTo>
                  <a:pt x="42888" y="567917"/>
                </a:lnTo>
                <a:cubicBezTo>
                  <a:pt x="19201" y="567917"/>
                  <a:pt x="0" y="548716"/>
                  <a:pt x="0" y="525030"/>
                </a:cubicBezTo>
                <a:lnTo>
                  <a:pt x="0" y="42888"/>
                </a:lnTo>
                <a:cubicBezTo>
                  <a:pt x="0" y="31513"/>
                  <a:pt x="4518" y="20604"/>
                  <a:pt x="12561" y="12561"/>
                </a:cubicBezTo>
                <a:cubicBezTo>
                  <a:pt x="20604" y="4518"/>
                  <a:pt x="31513" y="0"/>
                  <a:pt x="42888" y="0"/>
                </a:cubicBezTo>
                <a:close/>
              </a:path>
            </a:pathLst>
          </a:custGeom>
          <a:solidFill>
            <a:schemeClr val="bg2">
              <a:lumMod val="90000"/>
            </a:schemeClr>
          </a:solidFill>
        </p:spPr>
        <p:txBody>
          <a:bodyPr/>
          <a:lstStyle/>
          <a:p>
            <a:endParaRPr lang="en-IN">
              <a:latin typeface="Georgia" panose="02040502050405020303" pitchFamily="18" charset="0"/>
            </a:endParaRPr>
          </a:p>
        </p:txBody>
      </p:sp>
      <p:sp>
        <p:nvSpPr>
          <p:cNvPr id="145" name="Freeform 66">
            <a:extLst>
              <a:ext uri="{FF2B5EF4-FFF2-40B4-BE49-F238E27FC236}">
                <a16:creationId xmlns:a16="http://schemas.microsoft.com/office/drawing/2014/main" id="{53C8D13E-2B8A-ECBC-C415-BE8C39ED77F5}"/>
              </a:ext>
            </a:extLst>
          </p:cNvPr>
          <p:cNvSpPr/>
          <p:nvPr/>
        </p:nvSpPr>
        <p:spPr>
          <a:xfrm rot="5400000">
            <a:off x="8085024" y="2631190"/>
            <a:ext cx="873668" cy="859870"/>
          </a:xfrm>
          <a:custGeom>
            <a:avLst/>
            <a:gdLst/>
            <a:ahLst/>
            <a:cxnLst/>
            <a:rect l="l" t="t" r="r" b="b"/>
            <a:pathLst>
              <a:path w="660400" h="577905">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3284"/>
                </a:cubicBezTo>
                <a:lnTo>
                  <a:pt x="660400" y="577905"/>
                </a:lnTo>
                <a:lnTo>
                  <a:pt x="0" y="577905"/>
                </a:lnTo>
                <a:lnTo>
                  <a:pt x="0" y="323473"/>
                </a:lnTo>
                <a:cubicBezTo>
                  <a:pt x="1782" y="185660"/>
                  <a:pt x="93019" y="64045"/>
                  <a:pt x="220252" y="19070"/>
                </a:cubicBezTo>
                <a:close/>
              </a:path>
            </a:pathLst>
          </a:custGeom>
          <a:solidFill>
            <a:srgbClr val="00B050"/>
          </a:solidFill>
        </p:spPr>
        <p:txBody>
          <a:bodyPr/>
          <a:lstStyle/>
          <a:p>
            <a:endParaRPr lang="en-IN">
              <a:latin typeface="Georgia" panose="02040502050405020303" pitchFamily="18" charset="0"/>
            </a:endParaRPr>
          </a:p>
        </p:txBody>
      </p:sp>
      <p:sp>
        <p:nvSpPr>
          <p:cNvPr id="146" name="TextBox 67">
            <a:extLst>
              <a:ext uri="{FF2B5EF4-FFF2-40B4-BE49-F238E27FC236}">
                <a16:creationId xmlns:a16="http://schemas.microsoft.com/office/drawing/2014/main" id="{BC28978A-706C-A266-AC1D-64741C1BE0C1}"/>
              </a:ext>
            </a:extLst>
          </p:cNvPr>
          <p:cNvSpPr txBox="1"/>
          <p:nvPr/>
        </p:nvSpPr>
        <p:spPr>
          <a:xfrm rot="5400000">
            <a:off x="8025973" y="2690241"/>
            <a:ext cx="873668" cy="741767"/>
          </a:xfrm>
          <a:prstGeom prst="rect">
            <a:avLst/>
          </a:prstGeom>
        </p:spPr>
        <p:txBody>
          <a:bodyPr lIns="50800" tIns="50800" rIns="50800" bIns="50800" rtlCol="0" anchor="ctr"/>
          <a:lstStyle/>
          <a:p>
            <a:pPr marL="0" lvl="0" indent="0" algn="ctr">
              <a:lnSpc>
                <a:spcPts val="2520"/>
              </a:lnSpc>
              <a:spcBef>
                <a:spcPct val="0"/>
              </a:spcBef>
            </a:pPr>
            <a:endParaRPr>
              <a:latin typeface="Georgia" panose="02040502050405020303" pitchFamily="18" charset="0"/>
            </a:endParaRPr>
          </a:p>
        </p:txBody>
      </p:sp>
      <p:sp>
        <p:nvSpPr>
          <p:cNvPr id="147" name="TextBox 94">
            <a:extLst>
              <a:ext uri="{FF2B5EF4-FFF2-40B4-BE49-F238E27FC236}">
                <a16:creationId xmlns:a16="http://schemas.microsoft.com/office/drawing/2014/main" id="{8F335C7A-1D83-9708-B1DA-F89AB13D6398}"/>
              </a:ext>
            </a:extLst>
          </p:cNvPr>
          <p:cNvSpPr txBox="1"/>
          <p:nvPr/>
        </p:nvSpPr>
        <p:spPr>
          <a:xfrm>
            <a:off x="9184373" y="2640489"/>
            <a:ext cx="2016799" cy="1107996"/>
          </a:xfrm>
          <a:prstGeom prst="rect">
            <a:avLst/>
          </a:prstGeom>
        </p:spPr>
        <p:txBody>
          <a:bodyPr lIns="0" tIns="0" rIns="0" bIns="0" rtlCol="0" anchor="t">
            <a:spAutoFit/>
          </a:bodyPr>
          <a:lstStyle/>
          <a:p>
            <a:r>
              <a:rPr lang="en-US" sz="1200" dirty="0">
                <a:latin typeface="Georgia" panose="02040502050405020303" pitchFamily="18" charset="0"/>
              </a:rPr>
              <a:t>Provides digital tools for market intelligence, logistics coordination, real-time price visibility, government scheme integration, and financial access for FPOs.</a:t>
            </a:r>
            <a:endParaRPr lang="en-US" sz="1200" dirty="0">
              <a:solidFill>
                <a:srgbClr val="000000"/>
              </a:solidFill>
              <a:latin typeface="Georgia" panose="02040502050405020303" pitchFamily="18" charset="0"/>
              <a:ea typeface="TT Hoves"/>
              <a:cs typeface="TT Hoves"/>
              <a:sym typeface="TT Hoves"/>
            </a:endParaRPr>
          </a:p>
        </p:txBody>
      </p:sp>
      <p:sp>
        <p:nvSpPr>
          <p:cNvPr id="148" name="TextBox 99">
            <a:extLst>
              <a:ext uri="{FF2B5EF4-FFF2-40B4-BE49-F238E27FC236}">
                <a16:creationId xmlns:a16="http://schemas.microsoft.com/office/drawing/2014/main" id="{50D6A30D-C432-ECAB-48BD-5713D000433A}"/>
              </a:ext>
            </a:extLst>
          </p:cNvPr>
          <p:cNvSpPr txBox="1"/>
          <p:nvPr/>
        </p:nvSpPr>
        <p:spPr>
          <a:xfrm>
            <a:off x="8455542" y="2295235"/>
            <a:ext cx="2125516" cy="215444"/>
          </a:xfrm>
          <a:prstGeom prst="rect">
            <a:avLst/>
          </a:prstGeom>
        </p:spPr>
        <p:txBody>
          <a:bodyPr wrap="square" lIns="0" tIns="0" rIns="0" bIns="0" rtlCol="0" anchor="t">
            <a:spAutoFit/>
          </a:bodyPr>
          <a:lstStyle/>
          <a:p>
            <a:r>
              <a:rPr lang="en-US" sz="1400" b="1" dirty="0">
                <a:solidFill>
                  <a:srgbClr val="000000"/>
                </a:solidFill>
                <a:latin typeface="Georgia" panose="02040502050405020303" pitchFamily="18" charset="0"/>
                <a:ea typeface="TT Hoves Bold"/>
                <a:cs typeface="TT Hoves Bold"/>
                <a:sym typeface="TT Hoves Bold"/>
              </a:rPr>
              <a:t>FPO India portal</a:t>
            </a:r>
          </a:p>
        </p:txBody>
      </p:sp>
      <p:sp>
        <p:nvSpPr>
          <p:cNvPr id="149" name="TextBox 104">
            <a:extLst>
              <a:ext uri="{FF2B5EF4-FFF2-40B4-BE49-F238E27FC236}">
                <a16:creationId xmlns:a16="http://schemas.microsoft.com/office/drawing/2014/main" id="{9DB46767-2192-C065-4CCC-BDB288BBD3E4}"/>
              </a:ext>
            </a:extLst>
          </p:cNvPr>
          <p:cNvSpPr txBox="1"/>
          <p:nvPr/>
        </p:nvSpPr>
        <p:spPr>
          <a:xfrm>
            <a:off x="8295899" y="2870141"/>
            <a:ext cx="647602" cy="410882"/>
          </a:xfrm>
          <a:prstGeom prst="rect">
            <a:avLst/>
          </a:prstGeom>
        </p:spPr>
        <p:txBody>
          <a:bodyPr lIns="0" tIns="0" rIns="0" bIns="0" rtlCol="0" anchor="t">
            <a:spAutoFit/>
          </a:bodyPr>
          <a:lstStyle/>
          <a:p>
            <a:pPr algn="l">
              <a:lnSpc>
                <a:spcPts val="3499"/>
              </a:lnSpc>
            </a:pPr>
            <a:r>
              <a:rPr lang="en-US" sz="2499" b="1" dirty="0">
                <a:solidFill>
                  <a:schemeClr val="bg1"/>
                </a:solidFill>
                <a:latin typeface="Georgia" panose="02040502050405020303" pitchFamily="18" charset="0"/>
                <a:ea typeface="TT Hoves Bold"/>
                <a:cs typeface="TT Hoves Bold"/>
                <a:sym typeface="TT Hoves Bold"/>
              </a:rPr>
              <a:t>03</a:t>
            </a:r>
          </a:p>
        </p:txBody>
      </p:sp>
      <p:sp>
        <p:nvSpPr>
          <p:cNvPr id="154" name="TextBox 102">
            <a:extLst>
              <a:ext uri="{FF2B5EF4-FFF2-40B4-BE49-F238E27FC236}">
                <a16:creationId xmlns:a16="http://schemas.microsoft.com/office/drawing/2014/main" id="{5C9A8240-1254-0B20-6AB6-14A8670CB64D}"/>
              </a:ext>
            </a:extLst>
          </p:cNvPr>
          <p:cNvSpPr txBox="1"/>
          <p:nvPr/>
        </p:nvSpPr>
        <p:spPr>
          <a:xfrm>
            <a:off x="675406" y="2842229"/>
            <a:ext cx="466727" cy="410882"/>
          </a:xfrm>
          <a:prstGeom prst="rect">
            <a:avLst/>
          </a:prstGeom>
        </p:spPr>
        <p:txBody>
          <a:bodyPr wrap="square" lIns="0" tIns="0" rIns="0" bIns="0" rtlCol="0" anchor="t">
            <a:spAutoFit/>
          </a:bodyPr>
          <a:lstStyle/>
          <a:p>
            <a:pPr algn="l">
              <a:lnSpc>
                <a:spcPts val="3499"/>
              </a:lnSpc>
            </a:pPr>
            <a:r>
              <a:rPr lang="en-US" sz="2499" b="1" dirty="0">
                <a:solidFill>
                  <a:schemeClr val="bg1"/>
                </a:solidFill>
                <a:latin typeface="Georgia" panose="02040502050405020303" pitchFamily="18" charset="0"/>
                <a:ea typeface="TT Hoves Bold"/>
                <a:cs typeface="TT Hoves Bold"/>
                <a:sym typeface="TT Hoves Bold"/>
              </a:rPr>
              <a:t>01</a:t>
            </a:r>
          </a:p>
        </p:txBody>
      </p:sp>
      <p:sp>
        <p:nvSpPr>
          <p:cNvPr id="4" name="TextBox 3">
            <a:extLst>
              <a:ext uri="{FF2B5EF4-FFF2-40B4-BE49-F238E27FC236}">
                <a16:creationId xmlns:a16="http://schemas.microsoft.com/office/drawing/2014/main" id="{1F485D64-F002-1C94-A366-20B3FCDAC236}"/>
              </a:ext>
            </a:extLst>
          </p:cNvPr>
          <p:cNvSpPr txBox="1"/>
          <p:nvPr/>
        </p:nvSpPr>
        <p:spPr>
          <a:xfrm>
            <a:off x="450967" y="1794741"/>
            <a:ext cx="8596993" cy="338554"/>
          </a:xfrm>
          <a:prstGeom prst="rect">
            <a:avLst/>
          </a:prstGeom>
          <a:noFill/>
        </p:spPr>
        <p:txBody>
          <a:bodyPr wrap="square">
            <a:spAutoFit/>
          </a:bodyPr>
          <a:lstStyle/>
          <a:p>
            <a:pPr>
              <a:defRPr/>
            </a:pPr>
            <a:r>
              <a:rPr lang="en-US" sz="1600" b="1" dirty="0">
                <a:latin typeface="Georgia" panose="02040502050405020303" pitchFamily="18" charset="0"/>
              </a:rPr>
              <a:t>The existing digital platforms and tools:</a:t>
            </a:r>
          </a:p>
        </p:txBody>
      </p:sp>
      <p:pic>
        <p:nvPicPr>
          <p:cNvPr id="3" name="Picture 2">
            <a:extLst>
              <a:ext uri="{FF2B5EF4-FFF2-40B4-BE49-F238E27FC236}">
                <a16:creationId xmlns:a16="http://schemas.microsoft.com/office/drawing/2014/main" id="{7E65CA67-A35A-36DB-F1F0-A7C6C00F90BE}"/>
              </a:ext>
            </a:extLst>
          </p:cNvPr>
          <p:cNvPicPr>
            <a:picLocks noChangeAspect="1"/>
          </p:cNvPicPr>
          <p:nvPr/>
        </p:nvPicPr>
        <p:blipFill>
          <a:blip r:embed="rId3"/>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3940118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B7B58-0825-A5E4-5F06-BCB822B25426}"/>
            </a:ext>
          </a:extLst>
        </p:cNvPr>
        <p:cNvGrpSpPr/>
        <p:nvPr/>
      </p:nvGrpSpPr>
      <p:grpSpPr>
        <a:xfrm>
          <a:off x="0" y="0"/>
          <a:ext cx="0" cy="0"/>
          <a:chOff x="0" y="0"/>
          <a:chExt cx="0" cy="0"/>
        </a:xfrm>
      </p:grpSpPr>
      <p:sp>
        <p:nvSpPr>
          <p:cNvPr id="7" name="Title 21">
            <a:extLst>
              <a:ext uri="{FF2B5EF4-FFF2-40B4-BE49-F238E27FC236}">
                <a16:creationId xmlns:a16="http://schemas.microsoft.com/office/drawing/2014/main" id="{9A6D68AC-BA41-7314-9EDD-7855CA09F23D}"/>
              </a:ext>
            </a:extLst>
          </p:cNvPr>
          <p:cNvSpPr txBox="1">
            <a:spLocks/>
          </p:cNvSpPr>
          <p:nvPr/>
        </p:nvSpPr>
        <p:spPr>
          <a:xfrm>
            <a:off x="404992" y="284247"/>
            <a:ext cx="11353800" cy="486159"/>
          </a:xfrm>
          <a:prstGeom prst="rect">
            <a:avLst/>
          </a:prstGeom>
        </p:spPr>
        <p:txBody>
          <a:bodyPr/>
          <a:lstStyle>
            <a:lvl1pPr>
              <a:defRPr>
                <a:latin typeface="+mj-lt"/>
                <a:ea typeface="+mj-ea"/>
                <a:cs typeface="+mj-cs"/>
              </a:defRPr>
            </a:lvl1pPr>
          </a:lstStyle>
          <a:p>
            <a:pPr>
              <a:lnSpc>
                <a:spcPct val="150000"/>
              </a:lnSpc>
              <a:spcAft>
                <a:spcPts val="800"/>
              </a:spcAft>
            </a:pPr>
            <a:r>
              <a:rPr lang="en-IN" sz="2400" b="1" dirty="0">
                <a:solidFill>
                  <a:schemeClr val="bg1"/>
                </a:solidFill>
                <a:latin typeface="Georgia" panose="02040502050405020303" pitchFamily="18" charset="0"/>
              </a:rPr>
              <a:t>Challenge category 7: </a:t>
            </a:r>
            <a:r>
              <a:rPr lang="en-US" sz="2400" b="1" dirty="0">
                <a:solidFill>
                  <a:schemeClr val="bg1"/>
                </a:solidFill>
                <a:latin typeface="Georgia" panose="02040502050405020303" pitchFamily="18" charset="0"/>
              </a:rPr>
              <a:t>Circular economy and loss-to-value solutions</a:t>
            </a:r>
            <a:endParaRPr lang="en-IN" sz="2400" b="1" dirty="0">
              <a:solidFill>
                <a:schemeClr val="bg1"/>
              </a:solidFill>
              <a:latin typeface="Georgia" panose="02040502050405020303" pitchFamily="18" charset="0"/>
            </a:endParaRPr>
          </a:p>
        </p:txBody>
      </p:sp>
      <p:sp>
        <p:nvSpPr>
          <p:cNvPr id="5" name="Slide Number Placeholder 2">
            <a:extLst>
              <a:ext uri="{FF2B5EF4-FFF2-40B4-BE49-F238E27FC236}">
                <a16:creationId xmlns:a16="http://schemas.microsoft.com/office/drawing/2014/main" id="{867E55B6-B015-3A1D-BE23-76FD28BF95B2}"/>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25</a:t>
            </a:fld>
            <a:endParaRPr dirty="0">
              <a:latin typeface="Georgia" panose="02040502050405020303" pitchFamily="18" charset="0"/>
            </a:endParaRPr>
          </a:p>
        </p:txBody>
      </p:sp>
      <p:sp>
        <p:nvSpPr>
          <p:cNvPr id="100" name="TextBox 99">
            <a:extLst>
              <a:ext uri="{FF2B5EF4-FFF2-40B4-BE49-F238E27FC236}">
                <a16:creationId xmlns:a16="http://schemas.microsoft.com/office/drawing/2014/main" id="{43FB44D8-8675-2637-A7A9-A8A7B8846776}"/>
              </a:ext>
            </a:extLst>
          </p:cNvPr>
          <p:cNvSpPr txBox="1"/>
          <p:nvPr/>
        </p:nvSpPr>
        <p:spPr>
          <a:xfrm>
            <a:off x="544010" y="1076980"/>
            <a:ext cx="10820400" cy="523220"/>
          </a:xfrm>
          <a:prstGeom prst="rect">
            <a:avLst/>
          </a:prstGeom>
          <a:noFill/>
          <a:ln>
            <a:solidFill>
              <a:srgbClr val="AE4543"/>
            </a:solidFill>
          </a:ln>
        </p:spPr>
        <p:txBody>
          <a:bodyPr wrap="square">
            <a:spAutoFit/>
          </a:bodyPr>
          <a:lstStyle/>
          <a:p>
            <a:r>
              <a:rPr lang="en-US" altLang="en-US" sz="1400" dirty="0">
                <a:latin typeface="Georgia" panose="02040502050405020303" pitchFamily="18" charset="0"/>
              </a:rPr>
              <a:t>This challenge category aims to develop solutions that create structured secondary-use pathways for surplus, off-grade, and rejected horticulture produce, reducing waste and enabling better value realization during peak harvest periods.</a:t>
            </a:r>
          </a:p>
        </p:txBody>
      </p:sp>
      <p:grpSp>
        <p:nvGrpSpPr>
          <p:cNvPr id="54" name="Group 53">
            <a:extLst>
              <a:ext uri="{FF2B5EF4-FFF2-40B4-BE49-F238E27FC236}">
                <a16:creationId xmlns:a16="http://schemas.microsoft.com/office/drawing/2014/main" id="{C1F4D98C-AE39-9039-DB48-7E630368C926}"/>
              </a:ext>
            </a:extLst>
          </p:cNvPr>
          <p:cNvGrpSpPr/>
          <p:nvPr/>
        </p:nvGrpSpPr>
        <p:grpSpPr>
          <a:xfrm>
            <a:off x="727328" y="2270231"/>
            <a:ext cx="2644285" cy="2680437"/>
            <a:chOff x="803802" y="1434363"/>
            <a:chExt cx="4561436" cy="4620920"/>
          </a:xfrm>
        </p:grpSpPr>
        <p:sp>
          <p:nvSpPr>
            <p:cNvPr id="3" name="Freeform 2">
              <a:extLst>
                <a:ext uri="{FF2B5EF4-FFF2-40B4-BE49-F238E27FC236}">
                  <a16:creationId xmlns:a16="http://schemas.microsoft.com/office/drawing/2014/main" id="{E5577C11-5F1F-7463-D6D7-BFCDDB1F45BD}"/>
                </a:ext>
              </a:extLst>
            </p:cNvPr>
            <p:cNvSpPr/>
            <p:nvPr/>
          </p:nvSpPr>
          <p:spPr>
            <a:xfrm>
              <a:off x="803802" y="1434363"/>
              <a:ext cx="4561436" cy="4620920"/>
            </a:xfrm>
            <a:custGeom>
              <a:avLst/>
              <a:gdLst/>
              <a:ahLst/>
              <a:cxnLst/>
              <a:rect l="l" t="t" r="r" b="b"/>
              <a:pathLst>
                <a:path w="8534270" h="8708439">
                  <a:moveTo>
                    <a:pt x="0" y="0"/>
                  </a:moveTo>
                  <a:lnTo>
                    <a:pt x="8534270" y="0"/>
                  </a:lnTo>
                  <a:lnTo>
                    <a:pt x="8534270" y="8708440"/>
                  </a:lnTo>
                  <a:lnTo>
                    <a:pt x="0" y="870844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latin typeface="Georgia" panose="02040502050405020303" pitchFamily="18" charset="0"/>
              </a:endParaRPr>
            </a:p>
          </p:txBody>
        </p:sp>
        <p:grpSp>
          <p:nvGrpSpPr>
            <p:cNvPr id="53" name="Group 52">
              <a:extLst>
                <a:ext uri="{FF2B5EF4-FFF2-40B4-BE49-F238E27FC236}">
                  <a16:creationId xmlns:a16="http://schemas.microsoft.com/office/drawing/2014/main" id="{F754E49E-7502-9E56-BCC1-E1F08E375D06}"/>
                </a:ext>
              </a:extLst>
            </p:cNvPr>
            <p:cNvGrpSpPr/>
            <p:nvPr/>
          </p:nvGrpSpPr>
          <p:grpSpPr>
            <a:xfrm>
              <a:off x="1235838" y="2155361"/>
              <a:ext cx="3527202" cy="3371565"/>
              <a:chOff x="1235838" y="2155361"/>
              <a:chExt cx="3527202" cy="3371565"/>
            </a:xfrm>
          </p:grpSpPr>
          <p:sp>
            <p:nvSpPr>
              <p:cNvPr id="16" name="Freeform 23">
                <a:extLst>
                  <a:ext uri="{FF2B5EF4-FFF2-40B4-BE49-F238E27FC236}">
                    <a16:creationId xmlns:a16="http://schemas.microsoft.com/office/drawing/2014/main" id="{E4E1B302-E952-78BB-4512-EEE621EF35EE}"/>
                  </a:ext>
                </a:extLst>
              </p:cNvPr>
              <p:cNvSpPr/>
              <p:nvPr/>
            </p:nvSpPr>
            <p:spPr>
              <a:xfrm>
                <a:off x="4436582" y="4392223"/>
                <a:ext cx="326458" cy="324101"/>
              </a:xfrm>
              <a:custGeom>
                <a:avLst/>
                <a:gdLst/>
                <a:ahLst/>
                <a:cxnLst/>
                <a:rect l="l" t="t" r="r" b="b"/>
                <a:pathLst>
                  <a:path w="610791" h="610791">
                    <a:moveTo>
                      <a:pt x="0" y="0"/>
                    </a:moveTo>
                    <a:lnTo>
                      <a:pt x="610791" y="0"/>
                    </a:lnTo>
                    <a:lnTo>
                      <a:pt x="610791" y="610791"/>
                    </a:lnTo>
                    <a:lnTo>
                      <a:pt x="0" y="6107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latin typeface="Georgia" panose="02040502050405020303" pitchFamily="18" charset="0"/>
                </a:endParaRPr>
              </a:p>
            </p:txBody>
          </p:sp>
          <p:sp>
            <p:nvSpPr>
              <p:cNvPr id="17" name="Freeform 24">
                <a:extLst>
                  <a:ext uri="{FF2B5EF4-FFF2-40B4-BE49-F238E27FC236}">
                    <a16:creationId xmlns:a16="http://schemas.microsoft.com/office/drawing/2014/main" id="{50A2C8EF-0CF0-22D9-FD63-02777D21BFB8}"/>
                  </a:ext>
                </a:extLst>
              </p:cNvPr>
              <p:cNvSpPr/>
              <p:nvPr/>
            </p:nvSpPr>
            <p:spPr>
              <a:xfrm>
                <a:off x="1235838" y="4014712"/>
                <a:ext cx="241847" cy="377511"/>
              </a:xfrm>
              <a:custGeom>
                <a:avLst/>
                <a:gdLst/>
                <a:ahLst/>
                <a:cxnLst/>
                <a:rect l="l" t="t" r="r" b="b"/>
                <a:pathLst>
                  <a:path w="452487" h="711446">
                    <a:moveTo>
                      <a:pt x="0" y="0"/>
                    </a:moveTo>
                    <a:lnTo>
                      <a:pt x="452487" y="0"/>
                    </a:lnTo>
                    <a:lnTo>
                      <a:pt x="452487" y="711445"/>
                    </a:lnTo>
                    <a:lnTo>
                      <a:pt x="0" y="71144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latin typeface="Georgia" panose="02040502050405020303" pitchFamily="18" charset="0"/>
                </a:endParaRPr>
              </a:p>
            </p:txBody>
          </p:sp>
          <p:sp>
            <p:nvSpPr>
              <p:cNvPr id="18" name="Freeform 25">
                <a:extLst>
                  <a:ext uri="{FF2B5EF4-FFF2-40B4-BE49-F238E27FC236}">
                    <a16:creationId xmlns:a16="http://schemas.microsoft.com/office/drawing/2014/main" id="{310B7C94-2B59-3DA7-FC18-FE80B2F576F5}"/>
                  </a:ext>
                </a:extLst>
              </p:cNvPr>
              <p:cNvSpPr/>
              <p:nvPr/>
            </p:nvSpPr>
            <p:spPr>
              <a:xfrm>
                <a:off x="2715083" y="5299977"/>
                <a:ext cx="228599" cy="226949"/>
              </a:xfrm>
              <a:custGeom>
                <a:avLst/>
                <a:gdLst/>
                <a:ahLst/>
                <a:cxnLst/>
                <a:rect l="l" t="t" r="r" b="b"/>
                <a:pathLst>
                  <a:path w="427700" h="427700">
                    <a:moveTo>
                      <a:pt x="0" y="0"/>
                    </a:moveTo>
                    <a:lnTo>
                      <a:pt x="427700" y="0"/>
                    </a:lnTo>
                    <a:lnTo>
                      <a:pt x="427700" y="427700"/>
                    </a:lnTo>
                    <a:lnTo>
                      <a:pt x="0" y="4277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latin typeface="Georgia" panose="02040502050405020303" pitchFamily="18" charset="0"/>
                </a:endParaRPr>
              </a:p>
            </p:txBody>
          </p:sp>
          <p:sp>
            <p:nvSpPr>
              <p:cNvPr id="19" name="Freeform 26">
                <a:extLst>
                  <a:ext uri="{FF2B5EF4-FFF2-40B4-BE49-F238E27FC236}">
                    <a16:creationId xmlns:a16="http://schemas.microsoft.com/office/drawing/2014/main" id="{951956B4-D53B-63D3-84FC-72F92B77E007}"/>
                  </a:ext>
                </a:extLst>
              </p:cNvPr>
              <p:cNvSpPr/>
              <p:nvPr/>
            </p:nvSpPr>
            <p:spPr>
              <a:xfrm>
                <a:off x="1822940" y="2155361"/>
                <a:ext cx="378454" cy="361376"/>
              </a:xfrm>
              <a:custGeom>
                <a:avLst/>
                <a:gdLst/>
                <a:ahLst/>
                <a:cxnLst/>
                <a:rect l="l" t="t" r="r" b="b"/>
                <a:pathLst>
                  <a:path w="708073" h="681038">
                    <a:moveTo>
                      <a:pt x="0" y="0"/>
                    </a:moveTo>
                    <a:lnTo>
                      <a:pt x="708074" y="0"/>
                    </a:lnTo>
                    <a:lnTo>
                      <a:pt x="708074" y="681038"/>
                    </a:lnTo>
                    <a:lnTo>
                      <a:pt x="0" y="68103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dirty="0">
                  <a:latin typeface="Georgia" panose="02040502050405020303" pitchFamily="18" charset="0"/>
                </a:endParaRPr>
              </a:p>
            </p:txBody>
          </p:sp>
          <p:sp>
            <p:nvSpPr>
              <p:cNvPr id="20" name="Freeform 27">
                <a:extLst>
                  <a:ext uri="{FF2B5EF4-FFF2-40B4-BE49-F238E27FC236}">
                    <a16:creationId xmlns:a16="http://schemas.microsoft.com/office/drawing/2014/main" id="{DB052E93-61CF-915D-40B1-1092B878CB92}"/>
                  </a:ext>
                </a:extLst>
              </p:cNvPr>
              <p:cNvSpPr/>
              <p:nvPr/>
            </p:nvSpPr>
            <p:spPr>
              <a:xfrm>
                <a:off x="4280560" y="2464629"/>
                <a:ext cx="319252" cy="362413"/>
              </a:xfrm>
              <a:custGeom>
                <a:avLst/>
                <a:gdLst/>
                <a:ahLst/>
                <a:cxnLst/>
                <a:rect l="l" t="t" r="r" b="b"/>
                <a:pathLst>
                  <a:path w="597308" h="682992">
                    <a:moveTo>
                      <a:pt x="0" y="0"/>
                    </a:moveTo>
                    <a:lnTo>
                      <a:pt x="597307" y="0"/>
                    </a:lnTo>
                    <a:lnTo>
                      <a:pt x="597307" y="682992"/>
                    </a:lnTo>
                    <a:lnTo>
                      <a:pt x="0" y="68299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latin typeface="Georgia" panose="02040502050405020303" pitchFamily="18" charset="0"/>
                </a:endParaRPr>
              </a:p>
            </p:txBody>
          </p:sp>
        </p:grpSp>
      </p:grpSp>
      <p:grpSp>
        <p:nvGrpSpPr>
          <p:cNvPr id="35" name="Group 34">
            <a:extLst>
              <a:ext uri="{FF2B5EF4-FFF2-40B4-BE49-F238E27FC236}">
                <a16:creationId xmlns:a16="http://schemas.microsoft.com/office/drawing/2014/main" id="{040B2A13-625C-EF2D-35B9-EBB18EAF6DBB}"/>
              </a:ext>
            </a:extLst>
          </p:cNvPr>
          <p:cNvGrpSpPr/>
          <p:nvPr/>
        </p:nvGrpSpPr>
        <p:grpSpPr>
          <a:xfrm>
            <a:off x="3461057" y="2070566"/>
            <a:ext cx="7927416" cy="3339634"/>
            <a:chOff x="3436993" y="1579404"/>
            <a:chExt cx="7927416" cy="3339634"/>
          </a:xfrm>
        </p:grpSpPr>
        <p:grpSp>
          <p:nvGrpSpPr>
            <p:cNvPr id="4" name="Group 3">
              <a:extLst>
                <a:ext uri="{FF2B5EF4-FFF2-40B4-BE49-F238E27FC236}">
                  <a16:creationId xmlns:a16="http://schemas.microsoft.com/office/drawing/2014/main" id="{FD9D8070-2797-3C75-D64F-BA011C7AC57E}"/>
                </a:ext>
              </a:extLst>
            </p:cNvPr>
            <p:cNvGrpSpPr/>
            <p:nvPr/>
          </p:nvGrpSpPr>
          <p:grpSpPr>
            <a:xfrm>
              <a:off x="3537208" y="1579404"/>
              <a:ext cx="7827201" cy="1362473"/>
              <a:chOff x="0" y="-19050"/>
              <a:chExt cx="2423262" cy="1384434"/>
            </a:xfrm>
          </p:grpSpPr>
          <p:sp>
            <p:nvSpPr>
              <p:cNvPr id="45" name="Freeform 4">
                <a:extLst>
                  <a:ext uri="{FF2B5EF4-FFF2-40B4-BE49-F238E27FC236}">
                    <a16:creationId xmlns:a16="http://schemas.microsoft.com/office/drawing/2014/main" id="{FDD343FB-44FB-A3D1-D609-25D35B0E32E3}"/>
                  </a:ext>
                </a:extLst>
              </p:cNvPr>
              <p:cNvSpPr/>
              <p:nvPr/>
            </p:nvSpPr>
            <p:spPr>
              <a:xfrm>
                <a:off x="0" y="1"/>
                <a:ext cx="2423262" cy="1365383"/>
              </a:xfrm>
              <a:custGeom>
                <a:avLst/>
                <a:gdLst/>
                <a:ahLst/>
                <a:cxnLst/>
                <a:rect l="l" t="t" r="r" b="b"/>
                <a:pathLst>
                  <a:path w="857212" h="707996">
                    <a:moveTo>
                      <a:pt x="59467" y="0"/>
                    </a:moveTo>
                    <a:lnTo>
                      <a:pt x="797745" y="0"/>
                    </a:lnTo>
                    <a:cubicBezTo>
                      <a:pt x="813516" y="0"/>
                      <a:pt x="828642" y="6265"/>
                      <a:pt x="839794" y="17417"/>
                    </a:cubicBezTo>
                    <a:cubicBezTo>
                      <a:pt x="850946" y="28570"/>
                      <a:pt x="857212" y="43695"/>
                      <a:pt x="857212" y="59467"/>
                    </a:cubicBezTo>
                    <a:lnTo>
                      <a:pt x="857212" y="648529"/>
                    </a:lnTo>
                    <a:cubicBezTo>
                      <a:pt x="857212" y="664301"/>
                      <a:pt x="850946" y="679426"/>
                      <a:pt x="839794" y="690579"/>
                    </a:cubicBezTo>
                    <a:cubicBezTo>
                      <a:pt x="828642" y="701731"/>
                      <a:pt x="813516" y="707996"/>
                      <a:pt x="797745" y="707996"/>
                    </a:cubicBezTo>
                    <a:lnTo>
                      <a:pt x="59467" y="707996"/>
                    </a:lnTo>
                    <a:cubicBezTo>
                      <a:pt x="43695" y="707996"/>
                      <a:pt x="28570" y="701731"/>
                      <a:pt x="17417" y="690579"/>
                    </a:cubicBezTo>
                    <a:cubicBezTo>
                      <a:pt x="6265" y="679426"/>
                      <a:pt x="0" y="664301"/>
                      <a:pt x="0" y="648529"/>
                    </a:cubicBezTo>
                    <a:lnTo>
                      <a:pt x="0" y="59467"/>
                    </a:lnTo>
                    <a:cubicBezTo>
                      <a:pt x="0" y="43695"/>
                      <a:pt x="6265" y="28570"/>
                      <a:pt x="17417" y="17417"/>
                    </a:cubicBezTo>
                    <a:cubicBezTo>
                      <a:pt x="28570" y="6265"/>
                      <a:pt x="43695" y="0"/>
                      <a:pt x="59467" y="0"/>
                    </a:cubicBezTo>
                    <a:close/>
                  </a:path>
                </a:pathLst>
              </a:custGeom>
              <a:solidFill>
                <a:schemeClr val="bg2">
                  <a:lumMod val="90000"/>
                </a:schemeClr>
              </a:solidFill>
            </p:spPr>
            <p:txBody>
              <a:bodyPr/>
              <a:lstStyle/>
              <a:p>
                <a:endParaRPr lang="en-IN" dirty="0">
                  <a:latin typeface="Georgia" panose="02040502050405020303" pitchFamily="18" charset="0"/>
                </a:endParaRPr>
              </a:p>
            </p:txBody>
          </p:sp>
          <p:sp>
            <p:nvSpPr>
              <p:cNvPr id="46" name="TextBox 5">
                <a:extLst>
                  <a:ext uri="{FF2B5EF4-FFF2-40B4-BE49-F238E27FC236}">
                    <a16:creationId xmlns:a16="http://schemas.microsoft.com/office/drawing/2014/main" id="{D1A57C11-07F3-3E28-56E4-500F9CAC8E46}"/>
                  </a:ext>
                </a:extLst>
              </p:cNvPr>
              <p:cNvSpPr txBox="1"/>
              <p:nvPr/>
            </p:nvSpPr>
            <p:spPr>
              <a:xfrm>
                <a:off x="0" y="-19050"/>
                <a:ext cx="857212" cy="727046"/>
              </a:xfrm>
              <a:prstGeom prst="rect">
                <a:avLst/>
              </a:prstGeom>
            </p:spPr>
            <p:txBody>
              <a:bodyPr lIns="50800" tIns="50800" rIns="50800" bIns="50800" rtlCol="0" anchor="ctr"/>
              <a:lstStyle/>
              <a:p>
                <a:pPr algn="ctr">
                  <a:lnSpc>
                    <a:spcPts val="2240"/>
                  </a:lnSpc>
                </a:pPr>
                <a:endParaRPr>
                  <a:latin typeface="Georgia" panose="02040502050405020303" pitchFamily="18" charset="0"/>
                </a:endParaRPr>
              </a:p>
            </p:txBody>
          </p:sp>
        </p:grpSp>
        <p:sp>
          <p:nvSpPr>
            <p:cNvPr id="40" name="TextBox 17">
              <a:extLst>
                <a:ext uri="{FF2B5EF4-FFF2-40B4-BE49-F238E27FC236}">
                  <a16:creationId xmlns:a16="http://schemas.microsoft.com/office/drawing/2014/main" id="{C5493507-5EA6-054B-40C0-C5768698EB85}"/>
                </a:ext>
              </a:extLst>
            </p:cNvPr>
            <p:cNvSpPr txBox="1"/>
            <p:nvPr/>
          </p:nvSpPr>
          <p:spPr>
            <a:xfrm>
              <a:off x="6896831" y="2076828"/>
              <a:ext cx="2644285" cy="929407"/>
            </a:xfrm>
            <a:prstGeom prst="rect">
              <a:avLst/>
            </a:prstGeom>
          </p:spPr>
          <p:txBody>
            <a:bodyPr lIns="50800" tIns="50800" rIns="50800" bIns="50800" rtlCol="0" anchor="ctr"/>
            <a:lstStyle/>
            <a:p>
              <a:pPr algn="ctr">
                <a:lnSpc>
                  <a:spcPts val="2240"/>
                </a:lnSpc>
              </a:pPr>
              <a:endParaRPr>
                <a:latin typeface="Georgia" panose="02040502050405020303" pitchFamily="18" charset="0"/>
              </a:endParaRPr>
            </a:p>
          </p:txBody>
        </p:sp>
        <p:sp>
          <p:nvSpPr>
            <p:cNvPr id="8" name="Freeform 9">
              <a:extLst>
                <a:ext uri="{FF2B5EF4-FFF2-40B4-BE49-F238E27FC236}">
                  <a16:creationId xmlns:a16="http://schemas.microsoft.com/office/drawing/2014/main" id="{07657BD4-F689-7D0A-C2D7-F1F7EDB545E6}"/>
                </a:ext>
              </a:extLst>
            </p:cNvPr>
            <p:cNvSpPr/>
            <p:nvPr/>
          </p:nvSpPr>
          <p:spPr>
            <a:xfrm>
              <a:off x="3436993" y="1649555"/>
              <a:ext cx="1884726" cy="258262"/>
            </a:xfrm>
            <a:custGeom>
              <a:avLst/>
              <a:gdLst/>
              <a:ahLst/>
              <a:cxnLst/>
              <a:rect l="l" t="t" r="r" b="b"/>
              <a:pathLst>
                <a:path w="2402157" h="925922">
                  <a:moveTo>
                    <a:pt x="0" y="0"/>
                  </a:moveTo>
                  <a:lnTo>
                    <a:pt x="2402157" y="0"/>
                  </a:lnTo>
                  <a:lnTo>
                    <a:pt x="2402157" y="925922"/>
                  </a:lnTo>
                  <a:lnTo>
                    <a:pt x="0" y="92592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IN" dirty="0">
                <a:latin typeface="Georgia" panose="02040502050405020303" pitchFamily="18" charset="0"/>
              </a:endParaRPr>
            </a:p>
          </p:txBody>
        </p:sp>
        <p:sp>
          <p:nvSpPr>
            <p:cNvPr id="24" name="TextBox 31">
              <a:extLst>
                <a:ext uri="{FF2B5EF4-FFF2-40B4-BE49-F238E27FC236}">
                  <a16:creationId xmlns:a16="http://schemas.microsoft.com/office/drawing/2014/main" id="{6B689169-B697-18FB-335B-87CE41F82AE0}"/>
                </a:ext>
              </a:extLst>
            </p:cNvPr>
            <p:cNvSpPr txBox="1"/>
            <p:nvPr/>
          </p:nvSpPr>
          <p:spPr>
            <a:xfrm>
              <a:off x="3610649" y="1623430"/>
              <a:ext cx="1711071" cy="259110"/>
            </a:xfrm>
            <a:prstGeom prst="rect">
              <a:avLst/>
            </a:prstGeom>
          </p:spPr>
          <p:txBody>
            <a:bodyPr lIns="0" tIns="0" rIns="0" bIns="0" rtlCol="0" anchor="t">
              <a:spAutoFit/>
            </a:bodyPr>
            <a:lstStyle/>
            <a:p>
              <a:pPr algn="l">
                <a:lnSpc>
                  <a:spcPts val="2240"/>
                </a:lnSpc>
                <a:spcBef>
                  <a:spcPct val="0"/>
                </a:spcBef>
              </a:pPr>
              <a:r>
                <a:rPr lang="en-US" sz="1600" b="1" dirty="0">
                  <a:solidFill>
                    <a:srgbClr val="FFFFFF"/>
                  </a:solidFill>
                  <a:latin typeface="Georgia" panose="02040502050405020303" pitchFamily="18" charset="0"/>
                  <a:ea typeface="TT Hoves Bold"/>
                  <a:cs typeface="TT Hoves Bold"/>
                  <a:sym typeface="TT Hoves Bold"/>
                </a:rPr>
                <a:t>Onion</a:t>
              </a:r>
            </a:p>
          </p:txBody>
        </p:sp>
        <p:sp>
          <p:nvSpPr>
            <p:cNvPr id="22" name="TextBox 29">
              <a:extLst>
                <a:ext uri="{FF2B5EF4-FFF2-40B4-BE49-F238E27FC236}">
                  <a16:creationId xmlns:a16="http://schemas.microsoft.com/office/drawing/2014/main" id="{D9EB2356-DB21-40FC-A44D-26E2794C0506}"/>
                </a:ext>
              </a:extLst>
            </p:cNvPr>
            <p:cNvSpPr txBox="1"/>
            <p:nvPr/>
          </p:nvSpPr>
          <p:spPr>
            <a:xfrm>
              <a:off x="5430199" y="1656227"/>
              <a:ext cx="5771201" cy="1138773"/>
            </a:xfrm>
            <a:prstGeom prst="rect">
              <a:avLst/>
            </a:prstGeom>
          </p:spPr>
          <p:txBody>
            <a:bodyPr wrap="square" lIns="0" tIns="0" rIns="0" bIns="0" rtlCol="0" anchor="t">
              <a:spAutoFit/>
            </a:bodyPr>
            <a:lstStyle/>
            <a:p>
              <a:pPr marL="285750" indent="-285750" algn="l">
                <a:spcBef>
                  <a:spcPct val="0"/>
                </a:spcBef>
                <a:buFont typeface="Arial" panose="020B0604020202020204" pitchFamily="34" charset="0"/>
                <a:buChar char="•"/>
              </a:pPr>
              <a:r>
                <a:rPr lang="en-US" sz="1400" dirty="0">
                  <a:solidFill>
                    <a:srgbClr val="000000"/>
                  </a:solidFill>
                  <a:latin typeface="Georgia" panose="02040502050405020303" pitchFamily="18" charset="0"/>
                  <a:ea typeface="TT Hoves"/>
                  <a:cs typeface="TT Hoves"/>
                  <a:sym typeface="TT Hoves"/>
                </a:rPr>
                <a:t>Off-grade and surplus onions lost to improper curing, high moisture, and price-driven storage can be converted into dehydrated powder, flakes, paste, and juice for the food industry.</a:t>
              </a:r>
            </a:p>
            <a:p>
              <a:pPr marL="285750" indent="-285750" algn="l">
                <a:spcBef>
                  <a:spcPct val="0"/>
                </a:spcBef>
                <a:buFont typeface="Arial" panose="020B0604020202020204" pitchFamily="34" charset="0"/>
                <a:buChar char="•"/>
              </a:pPr>
              <a:endParaRPr lang="en-US" sz="400" dirty="0">
                <a:solidFill>
                  <a:srgbClr val="000000"/>
                </a:solidFill>
                <a:latin typeface="Georgia" panose="02040502050405020303" pitchFamily="18" charset="0"/>
                <a:ea typeface="TT Hoves"/>
                <a:cs typeface="TT Hoves"/>
                <a:sym typeface="TT Hoves"/>
              </a:endParaRPr>
            </a:p>
            <a:p>
              <a:pPr marL="285750" indent="-285750" algn="l">
                <a:spcBef>
                  <a:spcPct val="0"/>
                </a:spcBef>
                <a:buFont typeface="Arial" panose="020B0604020202020204" pitchFamily="34" charset="0"/>
                <a:buChar char="•"/>
              </a:pPr>
              <a:r>
                <a:rPr lang="en-US" sz="1400" dirty="0">
                  <a:solidFill>
                    <a:srgbClr val="000000"/>
                  </a:solidFill>
                  <a:latin typeface="Georgia" panose="02040502050405020303" pitchFamily="18" charset="0"/>
                  <a:ea typeface="TT Hoves"/>
                  <a:cs typeface="TT Hoves"/>
                  <a:sym typeface="TT Hoves"/>
                </a:rPr>
                <a:t>Onion skins, typically discarded, are rich in quercetin with proven pharmaceutical and nutraceutical applications.</a:t>
              </a:r>
            </a:p>
          </p:txBody>
        </p:sp>
        <p:grpSp>
          <p:nvGrpSpPr>
            <p:cNvPr id="23" name="Group 22">
              <a:extLst>
                <a:ext uri="{FF2B5EF4-FFF2-40B4-BE49-F238E27FC236}">
                  <a16:creationId xmlns:a16="http://schemas.microsoft.com/office/drawing/2014/main" id="{B941553F-4A90-D6A1-AF3C-A5B53C57A2D5}"/>
                </a:ext>
              </a:extLst>
            </p:cNvPr>
            <p:cNvGrpSpPr/>
            <p:nvPr/>
          </p:nvGrpSpPr>
          <p:grpSpPr>
            <a:xfrm>
              <a:off x="3436993" y="3054864"/>
              <a:ext cx="7894308" cy="1864174"/>
              <a:chOff x="3470100" y="3468797"/>
              <a:chExt cx="7894308" cy="1873026"/>
            </a:xfrm>
          </p:grpSpPr>
          <p:grpSp>
            <p:nvGrpSpPr>
              <p:cNvPr id="6" name="Group 6">
                <a:extLst>
                  <a:ext uri="{FF2B5EF4-FFF2-40B4-BE49-F238E27FC236}">
                    <a16:creationId xmlns:a16="http://schemas.microsoft.com/office/drawing/2014/main" id="{7E50BA17-7640-5943-3D12-116E96AF8DE2}"/>
                  </a:ext>
                </a:extLst>
              </p:cNvPr>
              <p:cNvGrpSpPr/>
              <p:nvPr/>
            </p:nvGrpSpPr>
            <p:grpSpPr>
              <a:xfrm>
                <a:off x="3537207" y="3468797"/>
                <a:ext cx="7827201" cy="1873026"/>
                <a:chOff x="-53074" y="-757213"/>
                <a:chExt cx="2537386" cy="1465209"/>
              </a:xfrm>
            </p:grpSpPr>
            <p:sp>
              <p:nvSpPr>
                <p:cNvPr id="43" name="Freeform 7">
                  <a:extLst>
                    <a:ext uri="{FF2B5EF4-FFF2-40B4-BE49-F238E27FC236}">
                      <a16:creationId xmlns:a16="http://schemas.microsoft.com/office/drawing/2014/main" id="{F24EF3C7-3725-C2DD-95FF-FE39638B181F}"/>
                    </a:ext>
                  </a:extLst>
                </p:cNvPr>
                <p:cNvSpPr/>
                <p:nvPr/>
              </p:nvSpPr>
              <p:spPr>
                <a:xfrm>
                  <a:off x="-53074" y="-757213"/>
                  <a:ext cx="2537386" cy="1212429"/>
                </a:xfrm>
                <a:custGeom>
                  <a:avLst/>
                  <a:gdLst/>
                  <a:ahLst/>
                  <a:cxnLst/>
                  <a:rect l="l" t="t" r="r" b="b"/>
                  <a:pathLst>
                    <a:path w="857212" h="707996">
                      <a:moveTo>
                        <a:pt x="59467" y="0"/>
                      </a:moveTo>
                      <a:lnTo>
                        <a:pt x="797745" y="0"/>
                      </a:lnTo>
                      <a:cubicBezTo>
                        <a:pt x="813516" y="0"/>
                        <a:pt x="828642" y="6265"/>
                        <a:pt x="839794" y="17417"/>
                      </a:cubicBezTo>
                      <a:cubicBezTo>
                        <a:pt x="850946" y="28570"/>
                        <a:pt x="857212" y="43695"/>
                        <a:pt x="857212" y="59467"/>
                      </a:cubicBezTo>
                      <a:lnTo>
                        <a:pt x="857212" y="648529"/>
                      </a:lnTo>
                      <a:cubicBezTo>
                        <a:pt x="857212" y="664301"/>
                        <a:pt x="850946" y="679426"/>
                        <a:pt x="839794" y="690579"/>
                      </a:cubicBezTo>
                      <a:cubicBezTo>
                        <a:pt x="828642" y="701731"/>
                        <a:pt x="813516" y="707996"/>
                        <a:pt x="797745" y="707996"/>
                      </a:cubicBezTo>
                      <a:lnTo>
                        <a:pt x="59467" y="707996"/>
                      </a:lnTo>
                      <a:cubicBezTo>
                        <a:pt x="43695" y="707996"/>
                        <a:pt x="28570" y="701731"/>
                        <a:pt x="17417" y="690579"/>
                      </a:cubicBezTo>
                      <a:cubicBezTo>
                        <a:pt x="6265" y="679426"/>
                        <a:pt x="0" y="664301"/>
                        <a:pt x="0" y="648529"/>
                      </a:cubicBezTo>
                      <a:lnTo>
                        <a:pt x="0" y="59467"/>
                      </a:lnTo>
                      <a:cubicBezTo>
                        <a:pt x="0" y="43695"/>
                        <a:pt x="6265" y="28570"/>
                        <a:pt x="17417" y="17417"/>
                      </a:cubicBezTo>
                      <a:cubicBezTo>
                        <a:pt x="28570" y="6265"/>
                        <a:pt x="43695" y="0"/>
                        <a:pt x="59467" y="0"/>
                      </a:cubicBezTo>
                      <a:close/>
                    </a:path>
                  </a:pathLst>
                </a:custGeom>
                <a:solidFill>
                  <a:schemeClr val="bg2">
                    <a:lumMod val="90000"/>
                  </a:schemeClr>
                </a:solidFill>
              </p:spPr>
              <p:txBody>
                <a:bodyPr/>
                <a:lstStyle/>
                <a:p>
                  <a:endParaRPr lang="en-IN" dirty="0">
                    <a:latin typeface="Georgia" panose="02040502050405020303" pitchFamily="18" charset="0"/>
                  </a:endParaRPr>
                </a:p>
              </p:txBody>
            </p:sp>
            <p:sp>
              <p:nvSpPr>
                <p:cNvPr id="44" name="TextBox 8">
                  <a:extLst>
                    <a:ext uri="{FF2B5EF4-FFF2-40B4-BE49-F238E27FC236}">
                      <a16:creationId xmlns:a16="http://schemas.microsoft.com/office/drawing/2014/main" id="{D4911B63-DED7-721D-F27E-88F887809556}"/>
                    </a:ext>
                  </a:extLst>
                </p:cNvPr>
                <p:cNvSpPr txBox="1"/>
                <p:nvPr/>
              </p:nvSpPr>
              <p:spPr>
                <a:xfrm>
                  <a:off x="0" y="-19050"/>
                  <a:ext cx="857212" cy="727046"/>
                </a:xfrm>
                <a:prstGeom prst="rect">
                  <a:avLst/>
                </a:prstGeom>
              </p:spPr>
              <p:txBody>
                <a:bodyPr lIns="50800" tIns="50800" rIns="50800" bIns="50800" rtlCol="0" anchor="ctr"/>
                <a:lstStyle/>
                <a:p>
                  <a:pPr algn="ctr">
                    <a:lnSpc>
                      <a:spcPts val="2240"/>
                    </a:lnSpc>
                  </a:pPr>
                  <a:endParaRPr>
                    <a:latin typeface="Georgia" panose="02040502050405020303" pitchFamily="18" charset="0"/>
                  </a:endParaRPr>
                </a:p>
              </p:txBody>
            </p:sp>
          </p:grpSp>
          <p:sp>
            <p:nvSpPr>
              <p:cNvPr id="9" name="Freeform 10">
                <a:extLst>
                  <a:ext uri="{FF2B5EF4-FFF2-40B4-BE49-F238E27FC236}">
                    <a16:creationId xmlns:a16="http://schemas.microsoft.com/office/drawing/2014/main" id="{CAF3062E-3746-650E-79B8-205B7D0CA677}"/>
                  </a:ext>
                </a:extLst>
              </p:cNvPr>
              <p:cNvSpPr/>
              <p:nvPr/>
            </p:nvSpPr>
            <p:spPr>
              <a:xfrm>
                <a:off x="3470100" y="3535337"/>
                <a:ext cx="1897550" cy="257248"/>
              </a:xfrm>
              <a:custGeom>
                <a:avLst/>
                <a:gdLst/>
                <a:ahLst/>
                <a:cxnLst/>
                <a:rect l="l" t="t" r="r" b="b"/>
                <a:pathLst>
                  <a:path w="2402157" h="925922">
                    <a:moveTo>
                      <a:pt x="0" y="0"/>
                    </a:moveTo>
                    <a:lnTo>
                      <a:pt x="2402157" y="0"/>
                    </a:lnTo>
                    <a:lnTo>
                      <a:pt x="2402157" y="925922"/>
                    </a:lnTo>
                    <a:lnTo>
                      <a:pt x="0" y="925922"/>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IN" dirty="0">
                  <a:latin typeface="Georgia" panose="02040502050405020303" pitchFamily="18" charset="0"/>
                </a:endParaRPr>
              </a:p>
            </p:txBody>
          </p:sp>
          <p:sp>
            <p:nvSpPr>
              <p:cNvPr id="25" name="TextBox 32">
                <a:extLst>
                  <a:ext uri="{FF2B5EF4-FFF2-40B4-BE49-F238E27FC236}">
                    <a16:creationId xmlns:a16="http://schemas.microsoft.com/office/drawing/2014/main" id="{92A2BD90-01FB-4DE1-DC18-75018D8DA8F1}"/>
                  </a:ext>
                </a:extLst>
              </p:cNvPr>
              <p:cNvSpPr txBox="1"/>
              <p:nvPr/>
            </p:nvSpPr>
            <p:spPr>
              <a:xfrm>
                <a:off x="3576979" y="3527423"/>
                <a:ext cx="4850605" cy="260340"/>
              </a:xfrm>
              <a:prstGeom prst="rect">
                <a:avLst/>
              </a:prstGeom>
            </p:spPr>
            <p:txBody>
              <a:bodyPr wrap="square" lIns="0" tIns="0" rIns="0" bIns="0" rtlCol="0" anchor="t">
                <a:spAutoFit/>
              </a:bodyPr>
              <a:lstStyle/>
              <a:p>
                <a:pPr algn="l">
                  <a:lnSpc>
                    <a:spcPts val="2240"/>
                  </a:lnSpc>
                  <a:spcBef>
                    <a:spcPct val="0"/>
                  </a:spcBef>
                </a:pPr>
                <a:r>
                  <a:rPr lang="en-US" sz="1600" b="1" dirty="0">
                    <a:solidFill>
                      <a:srgbClr val="FFFFFF"/>
                    </a:solidFill>
                    <a:latin typeface="Georgia" panose="02040502050405020303" pitchFamily="18" charset="0"/>
                    <a:ea typeface="TT Hoves Bold"/>
                    <a:cs typeface="TT Hoves Bold"/>
                    <a:sym typeface="TT Hoves Bold"/>
                  </a:rPr>
                  <a:t>Mango</a:t>
                </a:r>
              </a:p>
            </p:txBody>
          </p:sp>
          <p:sp>
            <p:nvSpPr>
              <p:cNvPr id="51" name="TextBox 29">
                <a:extLst>
                  <a:ext uri="{FF2B5EF4-FFF2-40B4-BE49-F238E27FC236}">
                    <a16:creationId xmlns:a16="http://schemas.microsoft.com/office/drawing/2014/main" id="{CE76242A-EFB5-EFC3-C6F7-693FAA6E4622}"/>
                  </a:ext>
                </a:extLst>
              </p:cNvPr>
              <p:cNvSpPr txBox="1"/>
              <p:nvPr/>
            </p:nvSpPr>
            <p:spPr>
              <a:xfrm>
                <a:off x="5430199" y="3535338"/>
                <a:ext cx="5629203" cy="1360647"/>
              </a:xfrm>
              <a:prstGeom prst="rect">
                <a:avLst/>
              </a:prstGeom>
            </p:spPr>
            <p:txBody>
              <a:bodyPr wrap="square" lIns="0" tIns="0" rIns="0" bIns="0" rtlCol="0" anchor="t">
                <a:spAutoFit/>
              </a:bodyPr>
              <a:lstStyle/>
              <a:p>
                <a:pPr marL="285750" indent="-285750" algn="l">
                  <a:spcBef>
                    <a:spcPct val="0"/>
                  </a:spcBef>
                  <a:buFont typeface="Arial" panose="020B0604020202020204" pitchFamily="34" charset="0"/>
                  <a:buChar char="•"/>
                </a:pPr>
                <a:r>
                  <a:rPr lang="en-US" sz="1400" dirty="0">
                    <a:solidFill>
                      <a:srgbClr val="000000"/>
                    </a:solidFill>
                    <a:latin typeface="Georgia" panose="02040502050405020303" pitchFamily="18" charset="0"/>
                    <a:ea typeface="TT Hoves"/>
                    <a:cs typeface="TT Hoves"/>
                    <a:sym typeface="TT Hoves"/>
                  </a:rPr>
                  <a:t>Blemished and surplus mangoes can be converted into pulp, puree, and pickles, reducing dependence on volatile fresh market pricing.</a:t>
                </a:r>
              </a:p>
              <a:p>
                <a:pPr marL="285750" indent="-285750" algn="l">
                  <a:spcBef>
                    <a:spcPct val="0"/>
                  </a:spcBef>
                  <a:buFont typeface="Arial" panose="020B0604020202020204" pitchFamily="34" charset="0"/>
                  <a:buChar char="•"/>
                </a:pPr>
                <a:endParaRPr lang="en-US" sz="400" dirty="0">
                  <a:solidFill>
                    <a:srgbClr val="000000"/>
                  </a:solidFill>
                  <a:latin typeface="Georgia" panose="02040502050405020303" pitchFamily="18" charset="0"/>
                  <a:ea typeface="TT Hoves"/>
                  <a:cs typeface="TT Hoves"/>
                  <a:sym typeface="TT Hoves"/>
                </a:endParaRPr>
              </a:p>
              <a:p>
                <a:pPr marL="285750" indent="-285750" algn="l">
                  <a:spcBef>
                    <a:spcPct val="0"/>
                  </a:spcBef>
                  <a:buFont typeface="Arial" panose="020B0604020202020204" pitchFamily="34" charset="0"/>
                  <a:buChar char="•"/>
                </a:pPr>
                <a:r>
                  <a:rPr lang="en-US" sz="1400" dirty="0">
                    <a:solidFill>
                      <a:srgbClr val="000000"/>
                    </a:solidFill>
                    <a:latin typeface="Georgia" panose="02040502050405020303" pitchFamily="18" charset="0"/>
                    <a:ea typeface="TT Hoves"/>
                    <a:cs typeface="TT Hoves"/>
                    <a:sym typeface="TT Hoves"/>
                  </a:rPr>
                  <a:t>The peel, comprising 25–40% of fruit weight, yields pectin, carotenoids, and mango butter for cosmetic and pharmaceutical use, with India-specific biorefinery studies confirming positive net present values for integrated processing.</a:t>
                </a:r>
              </a:p>
            </p:txBody>
          </p:sp>
        </p:grpSp>
      </p:grpSp>
      <p:sp>
        <p:nvSpPr>
          <p:cNvPr id="21" name="TextBox 20">
            <a:extLst>
              <a:ext uri="{FF2B5EF4-FFF2-40B4-BE49-F238E27FC236}">
                <a16:creationId xmlns:a16="http://schemas.microsoft.com/office/drawing/2014/main" id="{BEB22D0F-84D2-89B9-A0CC-B656D2717162}"/>
              </a:ext>
            </a:extLst>
          </p:cNvPr>
          <p:cNvSpPr txBox="1"/>
          <p:nvPr/>
        </p:nvSpPr>
        <p:spPr>
          <a:xfrm>
            <a:off x="685888" y="5828552"/>
            <a:ext cx="10561116" cy="338554"/>
          </a:xfrm>
          <a:prstGeom prst="rect">
            <a:avLst/>
          </a:prstGeom>
          <a:noFill/>
        </p:spPr>
        <p:txBody>
          <a:bodyPr wrap="square" rtlCol="0">
            <a:spAutoFit/>
          </a:bodyPr>
          <a:lstStyle/>
          <a:p>
            <a:r>
              <a:rPr lang="en-US" sz="800" b="1" i="1" dirty="0">
                <a:latin typeface="Georgia" panose="02040502050405020303" pitchFamily="18" charset="0"/>
              </a:rPr>
              <a:t>Sources: </a:t>
            </a:r>
            <a:r>
              <a:rPr lang="en-US" sz="800" b="1" i="1" dirty="0">
                <a:latin typeface="Georgia" panose="02040502050405020303" pitchFamily="18" charset="0"/>
                <a:hlinkClick r:id="rId10"/>
              </a:rPr>
              <a:t>https://www.researchgate.net/publication/237014154_Onion_dehydration_A_review</a:t>
            </a:r>
            <a:r>
              <a:rPr lang="en-US" sz="800" b="1" i="1" dirty="0">
                <a:latin typeface="Georgia" panose="02040502050405020303" pitchFamily="18" charset="0"/>
              </a:rPr>
              <a:t>, </a:t>
            </a:r>
            <a:r>
              <a:rPr lang="en-US" sz="800" b="1" i="1" dirty="0">
                <a:latin typeface="Georgia" panose="02040502050405020303" pitchFamily="18" charset="0"/>
                <a:hlinkClick r:id="rId11"/>
              </a:rPr>
              <a:t>https://www.sciencedirect.com/science/article/abs/pii/S2589014X25000763</a:t>
            </a:r>
            <a:r>
              <a:rPr lang="en-US" sz="800" b="1" i="1" dirty="0">
                <a:latin typeface="Georgia" panose="02040502050405020303" pitchFamily="18" charset="0"/>
              </a:rPr>
              <a:t> , </a:t>
            </a:r>
            <a:r>
              <a:rPr lang="en-US" sz="800" b="1" i="1" dirty="0">
                <a:latin typeface="Georgia" panose="02040502050405020303" pitchFamily="18" charset="0"/>
                <a:hlinkClick r:id="rId12"/>
              </a:rPr>
              <a:t>https://www.nature.com/articles/s41598-025-28141-z</a:t>
            </a:r>
            <a:r>
              <a:rPr lang="en-US" sz="800" b="1" i="1" dirty="0">
                <a:latin typeface="Georgia" panose="02040502050405020303" pitchFamily="18" charset="0"/>
              </a:rPr>
              <a:t> , </a:t>
            </a:r>
            <a:r>
              <a:rPr lang="en-US" sz="800" b="1" i="1" dirty="0">
                <a:latin typeface="Georgia" panose="02040502050405020303" pitchFamily="18" charset="0"/>
                <a:hlinkClick r:id="rId13"/>
              </a:rPr>
              <a:t>https://link.springer.com/article/10.1186/s44316-026-00054-5</a:t>
            </a:r>
            <a:r>
              <a:rPr lang="en-US" sz="800" b="1" i="1" dirty="0">
                <a:latin typeface="Georgia" panose="02040502050405020303" pitchFamily="18" charset="0"/>
              </a:rPr>
              <a:t> </a:t>
            </a:r>
          </a:p>
        </p:txBody>
      </p:sp>
      <p:pic>
        <p:nvPicPr>
          <p:cNvPr id="10" name="Picture 9">
            <a:extLst>
              <a:ext uri="{FF2B5EF4-FFF2-40B4-BE49-F238E27FC236}">
                <a16:creationId xmlns:a16="http://schemas.microsoft.com/office/drawing/2014/main" id="{79826479-562B-A44B-F24A-640DFD48E63C}"/>
              </a:ext>
            </a:extLst>
          </p:cNvPr>
          <p:cNvPicPr>
            <a:picLocks noChangeAspect="1"/>
          </p:cNvPicPr>
          <p:nvPr/>
        </p:nvPicPr>
        <p:blipFill>
          <a:blip r:embed="rId14"/>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19588523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C6CA7-8D19-A95E-05B7-A95FC90C9270}"/>
            </a:ext>
          </a:extLst>
        </p:cNvPr>
        <p:cNvGrpSpPr/>
        <p:nvPr/>
      </p:nvGrpSpPr>
      <p:grpSpPr>
        <a:xfrm>
          <a:off x="0" y="0"/>
          <a:ext cx="0" cy="0"/>
          <a:chOff x="0" y="0"/>
          <a:chExt cx="0" cy="0"/>
        </a:xfrm>
      </p:grpSpPr>
      <p:sp>
        <p:nvSpPr>
          <p:cNvPr id="7" name="Title 21">
            <a:extLst>
              <a:ext uri="{FF2B5EF4-FFF2-40B4-BE49-F238E27FC236}">
                <a16:creationId xmlns:a16="http://schemas.microsoft.com/office/drawing/2014/main" id="{96D3C26C-D01E-3D68-0FE6-71048B1E957A}"/>
              </a:ext>
            </a:extLst>
          </p:cNvPr>
          <p:cNvSpPr txBox="1">
            <a:spLocks/>
          </p:cNvSpPr>
          <p:nvPr/>
        </p:nvSpPr>
        <p:spPr>
          <a:xfrm>
            <a:off x="404992" y="284247"/>
            <a:ext cx="11353800" cy="486159"/>
          </a:xfrm>
          <a:prstGeom prst="rect">
            <a:avLst/>
          </a:prstGeom>
        </p:spPr>
        <p:txBody>
          <a:bodyPr/>
          <a:lstStyle>
            <a:lvl1pPr>
              <a:defRPr>
                <a:latin typeface="+mj-lt"/>
                <a:ea typeface="+mj-ea"/>
                <a:cs typeface="+mj-cs"/>
              </a:defRPr>
            </a:lvl1pPr>
          </a:lstStyle>
          <a:p>
            <a:pPr>
              <a:lnSpc>
                <a:spcPct val="150000"/>
              </a:lnSpc>
              <a:spcAft>
                <a:spcPts val="800"/>
              </a:spcAft>
            </a:pPr>
            <a:r>
              <a:rPr lang="en-IN" sz="2400" b="1" dirty="0">
                <a:solidFill>
                  <a:schemeClr val="bg1"/>
                </a:solidFill>
                <a:latin typeface="Georgia" panose="02040502050405020303" pitchFamily="18" charset="0"/>
              </a:rPr>
              <a:t>Challenge category 7: </a:t>
            </a:r>
            <a:r>
              <a:rPr lang="en-US" sz="2400" b="1" dirty="0">
                <a:solidFill>
                  <a:schemeClr val="bg1"/>
                </a:solidFill>
                <a:latin typeface="Georgia" panose="02040502050405020303" pitchFamily="18" charset="0"/>
              </a:rPr>
              <a:t>Circular economy and loss-to-value solutions</a:t>
            </a:r>
            <a:endParaRPr lang="en-IN" sz="2400" b="1" dirty="0">
              <a:solidFill>
                <a:schemeClr val="bg1"/>
              </a:solidFill>
              <a:latin typeface="Georgia" panose="02040502050405020303" pitchFamily="18" charset="0"/>
            </a:endParaRPr>
          </a:p>
        </p:txBody>
      </p:sp>
      <p:sp>
        <p:nvSpPr>
          <p:cNvPr id="5" name="Slide Number Placeholder 2">
            <a:extLst>
              <a:ext uri="{FF2B5EF4-FFF2-40B4-BE49-F238E27FC236}">
                <a16:creationId xmlns:a16="http://schemas.microsoft.com/office/drawing/2014/main" id="{F9F4B7E8-90EB-FB60-BFA9-A0ED799FDCF3}"/>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26</a:t>
            </a:fld>
            <a:endParaRPr dirty="0">
              <a:latin typeface="Georgia" panose="02040502050405020303" pitchFamily="18" charset="0"/>
            </a:endParaRPr>
          </a:p>
        </p:txBody>
      </p:sp>
      <p:grpSp>
        <p:nvGrpSpPr>
          <p:cNvPr id="3" name="Group 2">
            <a:extLst>
              <a:ext uri="{FF2B5EF4-FFF2-40B4-BE49-F238E27FC236}">
                <a16:creationId xmlns:a16="http://schemas.microsoft.com/office/drawing/2014/main" id="{174026F4-683D-CE2A-B54F-B5F6E749D58F}"/>
              </a:ext>
            </a:extLst>
          </p:cNvPr>
          <p:cNvGrpSpPr/>
          <p:nvPr/>
        </p:nvGrpSpPr>
        <p:grpSpPr>
          <a:xfrm>
            <a:off x="3308637" y="1153909"/>
            <a:ext cx="7920920" cy="1839732"/>
            <a:chOff x="3750309" y="4970468"/>
            <a:chExt cx="7920920" cy="2271381"/>
          </a:xfrm>
        </p:grpSpPr>
        <p:grpSp>
          <p:nvGrpSpPr>
            <p:cNvPr id="4" name="Group 3">
              <a:extLst>
                <a:ext uri="{FF2B5EF4-FFF2-40B4-BE49-F238E27FC236}">
                  <a16:creationId xmlns:a16="http://schemas.microsoft.com/office/drawing/2014/main" id="{D2C5810B-6057-EEE9-AA81-D45AC26BEAB0}"/>
                </a:ext>
              </a:extLst>
            </p:cNvPr>
            <p:cNvGrpSpPr/>
            <p:nvPr/>
          </p:nvGrpSpPr>
          <p:grpSpPr>
            <a:xfrm>
              <a:off x="3750309" y="4970468"/>
              <a:ext cx="7920920" cy="2271381"/>
              <a:chOff x="3750311" y="2881545"/>
              <a:chExt cx="7920920" cy="1700413"/>
            </a:xfrm>
          </p:grpSpPr>
          <p:grpSp>
            <p:nvGrpSpPr>
              <p:cNvPr id="8" name="Group 11">
                <a:extLst>
                  <a:ext uri="{FF2B5EF4-FFF2-40B4-BE49-F238E27FC236}">
                    <a16:creationId xmlns:a16="http://schemas.microsoft.com/office/drawing/2014/main" id="{416DBA28-12A7-2B26-97B3-AF5FDF122C84}"/>
                  </a:ext>
                </a:extLst>
              </p:cNvPr>
              <p:cNvGrpSpPr/>
              <p:nvPr/>
            </p:nvGrpSpPr>
            <p:grpSpPr>
              <a:xfrm>
                <a:off x="3850525" y="2881545"/>
                <a:ext cx="7820706" cy="1700413"/>
                <a:chOff x="0" y="-556902"/>
                <a:chExt cx="2535280" cy="1330181"/>
              </a:xfrm>
            </p:grpSpPr>
            <p:sp>
              <p:nvSpPr>
                <p:cNvPr id="11" name="Freeform 12">
                  <a:extLst>
                    <a:ext uri="{FF2B5EF4-FFF2-40B4-BE49-F238E27FC236}">
                      <a16:creationId xmlns:a16="http://schemas.microsoft.com/office/drawing/2014/main" id="{2A4B8B99-30FA-2187-580C-D60953DFB450}"/>
                    </a:ext>
                  </a:extLst>
                </p:cNvPr>
                <p:cNvSpPr/>
                <p:nvPr/>
              </p:nvSpPr>
              <p:spPr>
                <a:xfrm>
                  <a:off x="0" y="-556902"/>
                  <a:ext cx="2535280" cy="1330181"/>
                </a:xfrm>
                <a:custGeom>
                  <a:avLst/>
                  <a:gdLst/>
                  <a:ahLst/>
                  <a:cxnLst/>
                  <a:rect l="l" t="t" r="r" b="b"/>
                  <a:pathLst>
                    <a:path w="857212" h="707996">
                      <a:moveTo>
                        <a:pt x="59467" y="0"/>
                      </a:moveTo>
                      <a:lnTo>
                        <a:pt x="797745" y="0"/>
                      </a:lnTo>
                      <a:cubicBezTo>
                        <a:pt x="813516" y="0"/>
                        <a:pt x="828642" y="6265"/>
                        <a:pt x="839794" y="17417"/>
                      </a:cubicBezTo>
                      <a:cubicBezTo>
                        <a:pt x="850946" y="28570"/>
                        <a:pt x="857212" y="43695"/>
                        <a:pt x="857212" y="59467"/>
                      </a:cubicBezTo>
                      <a:lnTo>
                        <a:pt x="857212" y="648529"/>
                      </a:lnTo>
                      <a:cubicBezTo>
                        <a:pt x="857212" y="664301"/>
                        <a:pt x="850946" y="679426"/>
                        <a:pt x="839794" y="690579"/>
                      </a:cubicBezTo>
                      <a:cubicBezTo>
                        <a:pt x="828642" y="701731"/>
                        <a:pt x="813516" y="707996"/>
                        <a:pt x="797745" y="707996"/>
                      </a:cubicBezTo>
                      <a:lnTo>
                        <a:pt x="59467" y="707996"/>
                      </a:lnTo>
                      <a:cubicBezTo>
                        <a:pt x="43695" y="707996"/>
                        <a:pt x="28570" y="701731"/>
                        <a:pt x="17417" y="690579"/>
                      </a:cubicBezTo>
                      <a:cubicBezTo>
                        <a:pt x="6265" y="679426"/>
                        <a:pt x="0" y="664301"/>
                        <a:pt x="0" y="648529"/>
                      </a:cubicBezTo>
                      <a:lnTo>
                        <a:pt x="0" y="59467"/>
                      </a:lnTo>
                      <a:cubicBezTo>
                        <a:pt x="0" y="43695"/>
                        <a:pt x="6265" y="28570"/>
                        <a:pt x="17417" y="17417"/>
                      </a:cubicBezTo>
                      <a:cubicBezTo>
                        <a:pt x="28570" y="6265"/>
                        <a:pt x="43695" y="0"/>
                        <a:pt x="59467" y="0"/>
                      </a:cubicBezTo>
                      <a:close/>
                    </a:path>
                  </a:pathLst>
                </a:custGeom>
                <a:solidFill>
                  <a:schemeClr val="bg2">
                    <a:lumMod val="90000"/>
                  </a:schemeClr>
                </a:solidFill>
              </p:spPr>
              <p:txBody>
                <a:bodyPr/>
                <a:lstStyle/>
                <a:p>
                  <a:endParaRPr lang="en-IN">
                    <a:latin typeface="Georgia" panose="02040502050405020303" pitchFamily="18" charset="0"/>
                  </a:endParaRPr>
                </a:p>
              </p:txBody>
            </p:sp>
            <p:sp>
              <p:nvSpPr>
                <p:cNvPr id="13" name="TextBox 13">
                  <a:extLst>
                    <a:ext uri="{FF2B5EF4-FFF2-40B4-BE49-F238E27FC236}">
                      <a16:creationId xmlns:a16="http://schemas.microsoft.com/office/drawing/2014/main" id="{7880D6F0-0D8D-4A22-6E76-C1227C2857FD}"/>
                    </a:ext>
                  </a:extLst>
                </p:cNvPr>
                <p:cNvSpPr txBox="1"/>
                <p:nvPr/>
              </p:nvSpPr>
              <p:spPr>
                <a:xfrm>
                  <a:off x="0" y="-19050"/>
                  <a:ext cx="857212" cy="727046"/>
                </a:xfrm>
                <a:prstGeom prst="rect">
                  <a:avLst/>
                </a:prstGeom>
              </p:spPr>
              <p:txBody>
                <a:bodyPr lIns="50800" tIns="50800" rIns="50800" bIns="50800" rtlCol="0" anchor="ctr"/>
                <a:lstStyle/>
                <a:p>
                  <a:pPr algn="ctr">
                    <a:lnSpc>
                      <a:spcPts val="2240"/>
                    </a:lnSpc>
                  </a:pPr>
                  <a:endParaRPr>
                    <a:latin typeface="Georgia" panose="02040502050405020303" pitchFamily="18" charset="0"/>
                  </a:endParaRPr>
                </a:p>
              </p:txBody>
            </p:sp>
          </p:grpSp>
          <p:sp>
            <p:nvSpPr>
              <p:cNvPr id="9" name="Freeform 14">
                <a:extLst>
                  <a:ext uri="{FF2B5EF4-FFF2-40B4-BE49-F238E27FC236}">
                    <a16:creationId xmlns:a16="http://schemas.microsoft.com/office/drawing/2014/main" id="{BD5ACDCF-8098-038C-5A93-289C50C4DE3D}"/>
                  </a:ext>
                </a:extLst>
              </p:cNvPr>
              <p:cNvSpPr/>
              <p:nvPr/>
            </p:nvSpPr>
            <p:spPr>
              <a:xfrm>
                <a:off x="3750311" y="2927346"/>
                <a:ext cx="1881744" cy="289134"/>
              </a:xfrm>
              <a:custGeom>
                <a:avLst/>
                <a:gdLst/>
                <a:ahLst/>
                <a:cxnLst/>
                <a:rect l="l" t="t" r="r" b="b"/>
                <a:pathLst>
                  <a:path w="2402157" h="925922">
                    <a:moveTo>
                      <a:pt x="0" y="0"/>
                    </a:moveTo>
                    <a:lnTo>
                      <a:pt x="2402157" y="0"/>
                    </a:lnTo>
                    <a:lnTo>
                      <a:pt x="2402157" y="925922"/>
                    </a:lnTo>
                    <a:lnTo>
                      <a:pt x="0" y="92592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latin typeface="Georgia" panose="02040502050405020303" pitchFamily="18" charset="0"/>
                </a:endParaRPr>
              </a:p>
            </p:txBody>
          </p:sp>
          <p:sp>
            <p:nvSpPr>
              <p:cNvPr id="10" name="TextBox 36">
                <a:extLst>
                  <a:ext uri="{FF2B5EF4-FFF2-40B4-BE49-F238E27FC236}">
                    <a16:creationId xmlns:a16="http://schemas.microsoft.com/office/drawing/2014/main" id="{17270692-6AF9-AEDF-0750-42818830D748}"/>
                  </a:ext>
                </a:extLst>
              </p:cNvPr>
              <p:cNvSpPr txBox="1"/>
              <p:nvPr/>
            </p:nvSpPr>
            <p:spPr>
              <a:xfrm>
                <a:off x="3894751" y="2913748"/>
                <a:ext cx="4850603" cy="239488"/>
              </a:xfrm>
              <a:prstGeom prst="rect">
                <a:avLst/>
              </a:prstGeom>
            </p:spPr>
            <p:txBody>
              <a:bodyPr wrap="square" lIns="0" tIns="0" rIns="0" bIns="0" rtlCol="0" anchor="t">
                <a:spAutoFit/>
              </a:bodyPr>
              <a:lstStyle/>
              <a:p>
                <a:pPr algn="l">
                  <a:lnSpc>
                    <a:spcPts val="2240"/>
                  </a:lnSpc>
                  <a:spcBef>
                    <a:spcPct val="0"/>
                  </a:spcBef>
                </a:pPr>
                <a:r>
                  <a:rPr lang="en-US" sz="1600" b="1" dirty="0">
                    <a:solidFill>
                      <a:srgbClr val="FFFFFF"/>
                    </a:solidFill>
                    <a:latin typeface="Georgia" panose="02040502050405020303" pitchFamily="18" charset="0"/>
                    <a:ea typeface="TT Hoves Bold"/>
                    <a:cs typeface="TT Hoves Bold"/>
                    <a:sym typeface="TT Hoves Bold"/>
                  </a:rPr>
                  <a:t>Pomegranate</a:t>
                </a:r>
              </a:p>
            </p:txBody>
          </p:sp>
        </p:grpSp>
        <p:sp>
          <p:nvSpPr>
            <p:cNvPr id="6" name="TextBox 29">
              <a:extLst>
                <a:ext uri="{FF2B5EF4-FFF2-40B4-BE49-F238E27FC236}">
                  <a16:creationId xmlns:a16="http://schemas.microsoft.com/office/drawing/2014/main" id="{49931639-38DE-6C04-9210-AFBA0A07ED18}"/>
                </a:ext>
              </a:extLst>
            </p:cNvPr>
            <p:cNvSpPr txBox="1"/>
            <p:nvPr/>
          </p:nvSpPr>
          <p:spPr>
            <a:xfrm>
              <a:off x="5806815" y="4990251"/>
              <a:ext cx="5629203" cy="2203936"/>
            </a:xfrm>
            <a:prstGeom prst="rect">
              <a:avLst/>
            </a:prstGeom>
          </p:spPr>
          <p:txBody>
            <a:bodyPr wrap="square" lIns="0" tIns="0" rIns="0" bIns="0" rtlCol="0" anchor="t">
              <a:spAutoFit/>
            </a:bodyPr>
            <a:lstStyle/>
            <a:p>
              <a:pPr marL="285750" indent="-285750">
                <a:spcBef>
                  <a:spcPct val="0"/>
                </a:spcBef>
                <a:buFont typeface="Arial" panose="020B0604020202020204" pitchFamily="34" charset="0"/>
                <a:buChar char="•"/>
              </a:pPr>
              <a:r>
                <a:rPr lang="en-US" sz="1400" dirty="0">
                  <a:latin typeface="Georgia" panose="02040502050405020303" pitchFamily="18" charset="0"/>
                </a:rPr>
                <a:t>Cracked and blight-affected pomegranates with no current secondary-use pathway can be juiced or dried, preventing total economic loss for North and Central Karnataka farmers.</a:t>
              </a:r>
            </a:p>
            <a:p>
              <a:pPr marL="285750" indent="-285750">
                <a:spcBef>
                  <a:spcPct val="0"/>
                </a:spcBef>
                <a:buFont typeface="Arial" panose="020B0604020202020204" pitchFamily="34" charset="0"/>
                <a:buChar char="•"/>
              </a:pPr>
              <a:endParaRPr lang="en-US" sz="400" dirty="0">
                <a:latin typeface="Georgia" panose="02040502050405020303" pitchFamily="18" charset="0"/>
              </a:endParaRPr>
            </a:p>
            <a:p>
              <a:pPr marL="285750" indent="-285750">
                <a:spcBef>
                  <a:spcPct val="0"/>
                </a:spcBef>
                <a:buFont typeface="Arial" panose="020B0604020202020204" pitchFamily="34" charset="0"/>
                <a:buChar char="•"/>
              </a:pPr>
              <a:r>
                <a:rPr lang="en-US" sz="1400" dirty="0">
                  <a:latin typeface="Georgia" panose="02040502050405020303" pitchFamily="18" charset="0"/>
                </a:rPr>
                <a:t>The peel, comprising 30 - 40% of fruit weight, contains punicalagin among the highest polyphenol concentrations of any fruit by-product with demonstrated commercial value in pharmaceuticals, food preservation, and natural dyes and a tested model already exists for extracting it at FPO scale without large capital investment.</a:t>
              </a:r>
              <a:endParaRPr lang="en-US" sz="1400" dirty="0">
                <a:solidFill>
                  <a:srgbClr val="000000"/>
                </a:solidFill>
                <a:latin typeface="Georgia" panose="02040502050405020303" pitchFamily="18" charset="0"/>
                <a:ea typeface="TT Hoves"/>
                <a:cs typeface="TT Hoves"/>
                <a:sym typeface="TT Hoves"/>
              </a:endParaRPr>
            </a:p>
          </p:txBody>
        </p:sp>
      </p:grpSp>
      <p:grpSp>
        <p:nvGrpSpPr>
          <p:cNvPr id="32" name="Group 31">
            <a:extLst>
              <a:ext uri="{FF2B5EF4-FFF2-40B4-BE49-F238E27FC236}">
                <a16:creationId xmlns:a16="http://schemas.microsoft.com/office/drawing/2014/main" id="{70C3D5C2-0013-9BA5-455F-729AA52A72C0}"/>
              </a:ext>
            </a:extLst>
          </p:cNvPr>
          <p:cNvGrpSpPr/>
          <p:nvPr/>
        </p:nvGrpSpPr>
        <p:grpSpPr>
          <a:xfrm>
            <a:off x="3383800" y="3065706"/>
            <a:ext cx="7883293" cy="1225851"/>
            <a:chOff x="3466725" y="2806035"/>
            <a:chExt cx="7883293" cy="1454250"/>
          </a:xfrm>
        </p:grpSpPr>
        <p:sp>
          <p:nvSpPr>
            <p:cNvPr id="12" name="Freeform 16">
              <a:extLst>
                <a:ext uri="{FF2B5EF4-FFF2-40B4-BE49-F238E27FC236}">
                  <a16:creationId xmlns:a16="http://schemas.microsoft.com/office/drawing/2014/main" id="{E76D296B-F047-C900-CADA-514D9FE8DDB2}"/>
                </a:ext>
              </a:extLst>
            </p:cNvPr>
            <p:cNvSpPr/>
            <p:nvPr/>
          </p:nvSpPr>
          <p:spPr>
            <a:xfrm>
              <a:off x="3566943" y="2806035"/>
              <a:ext cx="7783075" cy="1454250"/>
            </a:xfrm>
            <a:custGeom>
              <a:avLst/>
              <a:gdLst/>
              <a:ahLst/>
              <a:cxnLst/>
              <a:rect l="l" t="t" r="r" b="b"/>
              <a:pathLst>
                <a:path w="857212" h="707996">
                  <a:moveTo>
                    <a:pt x="59467" y="0"/>
                  </a:moveTo>
                  <a:lnTo>
                    <a:pt x="797745" y="0"/>
                  </a:lnTo>
                  <a:cubicBezTo>
                    <a:pt x="813516" y="0"/>
                    <a:pt x="828642" y="6265"/>
                    <a:pt x="839794" y="17417"/>
                  </a:cubicBezTo>
                  <a:cubicBezTo>
                    <a:pt x="850946" y="28570"/>
                    <a:pt x="857212" y="43695"/>
                    <a:pt x="857212" y="59467"/>
                  </a:cubicBezTo>
                  <a:lnTo>
                    <a:pt x="857212" y="648529"/>
                  </a:lnTo>
                  <a:cubicBezTo>
                    <a:pt x="857212" y="664301"/>
                    <a:pt x="850946" y="679426"/>
                    <a:pt x="839794" y="690579"/>
                  </a:cubicBezTo>
                  <a:cubicBezTo>
                    <a:pt x="828642" y="701731"/>
                    <a:pt x="813516" y="707996"/>
                    <a:pt x="797745" y="707996"/>
                  </a:cubicBezTo>
                  <a:lnTo>
                    <a:pt x="59467" y="707996"/>
                  </a:lnTo>
                  <a:cubicBezTo>
                    <a:pt x="43695" y="707996"/>
                    <a:pt x="28570" y="701731"/>
                    <a:pt x="17417" y="690579"/>
                  </a:cubicBezTo>
                  <a:cubicBezTo>
                    <a:pt x="6265" y="679426"/>
                    <a:pt x="0" y="664301"/>
                    <a:pt x="0" y="648529"/>
                  </a:cubicBezTo>
                  <a:lnTo>
                    <a:pt x="0" y="59467"/>
                  </a:lnTo>
                  <a:cubicBezTo>
                    <a:pt x="0" y="43695"/>
                    <a:pt x="6265" y="28570"/>
                    <a:pt x="17417" y="17417"/>
                  </a:cubicBezTo>
                  <a:cubicBezTo>
                    <a:pt x="28570" y="6265"/>
                    <a:pt x="43695" y="0"/>
                    <a:pt x="59467" y="0"/>
                  </a:cubicBezTo>
                  <a:close/>
                </a:path>
              </a:pathLst>
            </a:custGeom>
            <a:solidFill>
              <a:schemeClr val="bg2">
                <a:lumMod val="90000"/>
              </a:schemeClr>
            </a:solidFill>
          </p:spPr>
          <p:txBody>
            <a:bodyPr/>
            <a:lstStyle/>
            <a:p>
              <a:endParaRPr lang="en-IN" dirty="0">
                <a:latin typeface="Georgia" panose="02040502050405020303" pitchFamily="18" charset="0"/>
              </a:endParaRPr>
            </a:p>
          </p:txBody>
        </p:sp>
        <p:sp>
          <p:nvSpPr>
            <p:cNvPr id="15" name="Freeform 18">
              <a:extLst>
                <a:ext uri="{FF2B5EF4-FFF2-40B4-BE49-F238E27FC236}">
                  <a16:creationId xmlns:a16="http://schemas.microsoft.com/office/drawing/2014/main" id="{E0D27C5F-024A-31F4-EDF4-C53897ECD2DB}"/>
                </a:ext>
              </a:extLst>
            </p:cNvPr>
            <p:cNvSpPr/>
            <p:nvPr/>
          </p:nvSpPr>
          <p:spPr>
            <a:xfrm>
              <a:off x="3466725" y="2851832"/>
              <a:ext cx="1881112" cy="312823"/>
            </a:xfrm>
            <a:custGeom>
              <a:avLst/>
              <a:gdLst/>
              <a:ahLst/>
              <a:cxnLst/>
              <a:rect l="l" t="t" r="r" b="b"/>
              <a:pathLst>
                <a:path w="2402157" h="925922">
                  <a:moveTo>
                    <a:pt x="0" y="0"/>
                  </a:moveTo>
                  <a:lnTo>
                    <a:pt x="2402157" y="0"/>
                  </a:lnTo>
                  <a:lnTo>
                    <a:pt x="2402157" y="925922"/>
                  </a:lnTo>
                  <a:lnTo>
                    <a:pt x="0" y="92592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latin typeface="Georgia" panose="02040502050405020303" pitchFamily="18" charset="0"/>
              </a:endParaRPr>
            </a:p>
          </p:txBody>
        </p:sp>
        <p:sp>
          <p:nvSpPr>
            <p:cNvPr id="30" name="TextBox 39">
              <a:extLst>
                <a:ext uri="{FF2B5EF4-FFF2-40B4-BE49-F238E27FC236}">
                  <a16:creationId xmlns:a16="http://schemas.microsoft.com/office/drawing/2014/main" id="{37FB85EE-B4DF-F87E-EF3A-D3B986F2A2FA}"/>
                </a:ext>
              </a:extLst>
            </p:cNvPr>
            <p:cNvSpPr txBox="1"/>
            <p:nvPr/>
          </p:nvSpPr>
          <p:spPr>
            <a:xfrm>
              <a:off x="3610305" y="2839034"/>
              <a:ext cx="6884318" cy="258725"/>
            </a:xfrm>
            <a:prstGeom prst="rect">
              <a:avLst/>
            </a:prstGeom>
          </p:spPr>
          <p:txBody>
            <a:bodyPr wrap="square" lIns="0" tIns="0" rIns="0" bIns="0" rtlCol="0" anchor="t">
              <a:spAutoFit/>
            </a:bodyPr>
            <a:lstStyle/>
            <a:p>
              <a:pPr algn="l">
                <a:lnSpc>
                  <a:spcPts val="2240"/>
                </a:lnSpc>
                <a:spcBef>
                  <a:spcPct val="0"/>
                </a:spcBef>
              </a:pPr>
              <a:r>
                <a:rPr lang="en-US" sz="1600" b="1" dirty="0">
                  <a:solidFill>
                    <a:srgbClr val="FFFFFF"/>
                  </a:solidFill>
                  <a:latin typeface="Georgia" panose="02040502050405020303" pitchFamily="18" charset="0"/>
                  <a:ea typeface="TT Hoves Bold"/>
                  <a:cs typeface="TT Hoves Bold"/>
                  <a:sym typeface="TT Hoves Bold"/>
                </a:rPr>
                <a:t>Grapes</a:t>
              </a:r>
            </a:p>
          </p:txBody>
        </p:sp>
        <p:sp>
          <p:nvSpPr>
            <p:cNvPr id="16" name="TextBox 29">
              <a:extLst>
                <a:ext uri="{FF2B5EF4-FFF2-40B4-BE49-F238E27FC236}">
                  <a16:creationId xmlns:a16="http://schemas.microsoft.com/office/drawing/2014/main" id="{0B96BBBB-3781-B6FF-297B-B7C47B2B4C18}"/>
                </a:ext>
              </a:extLst>
            </p:cNvPr>
            <p:cNvSpPr txBox="1"/>
            <p:nvPr/>
          </p:nvSpPr>
          <p:spPr>
            <a:xfrm>
              <a:off x="5448056" y="2887742"/>
              <a:ext cx="5629203" cy="1138773"/>
            </a:xfrm>
            <a:prstGeom prst="rect">
              <a:avLst/>
            </a:prstGeom>
          </p:spPr>
          <p:txBody>
            <a:bodyPr wrap="square" lIns="0" tIns="0" rIns="0" bIns="0" rtlCol="0" anchor="t">
              <a:spAutoFit/>
            </a:bodyPr>
            <a:lstStyle/>
            <a:p>
              <a:pPr marL="285750" indent="-285750">
                <a:spcBef>
                  <a:spcPct val="0"/>
                </a:spcBef>
                <a:buFont typeface="Arial" panose="020B0604020202020204" pitchFamily="34" charset="0"/>
                <a:buChar char="•"/>
              </a:pPr>
              <a:r>
                <a:rPr lang="en-US" sz="1400" dirty="0">
                  <a:solidFill>
                    <a:srgbClr val="000000"/>
                  </a:solidFill>
                  <a:latin typeface="Georgia" panose="02040502050405020303" pitchFamily="18" charset="0"/>
                  <a:ea typeface="TT Hoves"/>
                  <a:cs typeface="TT Hoves"/>
                  <a:sym typeface="TT Hoves"/>
                </a:rPr>
                <a:t>Off-grade grapes damaged by gray mold and moisture loss can be converted into raisins and juice.</a:t>
              </a:r>
            </a:p>
            <a:p>
              <a:pPr marL="285750" indent="-285750">
                <a:spcBef>
                  <a:spcPct val="0"/>
                </a:spcBef>
                <a:buFont typeface="Arial" panose="020B0604020202020204" pitchFamily="34" charset="0"/>
                <a:buChar char="•"/>
              </a:pPr>
              <a:endParaRPr lang="en-US" sz="400" dirty="0">
                <a:solidFill>
                  <a:srgbClr val="000000"/>
                </a:solidFill>
                <a:latin typeface="Georgia" panose="02040502050405020303" pitchFamily="18" charset="0"/>
                <a:ea typeface="TT Hoves"/>
                <a:cs typeface="TT Hoves"/>
                <a:sym typeface="TT Hoves"/>
              </a:endParaRPr>
            </a:p>
            <a:p>
              <a:pPr marL="285750" indent="-285750">
                <a:spcBef>
                  <a:spcPct val="0"/>
                </a:spcBef>
                <a:buFont typeface="Arial" panose="020B0604020202020204" pitchFamily="34" charset="0"/>
                <a:buChar char="•"/>
              </a:pPr>
              <a:r>
                <a:rPr lang="en-US" sz="1400" dirty="0">
                  <a:solidFill>
                    <a:srgbClr val="000000"/>
                  </a:solidFill>
                  <a:latin typeface="Georgia" panose="02040502050405020303" pitchFamily="18" charset="0"/>
                  <a:ea typeface="TT Hoves"/>
                  <a:cs typeface="TT Hoves"/>
                  <a:sym typeface="TT Hoves"/>
                </a:rPr>
                <a:t>Grape pomace from pressing yields polyphenols, grape seed oil, and tartaric acid with applications across food, nutraceutical, and pharmaceutical markets.</a:t>
              </a:r>
            </a:p>
          </p:txBody>
        </p:sp>
      </p:grpSp>
      <p:grpSp>
        <p:nvGrpSpPr>
          <p:cNvPr id="33" name="Group 32">
            <a:extLst>
              <a:ext uri="{FF2B5EF4-FFF2-40B4-BE49-F238E27FC236}">
                <a16:creationId xmlns:a16="http://schemas.microsoft.com/office/drawing/2014/main" id="{248448C3-E5D6-996A-D2B2-064469757200}"/>
              </a:ext>
            </a:extLst>
          </p:cNvPr>
          <p:cNvGrpSpPr/>
          <p:nvPr/>
        </p:nvGrpSpPr>
        <p:grpSpPr>
          <a:xfrm>
            <a:off x="3446387" y="4368931"/>
            <a:ext cx="7820706" cy="1225851"/>
            <a:chOff x="3533095" y="4712214"/>
            <a:chExt cx="7820706" cy="1225851"/>
          </a:xfrm>
        </p:grpSpPr>
        <p:grpSp>
          <p:nvGrpSpPr>
            <p:cNvPr id="17" name="Group 16">
              <a:extLst>
                <a:ext uri="{FF2B5EF4-FFF2-40B4-BE49-F238E27FC236}">
                  <a16:creationId xmlns:a16="http://schemas.microsoft.com/office/drawing/2014/main" id="{4A872617-B3DF-EE50-031C-7FA9ABDADFBE}"/>
                </a:ext>
              </a:extLst>
            </p:cNvPr>
            <p:cNvGrpSpPr/>
            <p:nvPr/>
          </p:nvGrpSpPr>
          <p:grpSpPr>
            <a:xfrm>
              <a:off x="3533095" y="4712214"/>
              <a:ext cx="7820706" cy="1225851"/>
              <a:chOff x="3478955" y="4096936"/>
              <a:chExt cx="7595677" cy="1528151"/>
            </a:xfrm>
          </p:grpSpPr>
          <p:sp>
            <p:nvSpPr>
              <p:cNvPr id="18" name="Freeform 16">
                <a:extLst>
                  <a:ext uri="{FF2B5EF4-FFF2-40B4-BE49-F238E27FC236}">
                    <a16:creationId xmlns:a16="http://schemas.microsoft.com/office/drawing/2014/main" id="{33290B7A-B7D0-9E15-5A0E-A68FA66373B2}"/>
                  </a:ext>
                </a:extLst>
              </p:cNvPr>
              <p:cNvSpPr/>
              <p:nvPr/>
            </p:nvSpPr>
            <p:spPr>
              <a:xfrm>
                <a:off x="3579174" y="4096936"/>
                <a:ext cx="7495458" cy="1528151"/>
              </a:xfrm>
              <a:custGeom>
                <a:avLst/>
                <a:gdLst/>
                <a:ahLst/>
                <a:cxnLst/>
                <a:rect l="l" t="t" r="r" b="b"/>
                <a:pathLst>
                  <a:path w="857212" h="707996">
                    <a:moveTo>
                      <a:pt x="59467" y="0"/>
                    </a:moveTo>
                    <a:lnTo>
                      <a:pt x="797745" y="0"/>
                    </a:lnTo>
                    <a:cubicBezTo>
                      <a:pt x="813516" y="0"/>
                      <a:pt x="828642" y="6265"/>
                      <a:pt x="839794" y="17417"/>
                    </a:cubicBezTo>
                    <a:cubicBezTo>
                      <a:pt x="850946" y="28570"/>
                      <a:pt x="857212" y="43695"/>
                      <a:pt x="857212" y="59467"/>
                    </a:cubicBezTo>
                    <a:lnTo>
                      <a:pt x="857212" y="648529"/>
                    </a:lnTo>
                    <a:cubicBezTo>
                      <a:pt x="857212" y="664301"/>
                      <a:pt x="850946" y="679426"/>
                      <a:pt x="839794" y="690579"/>
                    </a:cubicBezTo>
                    <a:cubicBezTo>
                      <a:pt x="828642" y="701731"/>
                      <a:pt x="813516" y="707996"/>
                      <a:pt x="797745" y="707996"/>
                    </a:cubicBezTo>
                    <a:lnTo>
                      <a:pt x="59467" y="707996"/>
                    </a:lnTo>
                    <a:cubicBezTo>
                      <a:pt x="43695" y="707996"/>
                      <a:pt x="28570" y="701731"/>
                      <a:pt x="17417" y="690579"/>
                    </a:cubicBezTo>
                    <a:cubicBezTo>
                      <a:pt x="6265" y="679426"/>
                      <a:pt x="0" y="664301"/>
                      <a:pt x="0" y="648529"/>
                    </a:cubicBezTo>
                    <a:lnTo>
                      <a:pt x="0" y="59467"/>
                    </a:lnTo>
                    <a:cubicBezTo>
                      <a:pt x="0" y="43695"/>
                      <a:pt x="6265" y="28570"/>
                      <a:pt x="17417" y="17417"/>
                    </a:cubicBezTo>
                    <a:cubicBezTo>
                      <a:pt x="28570" y="6265"/>
                      <a:pt x="43695" y="0"/>
                      <a:pt x="59467" y="0"/>
                    </a:cubicBezTo>
                    <a:close/>
                  </a:path>
                </a:pathLst>
              </a:custGeom>
              <a:solidFill>
                <a:schemeClr val="bg2">
                  <a:lumMod val="90000"/>
                </a:schemeClr>
              </a:solidFill>
            </p:spPr>
            <p:txBody>
              <a:bodyPr/>
              <a:lstStyle/>
              <a:p>
                <a:endParaRPr lang="en-IN" dirty="0">
                  <a:latin typeface="Georgia" panose="02040502050405020303" pitchFamily="18" charset="0"/>
                </a:endParaRPr>
              </a:p>
            </p:txBody>
          </p:sp>
          <p:sp>
            <p:nvSpPr>
              <p:cNvPr id="19" name="Freeform 18">
                <a:extLst>
                  <a:ext uri="{FF2B5EF4-FFF2-40B4-BE49-F238E27FC236}">
                    <a16:creationId xmlns:a16="http://schemas.microsoft.com/office/drawing/2014/main" id="{5F7A8665-5D0D-8B29-55FD-68BE97C136B4}"/>
                  </a:ext>
                </a:extLst>
              </p:cNvPr>
              <p:cNvSpPr/>
              <p:nvPr/>
            </p:nvSpPr>
            <p:spPr>
              <a:xfrm>
                <a:off x="3478955" y="4142733"/>
                <a:ext cx="1881111" cy="389968"/>
              </a:xfrm>
              <a:custGeom>
                <a:avLst/>
                <a:gdLst/>
                <a:ahLst/>
                <a:cxnLst/>
                <a:rect l="l" t="t" r="r" b="b"/>
                <a:pathLst>
                  <a:path w="2402157" h="925922">
                    <a:moveTo>
                      <a:pt x="0" y="0"/>
                    </a:moveTo>
                    <a:lnTo>
                      <a:pt x="2402157" y="0"/>
                    </a:lnTo>
                    <a:lnTo>
                      <a:pt x="2402157" y="925922"/>
                    </a:lnTo>
                    <a:lnTo>
                      <a:pt x="0" y="92592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latin typeface="Georgia" panose="02040502050405020303" pitchFamily="18" charset="0"/>
                </a:endParaRPr>
              </a:p>
            </p:txBody>
          </p:sp>
          <p:sp>
            <p:nvSpPr>
              <p:cNvPr id="20" name="TextBox 39">
                <a:extLst>
                  <a:ext uri="{FF2B5EF4-FFF2-40B4-BE49-F238E27FC236}">
                    <a16:creationId xmlns:a16="http://schemas.microsoft.com/office/drawing/2014/main" id="{CB01F096-A161-74DD-332A-E312D0AF9240}"/>
                  </a:ext>
                </a:extLst>
              </p:cNvPr>
              <p:cNvSpPr txBox="1"/>
              <p:nvPr/>
            </p:nvSpPr>
            <p:spPr>
              <a:xfrm>
                <a:off x="3636261" y="4134578"/>
                <a:ext cx="4850182" cy="323008"/>
              </a:xfrm>
              <a:prstGeom prst="rect">
                <a:avLst/>
              </a:prstGeom>
            </p:spPr>
            <p:txBody>
              <a:bodyPr wrap="square" lIns="0" tIns="0" rIns="0" bIns="0" rtlCol="0" anchor="t">
                <a:spAutoFit/>
              </a:bodyPr>
              <a:lstStyle/>
              <a:p>
                <a:pPr algn="l">
                  <a:lnSpc>
                    <a:spcPts val="2240"/>
                  </a:lnSpc>
                  <a:spcBef>
                    <a:spcPct val="0"/>
                  </a:spcBef>
                </a:pPr>
                <a:r>
                  <a:rPr lang="en-US" sz="1600" b="1" dirty="0">
                    <a:solidFill>
                      <a:srgbClr val="FFFFFF"/>
                    </a:solidFill>
                    <a:latin typeface="Georgia" panose="02040502050405020303" pitchFamily="18" charset="0"/>
                    <a:ea typeface="TT Hoves Bold"/>
                    <a:cs typeface="TT Hoves Bold"/>
                    <a:sym typeface="TT Hoves Bold"/>
                  </a:rPr>
                  <a:t>Tomato</a:t>
                </a:r>
              </a:p>
            </p:txBody>
          </p:sp>
        </p:grpSp>
        <p:sp>
          <p:nvSpPr>
            <p:cNvPr id="22" name="TextBox 29">
              <a:extLst>
                <a:ext uri="{FF2B5EF4-FFF2-40B4-BE49-F238E27FC236}">
                  <a16:creationId xmlns:a16="http://schemas.microsoft.com/office/drawing/2014/main" id="{1A3A193A-9AE1-853B-BE53-1F2846017330}"/>
                </a:ext>
              </a:extLst>
            </p:cNvPr>
            <p:cNvSpPr txBox="1"/>
            <p:nvPr/>
          </p:nvSpPr>
          <p:spPr>
            <a:xfrm>
              <a:off x="5515396" y="4757042"/>
              <a:ext cx="5629203" cy="1138773"/>
            </a:xfrm>
            <a:prstGeom prst="rect">
              <a:avLst/>
            </a:prstGeom>
          </p:spPr>
          <p:txBody>
            <a:bodyPr wrap="square" lIns="0" tIns="0" rIns="0" bIns="0" rtlCol="0" anchor="t">
              <a:spAutoFit/>
            </a:bodyPr>
            <a:lstStyle/>
            <a:p>
              <a:pPr marL="285750" indent="-285750">
                <a:spcBef>
                  <a:spcPct val="0"/>
                </a:spcBef>
                <a:buFont typeface="Arial" panose="020B0604020202020204" pitchFamily="34" charset="0"/>
                <a:buChar char="•"/>
              </a:pPr>
              <a:r>
                <a:rPr lang="en-US" sz="1400" dirty="0">
                  <a:solidFill>
                    <a:srgbClr val="000000"/>
                  </a:solidFill>
                  <a:latin typeface="Georgia" panose="02040502050405020303" pitchFamily="18" charset="0"/>
                  <a:ea typeface="TT Hoves"/>
                  <a:cs typeface="TT Hoves"/>
                  <a:sym typeface="TT Hoves"/>
                </a:rPr>
                <a:t>Surplus and damaged tomatoes can be converted into puree, paste, and juice.</a:t>
              </a:r>
            </a:p>
            <a:p>
              <a:pPr marL="285750" indent="-285750">
                <a:spcBef>
                  <a:spcPct val="0"/>
                </a:spcBef>
                <a:buFont typeface="Arial" panose="020B0604020202020204" pitchFamily="34" charset="0"/>
                <a:buChar char="•"/>
              </a:pPr>
              <a:endParaRPr lang="en-US" sz="400" dirty="0">
                <a:solidFill>
                  <a:srgbClr val="000000"/>
                </a:solidFill>
                <a:latin typeface="Georgia" panose="02040502050405020303" pitchFamily="18" charset="0"/>
                <a:ea typeface="TT Hoves"/>
                <a:cs typeface="TT Hoves"/>
                <a:sym typeface="TT Hoves"/>
              </a:endParaRPr>
            </a:p>
            <a:p>
              <a:pPr marL="285750" indent="-285750">
                <a:spcBef>
                  <a:spcPct val="0"/>
                </a:spcBef>
                <a:buFont typeface="Arial" panose="020B0604020202020204" pitchFamily="34" charset="0"/>
                <a:buChar char="•"/>
              </a:pPr>
              <a:r>
                <a:rPr lang="en-US" sz="1400" dirty="0">
                  <a:solidFill>
                    <a:srgbClr val="000000"/>
                  </a:solidFill>
                  <a:latin typeface="Georgia" panose="02040502050405020303" pitchFamily="18" charset="0"/>
                  <a:ea typeface="TT Hoves"/>
                  <a:cs typeface="TT Hoves"/>
                  <a:sym typeface="TT Hoves"/>
                </a:rPr>
                <a:t>Residual biomass can further feed anaerobic digesters for biogas, creating a near-zero-waste processing model suitable for East Karnataka clusters.</a:t>
              </a:r>
            </a:p>
          </p:txBody>
        </p:sp>
      </p:grpSp>
      <p:grpSp>
        <p:nvGrpSpPr>
          <p:cNvPr id="23" name="Group 22">
            <a:extLst>
              <a:ext uri="{FF2B5EF4-FFF2-40B4-BE49-F238E27FC236}">
                <a16:creationId xmlns:a16="http://schemas.microsoft.com/office/drawing/2014/main" id="{79158A8F-49D6-AA6B-30D9-6D61B28588A6}"/>
              </a:ext>
            </a:extLst>
          </p:cNvPr>
          <p:cNvGrpSpPr/>
          <p:nvPr/>
        </p:nvGrpSpPr>
        <p:grpSpPr>
          <a:xfrm>
            <a:off x="727328" y="2272563"/>
            <a:ext cx="2644285" cy="2680437"/>
            <a:chOff x="803802" y="1434363"/>
            <a:chExt cx="4561436" cy="4620920"/>
          </a:xfrm>
        </p:grpSpPr>
        <p:sp>
          <p:nvSpPr>
            <p:cNvPr id="24" name="Freeform 2">
              <a:extLst>
                <a:ext uri="{FF2B5EF4-FFF2-40B4-BE49-F238E27FC236}">
                  <a16:creationId xmlns:a16="http://schemas.microsoft.com/office/drawing/2014/main" id="{B700D432-3D12-7CE6-E58C-CEE244F32895}"/>
                </a:ext>
              </a:extLst>
            </p:cNvPr>
            <p:cNvSpPr/>
            <p:nvPr/>
          </p:nvSpPr>
          <p:spPr>
            <a:xfrm>
              <a:off x="803802" y="1434363"/>
              <a:ext cx="4561436" cy="4620920"/>
            </a:xfrm>
            <a:custGeom>
              <a:avLst/>
              <a:gdLst/>
              <a:ahLst/>
              <a:cxnLst/>
              <a:rect l="l" t="t" r="r" b="b"/>
              <a:pathLst>
                <a:path w="8534270" h="8708439">
                  <a:moveTo>
                    <a:pt x="0" y="0"/>
                  </a:moveTo>
                  <a:lnTo>
                    <a:pt x="8534270" y="0"/>
                  </a:lnTo>
                  <a:lnTo>
                    <a:pt x="8534270" y="8708440"/>
                  </a:lnTo>
                  <a:lnTo>
                    <a:pt x="0" y="8708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dirty="0">
                <a:latin typeface="Georgia" panose="02040502050405020303" pitchFamily="18" charset="0"/>
              </a:endParaRPr>
            </a:p>
          </p:txBody>
        </p:sp>
        <p:grpSp>
          <p:nvGrpSpPr>
            <p:cNvPr id="25" name="Group 24">
              <a:extLst>
                <a:ext uri="{FF2B5EF4-FFF2-40B4-BE49-F238E27FC236}">
                  <a16:creationId xmlns:a16="http://schemas.microsoft.com/office/drawing/2014/main" id="{3EF0F17D-502A-0997-A5DC-00513BDC89C8}"/>
                </a:ext>
              </a:extLst>
            </p:cNvPr>
            <p:cNvGrpSpPr/>
            <p:nvPr/>
          </p:nvGrpSpPr>
          <p:grpSpPr>
            <a:xfrm>
              <a:off x="1235838" y="2155361"/>
              <a:ext cx="3527202" cy="3371565"/>
              <a:chOff x="1235838" y="2155361"/>
              <a:chExt cx="3527202" cy="3371565"/>
            </a:xfrm>
          </p:grpSpPr>
          <p:sp>
            <p:nvSpPr>
              <p:cNvPr id="26" name="Freeform 23">
                <a:extLst>
                  <a:ext uri="{FF2B5EF4-FFF2-40B4-BE49-F238E27FC236}">
                    <a16:creationId xmlns:a16="http://schemas.microsoft.com/office/drawing/2014/main" id="{1B4C44CA-FBC9-28A7-D321-B504D00BE2D1}"/>
                  </a:ext>
                </a:extLst>
              </p:cNvPr>
              <p:cNvSpPr/>
              <p:nvPr/>
            </p:nvSpPr>
            <p:spPr>
              <a:xfrm>
                <a:off x="4436582" y="4392223"/>
                <a:ext cx="326458" cy="324101"/>
              </a:xfrm>
              <a:custGeom>
                <a:avLst/>
                <a:gdLst/>
                <a:ahLst/>
                <a:cxnLst/>
                <a:rect l="l" t="t" r="r" b="b"/>
                <a:pathLst>
                  <a:path w="610791" h="610791">
                    <a:moveTo>
                      <a:pt x="0" y="0"/>
                    </a:moveTo>
                    <a:lnTo>
                      <a:pt x="610791" y="0"/>
                    </a:lnTo>
                    <a:lnTo>
                      <a:pt x="610791" y="610791"/>
                    </a:lnTo>
                    <a:lnTo>
                      <a:pt x="0" y="61079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latin typeface="Georgia" panose="02040502050405020303" pitchFamily="18" charset="0"/>
                </a:endParaRPr>
              </a:p>
            </p:txBody>
          </p:sp>
          <p:sp>
            <p:nvSpPr>
              <p:cNvPr id="27" name="Freeform 24">
                <a:extLst>
                  <a:ext uri="{FF2B5EF4-FFF2-40B4-BE49-F238E27FC236}">
                    <a16:creationId xmlns:a16="http://schemas.microsoft.com/office/drawing/2014/main" id="{0A4A29A3-C4F7-E169-F8EF-2A008BCB76AF}"/>
                  </a:ext>
                </a:extLst>
              </p:cNvPr>
              <p:cNvSpPr/>
              <p:nvPr/>
            </p:nvSpPr>
            <p:spPr>
              <a:xfrm>
                <a:off x="1235838" y="4014712"/>
                <a:ext cx="241847" cy="377511"/>
              </a:xfrm>
              <a:custGeom>
                <a:avLst/>
                <a:gdLst/>
                <a:ahLst/>
                <a:cxnLst/>
                <a:rect l="l" t="t" r="r" b="b"/>
                <a:pathLst>
                  <a:path w="452487" h="711446">
                    <a:moveTo>
                      <a:pt x="0" y="0"/>
                    </a:moveTo>
                    <a:lnTo>
                      <a:pt x="452487" y="0"/>
                    </a:lnTo>
                    <a:lnTo>
                      <a:pt x="452487" y="711445"/>
                    </a:lnTo>
                    <a:lnTo>
                      <a:pt x="0" y="711445"/>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latin typeface="Georgia" panose="02040502050405020303" pitchFamily="18" charset="0"/>
                </a:endParaRPr>
              </a:p>
            </p:txBody>
          </p:sp>
          <p:sp>
            <p:nvSpPr>
              <p:cNvPr id="28" name="Freeform 25">
                <a:extLst>
                  <a:ext uri="{FF2B5EF4-FFF2-40B4-BE49-F238E27FC236}">
                    <a16:creationId xmlns:a16="http://schemas.microsoft.com/office/drawing/2014/main" id="{7A41FBB3-B2A5-1F7D-A1F6-516955F6D491}"/>
                  </a:ext>
                </a:extLst>
              </p:cNvPr>
              <p:cNvSpPr/>
              <p:nvPr/>
            </p:nvSpPr>
            <p:spPr>
              <a:xfrm>
                <a:off x="2715083" y="5299977"/>
                <a:ext cx="228599" cy="226949"/>
              </a:xfrm>
              <a:custGeom>
                <a:avLst/>
                <a:gdLst/>
                <a:ahLst/>
                <a:cxnLst/>
                <a:rect l="l" t="t" r="r" b="b"/>
                <a:pathLst>
                  <a:path w="427700" h="427700">
                    <a:moveTo>
                      <a:pt x="0" y="0"/>
                    </a:moveTo>
                    <a:lnTo>
                      <a:pt x="427700" y="0"/>
                    </a:lnTo>
                    <a:lnTo>
                      <a:pt x="427700" y="427700"/>
                    </a:lnTo>
                    <a:lnTo>
                      <a:pt x="0" y="42770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IN">
                  <a:latin typeface="Georgia" panose="02040502050405020303" pitchFamily="18" charset="0"/>
                </a:endParaRPr>
              </a:p>
            </p:txBody>
          </p:sp>
          <p:sp>
            <p:nvSpPr>
              <p:cNvPr id="29" name="Freeform 26">
                <a:extLst>
                  <a:ext uri="{FF2B5EF4-FFF2-40B4-BE49-F238E27FC236}">
                    <a16:creationId xmlns:a16="http://schemas.microsoft.com/office/drawing/2014/main" id="{F71A8B88-9527-F243-E450-DDB9AF4F6B45}"/>
                  </a:ext>
                </a:extLst>
              </p:cNvPr>
              <p:cNvSpPr/>
              <p:nvPr/>
            </p:nvSpPr>
            <p:spPr>
              <a:xfrm>
                <a:off x="1822940" y="2155361"/>
                <a:ext cx="378454" cy="361376"/>
              </a:xfrm>
              <a:custGeom>
                <a:avLst/>
                <a:gdLst/>
                <a:ahLst/>
                <a:cxnLst/>
                <a:rect l="l" t="t" r="r" b="b"/>
                <a:pathLst>
                  <a:path w="708073" h="681038">
                    <a:moveTo>
                      <a:pt x="0" y="0"/>
                    </a:moveTo>
                    <a:lnTo>
                      <a:pt x="708074" y="0"/>
                    </a:lnTo>
                    <a:lnTo>
                      <a:pt x="708074" y="681038"/>
                    </a:lnTo>
                    <a:lnTo>
                      <a:pt x="0" y="681038"/>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IN" dirty="0">
                  <a:latin typeface="Georgia" panose="02040502050405020303" pitchFamily="18" charset="0"/>
                </a:endParaRPr>
              </a:p>
            </p:txBody>
          </p:sp>
          <p:sp>
            <p:nvSpPr>
              <p:cNvPr id="31" name="Freeform 27">
                <a:extLst>
                  <a:ext uri="{FF2B5EF4-FFF2-40B4-BE49-F238E27FC236}">
                    <a16:creationId xmlns:a16="http://schemas.microsoft.com/office/drawing/2014/main" id="{2E617370-2DAD-089C-569B-7E7993357E70}"/>
                  </a:ext>
                </a:extLst>
              </p:cNvPr>
              <p:cNvSpPr/>
              <p:nvPr/>
            </p:nvSpPr>
            <p:spPr>
              <a:xfrm>
                <a:off x="4280560" y="2464629"/>
                <a:ext cx="319252" cy="362413"/>
              </a:xfrm>
              <a:custGeom>
                <a:avLst/>
                <a:gdLst/>
                <a:ahLst/>
                <a:cxnLst/>
                <a:rect l="l" t="t" r="r" b="b"/>
                <a:pathLst>
                  <a:path w="597308" h="682992">
                    <a:moveTo>
                      <a:pt x="0" y="0"/>
                    </a:moveTo>
                    <a:lnTo>
                      <a:pt x="597307" y="0"/>
                    </a:lnTo>
                    <a:lnTo>
                      <a:pt x="597307" y="682992"/>
                    </a:lnTo>
                    <a:lnTo>
                      <a:pt x="0" y="682992"/>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IN">
                  <a:latin typeface="Georgia" panose="02040502050405020303" pitchFamily="18" charset="0"/>
                </a:endParaRPr>
              </a:p>
            </p:txBody>
          </p:sp>
        </p:grpSp>
      </p:grpSp>
      <p:sp>
        <p:nvSpPr>
          <p:cNvPr id="34" name="TextBox 33">
            <a:extLst>
              <a:ext uri="{FF2B5EF4-FFF2-40B4-BE49-F238E27FC236}">
                <a16:creationId xmlns:a16="http://schemas.microsoft.com/office/drawing/2014/main" id="{EBBDD7B2-D963-27B5-3B15-F1C8F5C987DE}"/>
              </a:ext>
            </a:extLst>
          </p:cNvPr>
          <p:cNvSpPr txBox="1"/>
          <p:nvPr/>
        </p:nvSpPr>
        <p:spPr>
          <a:xfrm>
            <a:off x="685888" y="5828552"/>
            <a:ext cx="10561116" cy="338554"/>
          </a:xfrm>
          <a:prstGeom prst="rect">
            <a:avLst/>
          </a:prstGeom>
          <a:noFill/>
        </p:spPr>
        <p:txBody>
          <a:bodyPr wrap="square" rtlCol="0">
            <a:spAutoFit/>
          </a:bodyPr>
          <a:lstStyle/>
          <a:p>
            <a:r>
              <a:rPr lang="en-US" sz="800" b="1" i="1" dirty="0">
                <a:latin typeface="Georgia" panose="02040502050405020303" pitchFamily="18" charset="0"/>
              </a:rPr>
              <a:t>Sources: </a:t>
            </a:r>
            <a:r>
              <a:rPr lang="en-US" sz="800" b="1" i="1" dirty="0">
                <a:latin typeface="Georgia" panose="02040502050405020303" pitchFamily="18" charset="0"/>
                <a:hlinkClick r:id="rId11"/>
              </a:rPr>
              <a:t>https://pmc.ncbi.nlm.nih.gov/articles/PMC9455765/</a:t>
            </a:r>
            <a:r>
              <a:rPr lang="en-US" sz="800" b="1" i="1" dirty="0">
                <a:latin typeface="Georgia" panose="02040502050405020303" pitchFamily="18" charset="0"/>
              </a:rPr>
              <a:t> , </a:t>
            </a:r>
            <a:r>
              <a:rPr lang="en-US" sz="800" b="1" i="1" dirty="0">
                <a:latin typeface="Georgia" panose="02040502050405020303" pitchFamily="18" charset="0"/>
                <a:hlinkClick r:id="rId12"/>
              </a:rPr>
              <a:t>https://pmc.ncbi.nlm.nih.gov/articles/PMC11767471/</a:t>
            </a:r>
            <a:r>
              <a:rPr lang="en-US" sz="800" b="1" i="1" dirty="0">
                <a:latin typeface="Georgia" panose="02040502050405020303" pitchFamily="18" charset="0"/>
              </a:rPr>
              <a:t> , </a:t>
            </a:r>
            <a:r>
              <a:rPr lang="en-US" sz="800" b="1" i="1" dirty="0">
                <a:latin typeface="Georgia" panose="02040502050405020303" pitchFamily="18" charset="0"/>
                <a:hlinkClick r:id="rId13"/>
              </a:rPr>
              <a:t>https://pmc.ncbi.nlm.nih.gov/articles/PMC11202697/</a:t>
            </a:r>
            <a:r>
              <a:rPr lang="en-US" sz="800" b="1" i="1" dirty="0">
                <a:latin typeface="Georgia" panose="02040502050405020303" pitchFamily="18" charset="0"/>
              </a:rPr>
              <a:t> , </a:t>
            </a:r>
            <a:r>
              <a:rPr lang="en-US" sz="800" b="1" i="1" dirty="0">
                <a:latin typeface="Georgia" panose="02040502050405020303" pitchFamily="18" charset="0"/>
                <a:hlinkClick r:id="rId14"/>
              </a:rPr>
              <a:t>https://pubs.acs.org/doi/10.1021/acs.iecr.4c00125</a:t>
            </a:r>
            <a:r>
              <a:rPr lang="en-US" sz="800" b="1" i="1" dirty="0">
                <a:latin typeface="Georgia" panose="02040502050405020303" pitchFamily="18" charset="0"/>
              </a:rPr>
              <a:t> </a:t>
            </a:r>
          </a:p>
        </p:txBody>
      </p:sp>
      <p:pic>
        <p:nvPicPr>
          <p:cNvPr id="14" name="Picture 13">
            <a:extLst>
              <a:ext uri="{FF2B5EF4-FFF2-40B4-BE49-F238E27FC236}">
                <a16:creationId xmlns:a16="http://schemas.microsoft.com/office/drawing/2014/main" id="{4CD86B08-C664-D005-F7A9-4AAF5D90848F}"/>
              </a:ext>
            </a:extLst>
          </p:cNvPr>
          <p:cNvPicPr>
            <a:picLocks noChangeAspect="1"/>
          </p:cNvPicPr>
          <p:nvPr/>
        </p:nvPicPr>
        <p:blipFill>
          <a:blip r:embed="rId15"/>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21534296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56E13-514A-2FF2-57C9-3B1C28B2E71E}"/>
            </a:ext>
          </a:extLst>
        </p:cNvPr>
        <p:cNvGrpSpPr/>
        <p:nvPr/>
      </p:nvGrpSpPr>
      <p:grpSpPr>
        <a:xfrm>
          <a:off x="0" y="0"/>
          <a:ext cx="0" cy="0"/>
          <a:chOff x="0" y="0"/>
          <a:chExt cx="0" cy="0"/>
        </a:xfrm>
      </p:grpSpPr>
      <p:sp>
        <p:nvSpPr>
          <p:cNvPr id="7" name="Title 21">
            <a:extLst>
              <a:ext uri="{FF2B5EF4-FFF2-40B4-BE49-F238E27FC236}">
                <a16:creationId xmlns:a16="http://schemas.microsoft.com/office/drawing/2014/main" id="{A55CB4E7-FB15-E36A-FEC9-340057F8132F}"/>
              </a:ext>
            </a:extLst>
          </p:cNvPr>
          <p:cNvSpPr txBox="1">
            <a:spLocks/>
          </p:cNvSpPr>
          <p:nvPr/>
        </p:nvSpPr>
        <p:spPr>
          <a:xfrm>
            <a:off x="404992" y="284247"/>
            <a:ext cx="11353800" cy="486159"/>
          </a:xfrm>
          <a:prstGeom prst="rect">
            <a:avLst/>
          </a:prstGeom>
        </p:spPr>
        <p:txBody>
          <a:bodyPr/>
          <a:lstStyle>
            <a:lvl1pPr>
              <a:defRPr>
                <a:latin typeface="+mj-lt"/>
                <a:ea typeface="+mj-ea"/>
                <a:cs typeface="+mj-cs"/>
              </a:defRPr>
            </a:lvl1pPr>
          </a:lstStyle>
          <a:p>
            <a:pPr>
              <a:lnSpc>
                <a:spcPct val="150000"/>
              </a:lnSpc>
              <a:spcAft>
                <a:spcPts val="800"/>
              </a:spcAft>
            </a:pPr>
            <a:r>
              <a:rPr lang="en-IN" sz="2400" b="1" dirty="0">
                <a:solidFill>
                  <a:schemeClr val="bg1"/>
                </a:solidFill>
                <a:latin typeface="Georgia" panose="02040502050405020303" pitchFamily="18" charset="0"/>
              </a:rPr>
              <a:t>Challenge category 7: </a:t>
            </a:r>
            <a:r>
              <a:rPr lang="en-US" sz="2400" b="1" dirty="0">
                <a:solidFill>
                  <a:schemeClr val="bg1"/>
                </a:solidFill>
                <a:latin typeface="Georgia" panose="02040502050405020303" pitchFamily="18" charset="0"/>
              </a:rPr>
              <a:t>Circular economy and loss-to-value solutions</a:t>
            </a:r>
            <a:endParaRPr lang="en-IN" sz="2400" b="1" dirty="0">
              <a:solidFill>
                <a:schemeClr val="bg1"/>
              </a:solidFill>
              <a:latin typeface="Georgia" panose="02040502050405020303" pitchFamily="18" charset="0"/>
            </a:endParaRPr>
          </a:p>
        </p:txBody>
      </p:sp>
      <p:sp>
        <p:nvSpPr>
          <p:cNvPr id="5" name="Slide Number Placeholder 2">
            <a:extLst>
              <a:ext uri="{FF2B5EF4-FFF2-40B4-BE49-F238E27FC236}">
                <a16:creationId xmlns:a16="http://schemas.microsoft.com/office/drawing/2014/main" id="{79DD2C64-B2F6-F027-62F7-8C29A96207B2}"/>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27</a:t>
            </a:fld>
            <a:endParaRPr dirty="0">
              <a:latin typeface="Georgia" panose="02040502050405020303" pitchFamily="18" charset="0"/>
            </a:endParaRPr>
          </a:p>
        </p:txBody>
      </p:sp>
      <p:grpSp>
        <p:nvGrpSpPr>
          <p:cNvPr id="31" name="Group 30">
            <a:extLst>
              <a:ext uri="{FF2B5EF4-FFF2-40B4-BE49-F238E27FC236}">
                <a16:creationId xmlns:a16="http://schemas.microsoft.com/office/drawing/2014/main" id="{8F2660A4-2A4F-C335-B338-B03BC08D06E3}"/>
              </a:ext>
            </a:extLst>
          </p:cNvPr>
          <p:cNvGrpSpPr/>
          <p:nvPr/>
        </p:nvGrpSpPr>
        <p:grpSpPr>
          <a:xfrm>
            <a:off x="3429000" y="1844230"/>
            <a:ext cx="7924799" cy="3489770"/>
            <a:chOff x="3429000" y="1006030"/>
            <a:chExt cx="7924799" cy="3489770"/>
          </a:xfrm>
        </p:grpSpPr>
        <p:grpSp>
          <p:nvGrpSpPr>
            <p:cNvPr id="16" name="Group 15">
              <a:extLst>
                <a:ext uri="{FF2B5EF4-FFF2-40B4-BE49-F238E27FC236}">
                  <a16:creationId xmlns:a16="http://schemas.microsoft.com/office/drawing/2014/main" id="{FBEA78A4-EC0D-334C-7D0C-39F8ED972E76}"/>
                </a:ext>
              </a:extLst>
            </p:cNvPr>
            <p:cNvGrpSpPr/>
            <p:nvPr/>
          </p:nvGrpSpPr>
          <p:grpSpPr>
            <a:xfrm>
              <a:off x="3429000" y="1006030"/>
              <a:ext cx="7924799" cy="1508569"/>
              <a:chOff x="3492506" y="4770101"/>
              <a:chExt cx="7924799" cy="1508569"/>
            </a:xfrm>
          </p:grpSpPr>
          <p:grpSp>
            <p:nvGrpSpPr>
              <p:cNvPr id="51" name="Group 50">
                <a:extLst>
                  <a:ext uri="{FF2B5EF4-FFF2-40B4-BE49-F238E27FC236}">
                    <a16:creationId xmlns:a16="http://schemas.microsoft.com/office/drawing/2014/main" id="{613D653A-33D4-C795-46EB-62F7F1A5D4E2}"/>
                  </a:ext>
                </a:extLst>
              </p:cNvPr>
              <p:cNvGrpSpPr/>
              <p:nvPr/>
            </p:nvGrpSpPr>
            <p:grpSpPr>
              <a:xfrm>
                <a:off x="3492506" y="4770101"/>
                <a:ext cx="7924799" cy="1508569"/>
                <a:chOff x="1728581" y="4178376"/>
                <a:chExt cx="7924799" cy="2068175"/>
              </a:xfrm>
            </p:grpSpPr>
            <p:sp>
              <p:nvSpPr>
                <p:cNvPr id="69" name="Freeform 16">
                  <a:extLst>
                    <a:ext uri="{FF2B5EF4-FFF2-40B4-BE49-F238E27FC236}">
                      <a16:creationId xmlns:a16="http://schemas.microsoft.com/office/drawing/2014/main" id="{9A83E96F-D789-7F05-C366-8D8B4EEE86E8}"/>
                    </a:ext>
                  </a:extLst>
                </p:cNvPr>
                <p:cNvSpPr/>
                <p:nvPr/>
              </p:nvSpPr>
              <p:spPr>
                <a:xfrm>
                  <a:off x="1828799" y="4178376"/>
                  <a:ext cx="7824581" cy="2068175"/>
                </a:xfrm>
                <a:custGeom>
                  <a:avLst/>
                  <a:gdLst/>
                  <a:ahLst/>
                  <a:cxnLst/>
                  <a:rect l="l" t="t" r="r" b="b"/>
                  <a:pathLst>
                    <a:path w="857212" h="707996">
                      <a:moveTo>
                        <a:pt x="59467" y="0"/>
                      </a:moveTo>
                      <a:lnTo>
                        <a:pt x="797745" y="0"/>
                      </a:lnTo>
                      <a:cubicBezTo>
                        <a:pt x="813516" y="0"/>
                        <a:pt x="828642" y="6265"/>
                        <a:pt x="839794" y="17417"/>
                      </a:cubicBezTo>
                      <a:cubicBezTo>
                        <a:pt x="850946" y="28570"/>
                        <a:pt x="857212" y="43695"/>
                        <a:pt x="857212" y="59467"/>
                      </a:cubicBezTo>
                      <a:lnTo>
                        <a:pt x="857212" y="648529"/>
                      </a:lnTo>
                      <a:cubicBezTo>
                        <a:pt x="857212" y="664301"/>
                        <a:pt x="850946" y="679426"/>
                        <a:pt x="839794" y="690579"/>
                      </a:cubicBezTo>
                      <a:cubicBezTo>
                        <a:pt x="828642" y="701731"/>
                        <a:pt x="813516" y="707996"/>
                        <a:pt x="797745" y="707996"/>
                      </a:cubicBezTo>
                      <a:lnTo>
                        <a:pt x="59467" y="707996"/>
                      </a:lnTo>
                      <a:cubicBezTo>
                        <a:pt x="43695" y="707996"/>
                        <a:pt x="28570" y="701731"/>
                        <a:pt x="17417" y="690579"/>
                      </a:cubicBezTo>
                      <a:cubicBezTo>
                        <a:pt x="6265" y="679426"/>
                        <a:pt x="0" y="664301"/>
                        <a:pt x="0" y="648529"/>
                      </a:cubicBezTo>
                      <a:lnTo>
                        <a:pt x="0" y="59467"/>
                      </a:lnTo>
                      <a:cubicBezTo>
                        <a:pt x="0" y="43695"/>
                        <a:pt x="6265" y="28570"/>
                        <a:pt x="17417" y="17417"/>
                      </a:cubicBezTo>
                      <a:cubicBezTo>
                        <a:pt x="28570" y="6265"/>
                        <a:pt x="43695" y="0"/>
                        <a:pt x="59467" y="0"/>
                      </a:cubicBezTo>
                      <a:close/>
                    </a:path>
                  </a:pathLst>
                </a:custGeom>
                <a:solidFill>
                  <a:schemeClr val="bg2">
                    <a:lumMod val="90000"/>
                  </a:schemeClr>
                </a:solidFill>
              </p:spPr>
              <p:txBody>
                <a:bodyPr/>
                <a:lstStyle/>
                <a:p>
                  <a:endParaRPr lang="en-IN" dirty="0">
                    <a:latin typeface="Georgia" panose="02040502050405020303" pitchFamily="18" charset="0"/>
                  </a:endParaRPr>
                </a:p>
              </p:txBody>
            </p:sp>
            <p:sp>
              <p:nvSpPr>
                <p:cNvPr id="70" name="Freeform 18">
                  <a:extLst>
                    <a:ext uri="{FF2B5EF4-FFF2-40B4-BE49-F238E27FC236}">
                      <a16:creationId xmlns:a16="http://schemas.microsoft.com/office/drawing/2014/main" id="{6E9D84D8-5E23-6135-E413-5DD2C08BB64F}"/>
                    </a:ext>
                  </a:extLst>
                </p:cNvPr>
                <p:cNvSpPr/>
                <p:nvPr/>
              </p:nvSpPr>
              <p:spPr>
                <a:xfrm>
                  <a:off x="1728581" y="4241161"/>
                  <a:ext cx="1881111" cy="464141"/>
                </a:xfrm>
                <a:custGeom>
                  <a:avLst/>
                  <a:gdLst/>
                  <a:ahLst/>
                  <a:cxnLst/>
                  <a:rect l="l" t="t" r="r" b="b"/>
                  <a:pathLst>
                    <a:path w="2402157" h="925922">
                      <a:moveTo>
                        <a:pt x="0" y="0"/>
                      </a:moveTo>
                      <a:lnTo>
                        <a:pt x="2402157" y="0"/>
                      </a:lnTo>
                      <a:lnTo>
                        <a:pt x="2402157" y="925922"/>
                      </a:lnTo>
                      <a:lnTo>
                        <a:pt x="0" y="92592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latin typeface="Georgia" panose="02040502050405020303" pitchFamily="18" charset="0"/>
                  </a:endParaRPr>
                </a:p>
              </p:txBody>
            </p:sp>
          </p:grpSp>
          <p:sp>
            <p:nvSpPr>
              <p:cNvPr id="52" name="TextBox 39">
                <a:extLst>
                  <a:ext uri="{FF2B5EF4-FFF2-40B4-BE49-F238E27FC236}">
                    <a16:creationId xmlns:a16="http://schemas.microsoft.com/office/drawing/2014/main" id="{D8371F8B-8666-0CC9-F9C0-7D846E239A7A}"/>
                  </a:ext>
                </a:extLst>
              </p:cNvPr>
              <p:cNvSpPr txBox="1"/>
              <p:nvPr/>
            </p:nvSpPr>
            <p:spPr>
              <a:xfrm>
                <a:off x="3645764" y="4829712"/>
                <a:ext cx="4850182" cy="258725"/>
              </a:xfrm>
              <a:prstGeom prst="rect">
                <a:avLst/>
              </a:prstGeom>
            </p:spPr>
            <p:txBody>
              <a:bodyPr wrap="square" lIns="0" tIns="0" rIns="0" bIns="0" rtlCol="0" anchor="t">
                <a:spAutoFit/>
              </a:bodyPr>
              <a:lstStyle/>
              <a:p>
                <a:pPr algn="l">
                  <a:lnSpc>
                    <a:spcPts val="2240"/>
                  </a:lnSpc>
                  <a:spcBef>
                    <a:spcPct val="0"/>
                  </a:spcBef>
                </a:pPr>
                <a:r>
                  <a:rPr lang="en-US" sz="1600" b="1" dirty="0">
                    <a:solidFill>
                      <a:srgbClr val="FFFFFF"/>
                    </a:solidFill>
                    <a:latin typeface="Georgia" panose="02040502050405020303" pitchFamily="18" charset="0"/>
                    <a:ea typeface="TT Hoves Bold"/>
                    <a:cs typeface="TT Hoves Bold"/>
                    <a:sym typeface="TT Hoves Bold"/>
                  </a:rPr>
                  <a:t>Pineapple</a:t>
                </a:r>
              </a:p>
            </p:txBody>
          </p:sp>
        </p:grpSp>
        <p:grpSp>
          <p:nvGrpSpPr>
            <p:cNvPr id="19" name="Group 18">
              <a:extLst>
                <a:ext uri="{FF2B5EF4-FFF2-40B4-BE49-F238E27FC236}">
                  <a16:creationId xmlns:a16="http://schemas.microsoft.com/office/drawing/2014/main" id="{7A232E91-5FB9-18D5-6D42-2134FC0AAFE4}"/>
                </a:ext>
              </a:extLst>
            </p:cNvPr>
            <p:cNvGrpSpPr/>
            <p:nvPr/>
          </p:nvGrpSpPr>
          <p:grpSpPr>
            <a:xfrm>
              <a:off x="3433011" y="2647710"/>
              <a:ext cx="7920787" cy="1848090"/>
              <a:chOff x="3517682" y="5426664"/>
              <a:chExt cx="7920787" cy="1848090"/>
            </a:xfrm>
          </p:grpSpPr>
          <p:grpSp>
            <p:nvGrpSpPr>
              <p:cNvPr id="56" name="Group 55">
                <a:extLst>
                  <a:ext uri="{FF2B5EF4-FFF2-40B4-BE49-F238E27FC236}">
                    <a16:creationId xmlns:a16="http://schemas.microsoft.com/office/drawing/2014/main" id="{2E71C946-10E7-837C-BEE5-A777A5C62FD0}"/>
                  </a:ext>
                </a:extLst>
              </p:cNvPr>
              <p:cNvGrpSpPr/>
              <p:nvPr/>
            </p:nvGrpSpPr>
            <p:grpSpPr>
              <a:xfrm>
                <a:off x="3517682" y="5426664"/>
                <a:ext cx="7920787" cy="1848090"/>
                <a:chOff x="1728581" y="4178376"/>
                <a:chExt cx="7920787" cy="2533641"/>
              </a:xfrm>
            </p:grpSpPr>
            <p:sp>
              <p:nvSpPr>
                <p:cNvPr id="67" name="Freeform 16">
                  <a:extLst>
                    <a:ext uri="{FF2B5EF4-FFF2-40B4-BE49-F238E27FC236}">
                      <a16:creationId xmlns:a16="http://schemas.microsoft.com/office/drawing/2014/main" id="{026D6782-2562-7608-0E20-C046DC8619FF}"/>
                    </a:ext>
                  </a:extLst>
                </p:cNvPr>
                <p:cNvSpPr/>
                <p:nvPr/>
              </p:nvSpPr>
              <p:spPr>
                <a:xfrm>
                  <a:off x="1828799" y="4178376"/>
                  <a:ext cx="7820569" cy="2533641"/>
                </a:xfrm>
                <a:custGeom>
                  <a:avLst/>
                  <a:gdLst/>
                  <a:ahLst/>
                  <a:cxnLst/>
                  <a:rect l="l" t="t" r="r" b="b"/>
                  <a:pathLst>
                    <a:path w="857212" h="707996">
                      <a:moveTo>
                        <a:pt x="59467" y="0"/>
                      </a:moveTo>
                      <a:lnTo>
                        <a:pt x="797745" y="0"/>
                      </a:lnTo>
                      <a:cubicBezTo>
                        <a:pt x="813516" y="0"/>
                        <a:pt x="828642" y="6265"/>
                        <a:pt x="839794" y="17417"/>
                      </a:cubicBezTo>
                      <a:cubicBezTo>
                        <a:pt x="850946" y="28570"/>
                        <a:pt x="857212" y="43695"/>
                        <a:pt x="857212" y="59467"/>
                      </a:cubicBezTo>
                      <a:lnTo>
                        <a:pt x="857212" y="648529"/>
                      </a:lnTo>
                      <a:cubicBezTo>
                        <a:pt x="857212" y="664301"/>
                        <a:pt x="850946" y="679426"/>
                        <a:pt x="839794" y="690579"/>
                      </a:cubicBezTo>
                      <a:cubicBezTo>
                        <a:pt x="828642" y="701731"/>
                        <a:pt x="813516" y="707996"/>
                        <a:pt x="797745" y="707996"/>
                      </a:cubicBezTo>
                      <a:lnTo>
                        <a:pt x="59467" y="707996"/>
                      </a:lnTo>
                      <a:cubicBezTo>
                        <a:pt x="43695" y="707996"/>
                        <a:pt x="28570" y="701731"/>
                        <a:pt x="17417" y="690579"/>
                      </a:cubicBezTo>
                      <a:cubicBezTo>
                        <a:pt x="6265" y="679426"/>
                        <a:pt x="0" y="664301"/>
                        <a:pt x="0" y="648529"/>
                      </a:cubicBezTo>
                      <a:lnTo>
                        <a:pt x="0" y="59467"/>
                      </a:lnTo>
                      <a:cubicBezTo>
                        <a:pt x="0" y="43695"/>
                        <a:pt x="6265" y="28570"/>
                        <a:pt x="17417" y="17417"/>
                      </a:cubicBezTo>
                      <a:cubicBezTo>
                        <a:pt x="28570" y="6265"/>
                        <a:pt x="43695" y="0"/>
                        <a:pt x="59467" y="0"/>
                      </a:cubicBezTo>
                      <a:close/>
                    </a:path>
                  </a:pathLst>
                </a:custGeom>
                <a:solidFill>
                  <a:schemeClr val="bg2">
                    <a:lumMod val="90000"/>
                  </a:schemeClr>
                </a:solidFill>
              </p:spPr>
              <p:txBody>
                <a:bodyPr/>
                <a:lstStyle/>
                <a:p>
                  <a:endParaRPr lang="en-IN" dirty="0">
                    <a:latin typeface="Georgia" panose="02040502050405020303" pitchFamily="18" charset="0"/>
                  </a:endParaRPr>
                </a:p>
              </p:txBody>
            </p:sp>
            <p:sp>
              <p:nvSpPr>
                <p:cNvPr id="68" name="Freeform 18">
                  <a:extLst>
                    <a:ext uri="{FF2B5EF4-FFF2-40B4-BE49-F238E27FC236}">
                      <a16:creationId xmlns:a16="http://schemas.microsoft.com/office/drawing/2014/main" id="{6990EFBF-F99E-FD09-C5E9-E3AAAC3D3D74}"/>
                    </a:ext>
                  </a:extLst>
                </p:cNvPr>
                <p:cNvSpPr/>
                <p:nvPr/>
              </p:nvSpPr>
              <p:spPr>
                <a:xfrm>
                  <a:off x="1728581" y="4241160"/>
                  <a:ext cx="1881111" cy="402683"/>
                </a:xfrm>
                <a:custGeom>
                  <a:avLst/>
                  <a:gdLst/>
                  <a:ahLst/>
                  <a:cxnLst/>
                  <a:rect l="l" t="t" r="r" b="b"/>
                  <a:pathLst>
                    <a:path w="2402157" h="925922">
                      <a:moveTo>
                        <a:pt x="0" y="0"/>
                      </a:moveTo>
                      <a:lnTo>
                        <a:pt x="2402157" y="0"/>
                      </a:lnTo>
                      <a:lnTo>
                        <a:pt x="2402157" y="925922"/>
                      </a:lnTo>
                      <a:lnTo>
                        <a:pt x="0" y="92592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latin typeface="Georgia" panose="02040502050405020303" pitchFamily="18" charset="0"/>
                  </a:endParaRPr>
                </a:p>
              </p:txBody>
            </p:sp>
          </p:grpSp>
          <p:sp>
            <p:nvSpPr>
              <p:cNvPr id="61" name="TextBox 39">
                <a:extLst>
                  <a:ext uri="{FF2B5EF4-FFF2-40B4-BE49-F238E27FC236}">
                    <a16:creationId xmlns:a16="http://schemas.microsoft.com/office/drawing/2014/main" id="{A532C3DB-46AB-6CCA-DD07-B689DD70D1D2}"/>
                  </a:ext>
                </a:extLst>
              </p:cNvPr>
              <p:cNvSpPr txBox="1"/>
              <p:nvPr/>
            </p:nvSpPr>
            <p:spPr>
              <a:xfrm>
                <a:off x="3681106" y="5481368"/>
                <a:ext cx="4850182" cy="258725"/>
              </a:xfrm>
              <a:prstGeom prst="rect">
                <a:avLst/>
              </a:prstGeom>
            </p:spPr>
            <p:txBody>
              <a:bodyPr wrap="square" lIns="0" tIns="0" rIns="0" bIns="0" rtlCol="0" anchor="t">
                <a:spAutoFit/>
              </a:bodyPr>
              <a:lstStyle/>
              <a:p>
                <a:pPr algn="l">
                  <a:lnSpc>
                    <a:spcPts val="2240"/>
                  </a:lnSpc>
                  <a:spcBef>
                    <a:spcPct val="0"/>
                  </a:spcBef>
                </a:pPr>
                <a:r>
                  <a:rPr lang="en-US" sz="1600" b="1" dirty="0">
                    <a:solidFill>
                      <a:srgbClr val="FFFFFF"/>
                    </a:solidFill>
                    <a:latin typeface="Georgia" panose="02040502050405020303" pitchFamily="18" charset="0"/>
                    <a:ea typeface="TT Hoves Bold"/>
                    <a:cs typeface="TT Hoves Bold"/>
                    <a:sym typeface="TT Hoves Bold"/>
                  </a:rPr>
                  <a:t>Banana</a:t>
                </a:r>
              </a:p>
            </p:txBody>
          </p:sp>
        </p:grpSp>
        <p:sp>
          <p:nvSpPr>
            <p:cNvPr id="18" name="TextBox 29">
              <a:extLst>
                <a:ext uri="{FF2B5EF4-FFF2-40B4-BE49-F238E27FC236}">
                  <a16:creationId xmlns:a16="http://schemas.microsoft.com/office/drawing/2014/main" id="{AC4FA711-00F3-B966-B657-EC8C19342E2B}"/>
                </a:ext>
              </a:extLst>
            </p:cNvPr>
            <p:cNvSpPr txBox="1"/>
            <p:nvPr/>
          </p:nvSpPr>
          <p:spPr>
            <a:xfrm>
              <a:off x="5361298" y="1085344"/>
              <a:ext cx="5629203" cy="1077218"/>
            </a:xfrm>
            <a:prstGeom prst="rect">
              <a:avLst/>
            </a:prstGeom>
          </p:spPr>
          <p:txBody>
            <a:bodyPr wrap="square" lIns="0" tIns="0" rIns="0" bIns="0" rtlCol="0" anchor="t">
              <a:spAutoFit/>
            </a:bodyPr>
            <a:lstStyle/>
            <a:p>
              <a:pPr marL="285750" indent="-285750">
                <a:spcBef>
                  <a:spcPct val="0"/>
                </a:spcBef>
                <a:buFont typeface="Arial" panose="020B0604020202020204" pitchFamily="34" charset="0"/>
                <a:buChar char="•"/>
              </a:pPr>
              <a:r>
                <a:rPr lang="en-US" sz="1400" dirty="0">
                  <a:solidFill>
                    <a:srgbClr val="000000"/>
                  </a:solidFill>
                  <a:latin typeface="Georgia" panose="02040502050405020303" pitchFamily="18" charset="0"/>
                  <a:ea typeface="TT Hoves"/>
                  <a:cs typeface="TT Hoves"/>
                  <a:sym typeface="TT Hoves"/>
                </a:rPr>
                <a:t>Bromelain extraction from the core and peel which are richer in the enzyme than the edible pulp offers the highest-value circular output, with a zero-waste Queen Pineapple biorefinery study in India confirming simultaneous bromelain recovery and biosorbent production as directly replicable at cluster level.</a:t>
              </a:r>
            </a:p>
          </p:txBody>
        </p:sp>
        <p:sp>
          <p:nvSpPr>
            <p:cNvPr id="20" name="TextBox 29">
              <a:extLst>
                <a:ext uri="{FF2B5EF4-FFF2-40B4-BE49-F238E27FC236}">
                  <a16:creationId xmlns:a16="http://schemas.microsoft.com/office/drawing/2014/main" id="{A143ED54-17C3-DCC2-20D5-A54AE38880A8}"/>
                </a:ext>
              </a:extLst>
            </p:cNvPr>
            <p:cNvSpPr txBox="1"/>
            <p:nvPr/>
          </p:nvSpPr>
          <p:spPr>
            <a:xfrm>
              <a:off x="5401391" y="2750223"/>
              <a:ext cx="5629203" cy="1415772"/>
            </a:xfrm>
            <a:prstGeom prst="rect">
              <a:avLst/>
            </a:prstGeom>
          </p:spPr>
          <p:txBody>
            <a:bodyPr wrap="square" lIns="0" tIns="0" rIns="0" bIns="0" rtlCol="0" anchor="t">
              <a:spAutoFit/>
            </a:bodyPr>
            <a:lstStyle/>
            <a:p>
              <a:pPr marL="285750" indent="-285750">
                <a:spcBef>
                  <a:spcPct val="0"/>
                </a:spcBef>
                <a:buFont typeface="Arial" panose="020B0604020202020204" pitchFamily="34" charset="0"/>
                <a:buChar char="•"/>
              </a:pPr>
              <a:r>
                <a:rPr lang="en-US" sz="1400" dirty="0">
                  <a:solidFill>
                    <a:srgbClr val="000000"/>
                  </a:solidFill>
                  <a:latin typeface="Georgia" panose="02040502050405020303" pitchFamily="18" charset="0"/>
                  <a:ea typeface="TT Hoves"/>
                  <a:cs typeface="TT Hoves"/>
                  <a:sym typeface="TT Hoves"/>
                </a:rPr>
                <a:t>Over-ripe and damaged bananas can be converted into pulp, powder, and chips.</a:t>
              </a:r>
            </a:p>
            <a:p>
              <a:pPr marL="285750" indent="-285750">
                <a:spcBef>
                  <a:spcPct val="0"/>
                </a:spcBef>
                <a:buFont typeface="Arial" panose="020B0604020202020204" pitchFamily="34" charset="0"/>
                <a:buChar char="•"/>
              </a:pPr>
              <a:endParaRPr lang="en-US" sz="400" dirty="0">
                <a:solidFill>
                  <a:srgbClr val="000000"/>
                </a:solidFill>
                <a:latin typeface="Georgia" panose="02040502050405020303" pitchFamily="18" charset="0"/>
                <a:ea typeface="TT Hoves"/>
                <a:cs typeface="TT Hoves"/>
                <a:sym typeface="TT Hoves"/>
              </a:endParaRPr>
            </a:p>
            <a:p>
              <a:pPr marL="285750" indent="-285750">
                <a:spcBef>
                  <a:spcPct val="0"/>
                </a:spcBef>
                <a:buFont typeface="Arial" panose="020B0604020202020204" pitchFamily="34" charset="0"/>
                <a:buChar char="•"/>
              </a:pPr>
              <a:r>
                <a:rPr lang="en-US" sz="1400" dirty="0">
                  <a:solidFill>
                    <a:srgbClr val="000000"/>
                  </a:solidFill>
                  <a:latin typeface="Georgia" panose="02040502050405020303" pitchFamily="18" charset="0"/>
                  <a:ea typeface="TT Hoves"/>
                  <a:cs typeface="TT Hoves"/>
                  <a:sym typeface="TT Hoves"/>
                </a:rPr>
                <a:t>The pseudo stem generating nearly 3 </a:t>
              </a:r>
              <a:r>
                <a:rPr lang="en-US" sz="1400" dirty="0" err="1">
                  <a:solidFill>
                    <a:srgbClr val="000000"/>
                  </a:solidFill>
                  <a:latin typeface="Georgia" panose="02040502050405020303" pitchFamily="18" charset="0"/>
                  <a:ea typeface="TT Hoves"/>
                  <a:cs typeface="TT Hoves"/>
                  <a:sym typeface="TT Hoves"/>
                </a:rPr>
                <a:t>tonnes</a:t>
              </a:r>
              <a:r>
                <a:rPr lang="en-US" sz="1400" dirty="0">
                  <a:solidFill>
                    <a:srgbClr val="000000"/>
                  </a:solidFill>
                  <a:latin typeface="Georgia" panose="02040502050405020303" pitchFamily="18" charset="0"/>
                  <a:ea typeface="TT Hoves"/>
                  <a:cs typeface="TT Hoves"/>
                  <a:sym typeface="TT Hoves"/>
                </a:rPr>
                <a:t> of waste per </a:t>
              </a:r>
              <a:r>
                <a:rPr lang="en-US" sz="1400" dirty="0" err="1">
                  <a:solidFill>
                    <a:srgbClr val="000000"/>
                  </a:solidFill>
                  <a:latin typeface="Georgia" panose="02040502050405020303" pitchFamily="18" charset="0"/>
                  <a:ea typeface="TT Hoves"/>
                  <a:cs typeface="TT Hoves"/>
                  <a:sym typeface="TT Hoves"/>
                </a:rPr>
                <a:t>tonne</a:t>
              </a:r>
              <a:r>
                <a:rPr lang="en-US" sz="1400" dirty="0">
                  <a:solidFill>
                    <a:srgbClr val="000000"/>
                  </a:solidFill>
                  <a:latin typeface="Georgia" panose="02040502050405020303" pitchFamily="18" charset="0"/>
                  <a:ea typeface="TT Hoves"/>
                  <a:cs typeface="TT Hoves"/>
                  <a:sym typeface="TT Hoves"/>
                </a:rPr>
                <a:t> harvested yields biogas, bioethanol, and organic fertilizer. </a:t>
              </a:r>
            </a:p>
            <a:p>
              <a:pPr marL="285750" indent="-285750">
                <a:spcBef>
                  <a:spcPct val="0"/>
                </a:spcBef>
                <a:buFont typeface="Arial" panose="020B0604020202020204" pitchFamily="34" charset="0"/>
                <a:buChar char="•"/>
              </a:pPr>
              <a:endParaRPr lang="en-US" sz="400" dirty="0">
                <a:solidFill>
                  <a:srgbClr val="000000"/>
                </a:solidFill>
                <a:latin typeface="Georgia" panose="02040502050405020303" pitchFamily="18" charset="0"/>
                <a:ea typeface="TT Hoves"/>
                <a:cs typeface="TT Hoves"/>
                <a:sym typeface="TT Hoves"/>
              </a:endParaRPr>
            </a:p>
            <a:p>
              <a:pPr marL="285750" indent="-285750">
                <a:spcBef>
                  <a:spcPct val="0"/>
                </a:spcBef>
                <a:buFont typeface="Arial" panose="020B0604020202020204" pitchFamily="34" charset="0"/>
                <a:buChar char="•"/>
              </a:pPr>
              <a:r>
                <a:rPr lang="en-US" sz="1400" dirty="0">
                  <a:solidFill>
                    <a:srgbClr val="000000"/>
                  </a:solidFill>
                  <a:latin typeface="Georgia" panose="02040502050405020303" pitchFamily="18" charset="0"/>
                  <a:ea typeface="TT Hoves"/>
                  <a:cs typeface="TT Hoves"/>
                  <a:sym typeface="TT Hoves"/>
                </a:rPr>
                <a:t>India leads 35% of global banana pseudo stem valorization research, confirming strong technical readiness for FPO-level adoption.</a:t>
              </a:r>
            </a:p>
          </p:txBody>
        </p:sp>
      </p:grpSp>
      <p:grpSp>
        <p:nvGrpSpPr>
          <p:cNvPr id="21" name="Group 20">
            <a:extLst>
              <a:ext uri="{FF2B5EF4-FFF2-40B4-BE49-F238E27FC236}">
                <a16:creationId xmlns:a16="http://schemas.microsoft.com/office/drawing/2014/main" id="{2D650257-FACF-41DD-1D22-E07EFA3B1E62}"/>
              </a:ext>
            </a:extLst>
          </p:cNvPr>
          <p:cNvGrpSpPr/>
          <p:nvPr/>
        </p:nvGrpSpPr>
        <p:grpSpPr>
          <a:xfrm>
            <a:off x="733528" y="2272563"/>
            <a:ext cx="2644285" cy="2680437"/>
            <a:chOff x="803802" y="1434363"/>
            <a:chExt cx="4561436" cy="4620920"/>
          </a:xfrm>
        </p:grpSpPr>
        <p:sp>
          <p:nvSpPr>
            <p:cNvPr id="22" name="Freeform 2">
              <a:extLst>
                <a:ext uri="{FF2B5EF4-FFF2-40B4-BE49-F238E27FC236}">
                  <a16:creationId xmlns:a16="http://schemas.microsoft.com/office/drawing/2014/main" id="{33D9DE3F-E3CE-AE99-0910-251BB856332D}"/>
                </a:ext>
              </a:extLst>
            </p:cNvPr>
            <p:cNvSpPr/>
            <p:nvPr/>
          </p:nvSpPr>
          <p:spPr>
            <a:xfrm>
              <a:off x="803802" y="1434363"/>
              <a:ext cx="4561436" cy="4620920"/>
            </a:xfrm>
            <a:custGeom>
              <a:avLst/>
              <a:gdLst/>
              <a:ahLst/>
              <a:cxnLst/>
              <a:rect l="l" t="t" r="r" b="b"/>
              <a:pathLst>
                <a:path w="8534270" h="8708439">
                  <a:moveTo>
                    <a:pt x="0" y="0"/>
                  </a:moveTo>
                  <a:lnTo>
                    <a:pt x="8534270" y="0"/>
                  </a:lnTo>
                  <a:lnTo>
                    <a:pt x="8534270" y="8708440"/>
                  </a:lnTo>
                  <a:lnTo>
                    <a:pt x="0" y="870844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dirty="0">
                <a:latin typeface="Georgia" panose="02040502050405020303" pitchFamily="18" charset="0"/>
              </a:endParaRPr>
            </a:p>
          </p:txBody>
        </p:sp>
        <p:grpSp>
          <p:nvGrpSpPr>
            <p:cNvPr id="23" name="Group 22">
              <a:extLst>
                <a:ext uri="{FF2B5EF4-FFF2-40B4-BE49-F238E27FC236}">
                  <a16:creationId xmlns:a16="http://schemas.microsoft.com/office/drawing/2014/main" id="{3D491B13-D7F9-F0B4-D3E1-23A2D82F715E}"/>
                </a:ext>
              </a:extLst>
            </p:cNvPr>
            <p:cNvGrpSpPr/>
            <p:nvPr/>
          </p:nvGrpSpPr>
          <p:grpSpPr>
            <a:xfrm>
              <a:off x="1235838" y="2155361"/>
              <a:ext cx="3527202" cy="3371565"/>
              <a:chOff x="1235838" y="2155361"/>
              <a:chExt cx="3527202" cy="3371565"/>
            </a:xfrm>
          </p:grpSpPr>
          <p:sp>
            <p:nvSpPr>
              <p:cNvPr id="24" name="Freeform 23">
                <a:extLst>
                  <a:ext uri="{FF2B5EF4-FFF2-40B4-BE49-F238E27FC236}">
                    <a16:creationId xmlns:a16="http://schemas.microsoft.com/office/drawing/2014/main" id="{988B8430-CCE4-21E0-F550-F49375C28B9F}"/>
                  </a:ext>
                </a:extLst>
              </p:cNvPr>
              <p:cNvSpPr/>
              <p:nvPr/>
            </p:nvSpPr>
            <p:spPr>
              <a:xfrm>
                <a:off x="4436582" y="4392223"/>
                <a:ext cx="326458" cy="324101"/>
              </a:xfrm>
              <a:custGeom>
                <a:avLst/>
                <a:gdLst/>
                <a:ahLst/>
                <a:cxnLst/>
                <a:rect l="l" t="t" r="r" b="b"/>
                <a:pathLst>
                  <a:path w="610791" h="610791">
                    <a:moveTo>
                      <a:pt x="0" y="0"/>
                    </a:moveTo>
                    <a:lnTo>
                      <a:pt x="610791" y="0"/>
                    </a:lnTo>
                    <a:lnTo>
                      <a:pt x="610791" y="610791"/>
                    </a:lnTo>
                    <a:lnTo>
                      <a:pt x="0" y="61079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latin typeface="Georgia" panose="02040502050405020303" pitchFamily="18" charset="0"/>
                </a:endParaRPr>
              </a:p>
            </p:txBody>
          </p:sp>
          <p:sp>
            <p:nvSpPr>
              <p:cNvPr id="25" name="Freeform 24">
                <a:extLst>
                  <a:ext uri="{FF2B5EF4-FFF2-40B4-BE49-F238E27FC236}">
                    <a16:creationId xmlns:a16="http://schemas.microsoft.com/office/drawing/2014/main" id="{768F67E6-1B94-C716-4943-D23237622492}"/>
                  </a:ext>
                </a:extLst>
              </p:cNvPr>
              <p:cNvSpPr/>
              <p:nvPr/>
            </p:nvSpPr>
            <p:spPr>
              <a:xfrm>
                <a:off x="1235838" y="4014712"/>
                <a:ext cx="241847" cy="377511"/>
              </a:xfrm>
              <a:custGeom>
                <a:avLst/>
                <a:gdLst/>
                <a:ahLst/>
                <a:cxnLst/>
                <a:rect l="l" t="t" r="r" b="b"/>
                <a:pathLst>
                  <a:path w="452487" h="711446">
                    <a:moveTo>
                      <a:pt x="0" y="0"/>
                    </a:moveTo>
                    <a:lnTo>
                      <a:pt x="452487" y="0"/>
                    </a:lnTo>
                    <a:lnTo>
                      <a:pt x="452487" y="711445"/>
                    </a:lnTo>
                    <a:lnTo>
                      <a:pt x="0" y="71144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latin typeface="Georgia" panose="02040502050405020303" pitchFamily="18" charset="0"/>
                </a:endParaRPr>
              </a:p>
            </p:txBody>
          </p:sp>
          <p:sp>
            <p:nvSpPr>
              <p:cNvPr id="26" name="Freeform 25">
                <a:extLst>
                  <a:ext uri="{FF2B5EF4-FFF2-40B4-BE49-F238E27FC236}">
                    <a16:creationId xmlns:a16="http://schemas.microsoft.com/office/drawing/2014/main" id="{DC219FDC-BCCF-0989-A14F-5F6A48939F79}"/>
                  </a:ext>
                </a:extLst>
              </p:cNvPr>
              <p:cNvSpPr/>
              <p:nvPr/>
            </p:nvSpPr>
            <p:spPr>
              <a:xfrm>
                <a:off x="2715083" y="5299977"/>
                <a:ext cx="228599" cy="226949"/>
              </a:xfrm>
              <a:custGeom>
                <a:avLst/>
                <a:gdLst/>
                <a:ahLst/>
                <a:cxnLst/>
                <a:rect l="l" t="t" r="r" b="b"/>
                <a:pathLst>
                  <a:path w="427700" h="427700">
                    <a:moveTo>
                      <a:pt x="0" y="0"/>
                    </a:moveTo>
                    <a:lnTo>
                      <a:pt x="427700" y="0"/>
                    </a:lnTo>
                    <a:lnTo>
                      <a:pt x="427700" y="427700"/>
                    </a:lnTo>
                    <a:lnTo>
                      <a:pt x="0" y="42770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latin typeface="Georgia" panose="02040502050405020303" pitchFamily="18" charset="0"/>
                </a:endParaRPr>
              </a:p>
            </p:txBody>
          </p:sp>
          <p:sp>
            <p:nvSpPr>
              <p:cNvPr id="27" name="Freeform 26">
                <a:extLst>
                  <a:ext uri="{FF2B5EF4-FFF2-40B4-BE49-F238E27FC236}">
                    <a16:creationId xmlns:a16="http://schemas.microsoft.com/office/drawing/2014/main" id="{44A23685-F69D-2604-FD5D-BB54AC14387F}"/>
                  </a:ext>
                </a:extLst>
              </p:cNvPr>
              <p:cNvSpPr/>
              <p:nvPr/>
            </p:nvSpPr>
            <p:spPr>
              <a:xfrm>
                <a:off x="1822940" y="2155361"/>
                <a:ext cx="378454" cy="361376"/>
              </a:xfrm>
              <a:custGeom>
                <a:avLst/>
                <a:gdLst/>
                <a:ahLst/>
                <a:cxnLst/>
                <a:rect l="l" t="t" r="r" b="b"/>
                <a:pathLst>
                  <a:path w="708073" h="681038">
                    <a:moveTo>
                      <a:pt x="0" y="0"/>
                    </a:moveTo>
                    <a:lnTo>
                      <a:pt x="708074" y="0"/>
                    </a:lnTo>
                    <a:lnTo>
                      <a:pt x="708074" y="681038"/>
                    </a:lnTo>
                    <a:lnTo>
                      <a:pt x="0" y="681038"/>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IN" dirty="0">
                  <a:latin typeface="Georgia" panose="02040502050405020303" pitchFamily="18" charset="0"/>
                </a:endParaRPr>
              </a:p>
            </p:txBody>
          </p:sp>
          <p:sp>
            <p:nvSpPr>
              <p:cNvPr id="28" name="Freeform 27">
                <a:extLst>
                  <a:ext uri="{FF2B5EF4-FFF2-40B4-BE49-F238E27FC236}">
                    <a16:creationId xmlns:a16="http://schemas.microsoft.com/office/drawing/2014/main" id="{C6755553-8348-8F7D-0194-47AED292FEAB}"/>
                  </a:ext>
                </a:extLst>
              </p:cNvPr>
              <p:cNvSpPr/>
              <p:nvPr/>
            </p:nvSpPr>
            <p:spPr>
              <a:xfrm>
                <a:off x="4280560" y="2464629"/>
                <a:ext cx="319252" cy="362413"/>
              </a:xfrm>
              <a:custGeom>
                <a:avLst/>
                <a:gdLst/>
                <a:ahLst/>
                <a:cxnLst/>
                <a:rect l="l" t="t" r="r" b="b"/>
                <a:pathLst>
                  <a:path w="597308" h="682992">
                    <a:moveTo>
                      <a:pt x="0" y="0"/>
                    </a:moveTo>
                    <a:lnTo>
                      <a:pt x="597307" y="0"/>
                    </a:lnTo>
                    <a:lnTo>
                      <a:pt x="597307" y="682992"/>
                    </a:lnTo>
                    <a:lnTo>
                      <a:pt x="0" y="682992"/>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IN">
                  <a:latin typeface="Georgia" panose="02040502050405020303" pitchFamily="18" charset="0"/>
                </a:endParaRPr>
              </a:p>
            </p:txBody>
          </p:sp>
        </p:grpSp>
      </p:grpSp>
      <p:sp>
        <p:nvSpPr>
          <p:cNvPr id="29" name="TextBox 28">
            <a:extLst>
              <a:ext uri="{FF2B5EF4-FFF2-40B4-BE49-F238E27FC236}">
                <a16:creationId xmlns:a16="http://schemas.microsoft.com/office/drawing/2014/main" id="{20C6EFEB-B859-7566-B0EF-1AE95F6DED1B}"/>
              </a:ext>
            </a:extLst>
          </p:cNvPr>
          <p:cNvSpPr txBox="1"/>
          <p:nvPr/>
        </p:nvSpPr>
        <p:spPr>
          <a:xfrm>
            <a:off x="685888" y="5828552"/>
            <a:ext cx="10561116" cy="338554"/>
          </a:xfrm>
          <a:prstGeom prst="rect">
            <a:avLst/>
          </a:prstGeom>
          <a:noFill/>
        </p:spPr>
        <p:txBody>
          <a:bodyPr wrap="square" rtlCol="0">
            <a:spAutoFit/>
          </a:bodyPr>
          <a:lstStyle/>
          <a:p>
            <a:r>
              <a:rPr lang="en-US" sz="800" b="1" i="1" dirty="0">
                <a:latin typeface="Georgia" panose="02040502050405020303" pitchFamily="18" charset="0"/>
              </a:rPr>
              <a:t>Sources: </a:t>
            </a:r>
            <a:r>
              <a:rPr lang="en-US" sz="800" b="1" i="1" dirty="0">
                <a:latin typeface="Georgia" panose="02040502050405020303" pitchFamily="18" charset="0"/>
                <a:hlinkClick r:id="rId10"/>
              </a:rPr>
              <a:t>https://pmc.ncbi.nlm.nih.gov/articles/PMC8434441/</a:t>
            </a:r>
            <a:r>
              <a:rPr lang="en-US" sz="800" b="1" i="1" dirty="0">
                <a:latin typeface="Georgia" panose="02040502050405020303" pitchFamily="18" charset="0"/>
              </a:rPr>
              <a:t> , </a:t>
            </a:r>
            <a:r>
              <a:rPr lang="en-US" sz="800" b="1" i="1" dirty="0">
                <a:latin typeface="Georgia" panose="02040502050405020303" pitchFamily="18" charset="0"/>
                <a:hlinkClick r:id="rId11"/>
              </a:rPr>
              <a:t>https://www.sciencedirect.com/science/article/abs/pii/S2352550921003614</a:t>
            </a:r>
            <a:r>
              <a:rPr lang="en-US" sz="800" b="1" i="1" dirty="0">
                <a:latin typeface="Georgia" panose="02040502050405020303" pitchFamily="18" charset="0"/>
              </a:rPr>
              <a:t> , </a:t>
            </a:r>
            <a:r>
              <a:rPr lang="en-US" sz="800" b="1" i="1" dirty="0">
                <a:latin typeface="Georgia" panose="02040502050405020303" pitchFamily="18" charset="0"/>
                <a:hlinkClick r:id="rId12"/>
              </a:rPr>
              <a:t>https://link.springer.com/article/10.1007/s13399-024-05617-y</a:t>
            </a:r>
            <a:r>
              <a:rPr lang="en-US" sz="800" b="1" i="1" dirty="0">
                <a:latin typeface="Georgia" panose="02040502050405020303" pitchFamily="18" charset="0"/>
              </a:rPr>
              <a:t> , </a:t>
            </a:r>
            <a:r>
              <a:rPr lang="en-US" sz="800" b="1" i="1" dirty="0">
                <a:latin typeface="Georgia" panose="02040502050405020303" pitchFamily="18" charset="0"/>
                <a:hlinkClick r:id="rId13"/>
              </a:rPr>
              <a:t>https://www.sciencedirect.com/science/article/pii/S2772753X2300237X</a:t>
            </a:r>
            <a:r>
              <a:rPr lang="en-US" sz="800" b="1" i="1" dirty="0">
                <a:latin typeface="Georgia" panose="02040502050405020303" pitchFamily="18" charset="0"/>
              </a:rPr>
              <a:t> , </a:t>
            </a:r>
            <a:r>
              <a:rPr lang="en-US" sz="800" b="1" i="1" dirty="0">
                <a:latin typeface="Georgia" panose="02040502050405020303" pitchFamily="18" charset="0"/>
                <a:hlinkClick r:id="rId12"/>
              </a:rPr>
              <a:t>https://link.springer.com/article/10.1007/s13399-024-05617-y</a:t>
            </a:r>
            <a:r>
              <a:rPr lang="en-US" sz="800" b="1" i="1" dirty="0">
                <a:latin typeface="Georgia" panose="02040502050405020303" pitchFamily="18" charset="0"/>
              </a:rPr>
              <a:t>  </a:t>
            </a:r>
          </a:p>
        </p:txBody>
      </p:sp>
      <p:pic>
        <p:nvPicPr>
          <p:cNvPr id="3" name="Picture 2">
            <a:extLst>
              <a:ext uri="{FF2B5EF4-FFF2-40B4-BE49-F238E27FC236}">
                <a16:creationId xmlns:a16="http://schemas.microsoft.com/office/drawing/2014/main" id="{2BEAA005-B4CD-8C00-9675-267DFCB66915}"/>
              </a:ext>
            </a:extLst>
          </p:cNvPr>
          <p:cNvPicPr>
            <a:picLocks noChangeAspect="1"/>
          </p:cNvPicPr>
          <p:nvPr/>
        </p:nvPicPr>
        <p:blipFill>
          <a:blip r:embed="rId14"/>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4234039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4BF0F-4C27-5B40-6D74-ED94E92A8720}"/>
            </a:ext>
          </a:extLst>
        </p:cNvPr>
        <p:cNvGrpSpPr/>
        <p:nvPr/>
      </p:nvGrpSpPr>
      <p:grpSpPr>
        <a:xfrm>
          <a:off x="0" y="0"/>
          <a:ext cx="0" cy="0"/>
          <a:chOff x="0" y="0"/>
          <a:chExt cx="0" cy="0"/>
        </a:xfrm>
      </p:grpSpPr>
      <p:sp>
        <p:nvSpPr>
          <p:cNvPr id="7" name="Title 21">
            <a:extLst>
              <a:ext uri="{FF2B5EF4-FFF2-40B4-BE49-F238E27FC236}">
                <a16:creationId xmlns:a16="http://schemas.microsoft.com/office/drawing/2014/main" id="{8FD8A2F9-8933-78DD-EE90-4A32A836A488}"/>
              </a:ext>
            </a:extLst>
          </p:cNvPr>
          <p:cNvSpPr txBox="1">
            <a:spLocks/>
          </p:cNvSpPr>
          <p:nvPr/>
        </p:nvSpPr>
        <p:spPr>
          <a:xfrm>
            <a:off x="457200" y="274170"/>
            <a:ext cx="11353800" cy="486159"/>
          </a:xfrm>
          <a:prstGeom prst="rect">
            <a:avLst/>
          </a:prstGeom>
        </p:spPr>
        <p:txBody>
          <a:bodyPr/>
          <a:lstStyle>
            <a:lvl1pPr>
              <a:defRPr>
                <a:latin typeface="+mj-lt"/>
                <a:ea typeface="+mj-ea"/>
                <a:cs typeface="+mj-cs"/>
              </a:defRPr>
            </a:lvl1pPr>
          </a:lstStyle>
          <a:p>
            <a:pPr>
              <a:lnSpc>
                <a:spcPct val="150000"/>
              </a:lnSpc>
              <a:spcAft>
                <a:spcPts val="800"/>
              </a:spcAft>
            </a:pPr>
            <a:r>
              <a:rPr lang="en-IN" sz="2400" b="1" dirty="0">
                <a:solidFill>
                  <a:schemeClr val="bg1"/>
                </a:solidFill>
                <a:latin typeface="Georgia" panose="02040502050405020303" pitchFamily="18" charset="0"/>
              </a:rPr>
              <a:t>Challenge category 7: </a:t>
            </a:r>
            <a:r>
              <a:rPr lang="en-US" sz="2400" b="1" dirty="0">
                <a:solidFill>
                  <a:schemeClr val="bg1"/>
                </a:solidFill>
                <a:latin typeface="Georgia" panose="02040502050405020303" pitchFamily="18" charset="0"/>
              </a:rPr>
              <a:t>Circular economy and loss-to-value solutions</a:t>
            </a:r>
            <a:endParaRPr lang="en-IN" sz="2400" b="1" dirty="0">
              <a:solidFill>
                <a:schemeClr val="bg1"/>
              </a:solidFill>
              <a:latin typeface="Georgia" panose="02040502050405020303" pitchFamily="18" charset="0"/>
            </a:endParaRPr>
          </a:p>
        </p:txBody>
      </p:sp>
      <p:sp>
        <p:nvSpPr>
          <p:cNvPr id="5" name="Slide Number Placeholder 2">
            <a:extLst>
              <a:ext uri="{FF2B5EF4-FFF2-40B4-BE49-F238E27FC236}">
                <a16:creationId xmlns:a16="http://schemas.microsoft.com/office/drawing/2014/main" id="{DE74E8C2-2603-B126-D6F2-53AD2114E2CC}"/>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28</a:t>
            </a:fld>
            <a:endParaRPr dirty="0">
              <a:latin typeface="Georgia" panose="02040502050405020303" pitchFamily="18" charset="0"/>
            </a:endParaRPr>
          </a:p>
        </p:txBody>
      </p:sp>
      <p:sp>
        <p:nvSpPr>
          <p:cNvPr id="167" name="Rectangle 166">
            <a:extLst>
              <a:ext uri="{FF2B5EF4-FFF2-40B4-BE49-F238E27FC236}">
                <a16:creationId xmlns:a16="http://schemas.microsoft.com/office/drawing/2014/main" id="{DE56D71B-F66C-C69E-F8A9-868A868A9A24}"/>
              </a:ext>
            </a:extLst>
          </p:cNvPr>
          <p:cNvSpPr/>
          <p:nvPr/>
        </p:nvSpPr>
        <p:spPr>
          <a:xfrm>
            <a:off x="558800" y="5620322"/>
            <a:ext cx="5384800" cy="432770"/>
          </a:xfrm>
          <a:prstGeom prst="rect">
            <a:avLst/>
          </a:prstGeom>
          <a:noFill/>
          <a:ln>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i="1" dirty="0">
                <a:solidFill>
                  <a:schemeClr val="tx1"/>
                </a:solidFill>
                <a:latin typeface="Georgia" panose="02040502050405020303" pitchFamily="18" charset="0"/>
              </a:rPr>
              <a:t>Sources: As per the internal data shared by the following departments under Government of Karnataka, as of March 2026:</a:t>
            </a:r>
          </a:p>
          <a:p>
            <a:endParaRPr lang="en-US" sz="300" i="1" dirty="0">
              <a:solidFill>
                <a:schemeClr val="tx1"/>
              </a:solidFill>
              <a:latin typeface="Georgia" panose="02040502050405020303" pitchFamily="18" charset="0"/>
            </a:endParaRPr>
          </a:p>
          <a:p>
            <a:pPr marL="228600" indent="-228600">
              <a:buFont typeface="Arial" panose="020B0604020202020204" pitchFamily="34" charset="0"/>
              <a:buChar char="•"/>
            </a:pPr>
            <a:r>
              <a:rPr lang="en-IN" sz="700" i="1" dirty="0">
                <a:solidFill>
                  <a:schemeClr val="tx1"/>
                </a:solidFill>
                <a:latin typeface="Georgia" panose="02040502050405020303" pitchFamily="18" charset="0"/>
              </a:rPr>
              <a:t>KAPPEC – Processing infrastructure</a:t>
            </a:r>
          </a:p>
          <a:p>
            <a:pPr marL="228600" indent="-228600">
              <a:buFont typeface="Arial" panose="020B0604020202020204" pitchFamily="34" charset="0"/>
              <a:buChar char="•"/>
            </a:pPr>
            <a:r>
              <a:rPr lang="en-US" sz="700" i="1" dirty="0">
                <a:solidFill>
                  <a:schemeClr val="tx1"/>
                </a:solidFill>
                <a:latin typeface="Georgia" panose="02040502050405020303" pitchFamily="18" charset="0"/>
              </a:rPr>
              <a:t>Horticulture crop statistics of Karnataka state at a glance – 2023-24 - Production</a:t>
            </a:r>
            <a:endParaRPr lang="en-IN" sz="700" dirty="0">
              <a:solidFill>
                <a:schemeClr val="tx1"/>
              </a:solidFill>
              <a:latin typeface="Georgia" panose="02040502050405020303" pitchFamily="18" charset="0"/>
            </a:endParaRPr>
          </a:p>
        </p:txBody>
      </p:sp>
      <p:sp>
        <p:nvSpPr>
          <p:cNvPr id="11" name="Text 12">
            <a:extLst>
              <a:ext uri="{FF2B5EF4-FFF2-40B4-BE49-F238E27FC236}">
                <a16:creationId xmlns:a16="http://schemas.microsoft.com/office/drawing/2014/main" id="{02D2B1B8-A549-B632-1755-AA3E7A246C7E}"/>
              </a:ext>
            </a:extLst>
          </p:cNvPr>
          <p:cNvSpPr/>
          <p:nvPr/>
        </p:nvSpPr>
        <p:spPr>
          <a:xfrm>
            <a:off x="533400" y="1147885"/>
            <a:ext cx="10896600" cy="1172267"/>
          </a:xfrm>
          <a:prstGeom prst="rect">
            <a:avLst/>
          </a:prstGeom>
          <a:noFill/>
          <a:ln/>
        </p:spPr>
        <p:txBody>
          <a:bodyPr wrap="square" lIns="16933" tIns="16933" rIns="16933" bIns="16933" rtlCol="0" anchor="t">
            <a:noAutofit/>
          </a:bodyPr>
          <a:lstStyle/>
          <a:p>
            <a:r>
              <a:rPr lang="en-IN" sz="1400" b="1" dirty="0">
                <a:latin typeface="Georgia" panose="02040502050405020303" pitchFamily="18" charset="0"/>
              </a:rPr>
              <a:t>Karnataka produces over 98 lakh MT of key horticulture crops annually, yet local processing units can absorb only a fraction of this output.</a:t>
            </a:r>
            <a:endParaRPr lang="en-IN" sz="1400" dirty="0">
              <a:latin typeface="Georgia" panose="02040502050405020303" pitchFamily="18" charset="0"/>
            </a:endParaRPr>
          </a:p>
          <a:p>
            <a:endParaRPr lang="en-US" sz="1400" b="1" dirty="0">
              <a:latin typeface="Georgia" panose="02040502050405020303" pitchFamily="18" charset="0"/>
            </a:endParaRPr>
          </a:p>
          <a:p>
            <a:r>
              <a:rPr lang="en-US" sz="1400" dirty="0">
                <a:latin typeface="Georgia" panose="02040502050405020303" pitchFamily="18" charset="0"/>
              </a:rPr>
              <a:t>Across all 7 clusters, most produce exits the cluster through fragmented supply chains, resulting in significant resource inefficiencies, avoidable waste, and loss of value across the system.</a:t>
            </a:r>
            <a:endParaRPr lang="en-IN" sz="1400" dirty="0">
              <a:latin typeface="Georgia" panose="02040502050405020303" pitchFamily="18" charset="0"/>
            </a:endParaRPr>
          </a:p>
        </p:txBody>
      </p:sp>
      <p:grpSp>
        <p:nvGrpSpPr>
          <p:cNvPr id="221" name="Group 220">
            <a:extLst>
              <a:ext uri="{FF2B5EF4-FFF2-40B4-BE49-F238E27FC236}">
                <a16:creationId xmlns:a16="http://schemas.microsoft.com/office/drawing/2014/main" id="{0710578E-B3A4-0BE3-06D9-D3863C4D9F68}"/>
              </a:ext>
            </a:extLst>
          </p:cNvPr>
          <p:cNvGrpSpPr/>
          <p:nvPr/>
        </p:nvGrpSpPr>
        <p:grpSpPr>
          <a:xfrm>
            <a:off x="533400" y="2441084"/>
            <a:ext cx="10933471" cy="3058305"/>
            <a:chOff x="533400" y="1251046"/>
            <a:chExt cx="10933471" cy="3058305"/>
          </a:xfrm>
        </p:grpSpPr>
        <p:sp>
          <p:nvSpPr>
            <p:cNvPr id="21" name="Shape 59">
              <a:extLst>
                <a:ext uri="{FF2B5EF4-FFF2-40B4-BE49-F238E27FC236}">
                  <a16:creationId xmlns:a16="http://schemas.microsoft.com/office/drawing/2014/main" id="{36DD1DD1-6E29-6F08-4873-6CD13A3C5EAD}"/>
                </a:ext>
              </a:extLst>
            </p:cNvPr>
            <p:cNvSpPr/>
            <p:nvPr/>
          </p:nvSpPr>
          <p:spPr>
            <a:xfrm>
              <a:off x="6830114" y="1251046"/>
              <a:ext cx="1440000" cy="2880000"/>
            </a:xfrm>
            <a:prstGeom prst="roundRect">
              <a:avLst>
                <a:gd name="adj" fmla="val 2506"/>
              </a:avLst>
            </a:prstGeom>
            <a:solidFill>
              <a:srgbClr val="FFFFFF"/>
            </a:solidFill>
            <a:ln/>
          </p:spPr>
          <p:txBody>
            <a:bodyPr/>
            <a:lstStyle/>
            <a:p>
              <a:endParaRPr lang="en-IN" sz="1200">
                <a:latin typeface="Georgia" panose="02040502050405020303" pitchFamily="18" charset="0"/>
              </a:endParaRPr>
            </a:p>
          </p:txBody>
        </p:sp>
        <p:sp>
          <p:nvSpPr>
            <p:cNvPr id="23" name="Shape 61">
              <a:extLst>
                <a:ext uri="{FF2B5EF4-FFF2-40B4-BE49-F238E27FC236}">
                  <a16:creationId xmlns:a16="http://schemas.microsoft.com/office/drawing/2014/main" id="{D616C9CD-C82F-80AE-F7ED-0A40D480ADF4}"/>
                </a:ext>
              </a:extLst>
            </p:cNvPr>
            <p:cNvSpPr/>
            <p:nvPr/>
          </p:nvSpPr>
          <p:spPr>
            <a:xfrm>
              <a:off x="6830114" y="1251046"/>
              <a:ext cx="1487198" cy="32101"/>
            </a:xfrm>
            <a:prstGeom prst="rect">
              <a:avLst/>
            </a:prstGeom>
            <a:solidFill>
              <a:srgbClr val="0B6E78"/>
            </a:solidFill>
            <a:ln/>
          </p:spPr>
          <p:txBody>
            <a:bodyPr/>
            <a:lstStyle/>
            <a:p>
              <a:endParaRPr lang="en-IN" sz="1200">
                <a:latin typeface="Georgia" panose="02040502050405020303" pitchFamily="18" charset="0"/>
              </a:endParaRPr>
            </a:p>
          </p:txBody>
        </p:sp>
        <p:sp>
          <p:nvSpPr>
            <p:cNvPr id="54" name="Shape 7">
              <a:extLst>
                <a:ext uri="{FF2B5EF4-FFF2-40B4-BE49-F238E27FC236}">
                  <a16:creationId xmlns:a16="http://schemas.microsoft.com/office/drawing/2014/main" id="{7C7F2696-D815-005B-7307-371AA96FE7F3}"/>
                </a:ext>
              </a:extLst>
            </p:cNvPr>
            <p:cNvSpPr/>
            <p:nvPr/>
          </p:nvSpPr>
          <p:spPr>
            <a:xfrm>
              <a:off x="533400" y="1251046"/>
              <a:ext cx="1440000" cy="2880000"/>
            </a:xfrm>
            <a:prstGeom prst="roundRect">
              <a:avLst>
                <a:gd name="adj" fmla="val 2506"/>
              </a:avLst>
            </a:prstGeom>
            <a:solidFill>
              <a:srgbClr val="FFFFFF"/>
            </a:solidFill>
            <a:ln/>
          </p:spPr>
          <p:txBody>
            <a:bodyPr/>
            <a:lstStyle/>
            <a:p>
              <a:endParaRPr lang="en-IN" sz="1200" dirty="0">
                <a:latin typeface="Georgia" panose="02040502050405020303" pitchFamily="18" charset="0"/>
              </a:endParaRPr>
            </a:p>
          </p:txBody>
        </p:sp>
        <p:sp>
          <p:nvSpPr>
            <p:cNvPr id="57" name="Shape 9">
              <a:extLst>
                <a:ext uri="{FF2B5EF4-FFF2-40B4-BE49-F238E27FC236}">
                  <a16:creationId xmlns:a16="http://schemas.microsoft.com/office/drawing/2014/main" id="{8C8D0A65-CFF6-B54C-B5C4-22B1C8AD5F2B}"/>
                </a:ext>
              </a:extLst>
            </p:cNvPr>
            <p:cNvSpPr/>
            <p:nvPr/>
          </p:nvSpPr>
          <p:spPr>
            <a:xfrm>
              <a:off x="533400" y="1251046"/>
              <a:ext cx="1487198" cy="32101"/>
            </a:xfrm>
            <a:prstGeom prst="rect">
              <a:avLst/>
            </a:prstGeom>
            <a:solidFill>
              <a:srgbClr val="0B6E78"/>
            </a:solidFill>
            <a:ln/>
          </p:spPr>
          <p:txBody>
            <a:bodyPr/>
            <a:lstStyle/>
            <a:p>
              <a:endParaRPr lang="en-IN" sz="1200">
                <a:latin typeface="Georgia" panose="02040502050405020303" pitchFamily="18" charset="0"/>
              </a:endParaRPr>
            </a:p>
          </p:txBody>
        </p:sp>
        <p:sp>
          <p:nvSpPr>
            <p:cNvPr id="58" name="Shape 10">
              <a:extLst>
                <a:ext uri="{FF2B5EF4-FFF2-40B4-BE49-F238E27FC236}">
                  <a16:creationId xmlns:a16="http://schemas.microsoft.com/office/drawing/2014/main" id="{C02E17AB-0C59-7D61-3030-8ADAAD9C1285}"/>
                </a:ext>
              </a:extLst>
            </p:cNvPr>
            <p:cNvSpPr/>
            <p:nvPr/>
          </p:nvSpPr>
          <p:spPr>
            <a:xfrm>
              <a:off x="533400" y="1251046"/>
              <a:ext cx="6211" cy="1966184"/>
            </a:xfrm>
            <a:prstGeom prst="rect">
              <a:avLst/>
            </a:prstGeom>
            <a:solidFill>
              <a:srgbClr val="D9D3C3"/>
            </a:solidFill>
            <a:ln/>
          </p:spPr>
          <p:txBody>
            <a:bodyPr/>
            <a:lstStyle/>
            <a:p>
              <a:endParaRPr lang="en-IN" sz="1200">
                <a:latin typeface="Georgia" panose="02040502050405020303" pitchFamily="18" charset="0"/>
              </a:endParaRPr>
            </a:p>
          </p:txBody>
        </p:sp>
        <p:sp>
          <p:nvSpPr>
            <p:cNvPr id="59" name="Shape 11">
              <a:extLst>
                <a:ext uri="{FF2B5EF4-FFF2-40B4-BE49-F238E27FC236}">
                  <a16:creationId xmlns:a16="http://schemas.microsoft.com/office/drawing/2014/main" id="{9AEFBBC2-6D38-52C4-C6E2-B05EBCE6E940}"/>
                </a:ext>
              </a:extLst>
            </p:cNvPr>
            <p:cNvSpPr/>
            <p:nvPr/>
          </p:nvSpPr>
          <p:spPr>
            <a:xfrm>
              <a:off x="2015628" y="1251046"/>
              <a:ext cx="6211" cy="1966184"/>
            </a:xfrm>
            <a:prstGeom prst="rect">
              <a:avLst/>
            </a:prstGeom>
            <a:solidFill>
              <a:srgbClr val="D9D3C3"/>
            </a:solidFill>
            <a:ln/>
          </p:spPr>
          <p:txBody>
            <a:bodyPr/>
            <a:lstStyle/>
            <a:p>
              <a:endParaRPr lang="en-IN" sz="1200">
                <a:latin typeface="Georgia" panose="02040502050405020303" pitchFamily="18" charset="0"/>
              </a:endParaRPr>
            </a:p>
          </p:txBody>
        </p:sp>
        <p:sp>
          <p:nvSpPr>
            <p:cNvPr id="60" name="Text 12">
              <a:extLst>
                <a:ext uri="{FF2B5EF4-FFF2-40B4-BE49-F238E27FC236}">
                  <a16:creationId xmlns:a16="http://schemas.microsoft.com/office/drawing/2014/main" id="{15F6BB7F-A037-253B-D192-69469CDB9438}"/>
                </a:ext>
              </a:extLst>
            </p:cNvPr>
            <p:cNvSpPr/>
            <p:nvPr/>
          </p:nvSpPr>
          <p:spPr>
            <a:xfrm>
              <a:off x="589936" y="1277927"/>
              <a:ext cx="1303336" cy="308169"/>
            </a:xfrm>
            <a:prstGeom prst="rect">
              <a:avLst/>
            </a:prstGeom>
            <a:noFill/>
            <a:ln/>
          </p:spPr>
          <p:txBody>
            <a:bodyPr wrap="square" lIns="16933" tIns="16933" rIns="16933" bIns="16933" rtlCol="0" anchor="t">
              <a:noAutofit/>
            </a:bodyPr>
            <a:lstStyle/>
            <a:p>
              <a:r>
                <a:rPr lang="en-US" sz="900" b="1" dirty="0">
                  <a:solidFill>
                    <a:srgbClr val="14342B"/>
                  </a:solidFill>
                  <a:latin typeface="Georgia" panose="02040502050405020303" pitchFamily="18" charset="0"/>
                </a:rPr>
                <a:t>North Karnataka </a:t>
              </a:r>
              <a:r>
                <a:rPr lang="en-US" sz="900" b="1" dirty="0">
                  <a:solidFill>
                    <a:srgbClr val="9C3237"/>
                  </a:solidFill>
                  <a:latin typeface="Georgia" panose="02040502050405020303" pitchFamily="18" charset="0"/>
                </a:rPr>
                <a:t>Onion-Grape-</a:t>
              </a:r>
            </a:p>
            <a:p>
              <a:r>
                <a:rPr lang="en-US" sz="900" b="1" dirty="0">
                  <a:solidFill>
                    <a:srgbClr val="9C3237"/>
                  </a:solidFill>
                  <a:latin typeface="Georgia" panose="02040502050405020303" pitchFamily="18" charset="0"/>
                </a:rPr>
                <a:t>Raisin-Pomegranate</a:t>
              </a:r>
              <a:r>
                <a:rPr lang="en-US" sz="900" b="1" dirty="0">
                  <a:solidFill>
                    <a:srgbClr val="14342B"/>
                  </a:solidFill>
                  <a:latin typeface="Georgia" panose="02040502050405020303" pitchFamily="18" charset="0"/>
                </a:rPr>
                <a:t> cluster</a:t>
              </a:r>
              <a:endParaRPr lang="en-US" sz="900" b="1" dirty="0">
                <a:latin typeface="Georgia" panose="02040502050405020303" pitchFamily="18" charset="0"/>
              </a:endParaRPr>
            </a:p>
          </p:txBody>
        </p:sp>
        <p:sp>
          <p:nvSpPr>
            <p:cNvPr id="61" name="Shape 13">
              <a:extLst>
                <a:ext uri="{FF2B5EF4-FFF2-40B4-BE49-F238E27FC236}">
                  <a16:creationId xmlns:a16="http://schemas.microsoft.com/office/drawing/2014/main" id="{7955ED4D-795D-9372-56B4-521837FDD12D}"/>
                </a:ext>
              </a:extLst>
            </p:cNvPr>
            <p:cNvSpPr/>
            <p:nvPr/>
          </p:nvSpPr>
          <p:spPr>
            <a:xfrm>
              <a:off x="650176" y="1832074"/>
              <a:ext cx="1253644" cy="8025"/>
            </a:xfrm>
            <a:prstGeom prst="rect">
              <a:avLst/>
            </a:prstGeom>
            <a:solidFill>
              <a:srgbClr val="D9D3C3"/>
            </a:solidFill>
            <a:ln/>
          </p:spPr>
          <p:txBody>
            <a:bodyPr/>
            <a:lstStyle/>
            <a:p>
              <a:endParaRPr lang="en-IN" sz="1200">
                <a:latin typeface="Georgia" panose="02040502050405020303" pitchFamily="18" charset="0"/>
              </a:endParaRPr>
            </a:p>
          </p:txBody>
        </p:sp>
        <p:sp>
          <p:nvSpPr>
            <p:cNvPr id="66" name="Shape 20">
              <a:extLst>
                <a:ext uri="{FF2B5EF4-FFF2-40B4-BE49-F238E27FC236}">
                  <a16:creationId xmlns:a16="http://schemas.microsoft.com/office/drawing/2014/main" id="{34B8D4F9-517E-82DB-367E-B5BFB4D60343}"/>
                </a:ext>
              </a:extLst>
            </p:cNvPr>
            <p:cNvSpPr/>
            <p:nvPr/>
          </p:nvSpPr>
          <p:spPr>
            <a:xfrm>
              <a:off x="2107560" y="1251046"/>
              <a:ext cx="1440000" cy="2880000"/>
            </a:xfrm>
            <a:prstGeom prst="roundRect">
              <a:avLst>
                <a:gd name="adj" fmla="val 2506"/>
              </a:avLst>
            </a:prstGeom>
            <a:solidFill>
              <a:srgbClr val="FFFFFF"/>
            </a:solidFill>
            <a:ln/>
          </p:spPr>
          <p:txBody>
            <a:bodyPr/>
            <a:lstStyle/>
            <a:p>
              <a:endParaRPr lang="en-IN" sz="1200" dirty="0">
                <a:latin typeface="Georgia" panose="02040502050405020303" pitchFamily="18" charset="0"/>
              </a:endParaRPr>
            </a:p>
          </p:txBody>
        </p:sp>
        <p:sp>
          <p:nvSpPr>
            <p:cNvPr id="68" name="Shape 22">
              <a:extLst>
                <a:ext uri="{FF2B5EF4-FFF2-40B4-BE49-F238E27FC236}">
                  <a16:creationId xmlns:a16="http://schemas.microsoft.com/office/drawing/2014/main" id="{09D626DE-9953-40B9-B11A-D72159D3FDAB}"/>
                </a:ext>
              </a:extLst>
            </p:cNvPr>
            <p:cNvSpPr/>
            <p:nvPr/>
          </p:nvSpPr>
          <p:spPr>
            <a:xfrm>
              <a:off x="2107560" y="1251046"/>
              <a:ext cx="1487198" cy="32101"/>
            </a:xfrm>
            <a:prstGeom prst="rect">
              <a:avLst/>
            </a:prstGeom>
            <a:solidFill>
              <a:srgbClr val="0E8B96"/>
            </a:solidFill>
            <a:ln/>
          </p:spPr>
          <p:txBody>
            <a:bodyPr/>
            <a:lstStyle/>
            <a:p>
              <a:endParaRPr lang="en-IN" sz="1200">
                <a:latin typeface="Georgia" panose="02040502050405020303" pitchFamily="18" charset="0"/>
              </a:endParaRPr>
            </a:p>
          </p:txBody>
        </p:sp>
        <p:sp>
          <p:nvSpPr>
            <p:cNvPr id="69" name="Shape 23">
              <a:extLst>
                <a:ext uri="{FF2B5EF4-FFF2-40B4-BE49-F238E27FC236}">
                  <a16:creationId xmlns:a16="http://schemas.microsoft.com/office/drawing/2014/main" id="{8BAFF6C6-4FF6-DB18-372D-4B1DEF25B658}"/>
                </a:ext>
              </a:extLst>
            </p:cNvPr>
            <p:cNvSpPr/>
            <p:nvPr/>
          </p:nvSpPr>
          <p:spPr>
            <a:xfrm>
              <a:off x="2107560" y="1251046"/>
              <a:ext cx="6211" cy="1966184"/>
            </a:xfrm>
            <a:prstGeom prst="rect">
              <a:avLst/>
            </a:prstGeom>
            <a:solidFill>
              <a:srgbClr val="D9D3C3"/>
            </a:solidFill>
            <a:ln/>
          </p:spPr>
          <p:txBody>
            <a:bodyPr/>
            <a:lstStyle/>
            <a:p>
              <a:endParaRPr lang="en-IN" sz="1200">
                <a:latin typeface="Georgia" panose="02040502050405020303" pitchFamily="18" charset="0"/>
              </a:endParaRPr>
            </a:p>
          </p:txBody>
        </p:sp>
        <p:sp>
          <p:nvSpPr>
            <p:cNvPr id="70" name="Shape 24">
              <a:extLst>
                <a:ext uri="{FF2B5EF4-FFF2-40B4-BE49-F238E27FC236}">
                  <a16:creationId xmlns:a16="http://schemas.microsoft.com/office/drawing/2014/main" id="{4F86311D-2C8D-75FC-A0F1-EFFDD3378964}"/>
                </a:ext>
              </a:extLst>
            </p:cNvPr>
            <p:cNvSpPr/>
            <p:nvPr/>
          </p:nvSpPr>
          <p:spPr>
            <a:xfrm>
              <a:off x="3589788" y="1251046"/>
              <a:ext cx="6211" cy="1966184"/>
            </a:xfrm>
            <a:prstGeom prst="rect">
              <a:avLst/>
            </a:prstGeom>
            <a:solidFill>
              <a:srgbClr val="D9D3C3"/>
            </a:solidFill>
            <a:ln/>
          </p:spPr>
          <p:txBody>
            <a:bodyPr/>
            <a:lstStyle/>
            <a:p>
              <a:endParaRPr lang="en-IN" sz="1200">
                <a:latin typeface="Georgia" panose="02040502050405020303" pitchFamily="18" charset="0"/>
              </a:endParaRPr>
            </a:p>
          </p:txBody>
        </p:sp>
        <p:sp>
          <p:nvSpPr>
            <p:cNvPr id="71" name="Text 25">
              <a:extLst>
                <a:ext uri="{FF2B5EF4-FFF2-40B4-BE49-F238E27FC236}">
                  <a16:creationId xmlns:a16="http://schemas.microsoft.com/office/drawing/2014/main" id="{09198168-623D-6A6D-DEF4-6F07E275C3FA}"/>
                </a:ext>
              </a:extLst>
            </p:cNvPr>
            <p:cNvSpPr/>
            <p:nvPr/>
          </p:nvSpPr>
          <p:spPr>
            <a:xfrm>
              <a:off x="2231060" y="1343504"/>
              <a:ext cx="1303336" cy="308169"/>
            </a:xfrm>
            <a:prstGeom prst="rect">
              <a:avLst/>
            </a:prstGeom>
            <a:noFill/>
            <a:ln/>
          </p:spPr>
          <p:txBody>
            <a:bodyPr wrap="square" lIns="16933" tIns="16933" rIns="16933" bIns="16933" rtlCol="0" anchor="t">
              <a:noAutofit/>
            </a:bodyPr>
            <a:lstStyle/>
            <a:p>
              <a:r>
                <a:rPr lang="en-US" sz="900" b="1" dirty="0">
                  <a:solidFill>
                    <a:srgbClr val="14342B"/>
                  </a:solidFill>
                  <a:latin typeface="Georgia" panose="02040502050405020303" pitchFamily="18" charset="0"/>
                </a:rPr>
                <a:t>Central Karnataka </a:t>
              </a:r>
              <a:r>
                <a:rPr lang="en-US" sz="900" b="1" dirty="0">
                  <a:solidFill>
                    <a:srgbClr val="9C3237"/>
                  </a:solidFill>
                  <a:latin typeface="Georgia" panose="02040502050405020303" pitchFamily="18" charset="0"/>
                </a:rPr>
                <a:t>Onion-Pomegranate</a:t>
              </a:r>
              <a:r>
                <a:rPr lang="en-US" sz="900" b="1" dirty="0">
                  <a:solidFill>
                    <a:srgbClr val="14342B"/>
                  </a:solidFill>
                  <a:latin typeface="Georgia" panose="02040502050405020303" pitchFamily="18" charset="0"/>
                </a:rPr>
                <a:t> cluster</a:t>
              </a:r>
              <a:endParaRPr lang="en-US" sz="900" b="1" dirty="0">
                <a:latin typeface="Georgia" panose="02040502050405020303" pitchFamily="18" charset="0"/>
              </a:endParaRPr>
            </a:p>
          </p:txBody>
        </p:sp>
        <p:sp>
          <p:nvSpPr>
            <p:cNvPr id="77" name="Shape 26">
              <a:extLst>
                <a:ext uri="{FF2B5EF4-FFF2-40B4-BE49-F238E27FC236}">
                  <a16:creationId xmlns:a16="http://schemas.microsoft.com/office/drawing/2014/main" id="{C4963711-2779-A705-5DEB-161C1F26C398}"/>
                </a:ext>
              </a:extLst>
            </p:cNvPr>
            <p:cNvSpPr/>
            <p:nvPr/>
          </p:nvSpPr>
          <p:spPr>
            <a:xfrm>
              <a:off x="2224336" y="1832074"/>
              <a:ext cx="1253644" cy="8025"/>
            </a:xfrm>
            <a:prstGeom prst="rect">
              <a:avLst/>
            </a:prstGeom>
            <a:solidFill>
              <a:srgbClr val="D9D3C3"/>
            </a:solidFill>
            <a:ln/>
          </p:spPr>
          <p:txBody>
            <a:bodyPr/>
            <a:lstStyle/>
            <a:p>
              <a:endParaRPr lang="en-IN" sz="1200">
                <a:latin typeface="Georgia" panose="02040502050405020303" pitchFamily="18" charset="0"/>
              </a:endParaRPr>
            </a:p>
          </p:txBody>
        </p:sp>
        <p:sp>
          <p:nvSpPr>
            <p:cNvPr id="85" name="Shape 33">
              <a:extLst>
                <a:ext uri="{FF2B5EF4-FFF2-40B4-BE49-F238E27FC236}">
                  <a16:creationId xmlns:a16="http://schemas.microsoft.com/office/drawing/2014/main" id="{D6D45CDF-0B3C-30B0-D95A-E58352F96FA8}"/>
                </a:ext>
              </a:extLst>
            </p:cNvPr>
            <p:cNvSpPr/>
            <p:nvPr/>
          </p:nvSpPr>
          <p:spPr>
            <a:xfrm>
              <a:off x="3681718" y="1251046"/>
              <a:ext cx="1440000" cy="2880000"/>
            </a:xfrm>
            <a:prstGeom prst="roundRect">
              <a:avLst>
                <a:gd name="adj" fmla="val 2506"/>
              </a:avLst>
            </a:prstGeom>
            <a:solidFill>
              <a:srgbClr val="FFFFFF"/>
            </a:solidFill>
            <a:ln/>
          </p:spPr>
          <p:txBody>
            <a:bodyPr/>
            <a:lstStyle/>
            <a:p>
              <a:endParaRPr lang="en-IN" sz="1200" dirty="0">
                <a:latin typeface="Georgia" panose="02040502050405020303" pitchFamily="18" charset="0"/>
              </a:endParaRPr>
            </a:p>
          </p:txBody>
        </p:sp>
        <p:sp>
          <p:nvSpPr>
            <p:cNvPr id="87" name="Shape 35">
              <a:extLst>
                <a:ext uri="{FF2B5EF4-FFF2-40B4-BE49-F238E27FC236}">
                  <a16:creationId xmlns:a16="http://schemas.microsoft.com/office/drawing/2014/main" id="{D134346B-10E5-B0B5-21E4-FCF258EB5907}"/>
                </a:ext>
              </a:extLst>
            </p:cNvPr>
            <p:cNvSpPr/>
            <p:nvPr/>
          </p:nvSpPr>
          <p:spPr>
            <a:xfrm>
              <a:off x="3681718" y="1251046"/>
              <a:ext cx="1487198" cy="32101"/>
            </a:xfrm>
            <a:prstGeom prst="rect">
              <a:avLst/>
            </a:prstGeom>
            <a:solidFill>
              <a:srgbClr val="E8A33D"/>
            </a:solidFill>
            <a:ln/>
          </p:spPr>
          <p:txBody>
            <a:bodyPr/>
            <a:lstStyle/>
            <a:p>
              <a:endParaRPr lang="en-IN" sz="1200">
                <a:latin typeface="Georgia" panose="02040502050405020303" pitchFamily="18" charset="0"/>
              </a:endParaRPr>
            </a:p>
          </p:txBody>
        </p:sp>
        <p:sp>
          <p:nvSpPr>
            <p:cNvPr id="88" name="Shape 36">
              <a:extLst>
                <a:ext uri="{FF2B5EF4-FFF2-40B4-BE49-F238E27FC236}">
                  <a16:creationId xmlns:a16="http://schemas.microsoft.com/office/drawing/2014/main" id="{407397FB-2E99-DD00-E67F-AE0A9808B66D}"/>
                </a:ext>
              </a:extLst>
            </p:cNvPr>
            <p:cNvSpPr/>
            <p:nvPr/>
          </p:nvSpPr>
          <p:spPr>
            <a:xfrm>
              <a:off x="3681718" y="1251046"/>
              <a:ext cx="6211" cy="1966184"/>
            </a:xfrm>
            <a:prstGeom prst="rect">
              <a:avLst/>
            </a:prstGeom>
            <a:solidFill>
              <a:srgbClr val="D9D3C3"/>
            </a:solidFill>
            <a:ln/>
          </p:spPr>
          <p:txBody>
            <a:bodyPr/>
            <a:lstStyle/>
            <a:p>
              <a:endParaRPr lang="en-IN" sz="1200">
                <a:latin typeface="Georgia" panose="02040502050405020303" pitchFamily="18" charset="0"/>
              </a:endParaRPr>
            </a:p>
          </p:txBody>
        </p:sp>
        <p:sp>
          <p:nvSpPr>
            <p:cNvPr id="89" name="Shape 37">
              <a:extLst>
                <a:ext uri="{FF2B5EF4-FFF2-40B4-BE49-F238E27FC236}">
                  <a16:creationId xmlns:a16="http://schemas.microsoft.com/office/drawing/2014/main" id="{CC0350F3-67F6-122C-BF15-D9D4040F54B9}"/>
                </a:ext>
              </a:extLst>
            </p:cNvPr>
            <p:cNvSpPr/>
            <p:nvPr/>
          </p:nvSpPr>
          <p:spPr>
            <a:xfrm>
              <a:off x="5163947" y="1251046"/>
              <a:ext cx="6211" cy="1966184"/>
            </a:xfrm>
            <a:prstGeom prst="rect">
              <a:avLst/>
            </a:prstGeom>
            <a:solidFill>
              <a:srgbClr val="D9D3C3"/>
            </a:solidFill>
            <a:ln/>
          </p:spPr>
          <p:txBody>
            <a:bodyPr/>
            <a:lstStyle/>
            <a:p>
              <a:endParaRPr lang="en-IN" sz="1200">
                <a:latin typeface="Georgia" panose="02040502050405020303" pitchFamily="18" charset="0"/>
              </a:endParaRPr>
            </a:p>
          </p:txBody>
        </p:sp>
        <p:sp>
          <p:nvSpPr>
            <p:cNvPr id="90" name="Text 38">
              <a:extLst>
                <a:ext uri="{FF2B5EF4-FFF2-40B4-BE49-F238E27FC236}">
                  <a16:creationId xmlns:a16="http://schemas.microsoft.com/office/drawing/2014/main" id="{8DF24FE9-5E92-C7E1-FC55-69D74D83AAC5}"/>
                </a:ext>
              </a:extLst>
            </p:cNvPr>
            <p:cNvSpPr/>
            <p:nvPr/>
          </p:nvSpPr>
          <p:spPr>
            <a:xfrm>
              <a:off x="3796257" y="1315898"/>
              <a:ext cx="1303336" cy="448333"/>
            </a:xfrm>
            <a:prstGeom prst="rect">
              <a:avLst/>
            </a:prstGeom>
            <a:noFill/>
            <a:ln/>
          </p:spPr>
          <p:txBody>
            <a:bodyPr wrap="square" lIns="16933" tIns="16933" rIns="16933" bIns="16933" rtlCol="0" anchor="t">
              <a:noAutofit/>
            </a:bodyPr>
            <a:lstStyle/>
            <a:p>
              <a:r>
                <a:rPr lang="en-US" sz="900" b="1" dirty="0">
                  <a:solidFill>
                    <a:srgbClr val="14342B"/>
                  </a:solidFill>
                  <a:latin typeface="Georgia" panose="02040502050405020303" pitchFamily="18" charset="0"/>
                </a:rPr>
                <a:t>Kalyana Karnataka </a:t>
              </a:r>
              <a:r>
                <a:rPr lang="en-US" sz="900" b="1" dirty="0">
                  <a:solidFill>
                    <a:srgbClr val="9C3237"/>
                  </a:solidFill>
                  <a:latin typeface="Georgia" panose="02040502050405020303" pitchFamily="18" charset="0"/>
                </a:rPr>
                <a:t>Onion-Tomato</a:t>
              </a:r>
              <a:r>
                <a:rPr lang="en-US" sz="900" b="1" dirty="0">
                  <a:solidFill>
                    <a:srgbClr val="14342B"/>
                  </a:solidFill>
                  <a:latin typeface="Georgia" panose="02040502050405020303" pitchFamily="18" charset="0"/>
                </a:rPr>
                <a:t> cluster</a:t>
              </a:r>
            </a:p>
          </p:txBody>
        </p:sp>
        <p:sp>
          <p:nvSpPr>
            <p:cNvPr id="91" name="Shape 39">
              <a:extLst>
                <a:ext uri="{FF2B5EF4-FFF2-40B4-BE49-F238E27FC236}">
                  <a16:creationId xmlns:a16="http://schemas.microsoft.com/office/drawing/2014/main" id="{26ADFAA2-1555-4021-4739-7820DCC4E771}"/>
                </a:ext>
              </a:extLst>
            </p:cNvPr>
            <p:cNvSpPr/>
            <p:nvPr/>
          </p:nvSpPr>
          <p:spPr>
            <a:xfrm>
              <a:off x="3798495" y="1832074"/>
              <a:ext cx="1253644" cy="8025"/>
            </a:xfrm>
            <a:prstGeom prst="rect">
              <a:avLst/>
            </a:prstGeom>
            <a:solidFill>
              <a:srgbClr val="D9D3C3"/>
            </a:solidFill>
            <a:ln/>
          </p:spPr>
          <p:txBody>
            <a:bodyPr/>
            <a:lstStyle/>
            <a:p>
              <a:endParaRPr lang="en-IN" sz="1200">
                <a:latin typeface="Georgia" panose="02040502050405020303" pitchFamily="18" charset="0"/>
              </a:endParaRPr>
            </a:p>
          </p:txBody>
        </p:sp>
        <p:sp>
          <p:nvSpPr>
            <p:cNvPr id="96" name="Shape 46">
              <a:extLst>
                <a:ext uri="{FF2B5EF4-FFF2-40B4-BE49-F238E27FC236}">
                  <a16:creationId xmlns:a16="http://schemas.microsoft.com/office/drawing/2014/main" id="{AE5EFD6F-3EF7-B1FC-BA47-5CBE729DB20B}"/>
                </a:ext>
              </a:extLst>
            </p:cNvPr>
            <p:cNvSpPr/>
            <p:nvPr/>
          </p:nvSpPr>
          <p:spPr>
            <a:xfrm>
              <a:off x="5255878" y="1251046"/>
              <a:ext cx="1440000" cy="2880000"/>
            </a:xfrm>
            <a:prstGeom prst="roundRect">
              <a:avLst>
                <a:gd name="adj" fmla="val 2506"/>
              </a:avLst>
            </a:prstGeom>
            <a:solidFill>
              <a:srgbClr val="FFFFFF"/>
            </a:solidFill>
            <a:ln/>
          </p:spPr>
          <p:txBody>
            <a:bodyPr/>
            <a:lstStyle/>
            <a:p>
              <a:endParaRPr lang="en-IN" sz="1200">
                <a:latin typeface="Georgia" panose="02040502050405020303" pitchFamily="18" charset="0"/>
              </a:endParaRPr>
            </a:p>
          </p:txBody>
        </p:sp>
        <p:sp>
          <p:nvSpPr>
            <p:cNvPr id="98" name="Shape 48">
              <a:extLst>
                <a:ext uri="{FF2B5EF4-FFF2-40B4-BE49-F238E27FC236}">
                  <a16:creationId xmlns:a16="http://schemas.microsoft.com/office/drawing/2014/main" id="{F40D4E14-5F44-1543-EE17-418CA7C41376}"/>
                </a:ext>
              </a:extLst>
            </p:cNvPr>
            <p:cNvSpPr/>
            <p:nvPr/>
          </p:nvSpPr>
          <p:spPr>
            <a:xfrm>
              <a:off x="5255878" y="1251046"/>
              <a:ext cx="1487275" cy="32101"/>
            </a:xfrm>
            <a:prstGeom prst="rect">
              <a:avLst/>
            </a:prstGeom>
            <a:solidFill>
              <a:srgbClr val="B8652D"/>
            </a:solidFill>
            <a:ln/>
          </p:spPr>
          <p:txBody>
            <a:bodyPr/>
            <a:lstStyle/>
            <a:p>
              <a:endParaRPr lang="en-IN" sz="1200">
                <a:latin typeface="Georgia" panose="02040502050405020303" pitchFamily="18" charset="0"/>
              </a:endParaRPr>
            </a:p>
          </p:txBody>
        </p:sp>
        <p:sp>
          <p:nvSpPr>
            <p:cNvPr id="99" name="Shape 49">
              <a:extLst>
                <a:ext uri="{FF2B5EF4-FFF2-40B4-BE49-F238E27FC236}">
                  <a16:creationId xmlns:a16="http://schemas.microsoft.com/office/drawing/2014/main" id="{A295B9EE-542D-F4B2-9F0D-0216CDC91C9A}"/>
                </a:ext>
              </a:extLst>
            </p:cNvPr>
            <p:cNvSpPr/>
            <p:nvPr/>
          </p:nvSpPr>
          <p:spPr>
            <a:xfrm>
              <a:off x="5255878" y="1251046"/>
              <a:ext cx="6211" cy="1966184"/>
            </a:xfrm>
            <a:prstGeom prst="rect">
              <a:avLst/>
            </a:prstGeom>
            <a:solidFill>
              <a:srgbClr val="D9D3C3"/>
            </a:solidFill>
            <a:ln/>
          </p:spPr>
          <p:txBody>
            <a:bodyPr/>
            <a:lstStyle/>
            <a:p>
              <a:endParaRPr lang="en-IN" sz="1200">
                <a:latin typeface="Georgia" panose="02040502050405020303" pitchFamily="18" charset="0"/>
              </a:endParaRPr>
            </a:p>
          </p:txBody>
        </p:sp>
        <p:sp>
          <p:nvSpPr>
            <p:cNvPr id="100" name="Shape 50">
              <a:extLst>
                <a:ext uri="{FF2B5EF4-FFF2-40B4-BE49-F238E27FC236}">
                  <a16:creationId xmlns:a16="http://schemas.microsoft.com/office/drawing/2014/main" id="{CDABBFBC-7BB7-50C0-E897-150DD7FE1696}"/>
                </a:ext>
              </a:extLst>
            </p:cNvPr>
            <p:cNvSpPr/>
            <p:nvPr/>
          </p:nvSpPr>
          <p:spPr>
            <a:xfrm>
              <a:off x="6738183" y="1251046"/>
              <a:ext cx="6211" cy="1966184"/>
            </a:xfrm>
            <a:prstGeom prst="rect">
              <a:avLst/>
            </a:prstGeom>
            <a:solidFill>
              <a:srgbClr val="D9D3C3"/>
            </a:solidFill>
            <a:ln/>
          </p:spPr>
          <p:txBody>
            <a:bodyPr/>
            <a:lstStyle/>
            <a:p>
              <a:endParaRPr lang="en-IN" sz="1200">
                <a:latin typeface="Georgia" panose="02040502050405020303" pitchFamily="18" charset="0"/>
              </a:endParaRPr>
            </a:p>
          </p:txBody>
        </p:sp>
        <p:sp>
          <p:nvSpPr>
            <p:cNvPr id="101" name="Text 51">
              <a:extLst>
                <a:ext uri="{FF2B5EF4-FFF2-40B4-BE49-F238E27FC236}">
                  <a16:creationId xmlns:a16="http://schemas.microsoft.com/office/drawing/2014/main" id="{915652F6-DE32-3F0A-7AE9-D7618E0DAF93}"/>
                </a:ext>
              </a:extLst>
            </p:cNvPr>
            <p:cNvSpPr/>
            <p:nvPr/>
          </p:nvSpPr>
          <p:spPr>
            <a:xfrm>
              <a:off x="5377090" y="1340369"/>
              <a:ext cx="1303413" cy="308169"/>
            </a:xfrm>
            <a:prstGeom prst="rect">
              <a:avLst/>
            </a:prstGeom>
            <a:noFill/>
            <a:ln/>
          </p:spPr>
          <p:txBody>
            <a:bodyPr wrap="square" lIns="16933" tIns="16933" rIns="16933" bIns="16933" rtlCol="0" anchor="t">
              <a:noAutofit/>
            </a:bodyPr>
            <a:lstStyle/>
            <a:p>
              <a:r>
                <a:rPr lang="en-US" sz="900" b="1" dirty="0">
                  <a:solidFill>
                    <a:srgbClr val="14342B"/>
                  </a:solidFill>
                  <a:latin typeface="Georgia" panose="02040502050405020303" pitchFamily="18" charset="0"/>
                </a:rPr>
                <a:t>South Karnataka </a:t>
              </a:r>
              <a:r>
                <a:rPr lang="en-US" sz="900" b="1" dirty="0">
                  <a:solidFill>
                    <a:srgbClr val="9C3237"/>
                  </a:solidFill>
                  <a:latin typeface="Georgia" panose="02040502050405020303" pitchFamily="18" charset="0"/>
                </a:rPr>
                <a:t>Banana-Tomato-Mango</a:t>
              </a:r>
              <a:r>
                <a:rPr lang="en-US" sz="900" b="1" dirty="0">
                  <a:latin typeface="Georgia" panose="02040502050405020303" pitchFamily="18" charset="0"/>
                </a:rPr>
                <a:t> </a:t>
              </a:r>
              <a:r>
                <a:rPr lang="en-US" sz="900" b="1" dirty="0">
                  <a:solidFill>
                    <a:srgbClr val="14342B"/>
                  </a:solidFill>
                  <a:latin typeface="Georgia" panose="02040502050405020303" pitchFamily="18" charset="0"/>
                </a:rPr>
                <a:t>cluster</a:t>
              </a:r>
              <a:endParaRPr lang="en-US" sz="900" b="1" dirty="0">
                <a:latin typeface="Georgia" panose="02040502050405020303" pitchFamily="18" charset="0"/>
              </a:endParaRPr>
            </a:p>
          </p:txBody>
        </p:sp>
        <p:sp>
          <p:nvSpPr>
            <p:cNvPr id="102" name="Shape 52">
              <a:extLst>
                <a:ext uri="{FF2B5EF4-FFF2-40B4-BE49-F238E27FC236}">
                  <a16:creationId xmlns:a16="http://schemas.microsoft.com/office/drawing/2014/main" id="{F48F7C49-A525-5576-C31C-2418FC25F450}"/>
                </a:ext>
              </a:extLst>
            </p:cNvPr>
            <p:cNvSpPr/>
            <p:nvPr/>
          </p:nvSpPr>
          <p:spPr>
            <a:xfrm>
              <a:off x="5372654" y="1832074"/>
              <a:ext cx="1253721" cy="8025"/>
            </a:xfrm>
            <a:prstGeom prst="rect">
              <a:avLst/>
            </a:prstGeom>
            <a:solidFill>
              <a:srgbClr val="D9D3C3"/>
            </a:solidFill>
            <a:ln/>
          </p:spPr>
          <p:txBody>
            <a:bodyPr/>
            <a:lstStyle/>
            <a:p>
              <a:endParaRPr lang="en-IN" sz="1200">
                <a:latin typeface="Georgia" panose="02040502050405020303" pitchFamily="18" charset="0"/>
              </a:endParaRPr>
            </a:p>
          </p:txBody>
        </p:sp>
        <p:sp>
          <p:nvSpPr>
            <p:cNvPr id="107" name="Shape 62">
              <a:extLst>
                <a:ext uri="{FF2B5EF4-FFF2-40B4-BE49-F238E27FC236}">
                  <a16:creationId xmlns:a16="http://schemas.microsoft.com/office/drawing/2014/main" id="{E48033C9-99AC-E159-3902-D0E2EB1AF66D}"/>
                </a:ext>
              </a:extLst>
            </p:cNvPr>
            <p:cNvSpPr/>
            <p:nvPr/>
          </p:nvSpPr>
          <p:spPr>
            <a:xfrm>
              <a:off x="6830115" y="1251046"/>
              <a:ext cx="6211" cy="1966184"/>
            </a:xfrm>
            <a:prstGeom prst="rect">
              <a:avLst/>
            </a:prstGeom>
            <a:solidFill>
              <a:srgbClr val="D9D3C3"/>
            </a:solidFill>
            <a:ln/>
          </p:spPr>
          <p:txBody>
            <a:bodyPr/>
            <a:lstStyle/>
            <a:p>
              <a:endParaRPr lang="en-IN" sz="1200">
                <a:latin typeface="Georgia" panose="02040502050405020303" pitchFamily="18" charset="0"/>
              </a:endParaRPr>
            </a:p>
          </p:txBody>
        </p:sp>
        <p:sp>
          <p:nvSpPr>
            <p:cNvPr id="25" name="Shape 63">
              <a:extLst>
                <a:ext uri="{FF2B5EF4-FFF2-40B4-BE49-F238E27FC236}">
                  <a16:creationId xmlns:a16="http://schemas.microsoft.com/office/drawing/2014/main" id="{645FF533-6933-F856-4793-D53BC7B14534}"/>
                </a:ext>
              </a:extLst>
            </p:cNvPr>
            <p:cNvSpPr/>
            <p:nvPr/>
          </p:nvSpPr>
          <p:spPr>
            <a:xfrm>
              <a:off x="8312342" y="1251046"/>
              <a:ext cx="6211" cy="1966184"/>
            </a:xfrm>
            <a:prstGeom prst="rect">
              <a:avLst/>
            </a:prstGeom>
            <a:solidFill>
              <a:srgbClr val="D9D3C3"/>
            </a:solidFill>
            <a:ln/>
          </p:spPr>
          <p:txBody>
            <a:bodyPr/>
            <a:lstStyle/>
            <a:p>
              <a:endParaRPr lang="en-IN" sz="1200">
                <a:latin typeface="Georgia" panose="02040502050405020303" pitchFamily="18" charset="0"/>
              </a:endParaRPr>
            </a:p>
          </p:txBody>
        </p:sp>
        <p:sp>
          <p:nvSpPr>
            <p:cNvPr id="26" name="Text 64">
              <a:extLst>
                <a:ext uri="{FF2B5EF4-FFF2-40B4-BE49-F238E27FC236}">
                  <a16:creationId xmlns:a16="http://schemas.microsoft.com/office/drawing/2014/main" id="{1DF93CE0-CA68-EA3A-7827-0DC0AAFFB40E}"/>
                </a:ext>
              </a:extLst>
            </p:cNvPr>
            <p:cNvSpPr/>
            <p:nvPr/>
          </p:nvSpPr>
          <p:spPr>
            <a:xfrm>
              <a:off x="6971856" y="1374901"/>
              <a:ext cx="1303336" cy="308169"/>
            </a:xfrm>
            <a:prstGeom prst="rect">
              <a:avLst/>
            </a:prstGeom>
            <a:noFill/>
            <a:ln/>
          </p:spPr>
          <p:txBody>
            <a:bodyPr wrap="square" lIns="16933" tIns="16933" rIns="16933" bIns="16933" rtlCol="0" anchor="t">
              <a:noAutofit/>
            </a:bodyPr>
            <a:lstStyle/>
            <a:p>
              <a:r>
                <a:rPr lang="en-US" sz="900" b="1" dirty="0">
                  <a:solidFill>
                    <a:srgbClr val="14342B"/>
                  </a:solidFill>
                  <a:latin typeface="Georgia" panose="02040502050405020303" pitchFamily="18" charset="0"/>
                </a:rPr>
                <a:t>East Karnataka </a:t>
              </a:r>
              <a:r>
                <a:rPr lang="en-US" sz="900" b="1" dirty="0">
                  <a:solidFill>
                    <a:srgbClr val="9C3237"/>
                  </a:solidFill>
                  <a:latin typeface="Georgia" panose="02040502050405020303" pitchFamily="18" charset="0"/>
                </a:rPr>
                <a:t>Tomato-Mango</a:t>
              </a:r>
              <a:r>
                <a:rPr lang="en-US" sz="900" b="1" dirty="0">
                  <a:solidFill>
                    <a:srgbClr val="14342B"/>
                  </a:solidFill>
                  <a:latin typeface="Georgia" panose="02040502050405020303" pitchFamily="18" charset="0"/>
                </a:rPr>
                <a:t> cluster</a:t>
              </a:r>
              <a:endParaRPr lang="en-US" sz="900" b="1" dirty="0">
                <a:latin typeface="Georgia" panose="02040502050405020303" pitchFamily="18" charset="0"/>
              </a:endParaRPr>
            </a:p>
          </p:txBody>
        </p:sp>
        <p:sp>
          <p:nvSpPr>
            <p:cNvPr id="27" name="Shape 65">
              <a:extLst>
                <a:ext uri="{FF2B5EF4-FFF2-40B4-BE49-F238E27FC236}">
                  <a16:creationId xmlns:a16="http://schemas.microsoft.com/office/drawing/2014/main" id="{49CB86CF-F5E0-CBE6-045F-C3244B67F299}"/>
                </a:ext>
              </a:extLst>
            </p:cNvPr>
            <p:cNvSpPr/>
            <p:nvPr/>
          </p:nvSpPr>
          <p:spPr>
            <a:xfrm>
              <a:off x="6946891" y="1832074"/>
              <a:ext cx="1253644" cy="8025"/>
            </a:xfrm>
            <a:prstGeom prst="rect">
              <a:avLst/>
            </a:prstGeom>
            <a:solidFill>
              <a:srgbClr val="D9D3C3"/>
            </a:solidFill>
            <a:ln/>
          </p:spPr>
          <p:txBody>
            <a:bodyPr/>
            <a:lstStyle/>
            <a:p>
              <a:endParaRPr lang="en-IN" sz="1200">
                <a:latin typeface="Georgia" panose="02040502050405020303" pitchFamily="18" charset="0"/>
              </a:endParaRPr>
            </a:p>
          </p:txBody>
        </p:sp>
        <p:sp>
          <p:nvSpPr>
            <p:cNvPr id="32" name="Shape 72">
              <a:extLst>
                <a:ext uri="{FF2B5EF4-FFF2-40B4-BE49-F238E27FC236}">
                  <a16:creationId xmlns:a16="http://schemas.microsoft.com/office/drawing/2014/main" id="{49C6E125-3D7E-D06E-AE19-131105D78358}"/>
                </a:ext>
              </a:extLst>
            </p:cNvPr>
            <p:cNvSpPr/>
            <p:nvPr/>
          </p:nvSpPr>
          <p:spPr>
            <a:xfrm>
              <a:off x="8404273" y="1251046"/>
              <a:ext cx="1440000" cy="2880000"/>
            </a:xfrm>
            <a:prstGeom prst="roundRect">
              <a:avLst>
                <a:gd name="adj" fmla="val 2506"/>
              </a:avLst>
            </a:prstGeom>
            <a:solidFill>
              <a:srgbClr val="FFFFFF"/>
            </a:solidFill>
            <a:ln/>
          </p:spPr>
          <p:txBody>
            <a:bodyPr/>
            <a:lstStyle/>
            <a:p>
              <a:endParaRPr lang="en-IN" sz="900" dirty="0">
                <a:latin typeface="Georgia" panose="02040502050405020303" pitchFamily="18" charset="0"/>
              </a:endParaRPr>
            </a:p>
          </p:txBody>
        </p:sp>
        <p:sp>
          <p:nvSpPr>
            <p:cNvPr id="34" name="Shape 74">
              <a:extLst>
                <a:ext uri="{FF2B5EF4-FFF2-40B4-BE49-F238E27FC236}">
                  <a16:creationId xmlns:a16="http://schemas.microsoft.com/office/drawing/2014/main" id="{9DD34491-955F-DCBE-1C46-163835921B42}"/>
                </a:ext>
              </a:extLst>
            </p:cNvPr>
            <p:cNvSpPr/>
            <p:nvPr/>
          </p:nvSpPr>
          <p:spPr>
            <a:xfrm>
              <a:off x="8404273" y="1251046"/>
              <a:ext cx="1487198" cy="32101"/>
            </a:xfrm>
            <a:prstGeom prst="rect">
              <a:avLst/>
            </a:prstGeom>
            <a:solidFill>
              <a:srgbClr val="0E8B96"/>
            </a:solidFill>
            <a:ln/>
          </p:spPr>
          <p:txBody>
            <a:bodyPr/>
            <a:lstStyle/>
            <a:p>
              <a:endParaRPr lang="en-IN" sz="1200">
                <a:latin typeface="Georgia" panose="02040502050405020303" pitchFamily="18" charset="0"/>
              </a:endParaRPr>
            </a:p>
          </p:txBody>
        </p:sp>
        <p:sp>
          <p:nvSpPr>
            <p:cNvPr id="35" name="Shape 75">
              <a:extLst>
                <a:ext uri="{FF2B5EF4-FFF2-40B4-BE49-F238E27FC236}">
                  <a16:creationId xmlns:a16="http://schemas.microsoft.com/office/drawing/2014/main" id="{EF999126-7544-8D7B-865A-B275E8C57F45}"/>
                </a:ext>
              </a:extLst>
            </p:cNvPr>
            <p:cNvSpPr/>
            <p:nvPr/>
          </p:nvSpPr>
          <p:spPr>
            <a:xfrm>
              <a:off x="8404273" y="1251046"/>
              <a:ext cx="6211" cy="1966184"/>
            </a:xfrm>
            <a:prstGeom prst="rect">
              <a:avLst/>
            </a:prstGeom>
            <a:solidFill>
              <a:srgbClr val="D9D3C3"/>
            </a:solidFill>
            <a:ln/>
          </p:spPr>
          <p:txBody>
            <a:bodyPr/>
            <a:lstStyle/>
            <a:p>
              <a:endParaRPr lang="en-IN" sz="1200">
                <a:latin typeface="Georgia" panose="02040502050405020303" pitchFamily="18" charset="0"/>
              </a:endParaRPr>
            </a:p>
          </p:txBody>
        </p:sp>
        <p:sp>
          <p:nvSpPr>
            <p:cNvPr id="36" name="Shape 76">
              <a:extLst>
                <a:ext uri="{FF2B5EF4-FFF2-40B4-BE49-F238E27FC236}">
                  <a16:creationId xmlns:a16="http://schemas.microsoft.com/office/drawing/2014/main" id="{1B084B19-DC03-56BA-BB01-4B3AB17BA4E6}"/>
                </a:ext>
              </a:extLst>
            </p:cNvPr>
            <p:cNvSpPr/>
            <p:nvPr/>
          </p:nvSpPr>
          <p:spPr>
            <a:xfrm>
              <a:off x="9886501" y="1251046"/>
              <a:ext cx="6211" cy="1966184"/>
            </a:xfrm>
            <a:prstGeom prst="rect">
              <a:avLst/>
            </a:prstGeom>
            <a:solidFill>
              <a:srgbClr val="D9D3C3"/>
            </a:solidFill>
            <a:ln/>
          </p:spPr>
          <p:txBody>
            <a:bodyPr/>
            <a:lstStyle/>
            <a:p>
              <a:endParaRPr lang="en-IN" sz="1200">
                <a:latin typeface="Georgia" panose="02040502050405020303" pitchFamily="18" charset="0"/>
              </a:endParaRPr>
            </a:p>
          </p:txBody>
        </p:sp>
        <p:sp>
          <p:nvSpPr>
            <p:cNvPr id="37" name="Text 77">
              <a:extLst>
                <a:ext uri="{FF2B5EF4-FFF2-40B4-BE49-F238E27FC236}">
                  <a16:creationId xmlns:a16="http://schemas.microsoft.com/office/drawing/2014/main" id="{456E304A-A4EB-5B90-6180-84A7AC309BF9}"/>
                </a:ext>
              </a:extLst>
            </p:cNvPr>
            <p:cNvSpPr/>
            <p:nvPr/>
          </p:nvSpPr>
          <p:spPr>
            <a:xfrm>
              <a:off x="8458200" y="1363585"/>
              <a:ext cx="1468325" cy="308169"/>
            </a:xfrm>
            <a:prstGeom prst="rect">
              <a:avLst/>
            </a:prstGeom>
            <a:noFill/>
            <a:ln/>
          </p:spPr>
          <p:txBody>
            <a:bodyPr wrap="square" lIns="16933" tIns="16933" rIns="16933" bIns="16933" rtlCol="0" anchor="t">
              <a:noAutofit/>
            </a:bodyPr>
            <a:lstStyle/>
            <a:p>
              <a:r>
                <a:rPr lang="en-US" sz="900" b="1" dirty="0">
                  <a:solidFill>
                    <a:srgbClr val="14342B"/>
                  </a:solidFill>
                  <a:latin typeface="Georgia" panose="02040502050405020303" pitchFamily="18" charset="0"/>
                </a:rPr>
                <a:t>Northwest Karnataka </a:t>
              </a:r>
              <a:r>
                <a:rPr lang="en-US" sz="900" b="1" dirty="0">
                  <a:solidFill>
                    <a:srgbClr val="9C3237"/>
                  </a:solidFill>
                  <a:latin typeface="Georgia" panose="02040502050405020303" pitchFamily="18" charset="0"/>
                </a:rPr>
                <a:t>multi-crop</a:t>
              </a:r>
              <a:r>
                <a:rPr lang="en-US" sz="900" b="1" dirty="0">
                  <a:latin typeface="Georgia" panose="02040502050405020303" pitchFamily="18" charset="0"/>
                </a:rPr>
                <a:t> </a:t>
              </a:r>
              <a:r>
                <a:rPr lang="en-US" sz="900" b="1" dirty="0">
                  <a:solidFill>
                    <a:srgbClr val="14342B"/>
                  </a:solidFill>
                  <a:latin typeface="Georgia" panose="02040502050405020303" pitchFamily="18" charset="0"/>
                </a:rPr>
                <a:t>cluster</a:t>
              </a:r>
              <a:endParaRPr lang="en-US" sz="900" b="1" dirty="0">
                <a:latin typeface="Georgia" panose="02040502050405020303" pitchFamily="18" charset="0"/>
              </a:endParaRPr>
            </a:p>
          </p:txBody>
        </p:sp>
        <p:sp>
          <p:nvSpPr>
            <p:cNvPr id="38" name="Shape 78">
              <a:extLst>
                <a:ext uri="{FF2B5EF4-FFF2-40B4-BE49-F238E27FC236}">
                  <a16:creationId xmlns:a16="http://schemas.microsoft.com/office/drawing/2014/main" id="{28FFCD52-678D-363F-AA29-1B30C9EBE312}"/>
                </a:ext>
              </a:extLst>
            </p:cNvPr>
            <p:cNvSpPr/>
            <p:nvPr/>
          </p:nvSpPr>
          <p:spPr>
            <a:xfrm>
              <a:off x="8521050" y="1832074"/>
              <a:ext cx="1253644" cy="8025"/>
            </a:xfrm>
            <a:prstGeom prst="rect">
              <a:avLst/>
            </a:prstGeom>
            <a:solidFill>
              <a:srgbClr val="D9D3C3"/>
            </a:solidFill>
            <a:ln/>
          </p:spPr>
          <p:txBody>
            <a:bodyPr/>
            <a:lstStyle/>
            <a:p>
              <a:endParaRPr lang="en-IN" sz="1200">
                <a:latin typeface="Georgia" panose="02040502050405020303" pitchFamily="18" charset="0"/>
              </a:endParaRPr>
            </a:p>
          </p:txBody>
        </p:sp>
        <p:sp>
          <p:nvSpPr>
            <p:cNvPr id="43" name="Shape 85">
              <a:extLst>
                <a:ext uri="{FF2B5EF4-FFF2-40B4-BE49-F238E27FC236}">
                  <a16:creationId xmlns:a16="http://schemas.microsoft.com/office/drawing/2014/main" id="{9FCF2F5B-BF60-25C4-A61A-C931F917A5F9}"/>
                </a:ext>
              </a:extLst>
            </p:cNvPr>
            <p:cNvSpPr/>
            <p:nvPr/>
          </p:nvSpPr>
          <p:spPr>
            <a:xfrm>
              <a:off x="9978431" y="1251046"/>
              <a:ext cx="1440000" cy="2880000"/>
            </a:xfrm>
            <a:prstGeom prst="roundRect">
              <a:avLst>
                <a:gd name="adj" fmla="val 2506"/>
              </a:avLst>
            </a:prstGeom>
            <a:solidFill>
              <a:srgbClr val="FFFFFF"/>
            </a:solidFill>
            <a:ln/>
          </p:spPr>
          <p:txBody>
            <a:bodyPr/>
            <a:lstStyle/>
            <a:p>
              <a:endParaRPr lang="en-IN" sz="1200" dirty="0">
                <a:latin typeface="Georgia" panose="02040502050405020303" pitchFamily="18" charset="0"/>
              </a:endParaRPr>
            </a:p>
          </p:txBody>
        </p:sp>
        <p:sp>
          <p:nvSpPr>
            <p:cNvPr id="45" name="Shape 87">
              <a:extLst>
                <a:ext uri="{FF2B5EF4-FFF2-40B4-BE49-F238E27FC236}">
                  <a16:creationId xmlns:a16="http://schemas.microsoft.com/office/drawing/2014/main" id="{DDEF0F71-61A7-D095-58A8-A06FAEE08394}"/>
                </a:ext>
              </a:extLst>
            </p:cNvPr>
            <p:cNvSpPr/>
            <p:nvPr/>
          </p:nvSpPr>
          <p:spPr>
            <a:xfrm>
              <a:off x="9978431" y="1251046"/>
              <a:ext cx="1487198" cy="32101"/>
            </a:xfrm>
            <a:prstGeom prst="rect">
              <a:avLst/>
            </a:prstGeom>
            <a:solidFill>
              <a:srgbClr val="E8A33D"/>
            </a:solidFill>
            <a:ln/>
          </p:spPr>
          <p:txBody>
            <a:bodyPr/>
            <a:lstStyle/>
            <a:p>
              <a:endParaRPr lang="en-IN" sz="1200">
                <a:latin typeface="Georgia" panose="02040502050405020303" pitchFamily="18" charset="0"/>
              </a:endParaRPr>
            </a:p>
          </p:txBody>
        </p:sp>
        <p:sp>
          <p:nvSpPr>
            <p:cNvPr id="46" name="Shape 88">
              <a:extLst>
                <a:ext uri="{FF2B5EF4-FFF2-40B4-BE49-F238E27FC236}">
                  <a16:creationId xmlns:a16="http://schemas.microsoft.com/office/drawing/2014/main" id="{7837B2A0-A1BF-03F5-A9F6-C205123FFBF6}"/>
                </a:ext>
              </a:extLst>
            </p:cNvPr>
            <p:cNvSpPr/>
            <p:nvPr/>
          </p:nvSpPr>
          <p:spPr>
            <a:xfrm>
              <a:off x="9978431" y="1251046"/>
              <a:ext cx="6211" cy="1966184"/>
            </a:xfrm>
            <a:prstGeom prst="rect">
              <a:avLst/>
            </a:prstGeom>
            <a:solidFill>
              <a:srgbClr val="D9D3C3"/>
            </a:solidFill>
            <a:ln/>
          </p:spPr>
          <p:txBody>
            <a:bodyPr/>
            <a:lstStyle/>
            <a:p>
              <a:endParaRPr lang="en-IN" sz="1200">
                <a:latin typeface="Georgia" panose="02040502050405020303" pitchFamily="18" charset="0"/>
              </a:endParaRPr>
            </a:p>
          </p:txBody>
        </p:sp>
        <p:sp>
          <p:nvSpPr>
            <p:cNvPr id="47" name="Shape 89">
              <a:extLst>
                <a:ext uri="{FF2B5EF4-FFF2-40B4-BE49-F238E27FC236}">
                  <a16:creationId xmlns:a16="http://schemas.microsoft.com/office/drawing/2014/main" id="{B774FB2B-763A-5A49-C4DC-31ADA47E1015}"/>
                </a:ext>
              </a:extLst>
            </p:cNvPr>
            <p:cNvSpPr/>
            <p:nvPr/>
          </p:nvSpPr>
          <p:spPr>
            <a:xfrm>
              <a:off x="11460660" y="1251046"/>
              <a:ext cx="6211" cy="1966184"/>
            </a:xfrm>
            <a:prstGeom prst="rect">
              <a:avLst/>
            </a:prstGeom>
            <a:solidFill>
              <a:srgbClr val="D9D3C3"/>
            </a:solidFill>
            <a:ln/>
          </p:spPr>
          <p:txBody>
            <a:bodyPr/>
            <a:lstStyle/>
            <a:p>
              <a:endParaRPr lang="en-IN" sz="1200">
                <a:latin typeface="Georgia" panose="02040502050405020303" pitchFamily="18" charset="0"/>
              </a:endParaRPr>
            </a:p>
          </p:txBody>
        </p:sp>
        <p:sp>
          <p:nvSpPr>
            <p:cNvPr id="48" name="Text 90">
              <a:extLst>
                <a:ext uri="{FF2B5EF4-FFF2-40B4-BE49-F238E27FC236}">
                  <a16:creationId xmlns:a16="http://schemas.microsoft.com/office/drawing/2014/main" id="{A5680D24-7367-D1C7-BAE4-028C1DEBEDAA}"/>
                </a:ext>
              </a:extLst>
            </p:cNvPr>
            <p:cNvSpPr/>
            <p:nvPr/>
          </p:nvSpPr>
          <p:spPr>
            <a:xfrm>
              <a:off x="10050464" y="1363585"/>
              <a:ext cx="1303336" cy="308169"/>
            </a:xfrm>
            <a:prstGeom prst="rect">
              <a:avLst/>
            </a:prstGeom>
            <a:noFill/>
            <a:ln/>
          </p:spPr>
          <p:txBody>
            <a:bodyPr wrap="square" lIns="16933" tIns="16933" rIns="16933" bIns="16933" rtlCol="0" anchor="t">
              <a:noAutofit/>
            </a:bodyPr>
            <a:lstStyle/>
            <a:p>
              <a:r>
                <a:rPr lang="en-US" sz="900" b="1" dirty="0">
                  <a:solidFill>
                    <a:srgbClr val="14342B"/>
                  </a:solidFill>
                  <a:latin typeface="Georgia" panose="02040502050405020303" pitchFamily="18" charset="0"/>
                </a:rPr>
                <a:t>Western Ghats </a:t>
              </a:r>
              <a:r>
                <a:rPr lang="en-US" sz="900" b="1" dirty="0">
                  <a:solidFill>
                    <a:srgbClr val="9C3237"/>
                  </a:solidFill>
                  <a:latin typeface="Georgia" panose="02040502050405020303" pitchFamily="18" charset="0"/>
                </a:rPr>
                <a:t>Banana-Pineapple</a:t>
              </a:r>
              <a:r>
                <a:rPr lang="en-US" sz="900" b="1" dirty="0">
                  <a:latin typeface="Georgia" panose="02040502050405020303" pitchFamily="18" charset="0"/>
                </a:rPr>
                <a:t> </a:t>
              </a:r>
              <a:r>
                <a:rPr lang="en-US" sz="900" b="1" dirty="0">
                  <a:solidFill>
                    <a:srgbClr val="14342B"/>
                  </a:solidFill>
                  <a:latin typeface="Georgia" panose="02040502050405020303" pitchFamily="18" charset="0"/>
                </a:rPr>
                <a:t>cluster</a:t>
              </a:r>
              <a:endParaRPr lang="en-US" sz="900" b="1" dirty="0">
                <a:latin typeface="Georgia" panose="02040502050405020303" pitchFamily="18" charset="0"/>
              </a:endParaRPr>
            </a:p>
          </p:txBody>
        </p:sp>
        <p:sp>
          <p:nvSpPr>
            <p:cNvPr id="49" name="Shape 91">
              <a:extLst>
                <a:ext uri="{FF2B5EF4-FFF2-40B4-BE49-F238E27FC236}">
                  <a16:creationId xmlns:a16="http://schemas.microsoft.com/office/drawing/2014/main" id="{5F5045B5-F4CD-F918-BC4A-DEC9B777E767}"/>
                </a:ext>
              </a:extLst>
            </p:cNvPr>
            <p:cNvSpPr/>
            <p:nvPr/>
          </p:nvSpPr>
          <p:spPr>
            <a:xfrm>
              <a:off x="10095208" y="1832074"/>
              <a:ext cx="1253644" cy="8025"/>
            </a:xfrm>
            <a:prstGeom prst="rect">
              <a:avLst/>
            </a:prstGeom>
            <a:solidFill>
              <a:srgbClr val="D9D3C3"/>
            </a:solidFill>
            <a:ln/>
          </p:spPr>
          <p:txBody>
            <a:bodyPr/>
            <a:lstStyle/>
            <a:p>
              <a:endParaRPr lang="en-IN" sz="1200">
                <a:latin typeface="Georgia" panose="02040502050405020303" pitchFamily="18" charset="0"/>
              </a:endParaRPr>
            </a:p>
          </p:txBody>
        </p:sp>
        <p:sp>
          <p:nvSpPr>
            <p:cNvPr id="133" name="Text 14">
              <a:extLst>
                <a:ext uri="{FF2B5EF4-FFF2-40B4-BE49-F238E27FC236}">
                  <a16:creationId xmlns:a16="http://schemas.microsoft.com/office/drawing/2014/main" id="{EEFB2055-AE68-E5E5-B9A1-91991C8F6889}"/>
                </a:ext>
              </a:extLst>
            </p:cNvPr>
            <p:cNvSpPr/>
            <p:nvPr/>
          </p:nvSpPr>
          <p:spPr>
            <a:xfrm>
              <a:off x="632136" y="1963242"/>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KEY CROPS PRODUCTION</a:t>
              </a:r>
              <a:endParaRPr lang="en-US" sz="700" dirty="0">
                <a:latin typeface="Georgia" panose="02040502050405020303" pitchFamily="18" charset="0"/>
              </a:endParaRPr>
            </a:p>
          </p:txBody>
        </p:sp>
        <p:sp>
          <p:nvSpPr>
            <p:cNvPr id="134" name="Text 15">
              <a:extLst>
                <a:ext uri="{FF2B5EF4-FFF2-40B4-BE49-F238E27FC236}">
                  <a16:creationId xmlns:a16="http://schemas.microsoft.com/office/drawing/2014/main" id="{6A9EC221-82F9-B527-0823-386D89FCBBB1}"/>
                </a:ext>
              </a:extLst>
            </p:cNvPr>
            <p:cNvSpPr/>
            <p:nvPr/>
          </p:nvSpPr>
          <p:spPr>
            <a:xfrm>
              <a:off x="632136" y="2114678"/>
              <a:ext cx="1344358" cy="310842"/>
            </a:xfrm>
            <a:prstGeom prst="rect">
              <a:avLst/>
            </a:prstGeom>
            <a:noFill/>
            <a:ln/>
          </p:spPr>
          <p:txBody>
            <a:bodyPr wrap="square" lIns="16933" tIns="16933" rIns="16933" bIns="16933" rtlCol="0" anchor="t">
              <a:normAutofit/>
            </a:bodyPr>
            <a:lstStyle/>
            <a:p>
              <a:r>
                <a:rPr lang="en-US" sz="1400" b="1" dirty="0">
                  <a:solidFill>
                    <a:srgbClr val="0B6E78"/>
                  </a:solidFill>
                  <a:latin typeface="Georgia" panose="02040502050405020303" pitchFamily="18" charset="0"/>
                  <a:ea typeface="Arial" pitchFamily="34" charset="-122"/>
                  <a:cs typeface="Arial" pitchFamily="34" charset="-120"/>
                </a:rPr>
                <a:t>3.13 </a:t>
              </a:r>
              <a:r>
                <a:rPr lang="en-US" sz="1400" dirty="0">
                  <a:latin typeface="Georgia" panose="02040502050405020303" pitchFamily="18" charset="0"/>
                  <a:ea typeface="Arial" pitchFamily="34" charset="-122"/>
                  <a:cs typeface="Arial" pitchFamily="34" charset="-120"/>
                </a:rPr>
                <a:t>million MT</a:t>
              </a:r>
              <a:endParaRPr lang="en-US" sz="1400" dirty="0">
                <a:latin typeface="Georgia" panose="02040502050405020303" pitchFamily="18" charset="0"/>
              </a:endParaRPr>
            </a:p>
          </p:txBody>
        </p:sp>
        <p:sp>
          <p:nvSpPr>
            <p:cNvPr id="135" name="Text 14">
              <a:extLst>
                <a:ext uri="{FF2B5EF4-FFF2-40B4-BE49-F238E27FC236}">
                  <a16:creationId xmlns:a16="http://schemas.microsoft.com/office/drawing/2014/main" id="{C505F122-33A7-C680-FDE6-425B6E11FEBC}"/>
                </a:ext>
              </a:extLst>
            </p:cNvPr>
            <p:cNvSpPr/>
            <p:nvPr/>
          </p:nvSpPr>
          <p:spPr>
            <a:xfrm>
              <a:off x="604152" y="3019522"/>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ESTIMATED % GOING TO LOCAL PROCESSING</a:t>
              </a:r>
              <a:endParaRPr lang="en-US" sz="700" dirty="0">
                <a:latin typeface="Georgia" panose="02040502050405020303" pitchFamily="18" charset="0"/>
              </a:endParaRPr>
            </a:p>
          </p:txBody>
        </p:sp>
        <p:sp>
          <p:nvSpPr>
            <p:cNvPr id="136" name="Text 15">
              <a:extLst>
                <a:ext uri="{FF2B5EF4-FFF2-40B4-BE49-F238E27FC236}">
                  <a16:creationId xmlns:a16="http://schemas.microsoft.com/office/drawing/2014/main" id="{F0F39570-DBEA-1E11-3ACD-B58D75E5D91D}"/>
                </a:ext>
              </a:extLst>
            </p:cNvPr>
            <p:cNvSpPr/>
            <p:nvPr/>
          </p:nvSpPr>
          <p:spPr>
            <a:xfrm>
              <a:off x="632136" y="3267949"/>
              <a:ext cx="1344358" cy="493537"/>
            </a:xfrm>
            <a:prstGeom prst="rect">
              <a:avLst/>
            </a:prstGeom>
            <a:noFill/>
            <a:ln/>
          </p:spPr>
          <p:txBody>
            <a:bodyPr wrap="square" lIns="16933" tIns="16933" rIns="16933" bIns="16933" rtlCol="0" anchor="t">
              <a:noAutofit/>
            </a:bodyPr>
            <a:lstStyle/>
            <a:p>
              <a:r>
                <a:rPr lang="en-US" sz="1400" b="1" dirty="0">
                  <a:solidFill>
                    <a:srgbClr val="0B6E78"/>
                  </a:solidFill>
                  <a:latin typeface="Georgia" panose="02040502050405020303" pitchFamily="18" charset="0"/>
                  <a:ea typeface="Arial" pitchFamily="34" charset="-122"/>
                  <a:cs typeface="Arial" pitchFamily="34" charset="-120"/>
                </a:rPr>
                <a:t>0% </a:t>
              </a:r>
              <a:endParaRPr lang="en-US" sz="1400" b="1" dirty="0">
                <a:latin typeface="Georgia" panose="02040502050405020303" pitchFamily="18" charset="0"/>
                <a:ea typeface="Arial" pitchFamily="34" charset="-122"/>
                <a:cs typeface="Arial" pitchFamily="34" charset="-120"/>
              </a:endParaRPr>
            </a:p>
          </p:txBody>
        </p:sp>
        <p:sp>
          <p:nvSpPr>
            <p:cNvPr id="138" name="Text 14">
              <a:extLst>
                <a:ext uri="{FF2B5EF4-FFF2-40B4-BE49-F238E27FC236}">
                  <a16:creationId xmlns:a16="http://schemas.microsoft.com/office/drawing/2014/main" id="{F49ED683-8239-E2B5-EEDB-E5257FBCF28B}"/>
                </a:ext>
              </a:extLst>
            </p:cNvPr>
            <p:cNvSpPr/>
            <p:nvPr/>
          </p:nvSpPr>
          <p:spPr>
            <a:xfrm>
              <a:off x="5375190" y="1960664"/>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KEY CROPS PRODUCTION</a:t>
              </a:r>
              <a:endParaRPr lang="en-US" sz="700" dirty="0">
                <a:latin typeface="Georgia" panose="02040502050405020303" pitchFamily="18" charset="0"/>
              </a:endParaRPr>
            </a:p>
          </p:txBody>
        </p:sp>
        <p:sp>
          <p:nvSpPr>
            <p:cNvPr id="139" name="Text 15">
              <a:extLst>
                <a:ext uri="{FF2B5EF4-FFF2-40B4-BE49-F238E27FC236}">
                  <a16:creationId xmlns:a16="http://schemas.microsoft.com/office/drawing/2014/main" id="{88014C39-EE07-59B0-DD1E-B1806A999313}"/>
                </a:ext>
              </a:extLst>
            </p:cNvPr>
            <p:cNvSpPr/>
            <p:nvPr/>
          </p:nvSpPr>
          <p:spPr>
            <a:xfrm>
              <a:off x="5362767" y="2112101"/>
              <a:ext cx="1344358" cy="310842"/>
            </a:xfrm>
            <a:prstGeom prst="rect">
              <a:avLst/>
            </a:prstGeom>
            <a:noFill/>
            <a:ln/>
          </p:spPr>
          <p:txBody>
            <a:bodyPr wrap="square" lIns="16933" tIns="16933" rIns="16933" bIns="16933" rtlCol="0" anchor="t">
              <a:normAutofit fontScale="92500"/>
            </a:bodyPr>
            <a:lstStyle/>
            <a:p>
              <a:r>
                <a:rPr lang="en-US" sz="1400" b="1" dirty="0">
                  <a:solidFill>
                    <a:srgbClr val="0B6E78"/>
                  </a:solidFill>
                  <a:latin typeface="Georgia" panose="02040502050405020303" pitchFamily="18" charset="0"/>
                  <a:ea typeface="Arial" pitchFamily="34" charset="-122"/>
                  <a:cs typeface="Arial" pitchFamily="34" charset="-120"/>
                </a:rPr>
                <a:t>1.80 </a:t>
              </a:r>
              <a:r>
                <a:rPr lang="en-US" sz="1400" dirty="0">
                  <a:latin typeface="Georgia" panose="02040502050405020303" pitchFamily="18" charset="0"/>
                  <a:ea typeface="Arial" pitchFamily="34" charset="-122"/>
                  <a:cs typeface="Arial" pitchFamily="34" charset="-120"/>
                </a:rPr>
                <a:t>million MT</a:t>
              </a:r>
              <a:endParaRPr lang="en-US" sz="1400" dirty="0">
                <a:latin typeface="Georgia" panose="02040502050405020303" pitchFamily="18" charset="0"/>
              </a:endParaRPr>
            </a:p>
          </p:txBody>
        </p:sp>
        <p:sp>
          <p:nvSpPr>
            <p:cNvPr id="143" name="Text 14">
              <a:extLst>
                <a:ext uri="{FF2B5EF4-FFF2-40B4-BE49-F238E27FC236}">
                  <a16:creationId xmlns:a16="http://schemas.microsoft.com/office/drawing/2014/main" id="{80CCD4D3-5BBE-92F6-18AF-463AD38C0397}"/>
                </a:ext>
              </a:extLst>
            </p:cNvPr>
            <p:cNvSpPr/>
            <p:nvPr/>
          </p:nvSpPr>
          <p:spPr>
            <a:xfrm>
              <a:off x="3813420" y="1960665"/>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KEY CROPS PRODUCTION</a:t>
              </a:r>
              <a:endParaRPr lang="en-US" sz="700" dirty="0">
                <a:latin typeface="Georgia" panose="02040502050405020303" pitchFamily="18" charset="0"/>
              </a:endParaRPr>
            </a:p>
          </p:txBody>
        </p:sp>
        <p:sp>
          <p:nvSpPr>
            <p:cNvPr id="144" name="Text 15">
              <a:extLst>
                <a:ext uri="{FF2B5EF4-FFF2-40B4-BE49-F238E27FC236}">
                  <a16:creationId xmlns:a16="http://schemas.microsoft.com/office/drawing/2014/main" id="{44710ECC-9ED7-8CB2-3417-FE3A4A6045D9}"/>
                </a:ext>
              </a:extLst>
            </p:cNvPr>
            <p:cNvSpPr/>
            <p:nvPr/>
          </p:nvSpPr>
          <p:spPr>
            <a:xfrm>
              <a:off x="3789293" y="2112101"/>
              <a:ext cx="1344358" cy="310842"/>
            </a:xfrm>
            <a:prstGeom prst="rect">
              <a:avLst/>
            </a:prstGeom>
            <a:noFill/>
            <a:ln/>
          </p:spPr>
          <p:txBody>
            <a:bodyPr wrap="square" lIns="16933" tIns="16933" rIns="16933" bIns="16933" rtlCol="0" anchor="t">
              <a:normAutofit fontScale="92500"/>
            </a:bodyPr>
            <a:lstStyle/>
            <a:p>
              <a:r>
                <a:rPr lang="en-US" sz="1400" b="1" dirty="0">
                  <a:solidFill>
                    <a:srgbClr val="0B6E78"/>
                  </a:solidFill>
                  <a:latin typeface="Georgia" panose="02040502050405020303" pitchFamily="18" charset="0"/>
                  <a:ea typeface="Arial" pitchFamily="34" charset="-122"/>
                  <a:cs typeface="Arial" pitchFamily="34" charset="-120"/>
                </a:rPr>
                <a:t>0.34 </a:t>
              </a:r>
              <a:r>
                <a:rPr lang="en-US" sz="1400" dirty="0">
                  <a:latin typeface="Georgia" panose="02040502050405020303" pitchFamily="18" charset="0"/>
                  <a:ea typeface="Arial" pitchFamily="34" charset="-122"/>
                  <a:cs typeface="Arial" pitchFamily="34" charset="-120"/>
                </a:rPr>
                <a:t>million MT</a:t>
              </a:r>
              <a:endParaRPr lang="en-US" sz="1400" dirty="0">
                <a:latin typeface="Georgia" panose="02040502050405020303" pitchFamily="18" charset="0"/>
              </a:endParaRPr>
            </a:p>
          </p:txBody>
        </p:sp>
        <p:sp>
          <p:nvSpPr>
            <p:cNvPr id="148" name="Text 14">
              <a:extLst>
                <a:ext uri="{FF2B5EF4-FFF2-40B4-BE49-F238E27FC236}">
                  <a16:creationId xmlns:a16="http://schemas.microsoft.com/office/drawing/2014/main" id="{1EA8F4A6-44E7-BFAC-14BF-619FE1D4A2BD}"/>
                </a:ext>
              </a:extLst>
            </p:cNvPr>
            <p:cNvSpPr/>
            <p:nvPr/>
          </p:nvSpPr>
          <p:spPr>
            <a:xfrm>
              <a:off x="2222778" y="1960665"/>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KEY CROPS PRODUCTION</a:t>
              </a:r>
              <a:endParaRPr lang="en-US" sz="700" dirty="0">
                <a:latin typeface="Georgia" panose="02040502050405020303" pitchFamily="18" charset="0"/>
              </a:endParaRPr>
            </a:p>
          </p:txBody>
        </p:sp>
        <p:sp>
          <p:nvSpPr>
            <p:cNvPr id="149" name="Text 15">
              <a:extLst>
                <a:ext uri="{FF2B5EF4-FFF2-40B4-BE49-F238E27FC236}">
                  <a16:creationId xmlns:a16="http://schemas.microsoft.com/office/drawing/2014/main" id="{9322EAE4-0F43-7D29-5DAE-79E4D41B422A}"/>
                </a:ext>
              </a:extLst>
            </p:cNvPr>
            <p:cNvSpPr/>
            <p:nvPr/>
          </p:nvSpPr>
          <p:spPr>
            <a:xfrm>
              <a:off x="2188880" y="2098433"/>
              <a:ext cx="1344358" cy="310842"/>
            </a:xfrm>
            <a:prstGeom prst="rect">
              <a:avLst/>
            </a:prstGeom>
            <a:noFill/>
            <a:ln/>
          </p:spPr>
          <p:txBody>
            <a:bodyPr wrap="square" lIns="16933" tIns="16933" rIns="16933" bIns="16933" rtlCol="0" anchor="t">
              <a:normAutofit fontScale="92500"/>
            </a:bodyPr>
            <a:lstStyle/>
            <a:p>
              <a:r>
                <a:rPr lang="en-US" sz="1400" b="1" dirty="0">
                  <a:solidFill>
                    <a:srgbClr val="0B6E78"/>
                  </a:solidFill>
                  <a:latin typeface="Georgia" panose="02040502050405020303" pitchFamily="18" charset="0"/>
                  <a:ea typeface="Arial" pitchFamily="34" charset="-122"/>
                  <a:cs typeface="Arial" pitchFamily="34" charset="-120"/>
                </a:rPr>
                <a:t>1.40 </a:t>
              </a:r>
              <a:r>
                <a:rPr lang="en-US" sz="1400" dirty="0">
                  <a:latin typeface="Georgia" panose="02040502050405020303" pitchFamily="18" charset="0"/>
                  <a:ea typeface="Arial" pitchFamily="34" charset="-122"/>
                  <a:cs typeface="Arial" pitchFamily="34" charset="-120"/>
                </a:rPr>
                <a:t>million MT</a:t>
              </a:r>
              <a:endParaRPr lang="en-US" sz="1400" dirty="0">
                <a:latin typeface="Georgia" panose="02040502050405020303" pitchFamily="18" charset="0"/>
              </a:endParaRPr>
            </a:p>
          </p:txBody>
        </p:sp>
        <p:sp>
          <p:nvSpPr>
            <p:cNvPr id="153" name="Text 14">
              <a:extLst>
                <a:ext uri="{FF2B5EF4-FFF2-40B4-BE49-F238E27FC236}">
                  <a16:creationId xmlns:a16="http://schemas.microsoft.com/office/drawing/2014/main" id="{C16F6A30-43BA-9343-4F1C-27F7FAD5305E}"/>
                </a:ext>
              </a:extLst>
            </p:cNvPr>
            <p:cNvSpPr/>
            <p:nvPr/>
          </p:nvSpPr>
          <p:spPr>
            <a:xfrm>
              <a:off x="6973364" y="1960048"/>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KEY CROPS PRODUCTION</a:t>
              </a:r>
              <a:endParaRPr lang="en-US" sz="700" dirty="0">
                <a:latin typeface="Georgia" panose="02040502050405020303" pitchFamily="18" charset="0"/>
              </a:endParaRPr>
            </a:p>
          </p:txBody>
        </p:sp>
        <p:sp>
          <p:nvSpPr>
            <p:cNvPr id="154" name="Text 15">
              <a:extLst>
                <a:ext uri="{FF2B5EF4-FFF2-40B4-BE49-F238E27FC236}">
                  <a16:creationId xmlns:a16="http://schemas.microsoft.com/office/drawing/2014/main" id="{2DFAC5D7-1268-CE37-BA0B-C9720E6287B6}"/>
                </a:ext>
              </a:extLst>
            </p:cNvPr>
            <p:cNvSpPr/>
            <p:nvPr/>
          </p:nvSpPr>
          <p:spPr>
            <a:xfrm>
              <a:off x="6962393" y="2098433"/>
              <a:ext cx="1344358" cy="310842"/>
            </a:xfrm>
            <a:prstGeom prst="rect">
              <a:avLst/>
            </a:prstGeom>
            <a:noFill/>
            <a:ln/>
          </p:spPr>
          <p:txBody>
            <a:bodyPr wrap="square" lIns="16933" tIns="16933" rIns="16933" bIns="16933" rtlCol="0" anchor="t">
              <a:normAutofit fontScale="92500"/>
            </a:bodyPr>
            <a:lstStyle/>
            <a:p>
              <a:r>
                <a:rPr lang="en-US" sz="1400" b="1" dirty="0">
                  <a:solidFill>
                    <a:srgbClr val="0B6E78"/>
                  </a:solidFill>
                  <a:latin typeface="Georgia" panose="02040502050405020303" pitchFamily="18" charset="0"/>
                  <a:ea typeface="Arial" pitchFamily="34" charset="-122"/>
                  <a:cs typeface="Arial" pitchFamily="34" charset="-120"/>
                </a:rPr>
                <a:t>2.34 </a:t>
              </a:r>
              <a:r>
                <a:rPr lang="en-US" sz="1400" dirty="0">
                  <a:latin typeface="Georgia" panose="02040502050405020303" pitchFamily="18" charset="0"/>
                  <a:ea typeface="Arial" pitchFamily="34" charset="-122"/>
                  <a:cs typeface="Arial" pitchFamily="34" charset="-120"/>
                </a:rPr>
                <a:t>million MT</a:t>
              </a:r>
              <a:endParaRPr lang="en-US" sz="1400" dirty="0">
                <a:latin typeface="Georgia" panose="02040502050405020303" pitchFamily="18" charset="0"/>
              </a:endParaRPr>
            </a:p>
          </p:txBody>
        </p:sp>
        <p:sp>
          <p:nvSpPr>
            <p:cNvPr id="158" name="Text 14">
              <a:extLst>
                <a:ext uri="{FF2B5EF4-FFF2-40B4-BE49-F238E27FC236}">
                  <a16:creationId xmlns:a16="http://schemas.microsoft.com/office/drawing/2014/main" id="{8D10246B-E3D8-713D-F681-CA68B69F1F7F}"/>
                </a:ext>
              </a:extLst>
            </p:cNvPr>
            <p:cNvSpPr/>
            <p:nvPr/>
          </p:nvSpPr>
          <p:spPr>
            <a:xfrm>
              <a:off x="8521050" y="1961124"/>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KEY CROPS PRODUCTION</a:t>
              </a:r>
              <a:endParaRPr lang="en-US" sz="700" dirty="0">
                <a:latin typeface="Georgia" panose="02040502050405020303" pitchFamily="18" charset="0"/>
              </a:endParaRPr>
            </a:p>
          </p:txBody>
        </p:sp>
        <p:sp>
          <p:nvSpPr>
            <p:cNvPr id="159" name="Text 15">
              <a:extLst>
                <a:ext uri="{FF2B5EF4-FFF2-40B4-BE49-F238E27FC236}">
                  <a16:creationId xmlns:a16="http://schemas.microsoft.com/office/drawing/2014/main" id="{23DA1D35-6DB2-22D1-CBA2-5A1DC84AD1F8}"/>
                </a:ext>
              </a:extLst>
            </p:cNvPr>
            <p:cNvSpPr/>
            <p:nvPr/>
          </p:nvSpPr>
          <p:spPr>
            <a:xfrm>
              <a:off x="8521050" y="2112101"/>
              <a:ext cx="1344358" cy="310842"/>
            </a:xfrm>
            <a:prstGeom prst="rect">
              <a:avLst/>
            </a:prstGeom>
            <a:noFill/>
            <a:ln/>
          </p:spPr>
          <p:txBody>
            <a:bodyPr wrap="square" lIns="16933" tIns="16933" rIns="16933" bIns="16933" rtlCol="0" anchor="t">
              <a:normAutofit fontScale="92500"/>
            </a:bodyPr>
            <a:lstStyle/>
            <a:p>
              <a:r>
                <a:rPr lang="en-US" sz="1400" b="1" dirty="0">
                  <a:solidFill>
                    <a:srgbClr val="0B6E78"/>
                  </a:solidFill>
                  <a:latin typeface="Georgia" panose="02040502050405020303" pitchFamily="18" charset="0"/>
                  <a:ea typeface="Arial" pitchFamily="34" charset="-122"/>
                  <a:cs typeface="Arial" pitchFamily="34" charset="-120"/>
                </a:rPr>
                <a:t>0.46 </a:t>
              </a:r>
              <a:r>
                <a:rPr lang="en-US" sz="1400" dirty="0">
                  <a:latin typeface="Georgia" panose="02040502050405020303" pitchFamily="18" charset="0"/>
                  <a:ea typeface="Arial" pitchFamily="34" charset="-122"/>
                  <a:cs typeface="Arial" pitchFamily="34" charset="-120"/>
                </a:rPr>
                <a:t>million MT</a:t>
              </a:r>
              <a:endParaRPr lang="en-US" sz="1400" dirty="0">
                <a:latin typeface="Georgia" panose="02040502050405020303" pitchFamily="18" charset="0"/>
              </a:endParaRPr>
            </a:p>
          </p:txBody>
        </p:sp>
        <p:sp>
          <p:nvSpPr>
            <p:cNvPr id="163" name="Text 14">
              <a:extLst>
                <a:ext uri="{FF2B5EF4-FFF2-40B4-BE49-F238E27FC236}">
                  <a16:creationId xmlns:a16="http://schemas.microsoft.com/office/drawing/2014/main" id="{AA445864-2E01-0216-C630-9315E9414DF7}"/>
                </a:ext>
              </a:extLst>
            </p:cNvPr>
            <p:cNvSpPr/>
            <p:nvPr/>
          </p:nvSpPr>
          <p:spPr>
            <a:xfrm>
              <a:off x="10082164" y="1960048"/>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KEY CROPS PRODUCTION</a:t>
              </a:r>
              <a:endParaRPr lang="en-US" sz="700" dirty="0">
                <a:latin typeface="Georgia" panose="02040502050405020303" pitchFamily="18" charset="0"/>
              </a:endParaRPr>
            </a:p>
          </p:txBody>
        </p:sp>
        <p:sp>
          <p:nvSpPr>
            <p:cNvPr id="164" name="Text 15">
              <a:extLst>
                <a:ext uri="{FF2B5EF4-FFF2-40B4-BE49-F238E27FC236}">
                  <a16:creationId xmlns:a16="http://schemas.microsoft.com/office/drawing/2014/main" id="{3E61D00D-335E-FAB2-A4D7-D47C7839FB24}"/>
                </a:ext>
              </a:extLst>
            </p:cNvPr>
            <p:cNvSpPr/>
            <p:nvPr/>
          </p:nvSpPr>
          <p:spPr>
            <a:xfrm>
              <a:off x="10066901" y="2112101"/>
              <a:ext cx="1344358" cy="310842"/>
            </a:xfrm>
            <a:prstGeom prst="rect">
              <a:avLst/>
            </a:prstGeom>
            <a:noFill/>
            <a:ln/>
          </p:spPr>
          <p:txBody>
            <a:bodyPr wrap="square" lIns="16933" tIns="16933" rIns="16933" bIns="16933" rtlCol="0" anchor="t">
              <a:normAutofit fontScale="92500"/>
            </a:bodyPr>
            <a:lstStyle/>
            <a:p>
              <a:r>
                <a:rPr lang="en-US" sz="1400" b="1" dirty="0">
                  <a:solidFill>
                    <a:srgbClr val="0B6E78"/>
                  </a:solidFill>
                  <a:latin typeface="Georgia" panose="02040502050405020303" pitchFamily="18" charset="0"/>
                  <a:ea typeface="Arial" pitchFamily="34" charset="-122"/>
                  <a:cs typeface="Arial" pitchFamily="34" charset="-120"/>
                </a:rPr>
                <a:t>0.39 </a:t>
              </a:r>
              <a:r>
                <a:rPr lang="en-US" sz="1400" dirty="0">
                  <a:latin typeface="Georgia" panose="02040502050405020303" pitchFamily="18" charset="0"/>
                  <a:ea typeface="Arial" pitchFamily="34" charset="-122"/>
                  <a:cs typeface="Arial" pitchFamily="34" charset="-120"/>
                </a:rPr>
                <a:t>million MT</a:t>
              </a:r>
              <a:endParaRPr lang="en-US" sz="1400" dirty="0">
                <a:latin typeface="Georgia" panose="02040502050405020303" pitchFamily="18" charset="0"/>
              </a:endParaRPr>
            </a:p>
          </p:txBody>
        </p:sp>
        <p:sp>
          <p:nvSpPr>
            <p:cNvPr id="168" name="Text 15">
              <a:extLst>
                <a:ext uri="{FF2B5EF4-FFF2-40B4-BE49-F238E27FC236}">
                  <a16:creationId xmlns:a16="http://schemas.microsoft.com/office/drawing/2014/main" id="{F18069B6-7737-70E1-ADDA-1A527253598B}"/>
                </a:ext>
              </a:extLst>
            </p:cNvPr>
            <p:cNvSpPr/>
            <p:nvPr/>
          </p:nvSpPr>
          <p:spPr>
            <a:xfrm>
              <a:off x="2178979" y="3289387"/>
              <a:ext cx="1344358" cy="493537"/>
            </a:xfrm>
            <a:prstGeom prst="rect">
              <a:avLst/>
            </a:prstGeom>
            <a:noFill/>
            <a:ln/>
          </p:spPr>
          <p:txBody>
            <a:bodyPr wrap="square" lIns="16933" tIns="16933" rIns="16933" bIns="16933" rtlCol="0" anchor="t">
              <a:normAutofit/>
            </a:bodyPr>
            <a:lstStyle/>
            <a:p>
              <a:r>
                <a:rPr lang="en-US" sz="1400" b="1" dirty="0">
                  <a:solidFill>
                    <a:srgbClr val="0B6E78"/>
                  </a:solidFill>
                  <a:latin typeface="Georgia" panose="02040502050405020303" pitchFamily="18" charset="0"/>
                  <a:ea typeface="Arial" pitchFamily="34" charset="-122"/>
                  <a:cs typeface="Arial" pitchFamily="34" charset="-120"/>
                </a:rPr>
                <a:t>0%</a:t>
              </a:r>
              <a:endParaRPr lang="en-US" sz="1400" b="1" dirty="0">
                <a:latin typeface="Georgia" panose="02040502050405020303" pitchFamily="18" charset="0"/>
                <a:ea typeface="Arial" pitchFamily="34" charset="-122"/>
                <a:cs typeface="Arial" pitchFamily="34" charset="-120"/>
              </a:endParaRPr>
            </a:p>
          </p:txBody>
        </p:sp>
        <p:sp>
          <p:nvSpPr>
            <p:cNvPr id="169" name="Text 15">
              <a:extLst>
                <a:ext uri="{FF2B5EF4-FFF2-40B4-BE49-F238E27FC236}">
                  <a16:creationId xmlns:a16="http://schemas.microsoft.com/office/drawing/2014/main" id="{3963F2EC-52EA-907D-1390-1DDDDD28DF14}"/>
                </a:ext>
              </a:extLst>
            </p:cNvPr>
            <p:cNvSpPr/>
            <p:nvPr/>
          </p:nvSpPr>
          <p:spPr>
            <a:xfrm>
              <a:off x="3760358" y="3289147"/>
              <a:ext cx="1344358" cy="493537"/>
            </a:xfrm>
            <a:prstGeom prst="rect">
              <a:avLst/>
            </a:prstGeom>
            <a:noFill/>
            <a:ln/>
          </p:spPr>
          <p:txBody>
            <a:bodyPr wrap="square" lIns="16933" tIns="16933" rIns="16933" bIns="16933" rtlCol="0" anchor="t">
              <a:normAutofit/>
            </a:bodyPr>
            <a:lstStyle/>
            <a:p>
              <a:r>
                <a:rPr lang="en-US" sz="1400" b="1" dirty="0">
                  <a:solidFill>
                    <a:srgbClr val="0B6E78"/>
                  </a:solidFill>
                  <a:latin typeface="Georgia" panose="02040502050405020303" pitchFamily="18" charset="0"/>
                  <a:ea typeface="Arial" pitchFamily="34" charset="-122"/>
                  <a:cs typeface="Arial" pitchFamily="34" charset="-120"/>
                </a:rPr>
                <a:t>0% </a:t>
              </a:r>
              <a:endParaRPr lang="en-US" sz="1400" b="1" dirty="0">
                <a:latin typeface="Georgia" panose="02040502050405020303" pitchFamily="18" charset="0"/>
                <a:ea typeface="Arial" pitchFamily="34" charset="-122"/>
                <a:cs typeface="Arial" pitchFamily="34" charset="-120"/>
              </a:endParaRPr>
            </a:p>
          </p:txBody>
        </p:sp>
        <p:sp>
          <p:nvSpPr>
            <p:cNvPr id="3" name="Text 14">
              <a:extLst>
                <a:ext uri="{FF2B5EF4-FFF2-40B4-BE49-F238E27FC236}">
                  <a16:creationId xmlns:a16="http://schemas.microsoft.com/office/drawing/2014/main" id="{D3718E1F-0EA8-C438-BFD0-20B9A79540CA}"/>
                </a:ext>
              </a:extLst>
            </p:cNvPr>
            <p:cNvSpPr/>
            <p:nvPr/>
          </p:nvSpPr>
          <p:spPr>
            <a:xfrm>
              <a:off x="2177385" y="3032064"/>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ESTIMATED % GOING TO LOCAL PROCESSING</a:t>
              </a:r>
              <a:endParaRPr lang="en-US" sz="700" dirty="0">
                <a:latin typeface="Georgia" panose="02040502050405020303" pitchFamily="18" charset="0"/>
              </a:endParaRPr>
            </a:p>
          </p:txBody>
        </p:sp>
        <p:sp>
          <p:nvSpPr>
            <p:cNvPr id="6" name="Text 14">
              <a:extLst>
                <a:ext uri="{FF2B5EF4-FFF2-40B4-BE49-F238E27FC236}">
                  <a16:creationId xmlns:a16="http://schemas.microsoft.com/office/drawing/2014/main" id="{D0B5B416-5910-8845-8D36-99B01982579E}"/>
                </a:ext>
              </a:extLst>
            </p:cNvPr>
            <p:cNvSpPr/>
            <p:nvPr/>
          </p:nvSpPr>
          <p:spPr>
            <a:xfrm>
              <a:off x="3737330" y="3030141"/>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ESTIMATED % GOING TO LOCAL PROCESSING</a:t>
              </a:r>
              <a:endParaRPr lang="en-US" sz="700" dirty="0">
                <a:latin typeface="Georgia" panose="02040502050405020303" pitchFamily="18" charset="0"/>
              </a:endParaRPr>
            </a:p>
          </p:txBody>
        </p:sp>
        <p:sp>
          <p:nvSpPr>
            <p:cNvPr id="8" name="Text 14">
              <a:extLst>
                <a:ext uri="{FF2B5EF4-FFF2-40B4-BE49-F238E27FC236}">
                  <a16:creationId xmlns:a16="http://schemas.microsoft.com/office/drawing/2014/main" id="{40A26C14-009A-ADC3-2F83-FCB3D32DA82F}"/>
                </a:ext>
              </a:extLst>
            </p:cNvPr>
            <p:cNvSpPr/>
            <p:nvPr/>
          </p:nvSpPr>
          <p:spPr>
            <a:xfrm>
              <a:off x="5293143" y="3049176"/>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ESTIMATED % GOING TO LOCAL PROCESSING</a:t>
              </a:r>
              <a:endParaRPr lang="en-US" sz="700" dirty="0">
                <a:latin typeface="Georgia" panose="02040502050405020303" pitchFamily="18" charset="0"/>
              </a:endParaRPr>
            </a:p>
          </p:txBody>
        </p:sp>
        <p:sp>
          <p:nvSpPr>
            <p:cNvPr id="9" name="Text 14">
              <a:extLst>
                <a:ext uri="{FF2B5EF4-FFF2-40B4-BE49-F238E27FC236}">
                  <a16:creationId xmlns:a16="http://schemas.microsoft.com/office/drawing/2014/main" id="{E3903BA5-B5C6-C64D-7E07-9CE96D0C6294}"/>
                </a:ext>
              </a:extLst>
            </p:cNvPr>
            <p:cNvSpPr/>
            <p:nvPr/>
          </p:nvSpPr>
          <p:spPr>
            <a:xfrm>
              <a:off x="6896993" y="3069297"/>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ESTIMATED % GOING TO LOCAL PROCESSING</a:t>
              </a:r>
              <a:endParaRPr lang="en-US" sz="700" dirty="0">
                <a:latin typeface="Georgia" panose="02040502050405020303" pitchFamily="18" charset="0"/>
              </a:endParaRPr>
            </a:p>
          </p:txBody>
        </p:sp>
        <p:sp>
          <p:nvSpPr>
            <p:cNvPr id="10" name="Text 14">
              <a:extLst>
                <a:ext uri="{FF2B5EF4-FFF2-40B4-BE49-F238E27FC236}">
                  <a16:creationId xmlns:a16="http://schemas.microsoft.com/office/drawing/2014/main" id="{153B257D-145A-586C-F3EB-8C3867984940}"/>
                </a:ext>
              </a:extLst>
            </p:cNvPr>
            <p:cNvSpPr/>
            <p:nvPr/>
          </p:nvSpPr>
          <p:spPr>
            <a:xfrm>
              <a:off x="8475064" y="3083970"/>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ESTIMATED % GOING TO LOCAL PROCESSING</a:t>
              </a:r>
              <a:endParaRPr lang="en-US" sz="700" dirty="0">
                <a:latin typeface="Georgia" panose="02040502050405020303" pitchFamily="18" charset="0"/>
              </a:endParaRPr>
            </a:p>
          </p:txBody>
        </p:sp>
        <p:sp>
          <p:nvSpPr>
            <p:cNvPr id="13" name="Text 14">
              <a:extLst>
                <a:ext uri="{FF2B5EF4-FFF2-40B4-BE49-F238E27FC236}">
                  <a16:creationId xmlns:a16="http://schemas.microsoft.com/office/drawing/2014/main" id="{F16DE081-98E7-8DF3-391F-7192685E0A5B}"/>
                </a:ext>
              </a:extLst>
            </p:cNvPr>
            <p:cNvSpPr/>
            <p:nvPr/>
          </p:nvSpPr>
          <p:spPr>
            <a:xfrm>
              <a:off x="10061617" y="3078272"/>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ESTIMATED % GOING TO LOCAL PROCESSING</a:t>
              </a:r>
              <a:endParaRPr lang="en-US" sz="700" dirty="0">
                <a:latin typeface="Georgia" panose="02040502050405020303" pitchFamily="18" charset="0"/>
              </a:endParaRPr>
            </a:p>
          </p:txBody>
        </p:sp>
        <p:sp>
          <p:nvSpPr>
            <p:cNvPr id="14" name="Text 14">
              <a:extLst>
                <a:ext uri="{FF2B5EF4-FFF2-40B4-BE49-F238E27FC236}">
                  <a16:creationId xmlns:a16="http://schemas.microsoft.com/office/drawing/2014/main" id="{F0DAA85C-DAD6-3ABB-16B5-362C2C5A7BF3}"/>
                </a:ext>
              </a:extLst>
            </p:cNvPr>
            <p:cNvSpPr/>
            <p:nvPr/>
          </p:nvSpPr>
          <p:spPr>
            <a:xfrm>
              <a:off x="611625" y="3624527"/>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REMAINING SHARE</a:t>
              </a:r>
            </a:p>
            <a:p>
              <a:endParaRPr lang="en-US" sz="700" dirty="0">
                <a:latin typeface="Georgia" panose="02040502050405020303" pitchFamily="18" charset="0"/>
              </a:endParaRPr>
            </a:p>
          </p:txBody>
        </p:sp>
        <p:sp>
          <p:nvSpPr>
            <p:cNvPr id="15" name="Text 14">
              <a:extLst>
                <a:ext uri="{FF2B5EF4-FFF2-40B4-BE49-F238E27FC236}">
                  <a16:creationId xmlns:a16="http://schemas.microsoft.com/office/drawing/2014/main" id="{B2A04B71-977B-385F-DE2E-AF3DC1ACA806}"/>
                </a:ext>
              </a:extLst>
            </p:cNvPr>
            <p:cNvSpPr/>
            <p:nvPr/>
          </p:nvSpPr>
          <p:spPr>
            <a:xfrm>
              <a:off x="2188880" y="3632190"/>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REMAINING SHARE</a:t>
              </a:r>
              <a:endParaRPr lang="en-US" sz="700" dirty="0">
                <a:latin typeface="Georgia" panose="02040502050405020303" pitchFamily="18" charset="0"/>
              </a:endParaRPr>
            </a:p>
          </p:txBody>
        </p:sp>
        <p:sp>
          <p:nvSpPr>
            <p:cNvPr id="16" name="Text 15">
              <a:extLst>
                <a:ext uri="{FF2B5EF4-FFF2-40B4-BE49-F238E27FC236}">
                  <a16:creationId xmlns:a16="http://schemas.microsoft.com/office/drawing/2014/main" id="{E331C502-6CE3-A2FF-4E67-51E62598CB4D}"/>
                </a:ext>
              </a:extLst>
            </p:cNvPr>
            <p:cNvSpPr/>
            <p:nvPr/>
          </p:nvSpPr>
          <p:spPr>
            <a:xfrm>
              <a:off x="604819" y="3800871"/>
              <a:ext cx="1344358" cy="493537"/>
            </a:xfrm>
            <a:prstGeom prst="rect">
              <a:avLst/>
            </a:prstGeom>
            <a:noFill/>
            <a:ln/>
          </p:spPr>
          <p:txBody>
            <a:bodyPr wrap="square" lIns="16933" tIns="16933" rIns="16933" bIns="16933" rtlCol="0" anchor="t">
              <a:noAutofit/>
            </a:bodyPr>
            <a:lstStyle/>
            <a:p>
              <a:r>
                <a:rPr lang="en-US" sz="1400" b="1" dirty="0">
                  <a:solidFill>
                    <a:srgbClr val="0B6E78"/>
                  </a:solidFill>
                  <a:latin typeface="Georgia" panose="02040502050405020303" pitchFamily="18" charset="0"/>
                  <a:ea typeface="Arial" pitchFamily="34" charset="-122"/>
                  <a:cs typeface="Arial" pitchFamily="34" charset="-120"/>
                </a:rPr>
                <a:t>100% </a:t>
              </a:r>
              <a:endParaRPr lang="en-US" sz="1400" b="1" dirty="0">
                <a:latin typeface="Georgia" panose="02040502050405020303" pitchFamily="18" charset="0"/>
                <a:ea typeface="Arial" pitchFamily="34" charset="-122"/>
                <a:cs typeface="Arial" pitchFamily="34" charset="-120"/>
              </a:endParaRPr>
            </a:p>
          </p:txBody>
        </p:sp>
        <p:sp>
          <p:nvSpPr>
            <p:cNvPr id="175" name="Text 15">
              <a:extLst>
                <a:ext uri="{FF2B5EF4-FFF2-40B4-BE49-F238E27FC236}">
                  <a16:creationId xmlns:a16="http://schemas.microsoft.com/office/drawing/2014/main" id="{471E9854-6DFA-2619-E8B2-6311F9058D44}"/>
                </a:ext>
              </a:extLst>
            </p:cNvPr>
            <p:cNvSpPr/>
            <p:nvPr/>
          </p:nvSpPr>
          <p:spPr>
            <a:xfrm>
              <a:off x="2178979" y="3775303"/>
              <a:ext cx="1344358" cy="493537"/>
            </a:xfrm>
            <a:prstGeom prst="rect">
              <a:avLst/>
            </a:prstGeom>
            <a:noFill/>
            <a:ln/>
          </p:spPr>
          <p:txBody>
            <a:bodyPr wrap="square" lIns="16933" tIns="16933" rIns="16933" bIns="16933" rtlCol="0" anchor="t">
              <a:noAutofit/>
            </a:bodyPr>
            <a:lstStyle/>
            <a:p>
              <a:r>
                <a:rPr lang="en-US" sz="1400" b="1" dirty="0">
                  <a:solidFill>
                    <a:srgbClr val="0B6E78"/>
                  </a:solidFill>
                  <a:latin typeface="Georgia" panose="02040502050405020303" pitchFamily="18" charset="0"/>
                  <a:ea typeface="Arial" pitchFamily="34" charset="-122"/>
                  <a:cs typeface="Arial" pitchFamily="34" charset="-120"/>
                </a:rPr>
                <a:t>100% </a:t>
              </a:r>
              <a:endParaRPr lang="en-US" sz="1400" b="1" dirty="0">
                <a:latin typeface="Georgia" panose="02040502050405020303" pitchFamily="18" charset="0"/>
                <a:ea typeface="Arial" pitchFamily="34" charset="-122"/>
                <a:cs typeface="Arial" pitchFamily="34" charset="-120"/>
              </a:endParaRPr>
            </a:p>
          </p:txBody>
        </p:sp>
        <p:sp>
          <p:nvSpPr>
            <p:cNvPr id="176" name="Text 15">
              <a:extLst>
                <a:ext uri="{FF2B5EF4-FFF2-40B4-BE49-F238E27FC236}">
                  <a16:creationId xmlns:a16="http://schemas.microsoft.com/office/drawing/2014/main" id="{6CBE71C0-B24D-C20A-B6F2-5B977A96B143}"/>
                </a:ext>
              </a:extLst>
            </p:cNvPr>
            <p:cNvSpPr/>
            <p:nvPr/>
          </p:nvSpPr>
          <p:spPr>
            <a:xfrm>
              <a:off x="3729539" y="3800703"/>
              <a:ext cx="1344358" cy="493537"/>
            </a:xfrm>
            <a:prstGeom prst="rect">
              <a:avLst/>
            </a:prstGeom>
            <a:noFill/>
            <a:ln/>
          </p:spPr>
          <p:txBody>
            <a:bodyPr wrap="square" lIns="16933" tIns="16933" rIns="16933" bIns="16933" rtlCol="0" anchor="t">
              <a:noAutofit/>
            </a:bodyPr>
            <a:lstStyle/>
            <a:p>
              <a:r>
                <a:rPr lang="en-US" sz="1400" b="1" dirty="0">
                  <a:solidFill>
                    <a:srgbClr val="0B6E78"/>
                  </a:solidFill>
                  <a:latin typeface="Georgia" panose="02040502050405020303" pitchFamily="18" charset="0"/>
                  <a:ea typeface="Arial" pitchFamily="34" charset="-122"/>
                  <a:cs typeface="Arial" pitchFamily="34" charset="-120"/>
                </a:rPr>
                <a:t>100% </a:t>
              </a:r>
              <a:endParaRPr lang="en-US" sz="1400" b="1" dirty="0">
                <a:latin typeface="Georgia" panose="02040502050405020303" pitchFamily="18" charset="0"/>
                <a:ea typeface="Arial" pitchFamily="34" charset="-122"/>
                <a:cs typeface="Arial" pitchFamily="34" charset="-120"/>
              </a:endParaRPr>
            </a:p>
          </p:txBody>
        </p:sp>
        <p:sp>
          <p:nvSpPr>
            <p:cNvPr id="177" name="Text 15">
              <a:extLst>
                <a:ext uri="{FF2B5EF4-FFF2-40B4-BE49-F238E27FC236}">
                  <a16:creationId xmlns:a16="http://schemas.microsoft.com/office/drawing/2014/main" id="{688EA263-9042-800B-28D5-09FF977E3E26}"/>
                </a:ext>
              </a:extLst>
            </p:cNvPr>
            <p:cNvSpPr/>
            <p:nvPr/>
          </p:nvSpPr>
          <p:spPr>
            <a:xfrm>
              <a:off x="5313326" y="3801869"/>
              <a:ext cx="1344358" cy="493537"/>
            </a:xfrm>
            <a:prstGeom prst="rect">
              <a:avLst/>
            </a:prstGeom>
            <a:noFill/>
            <a:ln/>
          </p:spPr>
          <p:txBody>
            <a:bodyPr wrap="square" lIns="16933" tIns="16933" rIns="16933" bIns="16933" rtlCol="0" anchor="t">
              <a:noAutofit/>
            </a:bodyPr>
            <a:lstStyle/>
            <a:p>
              <a:r>
                <a:rPr lang="en-US" sz="1400" b="1" dirty="0">
                  <a:solidFill>
                    <a:srgbClr val="0B6E78"/>
                  </a:solidFill>
                  <a:latin typeface="Georgia" panose="02040502050405020303" pitchFamily="18" charset="0"/>
                  <a:ea typeface="Arial" pitchFamily="34" charset="-122"/>
                  <a:cs typeface="Arial" pitchFamily="34" charset="-120"/>
                </a:rPr>
                <a:t>99.75% </a:t>
              </a:r>
              <a:endParaRPr lang="en-US" sz="1400" b="1" dirty="0">
                <a:latin typeface="Georgia" panose="02040502050405020303" pitchFamily="18" charset="0"/>
                <a:ea typeface="Arial" pitchFamily="34" charset="-122"/>
                <a:cs typeface="Arial" pitchFamily="34" charset="-120"/>
              </a:endParaRPr>
            </a:p>
          </p:txBody>
        </p:sp>
        <p:sp>
          <p:nvSpPr>
            <p:cNvPr id="178" name="Text 15">
              <a:extLst>
                <a:ext uri="{FF2B5EF4-FFF2-40B4-BE49-F238E27FC236}">
                  <a16:creationId xmlns:a16="http://schemas.microsoft.com/office/drawing/2014/main" id="{D80F30FC-5960-D119-2A38-742BE1E41BC0}"/>
                </a:ext>
              </a:extLst>
            </p:cNvPr>
            <p:cNvSpPr/>
            <p:nvPr/>
          </p:nvSpPr>
          <p:spPr>
            <a:xfrm>
              <a:off x="6896993" y="3801869"/>
              <a:ext cx="1344358" cy="493537"/>
            </a:xfrm>
            <a:prstGeom prst="rect">
              <a:avLst/>
            </a:prstGeom>
            <a:noFill/>
            <a:ln/>
          </p:spPr>
          <p:txBody>
            <a:bodyPr wrap="square" lIns="16933" tIns="16933" rIns="16933" bIns="16933" rtlCol="0" anchor="t">
              <a:noAutofit/>
            </a:bodyPr>
            <a:lstStyle/>
            <a:p>
              <a:r>
                <a:rPr lang="en-US" sz="1400" b="1" dirty="0">
                  <a:solidFill>
                    <a:srgbClr val="0B6E78"/>
                  </a:solidFill>
                  <a:latin typeface="Georgia" panose="02040502050405020303" pitchFamily="18" charset="0"/>
                  <a:ea typeface="Arial" pitchFamily="34" charset="-122"/>
                  <a:cs typeface="Arial" pitchFamily="34" charset="-120"/>
                </a:rPr>
                <a:t>58.75% </a:t>
              </a:r>
              <a:endParaRPr lang="en-US" sz="1400" b="1" dirty="0">
                <a:latin typeface="Georgia" panose="02040502050405020303" pitchFamily="18" charset="0"/>
                <a:ea typeface="Arial" pitchFamily="34" charset="-122"/>
                <a:cs typeface="Arial" pitchFamily="34" charset="-120"/>
              </a:endParaRPr>
            </a:p>
          </p:txBody>
        </p:sp>
        <p:sp>
          <p:nvSpPr>
            <p:cNvPr id="179" name="Text 15">
              <a:extLst>
                <a:ext uri="{FF2B5EF4-FFF2-40B4-BE49-F238E27FC236}">
                  <a16:creationId xmlns:a16="http://schemas.microsoft.com/office/drawing/2014/main" id="{5206782D-A2E1-95BF-57F6-457006DFBBC4}"/>
                </a:ext>
              </a:extLst>
            </p:cNvPr>
            <p:cNvSpPr/>
            <p:nvPr/>
          </p:nvSpPr>
          <p:spPr>
            <a:xfrm>
              <a:off x="8485867" y="3815156"/>
              <a:ext cx="1344358" cy="493537"/>
            </a:xfrm>
            <a:prstGeom prst="rect">
              <a:avLst/>
            </a:prstGeom>
            <a:noFill/>
            <a:ln/>
          </p:spPr>
          <p:txBody>
            <a:bodyPr wrap="square" lIns="16933" tIns="16933" rIns="16933" bIns="16933" rtlCol="0" anchor="t">
              <a:noAutofit/>
            </a:bodyPr>
            <a:lstStyle/>
            <a:p>
              <a:r>
                <a:rPr lang="en-US" sz="1400" b="1" dirty="0">
                  <a:solidFill>
                    <a:srgbClr val="0B6E78"/>
                  </a:solidFill>
                  <a:latin typeface="Georgia" panose="02040502050405020303" pitchFamily="18" charset="0"/>
                  <a:ea typeface="Arial" pitchFamily="34" charset="-122"/>
                  <a:cs typeface="Arial" pitchFamily="34" charset="-120"/>
                </a:rPr>
                <a:t>99.79% </a:t>
              </a:r>
              <a:endParaRPr lang="en-US" sz="1400" b="1" dirty="0">
                <a:latin typeface="Georgia" panose="02040502050405020303" pitchFamily="18" charset="0"/>
                <a:ea typeface="Arial" pitchFamily="34" charset="-122"/>
                <a:cs typeface="Arial" pitchFamily="34" charset="-120"/>
              </a:endParaRPr>
            </a:p>
          </p:txBody>
        </p:sp>
        <p:sp>
          <p:nvSpPr>
            <p:cNvPr id="180" name="Text 15">
              <a:extLst>
                <a:ext uri="{FF2B5EF4-FFF2-40B4-BE49-F238E27FC236}">
                  <a16:creationId xmlns:a16="http://schemas.microsoft.com/office/drawing/2014/main" id="{8563501C-196B-25FE-2D23-CFAA9A29A64D}"/>
                </a:ext>
              </a:extLst>
            </p:cNvPr>
            <p:cNvSpPr/>
            <p:nvPr/>
          </p:nvSpPr>
          <p:spPr>
            <a:xfrm>
              <a:off x="10071237" y="3815814"/>
              <a:ext cx="1344358" cy="493537"/>
            </a:xfrm>
            <a:prstGeom prst="rect">
              <a:avLst/>
            </a:prstGeom>
            <a:noFill/>
            <a:ln/>
          </p:spPr>
          <p:txBody>
            <a:bodyPr wrap="square" lIns="16933" tIns="16933" rIns="16933" bIns="16933" rtlCol="0" anchor="t">
              <a:noAutofit/>
            </a:bodyPr>
            <a:lstStyle/>
            <a:p>
              <a:r>
                <a:rPr lang="en-US" sz="1400" b="1" dirty="0">
                  <a:solidFill>
                    <a:srgbClr val="0B6E78"/>
                  </a:solidFill>
                  <a:latin typeface="Georgia" panose="02040502050405020303" pitchFamily="18" charset="0"/>
                  <a:ea typeface="Arial" pitchFamily="34" charset="-122"/>
                  <a:cs typeface="Arial" pitchFamily="34" charset="-120"/>
                </a:rPr>
                <a:t>99.72% </a:t>
              </a:r>
              <a:endParaRPr lang="en-US" sz="1400" b="1" dirty="0">
                <a:latin typeface="Georgia" panose="02040502050405020303" pitchFamily="18" charset="0"/>
                <a:ea typeface="Arial" pitchFamily="34" charset="-122"/>
                <a:cs typeface="Arial" pitchFamily="34" charset="-120"/>
              </a:endParaRPr>
            </a:p>
          </p:txBody>
        </p:sp>
        <p:sp>
          <p:nvSpPr>
            <p:cNvPr id="181" name="Text 15">
              <a:extLst>
                <a:ext uri="{FF2B5EF4-FFF2-40B4-BE49-F238E27FC236}">
                  <a16:creationId xmlns:a16="http://schemas.microsoft.com/office/drawing/2014/main" id="{28F7AFD0-8A71-1052-A0AE-A9A4298017D0}"/>
                </a:ext>
              </a:extLst>
            </p:cNvPr>
            <p:cNvSpPr/>
            <p:nvPr/>
          </p:nvSpPr>
          <p:spPr>
            <a:xfrm>
              <a:off x="5327335" y="3289547"/>
              <a:ext cx="1344358" cy="493537"/>
            </a:xfrm>
            <a:prstGeom prst="rect">
              <a:avLst/>
            </a:prstGeom>
            <a:noFill/>
            <a:ln/>
          </p:spPr>
          <p:txBody>
            <a:bodyPr wrap="square" lIns="16933" tIns="16933" rIns="16933" bIns="16933" rtlCol="0" anchor="t">
              <a:normAutofit/>
            </a:bodyPr>
            <a:lstStyle/>
            <a:p>
              <a:r>
                <a:rPr lang="en-US" sz="1400" b="1" dirty="0">
                  <a:solidFill>
                    <a:srgbClr val="0B6E78"/>
                  </a:solidFill>
                  <a:latin typeface="Georgia" panose="02040502050405020303" pitchFamily="18" charset="0"/>
                  <a:ea typeface="Arial" pitchFamily="34" charset="-122"/>
                  <a:cs typeface="Arial" pitchFamily="34" charset="-120"/>
                </a:rPr>
                <a:t>0.25%</a:t>
              </a:r>
              <a:endParaRPr lang="en-US" sz="1400" b="1" dirty="0">
                <a:latin typeface="Georgia" panose="02040502050405020303" pitchFamily="18" charset="0"/>
                <a:ea typeface="Arial" pitchFamily="34" charset="-122"/>
                <a:cs typeface="Arial" pitchFamily="34" charset="-120"/>
              </a:endParaRPr>
            </a:p>
          </p:txBody>
        </p:sp>
        <p:sp>
          <p:nvSpPr>
            <p:cNvPr id="182" name="Text 15">
              <a:extLst>
                <a:ext uri="{FF2B5EF4-FFF2-40B4-BE49-F238E27FC236}">
                  <a16:creationId xmlns:a16="http://schemas.microsoft.com/office/drawing/2014/main" id="{E973018A-4950-A03D-47C0-FE92638F83E0}"/>
                </a:ext>
              </a:extLst>
            </p:cNvPr>
            <p:cNvSpPr/>
            <p:nvPr/>
          </p:nvSpPr>
          <p:spPr>
            <a:xfrm>
              <a:off x="6901534" y="3288592"/>
              <a:ext cx="1344358" cy="493537"/>
            </a:xfrm>
            <a:prstGeom prst="rect">
              <a:avLst/>
            </a:prstGeom>
            <a:noFill/>
            <a:ln/>
          </p:spPr>
          <p:txBody>
            <a:bodyPr wrap="square" lIns="16933" tIns="16933" rIns="16933" bIns="16933" rtlCol="0" anchor="t">
              <a:normAutofit/>
            </a:bodyPr>
            <a:lstStyle/>
            <a:p>
              <a:r>
                <a:rPr lang="en-US" sz="1400" b="1" dirty="0">
                  <a:solidFill>
                    <a:srgbClr val="0B6E78"/>
                  </a:solidFill>
                  <a:latin typeface="Georgia" panose="02040502050405020303" pitchFamily="18" charset="0"/>
                  <a:ea typeface="Arial" pitchFamily="34" charset="-122"/>
                  <a:cs typeface="Arial" pitchFamily="34" charset="-120"/>
                </a:rPr>
                <a:t>41.25%</a:t>
              </a:r>
              <a:endParaRPr lang="en-US" sz="1400" b="1" dirty="0">
                <a:latin typeface="Georgia" panose="02040502050405020303" pitchFamily="18" charset="0"/>
                <a:ea typeface="Arial" pitchFamily="34" charset="-122"/>
                <a:cs typeface="Arial" pitchFamily="34" charset="-120"/>
              </a:endParaRPr>
            </a:p>
          </p:txBody>
        </p:sp>
        <p:sp>
          <p:nvSpPr>
            <p:cNvPr id="183" name="Text 15">
              <a:extLst>
                <a:ext uri="{FF2B5EF4-FFF2-40B4-BE49-F238E27FC236}">
                  <a16:creationId xmlns:a16="http://schemas.microsoft.com/office/drawing/2014/main" id="{4D38FF37-CFE7-8B55-1078-08E1A2C87EAC}"/>
                </a:ext>
              </a:extLst>
            </p:cNvPr>
            <p:cNvSpPr/>
            <p:nvPr/>
          </p:nvSpPr>
          <p:spPr>
            <a:xfrm>
              <a:off x="8485867" y="3305269"/>
              <a:ext cx="1344358" cy="493537"/>
            </a:xfrm>
            <a:prstGeom prst="rect">
              <a:avLst/>
            </a:prstGeom>
            <a:noFill/>
            <a:ln/>
          </p:spPr>
          <p:txBody>
            <a:bodyPr wrap="square" lIns="16933" tIns="16933" rIns="16933" bIns="16933" rtlCol="0" anchor="t">
              <a:normAutofit/>
            </a:bodyPr>
            <a:lstStyle/>
            <a:p>
              <a:r>
                <a:rPr lang="en-US" sz="1400" b="1" dirty="0">
                  <a:solidFill>
                    <a:srgbClr val="0B6E78"/>
                  </a:solidFill>
                  <a:latin typeface="Georgia" panose="02040502050405020303" pitchFamily="18" charset="0"/>
                  <a:ea typeface="Arial" pitchFamily="34" charset="-122"/>
                  <a:cs typeface="Arial" pitchFamily="34" charset="-120"/>
                </a:rPr>
                <a:t>0.21%</a:t>
              </a:r>
              <a:endParaRPr lang="en-US" sz="1400" b="1" dirty="0">
                <a:latin typeface="Georgia" panose="02040502050405020303" pitchFamily="18" charset="0"/>
                <a:ea typeface="Arial" pitchFamily="34" charset="-122"/>
                <a:cs typeface="Arial" pitchFamily="34" charset="-120"/>
              </a:endParaRPr>
            </a:p>
          </p:txBody>
        </p:sp>
        <p:sp>
          <p:nvSpPr>
            <p:cNvPr id="184" name="Text 15">
              <a:extLst>
                <a:ext uri="{FF2B5EF4-FFF2-40B4-BE49-F238E27FC236}">
                  <a16:creationId xmlns:a16="http://schemas.microsoft.com/office/drawing/2014/main" id="{F828E546-953D-4F7D-D495-81632AAB6C56}"/>
                </a:ext>
              </a:extLst>
            </p:cNvPr>
            <p:cNvSpPr/>
            <p:nvPr/>
          </p:nvSpPr>
          <p:spPr>
            <a:xfrm>
              <a:off x="10048636" y="3320923"/>
              <a:ext cx="1344358" cy="493537"/>
            </a:xfrm>
            <a:prstGeom prst="rect">
              <a:avLst/>
            </a:prstGeom>
            <a:noFill/>
            <a:ln/>
          </p:spPr>
          <p:txBody>
            <a:bodyPr wrap="square" lIns="16933" tIns="16933" rIns="16933" bIns="16933" rtlCol="0" anchor="t">
              <a:normAutofit/>
            </a:bodyPr>
            <a:lstStyle/>
            <a:p>
              <a:r>
                <a:rPr lang="en-US" sz="1400" b="1" dirty="0">
                  <a:solidFill>
                    <a:srgbClr val="0B6E78"/>
                  </a:solidFill>
                  <a:latin typeface="Georgia" panose="02040502050405020303" pitchFamily="18" charset="0"/>
                  <a:ea typeface="Arial" pitchFamily="34" charset="-122"/>
                  <a:cs typeface="Arial" pitchFamily="34" charset="-120"/>
                </a:rPr>
                <a:t>0.28%</a:t>
              </a:r>
              <a:endParaRPr lang="en-US" sz="1400" b="1" dirty="0">
                <a:latin typeface="Georgia" panose="02040502050405020303" pitchFamily="18" charset="0"/>
                <a:ea typeface="Arial" pitchFamily="34" charset="-122"/>
                <a:cs typeface="Arial" pitchFamily="34" charset="-120"/>
              </a:endParaRPr>
            </a:p>
          </p:txBody>
        </p:sp>
        <p:sp>
          <p:nvSpPr>
            <p:cNvPr id="185" name="Text 14">
              <a:extLst>
                <a:ext uri="{FF2B5EF4-FFF2-40B4-BE49-F238E27FC236}">
                  <a16:creationId xmlns:a16="http://schemas.microsoft.com/office/drawing/2014/main" id="{08CFDA76-99F1-DD82-5923-3858D3F74E26}"/>
                </a:ext>
              </a:extLst>
            </p:cNvPr>
            <p:cNvSpPr/>
            <p:nvPr/>
          </p:nvSpPr>
          <p:spPr>
            <a:xfrm>
              <a:off x="3728916" y="3651261"/>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REMAINING SHARE</a:t>
              </a:r>
            </a:p>
            <a:p>
              <a:endParaRPr lang="en-US" sz="700" dirty="0">
                <a:latin typeface="Georgia" panose="02040502050405020303" pitchFamily="18" charset="0"/>
              </a:endParaRPr>
            </a:p>
          </p:txBody>
        </p:sp>
        <p:sp>
          <p:nvSpPr>
            <p:cNvPr id="186" name="Text 14">
              <a:extLst>
                <a:ext uri="{FF2B5EF4-FFF2-40B4-BE49-F238E27FC236}">
                  <a16:creationId xmlns:a16="http://schemas.microsoft.com/office/drawing/2014/main" id="{7A1A7662-5ED2-DC02-0640-89E1097856B1}"/>
                </a:ext>
              </a:extLst>
            </p:cNvPr>
            <p:cNvSpPr/>
            <p:nvPr/>
          </p:nvSpPr>
          <p:spPr>
            <a:xfrm>
              <a:off x="5313326" y="3662632"/>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REMAINING SHARE</a:t>
              </a:r>
            </a:p>
            <a:p>
              <a:endParaRPr lang="en-US" sz="700" dirty="0">
                <a:latin typeface="Georgia" panose="02040502050405020303" pitchFamily="18" charset="0"/>
              </a:endParaRPr>
            </a:p>
          </p:txBody>
        </p:sp>
        <p:sp>
          <p:nvSpPr>
            <p:cNvPr id="187" name="Text 14">
              <a:extLst>
                <a:ext uri="{FF2B5EF4-FFF2-40B4-BE49-F238E27FC236}">
                  <a16:creationId xmlns:a16="http://schemas.microsoft.com/office/drawing/2014/main" id="{C7931659-86F4-CADD-50D2-96AA661A91D2}"/>
                </a:ext>
              </a:extLst>
            </p:cNvPr>
            <p:cNvSpPr/>
            <p:nvPr/>
          </p:nvSpPr>
          <p:spPr>
            <a:xfrm>
              <a:off x="6901534" y="3662632"/>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REMAINING SHARE</a:t>
              </a:r>
            </a:p>
            <a:p>
              <a:endParaRPr lang="en-US" sz="700" dirty="0">
                <a:latin typeface="Georgia" panose="02040502050405020303" pitchFamily="18" charset="0"/>
              </a:endParaRPr>
            </a:p>
          </p:txBody>
        </p:sp>
        <p:sp>
          <p:nvSpPr>
            <p:cNvPr id="188" name="Text 14">
              <a:extLst>
                <a:ext uri="{FF2B5EF4-FFF2-40B4-BE49-F238E27FC236}">
                  <a16:creationId xmlns:a16="http://schemas.microsoft.com/office/drawing/2014/main" id="{D53A32A6-8305-A347-BDF9-FC8531AF13FD}"/>
                </a:ext>
              </a:extLst>
            </p:cNvPr>
            <p:cNvSpPr/>
            <p:nvPr/>
          </p:nvSpPr>
          <p:spPr>
            <a:xfrm>
              <a:off x="8452094" y="3662632"/>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REMAINING SHARE</a:t>
              </a:r>
            </a:p>
            <a:p>
              <a:endParaRPr lang="en-US" sz="700" dirty="0">
                <a:latin typeface="Georgia" panose="02040502050405020303" pitchFamily="18" charset="0"/>
              </a:endParaRPr>
            </a:p>
          </p:txBody>
        </p:sp>
        <p:sp>
          <p:nvSpPr>
            <p:cNvPr id="189" name="Text 14">
              <a:extLst>
                <a:ext uri="{FF2B5EF4-FFF2-40B4-BE49-F238E27FC236}">
                  <a16:creationId xmlns:a16="http://schemas.microsoft.com/office/drawing/2014/main" id="{59BF5334-7160-76E5-BC73-C13D11A1DF28}"/>
                </a:ext>
              </a:extLst>
            </p:cNvPr>
            <p:cNvSpPr/>
            <p:nvPr/>
          </p:nvSpPr>
          <p:spPr>
            <a:xfrm>
              <a:off x="10049851" y="3662632"/>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REMAINING SHARE</a:t>
              </a:r>
            </a:p>
            <a:p>
              <a:endParaRPr lang="en-US" sz="700" dirty="0">
                <a:latin typeface="Georgia" panose="02040502050405020303" pitchFamily="18" charset="0"/>
              </a:endParaRPr>
            </a:p>
          </p:txBody>
        </p:sp>
        <p:sp>
          <p:nvSpPr>
            <p:cNvPr id="190" name="Text 14">
              <a:extLst>
                <a:ext uri="{FF2B5EF4-FFF2-40B4-BE49-F238E27FC236}">
                  <a16:creationId xmlns:a16="http://schemas.microsoft.com/office/drawing/2014/main" id="{D870A85C-CFDA-CC09-BC46-137CEF8B045E}"/>
                </a:ext>
              </a:extLst>
            </p:cNvPr>
            <p:cNvSpPr/>
            <p:nvPr/>
          </p:nvSpPr>
          <p:spPr>
            <a:xfrm>
              <a:off x="621869" y="2481312"/>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LOCAL PROCESSING CAPACITY</a:t>
              </a:r>
              <a:endParaRPr lang="en-US" sz="700" dirty="0">
                <a:latin typeface="Georgia" panose="02040502050405020303" pitchFamily="18" charset="0"/>
              </a:endParaRPr>
            </a:p>
          </p:txBody>
        </p:sp>
        <p:sp>
          <p:nvSpPr>
            <p:cNvPr id="191" name="Text 14">
              <a:extLst>
                <a:ext uri="{FF2B5EF4-FFF2-40B4-BE49-F238E27FC236}">
                  <a16:creationId xmlns:a16="http://schemas.microsoft.com/office/drawing/2014/main" id="{F6D849CA-B17E-1211-6237-B8BD1D37C4B1}"/>
                </a:ext>
              </a:extLst>
            </p:cNvPr>
            <p:cNvSpPr/>
            <p:nvPr/>
          </p:nvSpPr>
          <p:spPr>
            <a:xfrm>
              <a:off x="2196029" y="2479995"/>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LOCAL PROCESSING CAPACITY</a:t>
              </a:r>
              <a:endParaRPr lang="en-US" sz="700" dirty="0">
                <a:latin typeface="Georgia" panose="02040502050405020303" pitchFamily="18" charset="0"/>
              </a:endParaRPr>
            </a:p>
          </p:txBody>
        </p:sp>
        <p:sp>
          <p:nvSpPr>
            <p:cNvPr id="192" name="Text 14">
              <a:extLst>
                <a:ext uri="{FF2B5EF4-FFF2-40B4-BE49-F238E27FC236}">
                  <a16:creationId xmlns:a16="http://schemas.microsoft.com/office/drawing/2014/main" id="{C96BC773-6458-BE8E-3634-D61A84E62814}"/>
                </a:ext>
              </a:extLst>
            </p:cNvPr>
            <p:cNvSpPr/>
            <p:nvPr/>
          </p:nvSpPr>
          <p:spPr>
            <a:xfrm>
              <a:off x="3772830" y="2507514"/>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LOCAL PROCESSING CAPACITY</a:t>
              </a:r>
              <a:endParaRPr lang="en-US" sz="700" dirty="0">
                <a:latin typeface="Georgia" panose="02040502050405020303" pitchFamily="18" charset="0"/>
              </a:endParaRPr>
            </a:p>
          </p:txBody>
        </p:sp>
        <p:sp>
          <p:nvSpPr>
            <p:cNvPr id="193" name="Text 14">
              <a:extLst>
                <a:ext uri="{FF2B5EF4-FFF2-40B4-BE49-F238E27FC236}">
                  <a16:creationId xmlns:a16="http://schemas.microsoft.com/office/drawing/2014/main" id="{C6A443E2-B0E5-D7C1-3BBB-73FE46A69FC7}"/>
                </a:ext>
              </a:extLst>
            </p:cNvPr>
            <p:cNvSpPr/>
            <p:nvPr/>
          </p:nvSpPr>
          <p:spPr>
            <a:xfrm>
              <a:off x="5347066" y="2479091"/>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LOCAL PROCESSING CAPACITY</a:t>
              </a:r>
              <a:endParaRPr lang="en-US" sz="700" dirty="0">
                <a:latin typeface="Georgia" panose="02040502050405020303" pitchFamily="18" charset="0"/>
              </a:endParaRPr>
            </a:p>
          </p:txBody>
        </p:sp>
        <p:sp>
          <p:nvSpPr>
            <p:cNvPr id="194" name="Text 14">
              <a:extLst>
                <a:ext uri="{FF2B5EF4-FFF2-40B4-BE49-F238E27FC236}">
                  <a16:creationId xmlns:a16="http://schemas.microsoft.com/office/drawing/2014/main" id="{86181D80-7494-2B3D-63CD-09064B03537F}"/>
                </a:ext>
              </a:extLst>
            </p:cNvPr>
            <p:cNvSpPr/>
            <p:nvPr/>
          </p:nvSpPr>
          <p:spPr>
            <a:xfrm>
              <a:off x="6946265" y="2484121"/>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LOCAL PROCESSING CAPACITY</a:t>
              </a:r>
              <a:endParaRPr lang="en-US" sz="700" dirty="0">
                <a:latin typeface="Georgia" panose="02040502050405020303" pitchFamily="18" charset="0"/>
              </a:endParaRPr>
            </a:p>
          </p:txBody>
        </p:sp>
        <p:sp>
          <p:nvSpPr>
            <p:cNvPr id="195" name="Text 14">
              <a:extLst>
                <a:ext uri="{FF2B5EF4-FFF2-40B4-BE49-F238E27FC236}">
                  <a16:creationId xmlns:a16="http://schemas.microsoft.com/office/drawing/2014/main" id="{0B35BFFC-22BF-D5A7-A1D8-15156459A7AA}"/>
                </a:ext>
              </a:extLst>
            </p:cNvPr>
            <p:cNvSpPr/>
            <p:nvPr/>
          </p:nvSpPr>
          <p:spPr>
            <a:xfrm>
              <a:off x="8521050" y="2493517"/>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LOCAL PROCESSING CAPACITY</a:t>
              </a:r>
              <a:endParaRPr lang="en-US" sz="700" dirty="0">
                <a:latin typeface="Georgia" panose="02040502050405020303" pitchFamily="18" charset="0"/>
              </a:endParaRPr>
            </a:p>
          </p:txBody>
        </p:sp>
        <p:sp>
          <p:nvSpPr>
            <p:cNvPr id="196" name="Text 14">
              <a:extLst>
                <a:ext uri="{FF2B5EF4-FFF2-40B4-BE49-F238E27FC236}">
                  <a16:creationId xmlns:a16="http://schemas.microsoft.com/office/drawing/2014/main" id="{EFAF45FC-DA07-D8E2-EC32-BC3B829EE4E3}"/>
                </a:ext>
              </a:extLst>
            </p:cNvPr>
            <p:cNvSpPr/>
            <p:nvPr/>
          </p:nvSpPr>
          <p:spPr>
            <a:xfrm>
              <a:off x="10070361" y="2519214"/>
              <a:ext cx="1344358" cy="191287"/>
            </a:xfrm>
            <a:prstGeom prst="rect">
              <a:avLst/>
            </a:prstGeom>
            <a:noFill/>
            <a:ln/>
          </p:spPr>
          <p:txBody>
            <a:bodyPr wrap="square" lIns="16933" tIns="16933" rIns="16933" bIns="16933" rtlCol="0" anchor="t">
              <a:noAutofit/>
            </a:bodyPr>
            <a:lstStyle/>
            <a:p>
              <a:r>
                <a:rPr lang="en-US" sz="700" kern="0" spc="50" dirty="0">
                  <a:solidFill>
                    <a:srgbClr val="6B7A76"/>
                  </a:solidFill>
                  <a:latin typeface="Georgia" panose="02040502050405020303" pitchFamily="18" charset="0"/>
                  <a:ea typeface="Arial" pitchFamily="34" charset="-122"/>
                  <a:cs typeface="Arial" pitchFamily="34" charset="-120"/>
                </a:rPr>
                <a:t>LOCAL PROCESSING CAPACITY</a:t>
              </a:r>
              <a:endParaRPr lang="en-US" sz="700" dirty="0">
                <a:latin typeface="Georgia" panose="02040502050405020303" pitchFamily="18" charset="0"/>
              </a:endParaRPr>
            </a:p>
          </p:txBody>
        </p:sp>
        <p:sp>
          <p:nvSpPr>
            <p:cNvPr id="197" name="Text 15">
              <a:extLst>
                <a:ext uri="{FF2B5EF4-FFF2-40B4-BE49-F238E27FC236}">
                  <a16:creationId xmlns:a16="http://schemas.microsoft.com/office/drawing/2014/main" id="{601D8E2E-F339-0257-9D26-598BCD76E997}"/>
                </a:ext>
              </a:extLst>
            </p:cNvPr>
            <p:cNvSpPr/>
            <p:nvPr/>
          </p:nvSpPr>
          <p:spPr>
            <a:xfrm>
              <a:off x="618534" y="2711485"/>
              <a:ext cx="1344358" cy="493537"/>
            </a:xfrm>
            <a:prstGeom prst="rect">
              <a:avLst/>
            </a:prstGeom>
            <a:noFill/>
            <a:ln/>
          </p:spPr>
          <p:txBody>
            <a:bodyPr wrap="square" lIns="16933" tIns="16933" rIns="16933" bIns="16933" rtlCol="0" anchor="t">
              <a:noAutofit/>
            </a:bodyPr>
            <a:lstStyle/>
            <a:p>
              <a:r>
                <a:rPr lang="en-US" sz="1400" b="1" dirty="0">
                  <a:solidFill>
                    <a:srgbClr val="0B6E78"/>
                  </a:solidFill>
                  <a:latin typeface="Georgia" panose="02040502050405020303" pitchFamily="18" charset="0"/>
                  <a:ea typeface="Arial" pitchFamily="34" charset="-122"/>
                  <a:cs typeface="Arial" pitchFamily="34" charset="-120"/>
                </a:rPr>
                <a:t>0 </a:t>
              </a:r>
              <a:r>
                <a:rPr lang="en-US" sz="1400" dirty="0">
                  <a:latin typeface="Georgia" panose="02040502050405020303" pitchFamily="18" charset="0"/>
                  <a:ea typeface="Arial" pitchFamily="34" charset="-122"/>
                  <a:cs typeface="Arial" pitchFamily="34" charset="-120"/>
                </a:rPr>
                <a:t>MT/yr</a:t>
              </a:r>
              <a:endParaRPr lang="en-US" sz="1400" b="1" dirty="0">
                <a:latin typeface="Georgia" panose="02040502050405020303" pitchFamily="18" charset="0"/>
                <a:ea typeface="Arial" pitchFamily="34" charset="-122"/>
                <a:cs typeface="Arial" pitchFamily="34" charset="-120"/>
              </a:endParaRPr>
            </a:p>
          </p:txBody>
        </p:sp>
        <p:sp>
          <p:nvSpPr>
            <p:cNvPr id="198" name="Text 15">
              <a:extLst>
                <a:ext uri="{FF2B5EF4-FFF2-40B4-BE49-F238E27FC236}">
                  <a16:creationId xmlns:a16="http://schemas.microsoft.com/office/drawing/2014/main" id="{F5FFE546-0546-8EAE-A321-412B71C40000}"/>
                </a:ext>
              </a:extLst>
            </p:cNvPr>
            <p:cNvSpPr/>
            <p:nvPr/>
          </p:nvSpPr>
          <p:spPr>
            <a:xfrm>
              <a:off x="2181760" y="2713739"/>
              <a:ext cx="1344358" cy="493537"/>
            </a:xfrm>
            <a:prstGeom prst="rect">
              <a:avLst/>
            </a:prstGeom>
            <a:noFill/>
            <a:ln/>
          </p:spPr>
          <p:txBody>
            <a:bodyPr wrap="square" lIns="16933" tIns="16933" rIns="16933" bIns="16933" rtlCol="0" anchor="t">
              <a:noAutofit/>
            </a:bodyPr>
            <a:lstStyle/>
            <a:p>
              <a:r>
                <a:rPr lang="en-US" sz="1400" b="1" dirty="0">
                  <a:solidFill>
                    <a:srgbClr val="0B6E78"/>
                  </a:solidFill>
                  <a:latin typeface="Georgia" panose="02040502050405020303" pitchFamily="18" charset="0"/>
                  <a:ea typeface="Arial" pitchFamily="34" charset="-122"/>
                  <a:cs typeface="Arial" pitchFamily="34" charset="-120"/>
                </a:rPr>
                <a:t>0 </a:t>
              </a:r>
              <a:r>
                <a:rPr lang="en-US" sz="1400" dirty="0">
                  <a:latin typeface="Georgia" panose="02040502050405020303" pitchFamily="18" charset="0"/>
                  <a:ea typeface="Arial" pitchFamily="34" charset="-122"/>
                  <a:cs typeface="Arial" pitchFamily="34" charset="-120"/>
                </a:rPr>
                <a:t>MT/yr</a:t>
              </a:r>
              <a:endParaRPr lang="en-US" sz="1400" b="1" dirty="0">
                <a:latin typeface="Georgia" panose="02040502050405020303" pitchFamily="18" charset="0"/>
                <a:ea typeface="Arial" pitchFamily="34" charset="-122"/>
                <a:cs typeface="Arial" pitchFamily="34" charset="-120"/>
              </a:endParaRPr>
            </a:p>
          </p:txBody>
        </p:sp>
        <p:sp>
          <p:nvSpPr>
            <p:cNvPr id="199" name="Text 15">
              <a:extLst>
                <a:ext uri="{FF2B5EF4-FFF2-40B4-BE49-F238E27FC236}">
                  <a16:creationId xmlns:a16="http://schemas.microsoft.com/office/drawing/2014/main" id="{F6097B72-FEC1-A60A-8B48-56AE7DC51EA4}"/>
                </a:ext>
              </a:extLst>
            </p:cNvPr>
            <p:cNvSpPr/>
            <p:nvPr/>
          </p:nvSpPr>
          <p:spPr>
            <a:xfrm>
              <a:off x="3755296" y="2723693"/>
              <a:ext cx="1344358" cy="493537"/>
            </a:xfrm>
            <a:prstGeom prst="rect">
              <a:avLst/>
            </a:prstGeom>
            <a:noFill/>
            <a:ln/>
          </p:spPr>
          <p:txBody>
            <a:bodyPr wrap="square" lIns="16933" tIns="16933" rIns="16933" bIns="16933" rtlCol="0" anchor="t">
              <a:noAutofit/>
            </a:bodyPr>
            <a:lstStyle/>
            <a:p>
              <a:r>
                <a:rPr lang="en-US" sz="1400" b="1" dirty="0">
                  <a:solidFill>
                    <a:srgbClr val="0B6E78"/>
                  </a:solidFill>
                  <a:latin typeface="Georgia" panose="02040502050405020303" pitchFamily="18" charset="0"/>
                  <a:ea typeface="Arial" pitchFamily="34" charset="-122"/>
                  <a:cs typeface="Arial" pitchFamily="34" charset="-120"/>
                </a:rPr>
                <a:t>0 </a:t>
              </a:r>
              <a:r>
                <a:rPr lang="en-US" sz="1400" dirty="0">
                  <a:latin typeface="Georgia" panose="02040502050405020303" pitchFamily="18" charset="0"/>
                  <a:ea typeface="Arial" pitchFamily="34" charset="-122"/>
                  <a:cs typeface="Arial" pitchFamily="34" charset="-120"/>
                </a:rPr>
                <a:t>MT/yr</a:t>
              </a:r>
              <a:endParaRPr lang="en-US" sz="1400" b="1" dirty="0">
                <a:latin typeface="Georgia" panose="02040502050405020303" pitchFamily="18" charset="0"/>
                <a:ea typeface="Arial" pitchFamily="34" charset="-122"/>
                <a:cs typeface="Arial" pitchFamily="34" charset="-120"/>
              </a:endParaRPr>
            </a:p>
          </p:txBody>
        </p:sp>
        <p:sp>
          <p:nvSpPr>
            <p:cNvPr id="200" name="Text 15">
              <a:extLst>
                <a:ext uri="{FF2B5EF4-FFF2-40B4-BE49-F238E27FC236}">
                  <a16:creationId xmlns:a16="http://schemas.microsoft.com/office/drawing/2014/main" id="{98C531D7-C2EF-C4AB-8383-0A681F717A86}"/>
                </a:ext>
              </a:extLst>
            </p:cNvPr>
            <p:cNvSpPr/>
            <p:nvPr/>
          </p:nvSpPr>
          <p:spPr>
            <a:xfrm>
              <a:off x="5331142" y="2691046"/>
              <a:ext cx="1344358" cy="493537"/>
            </a:xfrm>
            <a:prstGeom prst="rect">
              <a:avLst/>
            </a:prstGeom>
            <a:noFill/>
            <a:ln/>
          </p:spPr>
          <p:txBody>
            <a:bodyPr wrap="square" lIns="16933" tIns="16933" rIns="16933" bIns="16933" rtlCol="0" anchor="t">
              <a:noAutofit/>
            </a:bodyPr>
            <a:lstStyle/>
            <a:p>
              <a:r>
                <a:rPr lang="en-US" sz="1400" b="1" dirty="0">
                  <a:solidFill>
                    <a:srgbClr val="0B6E78"/>
                  </a:solidFill>
                  <a:latin typeface="Georgia" panose="02040502050405020303" pitchFamily="18" charset="0"/>
                  <a:ea typeface="Arial" pitchFamily="34" charset="-122"/>
                  <a:cs typeface="Arial" pitchFamily="34" charset="-120"/>
                </a:rPr>
                <a:t>4500 </a:t>
              </a:r>
              <a:r>
                <a:rPr lang="en-US" sz="1400" dirty="0">
                  <a:latin typeface="Georgia" panose="02040502050405020303" pitchFamily="18" charset="0"/>
                  <a:ea typeface="Arial" pitchFamily="34" charset="-122"/>
                  <a:cs typeface="Arial" pitchFamily="34" charset="-120"/>
                </a:rPr>
                <a:t>MT/yr</a:t>
              </a:r>
              <a:endParaRPr lang="en-US" sz="1400" b="1" dirty="0">
                <a:latin typeface="Georgia" panose="02040502050405020303" pitchFamily="18" charset="0"/>
                <a:ea typeface="Arial" pitchFamily="34" charset="-122"/>
                <a:cs typeface="Arial" pitchFamily="34" charset="-120"/>
              </a:endParaRPr>
            </a:p>
          </p:txBody>
        </p:sp>
        <p:sp>
          <p:nvSpPr>
            <p:cNvPr id="201" name="Text 15">
              <a:extLst>
                <a:ext uri="{FF2B5EF4-FFF2-40B4-BE49-F238E27FC236}">
                  <a16:creationId xmlns:a16="http://schemas.microsoft.com/office/drawing/2014/main" id="{37F17372-275C-D39B-C6F7-4B819DDEE290}"/>
                </a:ext>
              </a:extLst>
            </p:cNvPr>
            <p:cNvSpPr/>
            <p:nvPr/>
          </p:nvSpPr>
          <p:spPr>
            <a:xfrm>
              <a:off x="6918086" y="2723693"/>
              <a:ext cx="1602964" cy="493537"/>
            </a:xfrm>
            <a:prstGeom prst="rect">
              <a:avLst/>
            </a:prstGeom>
            <a:noFill/>
            <a:ln/>
          </p:spPr>
          <p:txBody>
            <a:bodyPr wrap="square" lIns="16933" tIns="16933" rIns="16933" bIns="16933" rtlCol="0" anchor="t">
              <a:noAutofit/>
            </a:bodyPr>
            <a:lstStyle/>
            <a:p>
              <a:r>
                <a:rPr lang="en-US" sz="1400" b="1" dirty="0">
                  <a:solidFill>
                    <a:srgbClr val="0B6E78"/>
                  </a:solidFill>
                  <a:latin typeface="Georgia" panose="02040502050405020303" pitchFamily="18" charset="0"/>
                  <a:ea typeface="Arial" pitchFamily="34" charset="-122"/>
                  <a:cs typeface="Arial" pitchFamily="34" charset="-120"/>
                </a:rPr>
                <a:t>9,65,338 </a:t>
              </a:r>
              <a:r>
                <a:rPr lang="en-US" sz="1400" dirty="0">
                  <a:latin typeface="Georgia" panose="02040502050405020303" pitchFamily="18" charset="0"/>
                  <a:ea typeface="Arial" pitchFamily="34" charset="-122"/>
                  <a:cs typeface="Arial" pitchFamily="34" charset="-120"/>
                </a:rPr>
                <a:t>MT/yr</a:t>
              </a:r>
              <a:endParaRPr lang="en-US" sz="1400" b="1" dirty="0">
                <a:latin typeface="Georgia" panose="02040502050405020303" pitchFamily="18" charset="0"/>
                <a:ea typeface="Arial" pitchFamily="34" charset="-122"/>
                <a:cs typeface="Arial" pitchFamily="34" charset="-120"/>
              </a:endParaRPr>
            </a:p>
          </p:txBody>
        </p:sp>
        <p:sp>
          <p:nvSpPr>
            <p:cNvPr id="202" name="Text 15">
              <a:extLst>
                <a:ext uri="{FF2B5EF4-FFF2-40B4-BE49-F238E27FC236}">
                  <a16:creationId xmlns:a16="http://schemas.microsoft.com/office/drawing/2014/main" id="{2032E851-9A5D-4525-8465-A860598002E0}"/>
                </a:ext>
              </a:extLst>
            </p:cNvPr>
            <p:cNvSpPr/>
            <p:nvPr/>
          </p:nvSpPr>
          <p:spPr>
            <a:xfrm>
              <a:off x="8465168" y="2732940"/>
              <a:ext cx="1344358" cy="493537"/>
            </a:xfrm>
            <a:prstGeom prst="rect">
              <a:avLst/>
            </a:prstGeom>
            <a:noFill/>
            <a:ln/>
          </p:spPr>
          <p:txBody>
            <a:bodyPr wrap="square" lIns="16933" tIns="16933" rIns="16933" bIns="16933" rtlCol="0" anchor="t">
              <a:noAutofit/>
            </a:bodyPr>
            <a:lstStyle/>
            <a:p>
              <a:r>
                <a:rPr lang="en-US" sz="1400" b="1" dirty="0">
                  <a:solidFill>
                    <a:srgbClr val="0B6E78"/>
                  </a:solidFill>
                  <a:latin typeface="Georgia" panose="02040502050405020303" pitchFamily="18" charset="0"/>
                  <a:ea typeface="Arial" pitchFamily="34" charset="-122"/>
                  <a:cs typeface="Arial" pitchFamily="34" charset="-120"/>
                </a:rPr>
                <a:t>944 </a:t>
              </a:r>
              <a:r>
                <a:rPr lang="en-US" sz="1400" dirty="0">
                  <a:latin typeface="Georgia" panose="02040502050405020303" pitchFamily="18" charset="0"/>
                  <a:ea typeface="Arial" pitchFamily="34" charset="-122"/>
                  <a:cs typeface="Arial" pitchFamily="34" charset="-120"/>
                </a:rPr>
                <a:t>MT/yr</a:t>
              </a:r>
              <a:endParaRPr lang="en-US" sz="1400" b="1" dirty="0">
                <a:latin typeface="Georgia" panose="02040502050405020303" pitchFamily="18" charset="0"/>
                <a:ea typeface="Arial" pitchFamily="34" charset="-122"/>
                <a:cs typeface="Arial" pitchFamily="34" charset="-120"/>
              </a:endParaRPr>
            </a:p>
          </p:txBody>
        </p:sp>
        <p:sp>
          <p:nvSpPr>
            <p:cNvPr id="203" name="Text 15">
              <a:extLst>
                <a:ext uri="{FF2B5EF4-FFF2-40B4-BE49-F238E27FC236}">
                  <a16:creationId xmlns:a16="http://schemas.microsoft.com/office/drawing/2014/main" id="{B6D7E761-3B17-FCC4-5557-02789C2B3532}"/>
                </a:ext>
              </a:extLst>
            </p:cNvPr>
            <p:cNvSpPr/>
            <p:nvPr/>
          </p:nvSpPr>
          <p:spPr>
            <a:xfrm>
              <a:off x="10031164" y="2750337"/>
              <a:ext cx="1344358" cy="493537"/>
            </a:xfrm>
            <a:prstGeom prst="rect">
              <a:avLst/>
            </a:prstGeom>
            <a:noFill/>
            <a:ln/>
          </p:spPr>
          <p:txBody>
            <a:bodyPr wrap="square" lIns="16933" tIns="16933" rIns="16933" bIns="16933" rtlCol="0" anchor="t">
              <a:noAutofit/>
            </a:bodyPr>
            <a:lstStyle/>
            <a:p>
              <a:r>
                <a:rPr lang="en-US" sz="1400" b="1" dirty="0">
                  <a:solidFill>
                    <a:srgbClr val="0B6E78"/>
                  </a:solidFill>
                  <a:latin typeface="Georgia" panose="02040502050405020303" pitchFamily="18" charset="0"/>
                  <a:ea typeface="Arial" pitchFamily="34" charset="-122"/>
                  <a:cs typeface="Arial" pitchFamily="34" charset="-120"/>
                </a:rPr>
                <a:t>1073 </a:t>
              </a:r>
              <a:r>
                <a:rPr lang="en-US" sz="1400" dirty="0">
                  <a:latin typeface="Georgia" panose="02040502050405020303" pitchFamily="18" charset="0"/>
                  <a:ea typeface="Arial" pitchFamily="34" charset="-122"/>
                  <a:cs typeface="Arial" pitchFamily="34" charset="-120"/>
                </a:rPr>
                <a:t>MT/yr</a:t>
              </a:r>
              <a:endParaRPr lang="en-US" sz="1400" b="1" dirty="0">
                <a:latin typeface="Georgia" panose="02040502050405020303" pitchFamily="18" charset="0"/>
                <a:ea typeface="Arial" pitchFamily="34" charset="-122"/>
                <a:cs typeface="Arial" pitchFamily="34" charset="-120"/>
              </a:endParaRPr>
            </a:p>
          </p:txBody>
        </p:sp>
      </p:grpSp>
      <p:pic>
        <p:nvPicPr>
          <p:cNvPr id="4" name="Picture 3">
            <a:extLst>
              <a:ext uri="{FF2B5EF4-FFF2-40B4-BE49-F238E27FC236}">
                <a16:creationId xmlns:a16="http://schemas.microsoft.com/office/drawing/2014/main" id="{03146DBA-F75E-5EE7-646C-FBFBCDB65F59}"/>
              </a:ext>
            </a:extLst>
          </p:cNvPr>
          <p:cNvPicPr>
            <a:picLocks noChangeAspect="1"/>
          </p:cNvPicPr>
          <p:nvPr/>
        </p:nvPicPr>
        <p:blipFill>
          <a:blip r:embed="rId2"/>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21276925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688F-7FA4-21B6-C365-4519E4DB1956}"/>
            </a:ext>
          </a:extLst>
        </p:cNvPr>
        <p:cNvGrpSpPr/>
        <p:nvPr/>
      </p:nvGrpSpPr>
      <p:grpSpPr>
        <a:xfrm>
          <a:off x="0" y="0"/>
          <a:ext cx="0" cy="0"/>
          <a:chOff x="0" y="0"/>
          <a:chExt cx="0" cy="0"/>
        </a:xfrm>
      </p:grpSpPr>
      <p:sp>
        <p:nvSpPr>
          <p:cNvPr id="7" name="Title 21">
            <a:extLst>
              <a:ext uri="{FF2B5EF4-FFF2-40B4-BE49-F238E27FC236}">
                <a16:creationId xmlns:a16="http://schemas.microsoft.com/office/drawing/2014/main" id="{F5971FFB-05A8-FC20-B02E-CF9DDF08C584}"/>
              </a:ext>
            </a:extLst>
          </p:cNvPr>
          <p:cNvSpPr txBox="1">
            <a:spLocks/>
          </p:cNvSpPr>
          <p:nvPr/>
        </p:nvSpPr>
        <p:spPr>
          <a:xfrm>
            <a:off x="457200" y="274170"/>
            <a:ext cx="10561116" cy="486159"/>
          </a:xfrm>
          <a:prstGeom prst="rect">
            <a:avLst/>
          </a:prstGeom>
        </p:spPr>
        <p:txBody>
          <a:bodyPr/>
          <a:lstStyle>
            <a:lvl1pPr>
              <a:defRPr>
                <a:latin typeface="+mj-lt"/>
                <a:ea typeface="+mj-ea"/>
                <a:cs typeface="+mj-cs"/>
              </a:defRPr>
            </a:lvl1pPr>
          </a:lstStyle>
          <a:p>
            <a:pPr>
              <a:lnSpc>
                <a:spcPct val="150000"/>
              </a:lnSpc>
              <a:spcAft>
                <a:spcPts val="800"/>
              </a:spcAft>
            </a:pPr>
            <a:r>
              <a:rPr lang="en-IN" sz="2400" b="1" dirty="0">
                <a:solidFill>
                  <a:schemeClr val="bg1"/>
                </a:solidFill>
                <a:latin typeface="Georgia" panose="02040502050405020303" pitchFamily="18" charset="0"/>
              </a:rPr>
              <a:t>Challenge category 7: </a:t>
            </a:r>
            <a:r>
              <a:rPr lang="en-US" sz="2400" b="1" dirty="0">
                <a:solidFill>
                  <a:schemeClr val="bg1"/>
                </a:solidFill>
                <a:latin typeface="Georgia" panose="02040502050405020303" pitchFamily="18" charset="0"/>
              </a:rPr>
              <a:t>Circular economy and loss-to-value solution</a:t>
            </a:r>
            <a:endParaRPr lang="en-IN" sz="2400" b="1" dirty="0">
              <a:solidFill>
                <a:schemeClr val="bg1"/>
              </a:solidFill>
              <a:latin typeface="Georgia" panose="02040502050405020303" pitchFamily="18" charset="0"/>
            </a:endParaRPr>
          </a:p>
        </p:txBody>
      </p:sp>
      <p:sp>
        <p:nvSpPr>
          <p:cNvPr id="5" name="Slide Number Placeholder 2">
            <a:extLst>
              <a:ext uri="{FF2B5EF4-FFF2-40B4-BE49-F238E27FC236}">
                <a16:creationId xmlns:a16="http://schemas.microsoft.com/office/drawing/2014/main" id="{0C3AD997-4BF7-ECFB-E37F-C3FA5ADDE314}"/>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29</a:t>
            </a:fld>
            <a:endParaRPr dirty="0">
              <a:latin typeface="Georgia" panose="02040502050405020303" pitchFamily="18" charset="0"/>
            </a:endParaRPr>
          </a:p>
        </p:txBody>
      </p:sp>
      <p:sp>
        <p:nvSpPr>
          <p:cNvPr id="8" name="Text 12">
            <a:extLst>
              <a:ext uri="{FF2B5EF4-FFF2-40B4-BE49-F238E27FC236}">
                <a16:creationId xmlns:a16="http://schemas.microsoft.com/office/drawing/2014/main" id="{89647B6B-A055-25CE-CCC6-858DEBE34004}"/>
              </a:ext>
            </a:extLst>
          </p:cNvPr>
          <p:cNvSpPr/>
          <p:nvPr/>
        </p:nvSpPr>
        <p:spPr>
          <a:xfrm>
            <a:off x="533398" y="3429000"/>
            <a:ext cx="10820400" cy="1843117"/>
          </a:xfrm>
          <a:prstGeom prst="rect">
            <a:avLst/>
          </a:prstGeom>
          <a:noFill/>
          <a:ln>
            <a:solidFill>
              <a:schemeClr val="tx1"/>
            </a:solidFill>
            <a:prstDash val="dash"/>
          </a:ln>
        </p:spPr>
        <p:txBody>
          <a:bodyPr wrap="square" lIns="16933" tIns="16933" rIns="16933" bIns="16933" rtlCol="0" anchor="t">
            <a:noAutofit/>
          </a:bodyPr>
          <a:lstStyle/>
          <a:p>
            <a:r>
              <a:rPr lang="en-IN" sz="1400" b="1" dirty="0">
                <a:latin typeface="Georgia" panose="02040502050405020303" pitchFamily="18" charset="0"/>
              </a:rPr>
              <a:t>Assumptions: </a:t>
            </a:r>
          </a:p>
          <a:p>
            <a:endParaRPr lang="en-IN" sz="800" dirty="0">
              <a:latin typeface="Georgia" panose="02040502050405020303" pitchFamily="18" charset="0"/>
            </a:endParaRPr>
          </a:p>
          <a:p>
            <a:pPr marL="403225" indent="-287338">
              <a:buFont typeface="Arial" panose="020B0604020202020204" pitchFamily="34" charset="0"/>
              <a:buChar char="•"/>
            </a:pPr>
            <a:r>
              <a:rPr lang="en-US" sz="1400" dirty="0">
                <a:latin typeface="Georgia" panose="02040502050405020303" pitchFamily="18" charset="0"/>
              </a:rPr>
              <a:t>Processing units are assumed to operate at 100% of their reported annual capacity.</a:t>
            </a:r>
          </a:p>
          <a:p>
            <a:pPr marL="403225" indent="-287338">
              <a:buFont typeface="Arial" panose="020B0604020202020204" pitchFamily="34" charset="0"/>
              <a:buChar char="•"/>
            </a:pPr>
            <a:r>
              <a:rPr lang="en-US" sz="1400" dirty="0">
                <a:latin typeface="Georgia" panose="02040502050405020303" pitchFamily="18" charset="0"/>
              </a:rPr>
              <a:t>Each unit's capacity is counted once per year (single annual cycle).</a:t>
            </a:r>
          </a:p>
          <a:p>
            <a:pPr marL="403225" indent="-287338">
              <a:buFont typeface="Arial" panose="020B0604020202020204" pitchFamily="34" charset="0"/>
              <a:buChar char="•"/>
            </a:pPr>
            <a:r>
              <a:rPr lang="en-IN" sz="1400" dirty="0">
                <a:latin typeface="Georgia" panose="02040502050405020303" pitchFamily="18" charset="0"/>
              </a:rPr>
              <a:t>“Local processing capacity” refers to the capacity attributable to the seven key crops and was estimated by applying each cluster's share of key crop production in total fruits and vegetables production to the total reported cluster processing capacity </a:t>
            </a:r>
          </a:p>
          <a:p>
            <a:pPr marL="403225" indent="-287338">
              <a:buFont typeface="Arial" panose="020B0604020202020204" pitchFamily="34" charset="0"/>
              <a:buChar char="•"/>
            </a:pPr>
            <a:r>
              <a:rPr lang="en-IN" sz="1400" dirty="0">
                <a:latin typeface="Georgia" panose="02040502050405020303" pitchFamily="18" charset="0"/>
              </a:rPr>
              <a:t>"Remaining share" represents the percentage of key crop production not absorbed by local processing units, and is assumed to move to open markets, direct consumption, processing in other clusters, or processing in other states.</a:t>
            </a:r>
            <a:endParaRPr lang="en-US" sz="1400" dirty="0">
              <a:latin typeface="Georgia" panose="02040502050405020303" pitchFamily="18" charset="0"/>
            </a:endParaRPr>
          </a:p>
          <a:p>
            <a:endParaRPr lang="en-IN" sz="1400" dirty="0">
              <a:latin typeface="Georgia" panose="02040502050405020303" pitchFamily="18" charset="0"/>
            </a:endParaRPr>
          </a:p>
        </p:txBody>
      </p:sp>
      <p:sp>
        <p:nvSpPr>
          <p:cNvPr id="10" name="TextBox 9">
            <a:extLst>
              <a:ext uri="{FF2B5EF4-FFF2-40B4-BE49-F238E27FC236}">
                <a16:creationId xmlns:a16="http://schemas.microsoft.com/office/drawing/2014/main" id="{C850FCE6-9C03-5648-A38D-C3107EE1F3FE}"/>
              </a:ext>
            </a:extLst>
          </p:cNvPr>
          <p:cNvSpPr txBox="1"/>
          <p:nvPr/>
        </p:nvSpPr>
        <p:spPr>
          <a:xfrm>
            <a:off x="533398" y="1712893"/>
            <a:ext cx="10820400" cy="1323439"/>
          </a:xfrm>
          <a:prstGeom prst="rect">
            <a:avLst/>
          </a:prstGeom>
          <a:solidFill>
            <a:srgbClr val="DDD9C3"/>
          </a:solidFill>
          <a:ln>
            <a:solidFill>
              <a:schemeClr val="tx1"/>
            </a:solidFill>
            <a:prstDash val="dash"/>
          </a:ln>
        </p:spPr>
        <p:txBody>
          <a:bodyPr wrap="square">
            <a:spAutoFit/>
          </a:bodyPr>
          <a:lstStyle/>
          <a:p>
            <a:r>
              <a:rPr lang="en-IN" sz="1600" b="1" dirty="0">
                <a:latin typeface="Georgia" panose="02040502050405020303" pitchFamily="18" charset="0"/>
              </a:rPr>
              <a:t>In 6 out of 7 clusters, over 99% of production has no local processing absorption, it enters open logistics chains with no coordination, no cold chain, and no guaranteed market </a:t>
            </a:r>
            <a:r>
              <a:rPr lang="en-IN" sz="1600" dirty="0">
                <a:latin typeface="Georgia" panose="02040502050405020303" pitchFamily="18" charset="0"/>
              </a:rPr>
              <a:t>leading to limited aggregation, preservation, or resource utilisation. </a:t>
            </a:r>
            <a:r>
              <a:rPr lang="en-US" sz="1600" dirty="0">
                <a:latin typeface="Georgia" panose="02040502050405020303" pitchFamily="18" charset="0"/>
              </a:rPr>
              <a:t>Even in East Karnataka, where 41.25% of produce is linked to processing ecosystems, more than half still exits the cluster without opportunities for by-product utilization or value recirculation.</a:t>
            </a:r>
            <a:endParaRPr lang="en-IN" sz="1600" dirty="0">
              <a:latin typeface="Georgia" panose="02040502050405020303" pitchFamily="18" charset="0"/>
            </a:endParaRPr>
          </a:p>
        </p:txBody>
      </p:sp>
      <p:pic>
        <p:nvPicPr>
          <p:cNvPr id="3" name="Picture 2">
            <a:extLst>
              <a:ext uri="{FF2B5EF4-FFF2-40B4-BE49-F238E27FC236}">
                <a16:creationId xmlns:a16="http://schemas.microsoft.com/office/drawing/2014/main" id="{04052B79-B88F-3067-8009-4B36F953400E}"/>
              </a:ext>
            </a:extLst>
          </p:cNvPr>
          <p:cNvPicPr>
            <a:picLocks noChangeAspect="1"/>
          </p:cNvPicPr>
          <p:nvPr/>
        </p:nvPicPr>
        <p:blipFill>
          <a:blip r:embed="rId2"/>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1290656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CC18E-4551-3F24-6D1B-0EC5A7B15022}"/>
            </a:ext>
          </a:extLst>
        </p:cNvPr>
        <p:cNvGrpSpPr/>
        <p:nvPr/>
      </p:nvGrpSpPr>
      <p:grpSpPr>
        <a:xfrm>
          <a:off x="0" y="0"/>
          <a:ext cx="0" cy="0"/>
          <a:chOff x="0" y="0"/>
          <a:chExt cx="0" cy="0"/>
        </a:xfrm>
      </p:grpSpPr>
      <p:sp>
        <p:nvSpPr>
          <p:cNvPr id="7" name="Title 21">
            <a:extLst>
              <a:ext uri="{FF2B5EF4-FFF2-40B4-BE49-F238E27FC236}">
                <a16:creationId xmlns:a16="http://schemas.microsoft.com/office/drawing/2014/main" id="{94AABA5C-82E0-E9EF-A7BA-8BFCB48EFD87}"/>
              </a:ext>
            </a:extLst>
          </p:cNvPr>
          <p:cNvSpPr txBox="1">
            <a:spLocks/>
          </p:cNvSpPr>
          <p:nvPr/>
        </p:nvSpPr>
        <p:spPr>
          <a:xfrm>
            <a:off x="404992" y="284247"/>
            <a:ext cx="11353800" cy="486159"/>
          </a:xfrm>
          <a:prstGeom prst="rect">
            <a:avLst/>
          </a:prstGeom>
        </p:spPr>
        <p:txBody>
          <a:bodyPr/>
          <a:lstStyle>
            <a:lvl1pPr>
              <a:defRPr>
                <a:latin typeface="+mj-lt"/>
                <a:ea typeface="+mj-ea"/>
                <a:cs typeface="+mj-cs"/>
              </a:defRPr>
            </a:lvl1pPr>
          </a:lstStyle>
          <a:p>
            <a:pPr>
              <a:lnSpc>
                <a:spcPct val="150000"/>
              </a:lnSpc>
              <a:spcAft>
                <a:spcPts val="800"/>
              </a:spcAft>
            </a:pPr>
            <a:r>
              <a:rPr lang="en-IN" sz="2400" b="1" dirty="0">
                <a:solidFill>
                  <a:schemeClr val="bg1"/>
                </a:solidFill>
                <a:latin typeface="Georgia" panose="02040502050405020303" pitchFamily="18" charset="0"/>
              </a:rPr>
              <a:t>Challenge category 7: </a:t>
            </a:r>
            <a:r>
              <a:rPr lang="en-US" sz="2400" b="1" dirty="0">
                <a:solidFill>
                  <a:schemeClr val="bg1"/>
                </a:solidFill>
                <a:latin typeface="Georgia" panose="02040502050405020303" pitchFamily="18" charset="0"/>
              </a:rPr>
              <a:t>Circular economy and loss-to-value solutions</a:t>
            </a:r>
            <a:endParaRPr lang="en-IN" sz="2400" b="1" dirty="0">
              <a:solidFill>
                <a:schemeClr val="bg1"/>
              </a:solidFill>
              <a:latin typeface="Georgia" panose="02040502050405020303" pitchFamily="18" charset="0"/>
            </a:endParaRPr>
          </a:p>
        </p:txBody>
      </p:sp>
      <p:sp>
        <p:nvSpPr>
          <p:cNvPr id="5" name="Slide Number Placeholder 2">
            <a:extLst>
              <a:ext uri="{FF2B5EF4-FFF2-40B4-BE49-F238E27FC236}">
                <a16:creationId xmlns:a16="http://schemas.microsoft.com/office/drawing/2014/main" id="{4D407936-8A2B-939D-C48C-D5F8DC6DA090}"/>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30</a:t>
            </a:fld>
            <a:endParaRPr dirty="0">
              <a:latin typeface="Georgia" panose="02040502050405020303" pitchFamily="18" charset="0"/>
            </a:endParaRPr>
          </a:p>
        </p:txBody>
      </p:sp>
      <p:grpSp>
        <p:nvGrpSpPr>
          <p:cNvPr id="142" name="Group 141">
            <a:extLst>
              <a:ext uri="{FF2B5EF4-FFF2-40B4-BE49-F238E27FC236}">
                <a16:creationId xmlns:a16="http://schemas.microsoft.com/office/drawing/2014/main" id="{86964842-4F42-8A17-3610-38486A4D507F}"/>
              </a:ext>
            </a:extLst>
          </p:cNvPr>
          <p:cNvGrpSpPr/>
          <p:nvPr/>
        </p:nvGrpSpPr>
        <p:grpSpPr>
          <a:xfrm>
            <a:off x="609600" y="1219200"/>
            <a:ext cx="5015505" cy="364895"/>
            <a:chOff x="590934" y="5138871"/>
            <a:chExt cx="5015505" cy="364895"/>
          </a:xfrm>
        </p:grpSpPr>
        <p:sp>
          <p:nvSpPr>
            <p:cNvPr id="139" name="Freeform 18">
              <a:extLst>
                <a:ext uri="{FF2B5EF4-FFF2-40B4-BE49-F238E27FC236}">
                  <a16:creationId xmlns:a16="http://schemas.microsoft.com/office/drawing/2014/main" id="{DC03F446-9936-8D7C-0B1E-468DE97F3E52}"/>
                </a:ext>
              </a:extLst>
            </p:cNvPr>
            <p:cNvSpPr/>
            <p:nvPr/>
          </p:nvSpPr>
          <p:spPr>
            <a:xfrm>
              <a:off x="590934" y="5138871"/>
              <a:ext cx="2764804" cy="364895"/>
            </a:xfrm>
            <a:custGeom>
              <a:avLst/>
              <a:gdLst/>
              <a:ahLst/>
              <a:cxnLst/>
              <a:rect l="l" t="t" r="r" b="b"/>
              <a:pathLst>
                <a:path w="2402157" h="925922">
                  <a:moveTo>
                    <a:pt x="0" y="0"/>
                  </a:moveTo>
                  <a:lnTo>
                    <a:pt x="2402157" y="0"/>
                  </a:lnTo>
                  <a:lnTo>
                    <a:pt x="2402157" y="925922"/>
                  </a:lnTo>
                  <a:lnTo>
                    <a:pt x="0" y="92592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latin typeface="Georgia" panose="02040502050405020303" pitchFamily="18" charset="0"/>
              </a:endParaRPr>
            </a:p>
          </p:txBody>
        </p:sp>
        <p:sp>
          <p:nvSpPr>
            <p:cNvPr id="140" name="TextBox 32">
              <a:extLst>
                <a:ext uri="{FF2B5EF4-FFF2-40B4-BE49-F238E27FC236}">
                  <a16:creationId xmlns:a16="http://schemas.microsoft.com/office/drawing/2014/main" id="{74F4A99F-26D4-1AE0-4D38-4998CBAFC95B}"/>
                </a:ext>
              </a:extLst>
            </p:cNvPr>
            <p:cNvSpPr txBox="1"/>
            <p:nvPr/>
          </p:nvSpPr>
          <p:spPr>
            <a:xfrm>
              <a:off x="755834" y="5188050"/>
              <a:ext cx="4850605" cy="258725"/>
            </a:xfrm>
            <a:prstGeom prst="rect">
              <a:avLst/>
            </a:prstGeom>
          </p:spPr>
          <p:txBody>
            <a:bodyPr wrap="square" lIns="0" tIns="0" rIns="0" bIns="0" rtlCol="0" anchor="t">
              <a:spAutoFit/>
            </a:bodyPr>
            <a:lstStyle/>
            <a:p>
              <a:pPr algn="l">
                <a:lnSpc>
                  <a:spcPts val="2240"/>
                </a:lnSpc>
                <a:spcBef>
                  <a:spcPct val="0"/>
                </a:spcBef>
              </a:pPr>
              <a:r>
                <a:rPr lang="en-US" sz="1600" b="1" dirty="0">
                  <a:solidFill>
                    <a:srgbClr val="FFFFFF"/>
                  </a:solidFill>
                  <a:latin typeface="Georgia" panose="02040502050405020303" pitchFamily="18" charset="0"/>
                  <a:ea typeface="TT Hoves Bold"/>
                  <a:cs typeface="TT Hoves Bold"/>
                  <a:sym typeface="TT Hoves Bold"/>
                </a:rPr>
                <a:t>Policies &amp; schemes</a:t>
              </a:r>
            </a:p>
          </p:txBody>
        </p:sp>
      </p:grpSp>
      <p:grpSp>
        <p:nvGrpSpPr>
          <p:cNvPr id="143" name="Group 142">
            <a:extLst>
              <a:ext uri="{FF2B5EF4-FFF2-40B4-BE49-F238E27FC236}">
                <a16:creationId xmlns:a16="http://schemas.microsoft.com/office/drawing/2014/main" id="{1ABE9365-B6D7-A851-3A0D-3AF3CE450DD9}"/>
              </a:ext>
            </a:extLst>
          </p:cNvPr>
          <p:cNvGrpSpPr/>
          <p:nvPr/>
        </p:nvGrpSpPr>
        <p:grpSpPr>
          <a:xfrm>
            <a:off x="961802" y="1660294"/>
            <a:ext cx="10397426" cy="4283306"/>
            <a:chOff x="320040" y="4334256"/>
            <a:chExt cx="8503920" cy="685800"/>
          </a:xfrm>
        </p:grpSpPr>
        <p:sp>
          <p:nvSpPr>
            <p:cNvPr id="144" name="Shape 16">
              <a:extLst>
                <a:ext uri="{FF2B5EF4-FFF2-40B4-BE49-F238E27FC236}">
                  <a16:creationId xmlns:a16="http://schemas.microsoft.com/office/drawing/2014/main" id="{884A15D3-710F-448E-30B6-728EA85D9279}"/>
                </a:ext>
              </a:extLst>
            </p:cNvPr>
            <p:cNvSpPr/>
            <p:nvPr/>
          </p:nvSpPr>
          <p:spPr>
            <a:xfrm>
              <a:off x="320040" y="4334256"/>
              <a:ext cx="2743200" cy="685800"/>
            </a:xfrm>
            <a:prstGeom prst="rect">
              <a:avLst/>
            </a:prstGeom>
            <a:solidFill>
              <a:srgbClr val="FEF9EC"/>
            </a:solidFill>
            <a:ln w="12700">
              <a:solidFill>
                <a:srgbClr val="D4A017"/>
              </a:solidFill>
              <a:prstDash val="solid"/>
            </a:ln>
          </p:spPr>
          <p:txBody>
            <a:bodyPr/>
            <a:lstStyle/>
            <a:p>
              <a:endParaRPr lang="en-IN" dirty="0">
                <a:latin typeface="Georgia" panose="02040502050405020303" pitchFamily="18" charset="0"/>
              </a:endParaRPr>
            </a:p>
          </p:txBody>
        </p:sp>
        <p:sp>
          <p:nvSpPr>
            <p:cNvPr id="145" name="Shape 17">
              <a:extLst>
                <a:ext uri="{FF2B5EF4-FFF2-40B4-BE49-F238E27FC236}">
                  <a16:creationId xmlns:a16="http://schemas.microsoft.com/office/drawing/2014/main" id="{C911A7D7-2729-F12C-E7C3-F892829D09E1}"/>
                </a:ext>
              </a:extLst>
            </p:cNvPr>
            <p:cNvSpPr/>
            <p:nvPr/>
          </p:nvSpPr>
          <p:spPr>
            <a:xfrm>
              <a:off x="320040" y="4334256"/>
              <a:ext cx="2743200" cy="106173"/>
            </a:xfrm>
            <a:prstGeom prst="rect">
              <a:avLst/>
            </a:prstGeom>
            <a:solidFill>
              <a:srgbClr val="D4A017"/>
            </a:solidFill>
            <a:ln w="12700">
              <a:solidFill>
                <a:srgbClr val="D4A017"/>
              </a:solidFill>
              <a:prstDash val="solid"/>
            </a:ln>
          </p:spPr>
          <p:txBody>
            <a:bodyPr/>
            <a:lstStyle/>
            <a:p>
              <a:endParaRPr lang="en-IN" dirty="0">
                <a:latin typeface="Georgia" panose="02040502050405020303" pitchFamily="18" charset="0"/>
              </a:endParaRPr>
            </a:p>
          </p:txBody>
        </p:sp>
        <p:sp>
          <p:nvSpPr>
            <p:cNvPr id="146" name="Text 18">
              <a:extLst>
                <a:ext uri="{FF2B5EF4-FFF2-40B4-BE49-F238E27FC236}">
                  <a16:creationId xmlns:a16="http://schemas.microsoft.com/office/drawing/2014/main" id="{FBFC4B4B-7C21-9F9E-31B0-6774547FEE85}"/>
                </a:ext>
              </a:extLst>
            </p:cNvPr>
            <p:cNvSpPr/>
            <p:nvPr/>
          </p:nvSpPr>
          <p:spPr>
            <a:xfrm>
              <a:off x="365760" y="4334256"/>
              <a:ext cx="2651760" cy="106173"/>
            </a:xfrm>
            <a:prstGeom prst="rect">
              <a:avLst/>
            </a:prstGeom>
            <a:noFill/>
            <a:ln/>
          </p:spPr>
          <p:txBody>
            <a:bodyPr wrap="square" lIns="38100" tIns="38100" rIns="38100" bIns="38100" rtlCol="0" anchor="ctr"/>
            <a:lstStyle/>
            <a:p>
              <a:pPr marL="0" indent="0">
                <a:buNone/>
              </a:pPr>
              <a:r>
                <a:rPr lang="en-US" sz="1200" b="1" dirty="0">
                  <a:solidFill>
                    <a:schemeClr val="bg1"/>
                  </a:solidFill>
                  <a:latin typeface="Georgia" panose="02040502050405020303" pitchFamily="18" charset="0"/>
                </a:rPr>
                <a:t>Agriculture Infrastructure Fund (AIF)</a:t>
              </a:r>
            </a:p>
          </p:txBody>
        </p:sp>
        <p:sp>
          <p:nvSpPr>
            <p:cNvPr id="147" name="Text 19">
              <a:extLst>
                <a:ext uri="{FF2B5EF4-FFF2-40B4-BE49-F238E27FC236}">
                  <a16:creationId xmlns:a16="http://schemas.microsoft.com/office/drawing/2014/main" id="{11DB1D99-88E5-2666-DC1D-9CDF63B26883}"/>
                </a:ext>
              </a:extLst>
            </p:cNvPr>
            <p:cNvSpPr/>
            <p:nvPr/>
          </p:nvSpPr>
          <p:spPr>
            <a:xfrm>
              <a:off x="365760" y="4455941"/>
              <a:ext cx="2651760" cy="545828"/>
            </a:xfrm>
            <a:prstGeom prst="rect">
              <a:avLst/>
            </a:prstGeom>
            <a:noFill/>
            <a:ln/>
          </p:spPr>
          <p:txBody>
            <a:bodyPr wrap="square" lIns="38100" tIns="38100" rIns="38100" bIns="38100" rtlCol="0" anchor="t"/>
            <a:lstStyle/>
            <a:p>
              <a:pPr marL="171450" lvl="0" indent="-171450">
                <a:buFont typeface="Arial" panose="020B0604020202020204" pitchFamily="34" charset="0"/>
                <a:buChar char="•"/>
              </a:pPr>
              <a:r>
                <a:rPr lang="en-IN" sz="1200" dirty="0">
                  <a:latin typeface="Georgia" panose="02040502050405020303" pitchFamily="18" charset="0"/>
                </a:rPr>
                <a:t>AIF supports development of infrastructure to convert agricultural waste into value, complementing circular economy and waste-to-wealth approaches across the agriculture and allied sectors.</a:t>
              </a:r>
            </a:p>
            <a:p>
              <a:pPr marL="171450" lvl="0" indent="-171450">
                <a:buFont typeface="Arial" panose="020B0604020202020204" pitchFamily="34" charset="0"/>
                <a:buChar char="•"/>
              </a:pPr>
              <a:endParaRPr lang="en-IN" sz="400" dirty="0">
                <a:latin typeface="Georgia" panose="02040502050405020303" pitchFamily="18" charset="0"/>
              </a:endParaRPr>
            </a:p>
            <a:p>
              <a:pPr marL="171450" lvl="0" indent="-171450">
                <a:buFont typeface="Arial" panose="020B0604020202020204" pitchFamily="34" charset="0"/>
                <a:buChar char="•"/>
              </a:pPr>
              <a:r>
                <a:rPr lang="en-IN" sz="1200" dirty="0">
                  <a:latin typeface="Georgia" panose="02040502050405020303" pitchFamily="18" charset="0"/>
                </a:rPr>
                <a:t>Provides interest subvention of 3% per annum on loans up to ₹2 crore for post-harvest management infrastructure including primary processing units, sorting, grading, and cold storage, directly enabling secondary-use facility creation at farm and FPO level.</a:t>
              </a:r>
            </a:p>
            <a:p>
              <a:pPr marL="171450" lvl="0" indent="-171450">
                <a:buFont typeface="Arial" panose="020B0604020202020204" pitchFamily="34" charset="0"/>
                <a:buChar char="•"/>
              </a:pPr>
              <a:endParaRPr lang="en-IN" sz="1200" dirty="0">
                <a:latin typeface="Georgia" panose="02040502050405020303" pitchFamily="18" charset="0"/>
              </a:endParaRPr>
            </a:p>
            <a:p>
              <a:pPr marL="171450" lvl="0" indent="-171450">
                <a:buFont typeface="Arial" panose="020B0604020202020204" pitchFamily="34" charset="0"/>
                <a:buChar char="•"/>
              </a:pPr>
              <a:endParaRPr lang="en-IN" sz="1200" dirty="0">
                <a:latin typeface="Georgia" panose="02040502050405020303" pitchFamily="18" charset="0"/>
              </a:endParaRPr>
            </a:p>
            <a:p>
              <a:pPr marL="171450" lvl="0" indent="-171450">
                <a:buFont typeface="Arial" panose="020B0604020202020204" pitchFamily="34" charset="0"/>
                <a:buChar char="•"/>
              </a:pPr>
              <a:endParaRPr lang="en-IN" sz="1200" dirty="0">
                <a:latin typeface="Georgia" panose="02040502050405020303" pitchFamily="18" charset="0"/>
              </a:endParaRPr>
            </a:p>
            <a:p>
              <a:pPr marL="171450" lvl="0" indent="-171450">
                <a:buFont typeface="Arial" panose="020B0604020202020204" pitchFamily="34" charset="0"/>
                <a:buChar char="•"/>
              </a:pPr>
              <a:endParaRPr lang="en-IN" sz="1200" dirty="0">
                <a:latin typeface="Georgia" panose="02040502050405020303" pitchFamily="18" charset="0"/>
              </a:endParaRPr>
            </a:p>
            <a:p>
              <a:pPr marL="171450" lvl="0" indent="-171450">
                <a:buFont typeface="Arial" panose="020B0604020202020204" pitchFamily="34" charset="0"/>
                <a:buChar char="•"/>
              </a:pPr>
              <a:endParaRPr lang="en-IN" sz="1200" dirty="0">
                <a:latin typeface="Georgia" panose="02040502050405020303" pitchFamily="18" charset="0"/>
              </a:endParaRPr>
            </a:p>
            <a:p>
              <a:pPr lvl="0"/>
              <a:r>
                <a:rPr lang="en-IN" sz="800" i="1" dirty="0">
                  <a:latin typeface="Georgia" panose="02040502050405020303" pitchFamily="18" charset="0"/>
                </a:rPr>
                <a:t>Source: </a:t>
              </a:r>
              <a:r>
                <a:rPr lang="en-IN" sz="800" i="1" dirty="0" err="1">
                  <a:latin typeface="Georgia" panose="02040502050405020303" pitchFamily="18" charset="0"/>
                </a:rPr>
                <a:t>MoAFW</a:t>
              </a:r>
              <a:r>
                <a:rPr lang="en-IN" sz="800" i="1" dirty="0">
                  <a:latin typeface="Georgia" panose="02040502050405020303" pitchFamily="18" charset="0"/>
                </a:rPr>
                <a:t>. Agriculture Infrastructure Fund</a:t>
              </a:r>
              <a:endParaRPr lang="en-US" sz="800" dirty="0">
                <a:latin typeface="Georgia" panose="02040502050405020303" pitchFamily="18" charset="0"/>
              </a:endParaRPr>
            </a:p>
          </p:txBody>
        </p:sp>
        <p:sp>
          <p:nvSpPr>
            <p:cNvPr id="148" name="Shape 20">
              <a:extLst>
                <a:ext uri="{FF2B5EF4-FFF2-40B4-BE49-F238E27FC236}">
                  <a16:creationId xmlns:a16="http://schemas.microsoft.com/office/drawing/2014/main" id="{71A2525E-4915-690B-CF26-09ACADAF711C}"/>
                </a:ext>
              </a:extLst>
            </p:cNvPr>
            <p:cNvSpPr/>
            <p:nvPr/>
          </p:nvSpPr>
          <p:spPr>
            <a:xfrm>
              <a:off x="3200400" y="4334256"/>
              <a:ext cx="2743200" cy="685800"/>
            </a:xfrm>
            <a:prstGeom prst="rect">
              <a:avLst/>
            </a:prstGeom>
            <a:solidFill>
              <a:srgbClr val="FEF9EC"/>
            </a:solidFill>
            <a:ln w="12700">
              <a:solidFill>
                <a:srgbClr val="D4A017"/>
              </a:solidFill>
              <a:prstDash val="solid"/>
            </a:ln>
          </p:spPr>
          <p:txBody>
            <a:bodyPr/>
            <a:lstStyle/>
            <a:p>
              <a:endParaRPr lang="en-IN">
                <a:latin typeface="Georgia" panose="02040502050405020303" pitchFamily="18" charset="0"/>
              </a:endParaRPr>
            </a:p>
          </p:txBody>
        </p:sp>
        <p:sp>
          <p:nvSpPr>
            <p:cNvPr id="149" name="Shape 21">
              <a:extLst>
                <a:ext uri="{FF2B5EF4-FFF2-40B4-BE49-F238E27FC236}">
                  <a16:creationId xmlns:a16="http://schemas.microsoft.com/office/drawing/2014/main" id="{3AD53632-1515-C930-341B-CE2544CF2B90}"/>
                </a:ext>
              </a:extLst>
            </p:cNvPr>
            <p:cNvSpPr/>
            <p:nvPr/>
          </p:nvSpPr>
          <p:spPr>
            <a:xfrm>
              <a:off x="3200400" y="4334256"/>
              <a:ext cx="2743200" cy="106173"/>
            </a:xfrm>
            <a:prstGeom prst="rect">
              <a:avLst/>
            </a:prstGeom>
            <a:solidFill>
              <a:srgbClr val="D4A017"/>
            </a:solidFill>
            <a:ln w="12700">
              <a:solidFill>
                <a:srgbClr val="D4A017"/>
              </a:solidFill>
              <a:prstDash val="solid"/>
            </a:ln>
          </p:spPr>
          <p:txBody>
            <a:bodyPr/>
            <a:lstStyle/>
            <a:p>
              <a:endParaRPr lang="en-IN">
                <a:latin typeface="Georgia" panose="02040502050405020303" pitchFamily="18" charset="0"/>
              </a:endParaRPr>
            </a:p>
          </p:txBody>
        </p:sp>
        <p:sp>
          <p:nvSpPr>
            <p:cNvPr id="150" name="Text 22">
              <a:extLst>
                <a:ext uri="{FF2B5EF4-FFF2-40B4-BE49-F238E27FC236}">
                  <a16:creationId xmlns:a16="http://schemas.microsoft.com/office/drawing/2014/main" id="{B6611F65-282D-B55C-B449-E86C683A6316}"/>
                </a:ext>
              </a:extLst>
            </p:cNvPr>
            <p:cNvSpPr/>
            <p:nvPr/>
          </p:nvSpPr>
          <p:spPr>
            <a:xfrm>
              <a:off x="3246120" y="4334256"/>
              <a:ext cx="2651760" cy="106173"/>
            </a:xfrm>
            <a:prstGeom prst="rect">
              <a:avLst/>
            </a:prstGeom>
            <a:noFill/>
            <a:ln/>
          </p:spPr>
          <p:txBody>
            <a:bodyPr wrap="square" lIns="38100" tIns="38100" rIns="38100" bIns="38100" rtlCol="0" anchor="ctr"/>
            <a:lstStyle/>
            <a:p>
              <a:pPr marL="0" indent="0">
                <a:buNone/>
              </a:pPr>
              <a:r>
                <a:rPr lang="en-US" sz="1200" b="1" dirty="0">
                  <a:solidFill>
                    <a:schemeClr val="bg1"/>
                  </a:solidFill>
                  <a:latin typeface="Georgia" panose="02040502050405020303" pitchFamily="18" charset="0"/>
                </a:rPr>
                <a:t>Operation Greens - TOP to TOTAL</a:t>
              </a:r>
            </a:p>
          </p:txBody>
        </p:sp>
        <p:sp>
          <p:nvSpPr>
            <p:cNvPr id="151" name="Text 23">
              <a:extLst>
                <a:ext uri="{FF2B5EF4-FFF2-40B4-BE49-F238E27FC236}">
                  <a16:creationId xmlns:a16="http://schemas.microsoft.com/office/drawing/2014/main" id="{98E0EB27-0630-D77C-AECC-E1E5F58DEBE2}"/>
                </a:ext>
              </a:extLst>
            </p:cNvPr>
            <p:cNvSpPr/>
            <p:nvPr/>
          </p:nvSpPr>
          <p:spPr>
            <a:xfrm>
              <a:off x="3246120" y="4455941"/>
              <a:ext cx="2651760" cy="545827"/>
            </a:xfrm>
            <a:prstGeom prst="rect">
              <a:avLst/>
            </a:prstGeom>
            <a:noFill/>
            <a:ln/>
          </p:spPr>
          <p:txBody>
            <a:bodyPr wrap="square" lIns="38100" tIns="38100" rIns="38100" bIns="38100" rtlCol="0" anchor="t"/>
            <a:lstStyle/>
            <a:p>
              <a:pPr marL="171450" indent="-171450">
                <a:buFont typeface="Arial" panose="020B0604020202020204" pitchFamily="34" charset="0"/>
                <a:buChar char="•"/>
              </a:pPr>
              <a:r>
                <a:rPr lang="en-IN" sz="1200" dirty="0">
                  <a:latin typeface="Georgia" panose="02040502050405020303" pitchFamily="18" charset="0"/>
                </a:rPr>
                <a:t>Launched in Union Budget 2018-19 to develop the Tomato, Onion, and Potato (TOP) value chain, then expanded under </a:t>
              </a:r>
              <a:r>
                <a:rPr lang="en-IN" sz="1200" dirty="0" err="1">
                  <a:latin typeface="Georgia" panose="02040502050405020303" pitchFamily="18" charset="0"/>
                </a:rPr>
                <a:t>Aatmanirbhar</a:t>
              </a:r>
              <a:r>
                <a:rPr lang="en-IN" sz="1200" dirty="0">
                  <a:latin typeface="Georgia" panose="02040502050405020303" pitchFamily="18" charset="0"/>
                </a:rPr>
                <a:t> Bharat in June 2020 to cover all fruits and vegetables (TOTAL).</a:t>
              </a:r>
            </a:p>
            <a:p>
              <a:pPr marL="171450" indent="-171450">
                <a:buFont typeface="Arial" panose="020B0604020202020204" pitchFamily="34" charset="0"/>
                <a:buChar char="•"/>
              </a:pPr>
              <a:endParaRPr lang="en-IN" sz="400" dirty="0">
                <a:latin typeface="Georgia" panose="02040502050405020303" pitchFamily="18" charset="0"/>
              </a:endParaRPr>
            </a:p>
            <a:p>
              <a:pPr marL="171450" indent="-171450">
                <a:buFont typeface="Arial" panose="020B0604020202020204" pitchFamily="34" charset="0"/>
                <a:buChar char="•"/>
              </a:pPr>
              <a:r>
                <a:rPr lang="en-IN" sz="1200" dirty="0">
                  <a:latin typeface="Georgia" panose="02040502050405020303" pitchFamily="18" charset="0"/>
                </a:rPr>
                <a:t>The objective is to protect growers from distress sales and reduce post-harvest losses, with a 50% subsidy on transportation of eligible crops from surplus production clusters to consumption centres, and hiring of storage facilities for up to three months when prices fall below the three-year average market price.</a:t>
              </a:r>
            </a:p>
            <a:p>
              <a:pPr marL="171450" indent="-171450">
                <a:buFont typeface="Arial" panose="020B0604020202020204" pitchFamily="34" charset="0"/>
                <a:buChar char="•"/>
              </a:pPr>
              <a:endParaRPr lang="en-IN" sz="400" dirty="0">
                <a:latin typeface="Georgia" panose="02040502050405020303" pitchFamily="18" charset="0"/>
              </a:endParaRPr>
            </a:p>
            <a:p>
              <a:pPr marL="171450" indent="-171450">
                <a:buFont typeface="Arial" panose="020B0604020202020204" pitchFamily="34" charset="0"/>
                <a:buChar char="•"/>
              </a:pPr>
              <a:endParaRPr lang="en-IN" sz="400" dirty="0">
                <a:latin typeface="Georgia" panose="02040502050405020303" pitchFamily="18" charset="0"/>
              </a:endParaRPr>
            </a:p>
            <a:p>
              <a:pPr marL="171450" indent="-171450">
                <a:buFont typeface="Arial" panose="020B0604020202020204" pitchFamily="34" charset="0"/>
                <a:buChar char="•"/>
              </a:pPr>
              <a:endParaRPr lang="en-IN" sz="400" dirty="0">
                <a:latin typeface="Georgia" panose="02040502050405020303" pitchFamily="18" charset="0"/>
              </a:endParaRPr>
            </a:p>
            <a:p>
              <a:pPr marL="171450" indent="-171450">
                <a:buFont typeface="Arial" panose="020B0604020202020204" pitchFamily="34" charset="0"/>
                <a:buChar char="•"/>
              </a:pPr>
              <a:endParaRPr lang="en-IN" sz="400" dirty="0">
                <a:latin typeface="Georgia" panose="02040502050405020303" pitchFamily="18" charset="0"/>
              </a:endParaRPr>
            </a:p>
            <a:p>
              <a:pPr marL="171450" indent="-171450">
                <a:buFont typeface="Arial" panose="020B0604020202020204" pitchFamily="34" charset="0"/>
                <a:buChar char="•"/>
              </a:pPr>
              <a:endParaRPr lang="en-IN" sz="400" dirty="0">
                <a:latin typeface="Georgia" panose="02040502050405020303" pitchFamily="18" charset="0"/>
              </a:endParaRPr>
            </a:p>
            <a:p>
              <a:pPr marL="171450" indent="-171450">
                <a:buFont typeface="Arial" panose="020B0604020202020204" pitchFamily="34" charset="0"/>
                <a:buChar char="•"/>
              </a:pPr>
              <a:endParaRPr lang="en-IN" sz="400" dirty="0">
                <a:latin typeface="Georgia" panose="02040502050405020303" pitchFamily="18" charset="0"/>
              </a:endParaRPr>
            </a:p>
            <a:p>
              <a:pPr marL="171450" indent="-171450">
                <a:buFont typeface="Arial" panose="020B0604020202020204" pitchFamily="34" charset="0"/>
                <a:buChar char="•"/>
              </a:pPr>
              <a:endParaRPr lang="en-IN" sz="400" dirty="0">
                <a:latin typeface="Georgia" panose="02040502050405020303" pitchFamily="18" charset="0"/>
              </a:endParaRPr>
            </a:p>
            <a:p>
              <a:pPr marL="171450" indent="-171450">
                <a:buFont typeface="Arial" panose="020B0604020202020204" pitchFamily="34" charset="0"/>
                <a:buChar char="•"/>
              </a:pPr>
              <a:endParaRPr lang="en-IN" sz="400" dirty="0">
                <a:latin typeface="Georgia" panose="02040502050405020303" pitchFamily="18" charset="0"/>
              </a:endParaRPr>
            </a:p>
            <a:p>
              <a:pPr marL="171450" indent="-171450">
                <a:buFont typeface="Arial" panose="020B0604020202020204" pitchFamily="34" charset="0"/>
                <a:buChar char="•"/>
              </a:pPr>
              <a:endParaRPr lang="en-IN" sz="400" dirty="0">
                <a:latin typeface="Georgia" panose="02040502050405020303" pitchFamily="18" charset="0"/>
              </a:endParaRPr>
            </a:p>
            <a:p>
              <a:pPr marL="171450" indent="-171450">
                <a:buFont typeface="Arial" panose="020B0604020202020204" pitchFamily="34" charset="0"/>
                <a:buChar char="•"/>
              </a:pPr>
              <a:endParaRPr lang="en-IN" sz="400" dirty="0">
                <a:latin typeface="Georgia" panose="02040502050405020303" pitchFamily="18" charset="0"/>
              </a:endParaRPr>
            </a:p>
            <a:p>
              <a:pPr marL="171450" indent="-171450">
                <a:buFont typeface="Arial" panose="020B0604020202020204" pitchFamily="34" charset="0"/>
                <a:buChar char="•"/>
              </a:pPr>
              <a:endParaRPr lang="en-IN" sz="400" dirty="0">
                <a:latin typeface="Georgia" panose="02040502050405020303" pitchFamily="18" charset="0"/>
              </a:endParaRPr>
            </a:p>
            <a:p>
              <a:pPr marL="171450" indent="-171450">
                <a:buFont typeface="Arial" panose="020B0604020202020204" pitchFamily="34" charset="0"/>
                <a:buChar char="•"/>
              </a:pPr>
              <a:endParaRPr lang="en-IN" sz="400" dirty="0">
                <a:latin typeface="Georgia" panose="02040502050405020303" pitchFamily="18" charset="0"/>
              </a:endParaRPr>
            </a:p>
            <a:p>
              <a:r>
                <a:rPr lang="en-IN" sz="800" i="1" dirty="0">
                  <a:latin typeface="Georgia" panose="02040502050405020303" pitchFamily="18" charset="0"/>
                </a:rPr>
                <a:t>Source: </a:t>
              </a:r>
              <a:r>
                <a:rPr lang="en-IN" sz="800" i="1" dirty="0" err="1">
                  <a:latin typeface="Georgia" panose="02040502050405020303" pitchFamily="18" charset="0"/>
                </a:rPr>
                <a:t>MoFPI</a:t>
              </a:r>
              <a:r>
                <a:rPr lang="en-IN" sz="800" i="1" dirty="0">
                  <a:latin typeface="Georgia" panose="02040502050405020303" pitchFamily="18" charset="0"/>
                </a:rPr>
                <a:t>. Operation Greens Scheme</a:t>
              </a:r>
              <a:endParaRPr lang="en-US" sz="800" dirty="0">
                <a:latin typeface="Georgia" panose="02040502050405020303" pitchFamily="18" charset="0"/>
              </a:endParaRPr>
            </a:p>
          </p:txBody>
        </p:sp>
        <p:sp>
          <p:nvSpPr>
            <p:cNvPr id="152" name="Shape 24">
              <a:extLst>
                <a:ext uri="{FF2B5EF4-FFF2-40B4-BE49-F238E27FC236}">
                  <a16:creationId xmlns:a16="http://schemas.microsoft.com/office/drawing/2014/main" id="{40961D47-2045-B6C3-8411-8680CEE128AA}"/>
                </a:ext>
              </a:extLst>
            </p:cNvPr>
            <p:cNvSpPr/>
            <p:nvPr/>
          </p:nvSpPr>
          <p:spPr>
            <a:xfrm>
              <a:off x="6080760" y="4334256"/>
              <a:ext cx="2743200" cy="685800"/>
            </a:xfrm>
            <a:prstGeom prst="rect">
              <a:avLst/>
            </a:prstGeom>
            <a:solidFill>
              <a:srgbClr val="FEF9EC"/>
            </a:solidFill>
            <a:ln w="12700">
              <a:solidFill>
                <a:srgbClr val="D4A017"/>
              </a:solidFill>
              <a:prstDash val="solid"/>
            </a:ln>
          </p:spPr>
          <p:txBody>
            <a:bodyPr/>
            <a:lstStyle/>
            <a:p>
              <a:endParaRPr lang="en-IN">
                <a:latin typeface="Georgia" panose="02040502050405020303" pitchFamily="18" charset="0"/>
              </a:endParaRPr>
            </a:p>
          </p:txBody>
        </p:sp>
        <p:sp>
          <p:nvSpPr>
            <p:cNvPr id="153" name="Shape 25">
              <a:extLst>
                <a:ext uri="{FF2B5EF4-FFF2-40B4-BE49-F238E27FC236}">
                  <a16:creationId xmlns:a16="http://schemas.microsoft.com/office/drawing/2014/main" id="{4CF68AE5-C58B-7E9F-E8CE-7989BA55CC0F}"/>
                </a:ext>
              </a:extLst>
            </p:cNvPr>
            <p:cNvSpPr/>
            <p:nvPr/>
          </p:nvSpPr>
          <p:spPr>
            <a:xfrm>
              <a:off x="6080760" y="4334256"/>
              <a:ext cx="2743200" cy="106173"/>
            </a:xfrm>
            <a:prstGeom prst="rect">
              <a:avLst/>
            </a:prstGeom>
            <a:solidFill>
              <a:srgbClr val="D4A017"/>
            </a:solidFill>
            <a:ln w="12700">
              <a:solidFill>
                <a:srgbClr val="D4A017"/>
              </a:solidFill>
              <a:prstDash val="solid"/>
            </a:ln>
          </p:spPr>
          <p:txBody>
            <a:bodyPr/>
            <a:lstStyle/>
            <a:p>
              <a:endParaRPr lang="en-IN">
                <a:latin typeface="Georgia" panose="02040502050405020303" pitchFamily="18" charset="0"/>
              </a:endParaRPr>
            </a:p>
          </p:txBody>
        </p:sp>
        <p:sp>
          <p:nvSpPr>
            <p:cNvPr id="154" name="Text 26">
              <a:extLst>
                <a:ext uri="{FF2B5EF4-FFF2-40B4-BE49-F238E27FC236}">
                  <a16:creationId xmlns:a16="http://schemas.microsoft.com/office/drawing/2014/main" id="{7708F03F-4E3C-B310-62FA-5D0BCA46FBAB}"/>
                </a:ext>
              </a:extLst>
            </p:cNvPr>
            <p:cNvSpPr/>
            <p:nvPr/>
          </p:nvSpPr>
          <p:spPr>
            <a:xfrm>
              <a:off x="6126480" y="4334256"/>
              <a:ext cx="2651760" cy="106173"/>
            </a:xfrm>
            <a:prstGeom prst="rect">
              <a:avLst/>
            </a:prstGeom>
            <a:noFill/>
            <a:ln/>
          </p:spPr>
          <p:txBody>
            <a:bodyPr wrap="square" lIns="38100" tIns="38100" rIns="38100" bIns="38100" rtlCol="0" anchor="ctr"/>
            <a:lstStyle/>
            <a:p>
              <a:pPr marL="0" indent="0">
                <a:buNone/>
              </a:pPr>
              <a:r>
                <a:rPr lang="en-US" sz="1200" b="1" dirty="0" err="1">
                  <a:solidFill>
                    <a:srgbClr val="FFFFFF"/>
                  </a:solidFill>
                  <a:latin typeface="Georgia" panose="02040502050405020303" pitchFamily="18" charset="0"/>
                  <a:ea typeface="Calibri" pitchFamily="34" charset="-122"/>
                  <a:cs typeface="Calibri" pitchFamily="34" charset="-120"/>
                </a:rPr>
                <a:t>GOBARdhan</a:t>
              </a:r>
              <a:r>
                <a:rPr lang="en-US" sz="1200" b="1" dirty="0">
                  <a:solidFill>
                    <a:srgbClr val="FFFFFF"/>
                  </a:solidFill>
                  <a:latin typeface="Georgia" panose="02040502050405020303" pitchFamily="18" charset="0"/>
                  <a:ea typeface="Calibri" pitchFamily="34" charset="-122"/>
                  <a:cs typeface="Calibri" pitchFamily="34" charset="-120"/>
                </a:rPr>
                <a:t> Scheme - Waste to Wealth / Biogas</a:t>
              </a:r>
              <a:endParaRPr lang="en-US" sz="1200" dirty="0">
                <a:latin typeface="Georgia" panose="02040502050405020303" pitchFamily="18" charset="0"/>
              </a:endParaRPr>
            </a:p>
          </p:txBody>
        </p:sp>
        <p:sp>
          <p:nvSpPr>
            <p:cNvPr id="155" name="Text 27">
              <a:extLst>
                <a:ext uri="{FF2B5EF4-FFF2-40B4-BE49-F238E27FC236}">
                  <a16:creationId xmlns:a16="http://schemas.microsoft.com/office/drawing/2014/main" id="{53FAA533-B41F-D552-98DD-8A110AD5AA48}"/>
                </a:ext>
              </a:extLst>
            </p:cNvPr>
            <p:cNvSpPr/>
            <p:nvPr/>
          </p:nvSpPr>
          <p:spPr>
            <a:xfrm>
              <a:off x="6126480" y="4455941"/>
              <a:ext cx="2651760" cy="545827"/>
            </a:xfrm>
            <a:prstGeom prst="rect">
              <a:avLst/>
            </a:prstGeom>
            <a:noFill/>
            <a:ln/>
          </p:spPr>
          <p:txBody>
            <a:bodyPr wrap="square" lIns="38100" tIns="38100" rIns="38100" bIns="38100" rtlCol="0" anchor="t"/>
            <a:lstStyle/>
            <a:p>
              <a:pPr marL="171450" lvl="0" indent="-171450">
                <a:buFont typeface="Arial" panose="020B0604020202020204" pitchFamily="34" charset="0"/>
                <a:buChar char="•"/>
              </a:pPr>
              <a:r>
                <a:rPr lang="en-IN" sz="1200" dirty="0" err="1">
                  <a:latin typeface="Georgia" panose="02040502050405020303" pitchFamily="18" charset="0"/>
                </a:rPr>
                <a:t>GOBARdhan</a:t>
              </a:r>
              <a:r>
                <a:rPr lang="en-IN" sz="1200" dirty="0">
                  <a:latin typeface="Georgia" panose="02040502050405020303" pitchFamily="18" charset="0"/>
                </a:rPr>
                <a:t> brings together multiple ministries to convert cattle dung, crop residues, and food waste into compressed biogas (CBG) and organic manure; in 2023, the government launched the Unified </a:t>
              </a:r>
              <a:r>
                <a:rPr lang="en-IN" sz="1200" dirty="0" err="1">
                  <a:latin typeface="Georgia" panose="02040502050405020303" pitchFamily="18" charset="0"/>
                </a:rPr>
                <a:t>GOBARdhan</a:t>
              </a:r>
              <a:r>
                <a:rPr lang="en-IN" sz="1200" dirty="0">
                  <a:latin typeface="Georgia" panose="02040502050405020303" pitchFamily="18" charset="0"/>
                </a:rPr>
                <a:t> Portal to enhance transparency.</a:t>
              </a:r>
            </a:p>
            <a:p>
              <a:pPr marL="171450" lvl="0" indent="-171450">
                <a:buFont typeface="Arial" panose="020B0604020202020204" pitchFamily="34" charset="0"/>
                <a:buChar char="•"/>
              </a:pPr>
              <a:endParaRPr lang="en-IN" sz="400" dirty="0">
                <a:latin typeface="Georgia" panose="02040502050405020303" pitchFamily="18" charset="0"/>
              </a:endParaRPr>
            </a:p>
            <a:p>
              <a:pPr marL="171450" lvl="0" indent="-171450">
                <a:buFont typeface="Arial" panose="020B0604020202020204" pitchFamily="34" charset="0"/>
                <a:buChar char="•"/>
              </a:pPr>
              <a:r>
                <a:rPr lang="en-IN" sz="1200" dirty="0">
                  <a:latin typeface="Georgia" panose="02040502050405020303" pitchFamily="18" charset="0"/>
                </a:rPr>
                <a:t>Under Union Budget 2023-24, 500 new waste-to-wealth plants were announced including 200 compressed biogas plants and 300 community or cluster-based plants at a total investment of ₹10,000 crore, with a 5% CBG mandate introduced for all organisations marketing natural and bio gas.</a:t>
              </a:r>
            </a:p>
            <a:p>
              <a:pPr lvl="0"/>
              <a:endParaRPr lang="en-IN" sz="1200" dirty="0">
                <a:latin typeface="Georgia" panose="02040502050405020303" pitchFamily="18" charset="0"/>
              </a:endParaRPr>
            </a:p>
            <a:p>
              <a:pPr marL="171450" lvl="0" indent="-171450">
                <a:buFont typeface="Arial" panose="020B0604020202020204" pitchFamily="34" charset="0"/>
                <a:buChar char="•"/>
              </a:pPr>
              <a:endParaRPr lang="en-IN" sz="400" dirty="0">
                <a:latin typeface="Georgia" panose="02040502050405020303" pitchFamily="18" charset="0"/>
              </a:endParaRPr>
            </a:p>
            <a:p>
              <a:pPr marL="171450" lvl="0" indent="-171450">
                <a:buFont typeface="Arial" panose="020B0604020202020204" pitchFamily="34" charset="0"/>
                <a:buChar char="•"/>
              </a:pPr>
              <a:endParaRPr lang="en-IN" sz="400" dirty="0">
                <a:latin typeface="Georgia" panose="02040502050405020303" pitchFamily="18" charset="0"/>
              </a:endParaRPr>
            </a:p>
            <a:p>
              <a:pPr lvl="0"/>
              <a:endParaRPr lang="en-IN" sz="400" dirty="0">
                <a:latin typeface="Georgia" panose="02040502050405020303" pitchFamily="18" charset="0"/>
              </a:endParaRPr>
            </a:p>
            <a:p>
              <a:pPr lvl="0"/>
              <a:r>
                <a:rPr lang="en-IN" sz="800" i="1" dirty="0">
                  <a:latin typeface="Georgia" panose="02040502050405020303" pitchFamily="18" charset="0"/>
                </a:rPr>
                <a:t>Source: PIB, </a:t>
              </a:r>
              <a:r>
                <a:rPr lang="en-IN" sz="800" i="1" dirty="0" err="1">
                  <a:latin typeface="Georgia" panose="02040502050405020303" pitchFamily="18" charset="0"/>
                </a:rPr>
                <a:t>GoI</a:t>
              </a:r>
              <a:r>
                <a:rPr lang="en-IN" sz="800" i="1" dirty="0">
                  <a:latin typeface="Georgia" panose="02040502050405020303" pitchFamily="18" charset="0"/>
                </a:rPr>
                <a:t>. "Circular Economy in Agriculture: Waste to Wealth." </a:t>
              </a:r>
              <a:endParaRPr lang="en-IN" sz="800" dirty="0">
                <a:latin typeface="Georgia" panose="02040502050405020303" pitchFamily="18" charset="0"/>
              </a:endParaRPr>
            </a:p>
          </p:txBody>
        </p:sp>
      </p:grpSp>
      <p:pic>
        <p:nvPicPr>
          <p:cNvPr id="3" name="Picture 2">
            <a:extLst>
              <a:ext uri="{FF2B5EF4-FFF2-40B4-BE49-F238E27FC236}">
                <a16:creationId xmlns:a16="http://schemas.microsoft.com/office/drawing/2014/main" id="{101A9C64-56AC-6CB2-1120-37B9162AD627}"/>
              </a:ext>
            </a:extLst>
          </p:cNvPr>
          <p:cNvPicPr>
            <a:picLocks noChangeAspect="1"/>
          </p:cNvPicPr>
          <p:nvPr/>
        </p:nvPicPr>
        <p:blipFill>
          <a:blip r:embed="rId3"/>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47275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F1182-661D-2D88-996F-A9FB11070E77}"/>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36EACE7C-42AB-82FB-BF97-73E0F813FFA4}"/>
              </a:ext>
            </a:extLst>
          </p:cNvPr>
          <p:cNvSpPr/>
          <p:nvPr/>
        </p:nvSpPr>
        <p:spPr>
          <a:xfrm>
            <a:off x="496544" y="2468880"/>
            <a:ext cx="7733056" cy="731520"/>
          </a:xfrm>
          <a:prstGeom prst="rect">
            <a:avLst/>
          </a:prstGeom>
          <a:noFill/>
          <a:ln/>
        </p:spPr>
        <p:txBody>
          <a:bodyPr wrap="square" rtlCol="0" anchor="ctr"/>
          <a:lstStyle/>
          <a:p>
            <a:r>
              <a:rPr lang="en-US" sz="4267" b="1" dirty="0">
                <a:solidFill>
                  <a:srgbClr val="0B6E78"/>
                </a:solidFill>
                <a:latin typeface="Georgia" panose="02040502050405020303" pitchFamily="18" charset="0"/>
                <a:ea typeface="Calibri" pitchFamily="34" charset="-122"/>
                <a:cs typeface="Calibri" pitchFamily="34" charset="-120"/>
              </a:rPr>
              <a:t>Annexures</a:t>
            </a:r>
            <a:endParaRPr lang="en-US" sz="4267" dirty="0">
              <a:solidFill>
                <a:srgbClr val="0B6E78"/>
              </a:solidFill>
              <a:latin typeface="Georgia" panose="02040502050405020303" pitchFamily="18" charset="0"/>
            </a:endParaRPr>
          </a:p>
        </p:txBody>
      </p:sp>
      <p:pic>
        <p:nvPicPr>
          <p:cNvPr id="2" name="Picture 1">
            <a:extLst>
              <a:ext uri="{FF2B5EF4-FFF2-40B4-BE49-F238E27FC236}">
                <a16:creationId xmlns:a16="http://schemas.microsoft.com/office/drawing/2014/main" id="{DD4F9EFD-7402-BB8F-5829-AFE28809D7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70080"/>
            <a:ext cx="12192000" cy="987920"/>
          </a:xfrm>
          <a:prstGeom prst="rect">
            <a:avLst/>
          </a:prstGeom>
        </p:spPr>
      </p:pic>
    </p:spTree>
    <p:extLst>
      <p:ext uri="{BB962C8B-B14F-4D97-AF65-F5344CB8AC3E}">
        <p14:creationId xmlns:p14="http://schemas.microsoft.com/office/powerpoint/2010/main" val="19180231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30B53-1F96-7E3F-DD03-26A05649D335}"/>
            </a:ext>
          </a:extLst>
        </p:cNvPr>
        <p:cNvGrpSpPr/>
        <p:nvPr/>
      </p:nvGrpSpPr>
      <p:grpSpPr>
        <a:xfrm>
          <a:off x="0" y="0"/>
          <a:ext cx="0" cy="0"/>
          <a:chOff x="0" y="0"/>
          <a:chExt cx="0" cy="0"/>
        </a:xfrm>
      </p:grpSpPr>
      <p:grpSp>
        <p:nvGrpSpPr>
          <p:cNvPr id="56" name="Group 55">
            <a:extLst>
              <a:ext uri="{FF2B5EF4-FFF2-40B4-BE49-F238E27FC236}">
                <a16:creationId xmlns:a16="http://schemas.microsoft.com/office/drawing/2014/main" id="{68E1C797-A8CF-A7A4-14B4-FAB347BBB7DE}"/>
              </a:ext>
            </a:extLst>
          </p:cNvPr>
          <p:cNvGrpSpPr/>
          <p:nvPr/>
        </p:nvGrpSpPr>
        <p:grpSpPr>
          <a:xfrm>
            <a:off x="5362569" y="1661200"/>
            <a:ext cx="3171105" cy="1229725"/>
            <a:chOff x="5562601" y="1159491"/>
            <a:chExt cx="5186781" cy="1821490"/>
          </a:xfrm>
        </p:grpSpPr>
        <p:sp>
          <p:nvSpPr>
            <p:cNvPr id="30" name="Text 63">
              <a:extLst>
                <a:ext uri="{FF2B5EF4-FFF2-40B4-BE49-F238E27FC236}">
                  <a16:creationId xmlns:a16="http://schemas.microsoft.com/office/drawing/2014/main" id="{81CE6EE5-6653-F293-EC1D-93A60C009A18}"/>
                </a:ext>
              </a:extLst>
            </p:cNvPr>
            <p:cNvSpPr/>
            <p:nvPr/>
          </p:nvSpPr>
          <p:spPr>
            <a:xfrm>
              <a:off x="5911025" y="2807908"/>
              <a:ext cx="912114" cy="173073"/>
            </a:xfrm>
            <a:prstGeom prst="rect">
              <a:avLst/>
            </a:prstGeom>
            <a:noFill/>
            <a:ln/>
          </p:spPr>
          <p:txBody>
            <a:bodyPr wrap="square" lIns="25400" tIns="25400" rIns="25400" bIns="25400" rtlCol="0" anchor="t">
              <a:normAutofit fontScale="25000" lnSpcReduction="20000"/>
            </a:bodyPr>
            <a:lstStyle/>
            <a:p>
              <a:endParaRPr lang="en-US" dirty="0">
                <a:latin typeface="Georgia" panose="02040502050405020303" pitchFamily="18" charset="0"/>
              </a:endParaRPr>
            </a:p>
          </p:txBody>
        </p:sp>
        <p:grpSp>
          <p:nvGrpSpPr>
            <p:cNvPr id="38" name="Group 37">
              <a:extLst>
                <a:ext uri="{FF2B5EF4-FFF2-40B4-BE49-F238E27FC236}">
                  <a16:creationId xmlns:a16="http://schemas.microsoft.com/office/drawing/2014/main" id="{BD11A573-F1B4-E961-2043-8BCBCF7E57E8}"/>
                </a:ext>
              </a:extLst>
            </p:cNvPr>
            <p:cNvGrpSpPr/>
            <p:nvPr/>
          </p:nvGrpSpPr>
          <p:grpSpPr>
            <a:xfrm>
              <a:off x="5562601" y="1159493"/>
              <a:ext cx="2483380" cy="1215734"/>
              <a:chOff x="9970175" y="6791328"/>
              <a:chExt cx="3653399" cy="2194560"/>
            </a:xfrm>
          </p:grpSpPr>
          <p:sp>
            <p:nvSpPr>
              <p:cNvPr id="39" name="Shape 61">
                <a:extLst>
                  <a:ext uri="{FF2B5EF4-FFF2-40B4-BE49-F238E27FC236}">
                    <a16:creationId xmlns:a16="http://schemas.microsoft.com/office/drawing/2014/main" id="{83812A94-9E16-44CF-239D-29B87E72FC39}"/>
                  </a:ext>
                </a:extLst>
              </p:cNvPr>
              <p:cNvSpPr/>
              <p:nvPr/>
            </p:nvSpPr>
            <p:spPr>
              <a:xfrm>
                <a:off x="9970175" y="6791328"/>
                <a:ext cx="3644503"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2" name="Text 64">
                <a:extLst>
                  <a:ext uri="{FF2B5EF4-FFF2-40B4-BE49-F238E27FC236}">
                    <a16:creationId xmlns:a16="http://schemas.microsoft.com/office/drawing/2014/main" id="{5E9A1450-EFB3-1F7B-7179-BC590CBA8BA6}"/>
                  </a:ext>
                </a:extLst>
              </p:cNvPr>
              <p:cNvSpPr/>
              <p:nvPr/>
            </p:nvSpPr>
            <p:spPr>
              <a:xfrm>
                <a:off x="10025634" y="6852621"/>
                <a:ext cx="3597940" cy="1635905"/>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1,11,359 MT capacity</a:t>
                </a:r>
              </a:p>
              <a:p>
                <a:r>
                  <a:rPr lang="en-US" sz="900" b="1" dirty="0">
                    <a:solidFill>
                      <a:srgbClr val="14342B"/>
                    </a:solidFill>
                    <a:latin typeface="Georgia" panose="02040502050405020303" pitchFamily="18" charset="0"/>
                    <a:ea typeface="Inter" pitchFamily="34" charset="-122"/>
                  </a:rPr>
                  <a:t>Cold storage units</a:t>
                </a:r>
              </a:p>
              <a:p>
                <a:r>
                  <a:rPr lang="en-US" sz="700" b="1" i="1" dirty="0">
                    <a:solidFill>
                      <a:srgbClr val="14342B"/>
                    </a:solidFill>
                    <a:latin typeface="Georgia" panose="02040502050405020303" pitchFamily="18" charset="0"/>
                    <a:ea typeface="Inter" pitchFamily="34" charset="-122"/>
                  </a:rPr>
                  <a:t>Key crops: Grapes, Pomegranate</a:t>
                </a:r>
              </a:p>
            </p:txBody>
          </p:sp>
        </p:grpSp>
        <p:sp>
          <p:nvSpPr>
            <p:cNvPr id="45" name="Shape 61">
              <a:extLst>
                <a:ext uri="{FF2B5EF4-FFF2-40B4-BE49-F238E27FC236}">
                  <a16:creationId xmlns:a16="http://schemas.microsoft.com/office/drawing/2014/main" id="{8F3E70C8-5F39-D64D-E4C6-A61DD9AF1865}"/>
                </a:ext>
              </a:extLst>
            </p:cNvPr>
            <p:cNvSpPr/>
            <p:nvPr/>
          </p:nvSpPr>
          <p:spPr>
            <a:xfrm>
              <a:off x="8272049" y="1159491"/>
              <a:ext cx="2477333" cy="121573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grpSp>
      <p:sp>
        <p:nvSpPr>
          <p:cNvPr id="212" name="Shape 41">
            <a:extLst>
              <a:ext uri="{FF2B5EF4-FFF2-40B4-BE49-F238E27FC236}">
                <a16:creationId xmlns:a16="http://schemas.microsoft.com/office/drawing/2014/main" id="{D2FCD3D0-23AB-F7A0-70FF-938F336B235E}"/>
              </a:ext>
            </a:extLst>
          </p:cNvPr>
          <p:cNvSpPr/>
          <p:nvPr/>
        </p:nvSpPr>
        <p:spPr>
          <a:xfrm>
            <a:off x="5362569" y="1151209"/>
            <a:ext cx="4478287" cy="415602"/>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213" name="Text 42">
            <a:extLst>
              <a:ext uri="{FF2B5EF4-FFF2-40B4-BE49-F238E27FC236}">
                <a16:creationId xmlns:a16="http://schemas.microsoft.com/office/drawing/2014/main" id="{B17065B3-5B6C-7E80-D100-C70DC8CD99E5}"/>
              </a:ext>
            </a:extLst>
          </p:cNvPr>
          <p:cNvSpPr/>
          <p:nvPr/>
        </p:nvSpPr>
        <p:spPr>
          <a:xfrm>
            <a:off x="5486402" y="1229806"/>
            <a:ext cx="3769226" cy="238384"/>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Crop-specific ecosystem (seven key crops)</a:t>
            </a:r>
          </a:p>
        </p:txBody>
      </p:sp>
      <p:sp>
        <p:nvSpPr>
          <p:cNvPr id="219" name="Text 65">
            <a:extLst>
              <a:ext uri="{FF2B5EF4-FFF2-40B4-BE49-F238E27FC236}">
                <a16:creationId xmlns:a16="http://schemas.microsoft.com/office/drawing/2014/main" id="{2B85ABE6-8EA1-DEA0-8E21-92DEE0CC9461}"/>
              </a:ext>
            </a:extLst>
          </p:cNvPr>
          <p:cNvSpPr/>
          <p:nvPr/>
        </p:nvSpPr>
        <p:spPr>
          <a:xfrm>
            <a:off x="5486402" y="2240716"/>
            <a:ext cx="1447800" cy="78753"/>
          </a:xfrm>
          <a:prstGeom prst="rect">
            <a:avLst/>
          </a:prstGeom>
          <a:noFill/>
          <a:ln/>
        </p:spPr>
        <p:txBody>
          <a:bodyPr wrap="square" lIns="25400" tIns="25400" rIns="25400" bIns="25400" rtlCol="0" anchor="t">
            <a:noAutofit/>
          </a:bodyPr>
          <a:lstStyle/>
          <a:p>
            <a:endParaRPr lang="en-US" sz="700" dirty="0">
              <a:solidFill>
                <a:srgbClr val="0B6E78"/>
              </a:solidFill>
              <a:latin typeface="Georgia" panose="02040502050405020303" pitchFamily="18" charset="0"/>
              <a:ea typeface="JetBrains Mono" pitchFamily="34" charset="-122"/>
              <a:cs typeface="JetBrains Mono" pitchFamily="34" charset="-120"/>
            </a:endParaRPr>
          </a:p>
        </p:txBody>
      </p:sp>
      <p:sp>
        <p:nvSpPr>
          <p:cNvPr id="2" name="Title 1">
            <a:extLst>
              <a:ext uri="{FF2B5EF4-FFF2-40B4-BE49-F238E27FC236}">
                <a16:creationId xmlns:a16="http://schemas.microsoft.com/office/drawing/2014/main" id="{9B30A79B-29D5-2707-0C92-12943236B1B1}"/>
              </a:ext>
            </a:extLst>
          </p:cNvPr>
          <p:cNvSpPr>
            <a:spLocks noGrp="1"/>
          </p:cNvSpPr>
          <p:nvPr>
            <p:ph type="title"/>
          </p:nvPr>
        </p:nvSpPr>
        <p:spPr>
          <a:xfrm>
            <a:off x="640284" y="208002"/>
            <a:ext cx="10561116" cy="553998"/>
          </a:xfrm>
        </p:spPr>
        <p:txBody>
          <a:bodyPr/>
          <a:lstStyle/>
          <a:p>
            <a:r>
              <a:rPr lang="en-US" sz="2400" dirty="0">
                <a:solidFill>
                  <a:schemeClr val="bg1"/>
                </a:solidFill>
                <a:latin typeface="Georgia" panose="02040502050405020303" pitchFamily="18" charset="0"/>
              </a:rPr>
              <a:t>North Karnataka Onion-Grape-Raisin-Pomegranate cluster</a:t>
            </a:r>
            <a:br>
              <a:rPr lang="en-US" sz="2400" dirty="0">
                <a:solidFill>
                  <a:schemeClr val="bg1"/>
                </a:solidFill>
                <a:latin typeface="Georgia" panose="02040502050405020303" pitchFamily="18" charset="0"/>
              </a:rPr>
            </a:br>
            <a:r>
              <a:rPr lang="en-US" sz="1200" i="1" dirty="0">
                <a:solidFill>
                  <a:schemeClr val="bg1"/>
                </a:solidFill>
                <a:latin typeface="Georgia" panose="02040502050405020303" pitchFamily="18" charset="0"/>
              </a:rPr>
              <a:t>(Vijayapura, Belagavi, Bagalkot, </a:t>
            </a:r>
            <a:r>
              <a:rPr lang="en-US" sz="1200" i="1" dirty="0" err="1">
                <a:solidFill>
                  <a:schemeClr val="bg1"/>
                </a:solidFill>
                <a:latin typeface="Georgia" panose="02040502050405020303" pitchFamily="18" charset="0"/>
              </a:rPr>
              <a:t>Gadag</a:t>
            </a:r>
            <a:r>
              <a:rPr lang="en-US" sz="1200" i="1" dirty="0">
                <a:solidFill>
                  <a:schemeClr val="bg1"/>
                </a:solidFill>
                <a:latin typeface="Georgia" panose="02040502050405020303" pitchFamily="18" charset="0"/>
              </a:rPr>
              <a:t>)</a:t>
            </a:r>
            <a:endParaRPr lang="en-IN" sz="1200" i="1" dirty="0">
              <a:solidFill>
                <a:schemeClr val="bg1"/>
              </a:solidFill>
              <a:latin typeface="Georgia" panose="02040502050405020303" pitchFamily="18" charset="0"/>
            </a:endParaRPr>
          </a:p>
        </p:txBody>
      </p:sp>
      <p:sp>
        <p:nvSpPr>
          <p:cNvPr id="3" name="Slide Number Placeholder 2">
            <a:extLst>
              <a:ext uri="{FF2B5EF4-FFF2-40B4-BE49-F238E27FC236}">
                <a16:creationId xmlns:a16="http://schemas.microsoft.com/office/drawing/2014/main" id="{7931B980-B248-1E39-E4D5-86E9DBA64D01}"/>
              </a:ext>
            </a:extLst>
          </p:cNvPr>
          <p:cNvSpPr>
            <a:spLocks noGrp="1"/>
          </p:cNvSpPr>
          <p:nvPr>
            <p:ph type="sldNum" sz="quarter" idx="7"/>
          </p:nvPr>
        </p:nvSpPr>
        <p:spPr>
          <a:xfrm>
            <a:off x="779630" y="6440648"/>
            <a:ext cx="383540" cy="115416"/>
          </a:xfrm>
        </p:spPr>
        <p:txBody>
          <a:bodyPr/>
          <a:lstStyle/>
          <a:p>
            <a:pPr marL="12700">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32</a:t>
            </a:fld>
            <a:endParaRPr dirty="0">
              <a:latin typeface="Georgia" panose="02040502050405020303" pitchFamily="18" charset="0"/>
            </a:endParaRPr>
          </a:p>
        </p:txBody>
      </p:sp>
      <p:graphicFrame>
        <p:nvGraphicFramePr>
          <p:cNvPr id="21" name="Table 20">
            <a:extLst>
              <a:ext uri="{FF2B5EF4-FFF2-40B4-BE49-F238E27FC236}">
                <a16:creationId xmlns:a16="http://schemas.microsoft.com/office/drawing/2014/main" id="{AFC48604-BFCF-8D7E-DBCC-EB4C7B0E0E30}"/>
              </a:ext>
            </a:extLst>
          </p:cNvPr>
          <p:cNvGraphicFramePr>
            <a:graphicFrameLocks noGrp="1"/>
          </p:cNvGraphicFramePr>
          <p:nvPr>
            <p:extLst>
              <p:ext uri="{D42A27DB-BD31-4B8C-83A1-F6EECF244321}">
                <p14:modId xmlns:p14="http://schemas.microsoft.com/office/powerpoint/2010/main" val="3029736635"/>
              </p:ext>
            </p:extLst>
          </p:nvPr>
        </p:nvGraphicFramePr>
        <p:xfrm>
          <a:off x="656800" y="3962400"/>
          <a:ext cx="4648103" cy="1586434"/>
        </p:xfrm>
        <a:graphic>
          <a:graphicData uri="http://schemas.openxmlformats.org/drawingml/2006/table">
            <a:tbl>
              <a:tblPr firstRow="1" bandRow="1">
                <a:tableStyleId>{21E4AEA4-8DFA-4A89-87EB-49C32662AFE0}</a:tableStyleId>
              </a:tblPr>
              <a:tblGrid>
                <a:gridCol w="4648103">
                  <a:extLst>
                    <a:ext uri="{9D8B030D-6E8A-4147-A177-3AD203B41FA5}">
                      <a16:colId xmlns:a16="http://schemas.microsoft.com/office/drawing/2014/main" val="3341958433"/>
                    </a:ext>
                  </a:extLst>
                </a:gridCol>
              </a:tblGrid>
              <a:tr h="211389">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dirty="0">
                          <a:latin typeface="Georgia" panose="02040502050405020303" pitchFamily="18" charset="0"/>
                        </a:rPr>
                        <a:t>Major reasons for crop-loss across districts</a:t>
                      </a:r>
                    </a:p>
                  </a:txBody>
                  <a:tcPr marL="67006" marR="67006" marT="33504" marB="33504">
                    <a:solidFill>
                      <a:srgbClr val="0B6E78"/>
                    </a:solidFill>
                  </a:tcPr>
                </a:tc>
                <a:extLst>
                  <a:ext uri="{0D108BD9-81ED-4DB2-BD59-A6C34878D82A}">
                    <a16:rowId xmlns:a16="http://schemas.microsoft.com/office/drawing/2014/main" val="2643714482"/>
                  </a:ext>
                </a:extLst>
              </a:tr>
              <a:tr h="1367026">
                <a:tc>
                  <a:txBody>
                    <a:bodyPr/>
                    <a:lstStyle/>
                    <a:p>
                      <a:pPr marL="0" marR="0" lvl="0" indent="0" algn="l"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IN" sz="1000" b="1" dirty="0">
                          <a:latin typeface="Georgia" panose="02040502050405020303" pitchFamily="18" charset="0"/>
                        </a:rPr>
                        <a:t>Grape (</a:t>
                      </a:r>
                      <a:r>
                        <a:rPr lang="en-IN" sz="1000" b="1" dirty="0" err="1">
                          <a:latin typeface="Georgia" panose="02040502050405020303" pitchFamily="18" charset="0"/>
                        </a:rPr>
                        <a:t>Bagalkote</a:t>
                      </a:r>
                      <a:r>
                        <a:rPr lang="en-IN" sz="1000" b="1" dirty="0">
                          <a:latin typeface="Georgia" panose="02040502050405020303" pitchFamily="18" charset="0"/>
                        </a:rPr>
                        <a:t>, Belagavi):</a:t>
                      </a:r>
                      <a:r>
                        <a:rPr lang="en-IN" sz="1000" dirty="0">
                          <a:latin typeface="Georgia" panose="02040502050405020303" pitchFamily="18" charset="0"/>
                        </a:rPr>
                        <a:t> Gray </a:t>
                      </a:r>
                      <a:r>
                        <a:rPr lang="en-IN" sz="1000" dirty="0" err="1">
                          <a:latin typeface="Georgia" panose="02040502050405020303" pitchFamily="18" charset="0"/>
                        </a:rPr>
                        <a:t>mold</a:t>
                      </a:r>
                      <a:r>
                        <a:rPr lang="en-IN" sz="1000" dirty="0">
                          <a:latin typeface="Georgia" panose="02040502050405020303" pitchFamily="18" charset="0"/>
                        </a:rPr>
                        <a:t>, moisture loss, no pre-cooling/cold chain </a:t>
                      </a:r>
                    </a:p>
                    <a:p>
                      <a:pPr marL="0" marR="0" lvl="0" indent="0" algn="l"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IN" sz="1000" b="1" dirty="0">
                          <a:latin typeface="Georgia" panose="02040502050405020303" pitchFamily="18" charset="0"/>
                        </a:rPr>
                        <a:t>Pomegranate (</a:t>
                      </a:r>
                      <a:r>
                        <a:rPr lang="en-IN" sz="1000" b="1" dirty="0" err="1">
                          <a:latin typeface="Georgia" panose="02040502050405020303" pitchFamily="18" charset="0"/>
                        </a:rPr>
                        <a:t>Bagalkote</a:t>
                      </a:r>
                      <a:r>
                        <a:rPr lang="en-IN" sz="1000" b="1" dirty="0">
                          <a:latin typeface="Georgia" panose="02040502050405020303" pitchFamily="18" charset="0"/>
                        </a:rPr>
                        <a:t>, </a:t>
                      </a:r>
                      <a:r>
                        <a:rPr lang="en-IN" sz="1000" b="1" dirty="0" err="1">
                          <a:latin typeface="Georgia" panose="02040502050405020303" pitchFamily="18" charset="0"/>
                        </a:rPr>
                        <a:t>Gadag</a:t>
                      </a:r>
                      <a:r>
                        <a:rPr lang="en-IN" sz="1000" b="1" dirty="0">
                          <a:latin typeface="Georgia" panose="02040502050405020303" pitchFamily="18" charset="0"/>
                        </a:rPr>
                        <a:t>):</a:t>
                      </a:r>
                      <a:r>
                        <a:rPr lang="en-IN" sz="1000" dirty="0">
                          <a:latin typeface="Georgia" panose="02040502050405020303" pitchFamily="18" charset="0"/>
                        </a:rPr>
                        <a:t> Bacterial blight, wilt, </a:t>
                      </a:r>
                      <a:r>
                        <a:rPr lang="en-IN" sz="1000" dirty="0" err="1">
                          <a:latin typeface="Georgia" panose="02040502050405020303" pitchFamily="18" charset="0"/>
                        </a:rPr>
                        <a:t>shriveling</a:t>
                      </a:r>
                      <a:r>
                        <a:rPr lang="en-IN" sz="1000" dirty="0">
                          <a:latin typeface="Georgia" panose="02040502050405020303" pitchFamily="18" charset="0"/>
                        </a:rPr>
                        <a:t> from moisture loss </a:t>
                      </a:r>
                    </a:p>
                    <a:p>
                      <a:pPr marL="0" marR="0" lvl="0" indent="0" algn="l"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IN" sz="1000" b="1" dirty="0">
                          <a:latin typeface="Georgia" panose="02040502050405020303" pitchFamily="18" charset="0"/>
                        </a:rPr>
                        <a:t>Onion (</a:t>
                      </a:r>
                      <a:r>
                        <a:rPr lang="en-IN" sz="1000" b="1" dirty="0" err="1">
                          <a:latin typeface="Georgia" panose="02040502050405020303" pitchFamily="18" charset="0"/>
                        </a:rPr>
                        <a:t>Bagalkote</a:t>
                      </a:r>
                      <a:r>
                        <a:rPr lang="en-IN" sz="1000" b="1" dirty="0">
                          <a:latin typeface="Georgia" panose="02040502050405020303" pitchFamily="18" charset="0"/>
                        </a:rPr>
                        <a:t>):</a:t>
                      </a:r>
                      <a:r>
                        <a:rPr lang="en-IN" sz="1000" dirty="0">
                          <a:latin typeface="Georgia" panose="02040502050405020303" pitchFamily="18" charset="0"/>
                        </a:rPr>
                        <a:t> Poor curing, high moisture bulbs, lack of storage</a:t>
                      </a:r>
                    </a:p>
                    <a:p>
                      <a:pPr marL="0" marR="0" lvl="0" indent="0" algn="l"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IN" sz="1000" b="1" dirty="0">
                          <a:latin typeface="Georgia" panose="02040502050405020303" pitchFamily="18" charset="0"/>
                        </a:rPr>
                        <a:t>Banana (</a:t>
                      </a:r>
                      <a:r>
                        <a:rPr lang="en-IN" sz="1000" b="1" dirty="0" err="1">
                          <a:latin typeface="Georgia" panose="02040502050405020303" pitchFamily="18" charset="0"/>
                        </a:rPr>
                        <a:t>Gadag</a:t>
                      </a:r>
                      <a:r>
                        <a:rPr lang="en-IN" sz="1000" b="1" dirty="0">
                          <a:latin typeface="Georgia" panose="02040502050405020303" pitchFamily="18" charset="0"/>
                        </a:rPr>
                        <a:t>):</a:t>
                      </a:r>
                      <a:r>
                        <a:rPr lang="en-IN" sz="1000" dirty="0">
                          <a:latin typeface="Georgia" panose="02040502050405020303" pitchFamily="18" charset="0"/>
                        </a:rPr>
                        <a:t> Labour shortage, poor handling, lack of ripening/storage </a:t>
                      </a:r>
                    </a:p>
                    <a:p>
                      <a:pPr marL="0" marR="0" lvl="0" indent="0" algn="l"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IN" sz="1000" b="1" dirty="0">
                          <a:latin typeface="Georgia" panose="02040502050405020303" pitchFamily="18" charset="0"/>
                        </a:rPr>
                        <a:t>Mango (Belagavi):</a:t>
                      </a:r>
                      <a:r>
                        <a:rPr lang="en-IN" sz="1000" dirty="0">
                          <a:latin typeface="Georgia" panose="02040502050405020303" pitchFamily="18" charset="0"/>
                        </a:rPr>
                        <a:t> Weather stress, fruit fly and fungal diseases</a:t>
                      </a:r>
                      <a:endParaRPr lang="en-US" sz="1000" dirty="0">
                        <a:latin typeface="Georgia" panose="02040502050405020303" pitchFamily="18" charset="0"/>
                      </a:endParaRPr>
                    </a:p>
                  </a:txBody>
                  <a:tcPr marL="67006" marR="67006" marT="33504" marB="33504">
                    <a:solidFill>
                      <a:schemeClr val="accent5">
                        <a:lumMod val="20000"/>
                        <a:lumOff val="80000"/>
                      </a:schemeClr>
                    </a:solidFill>
                  </a:tcPr>
                </a:tc>
                <a:extLst>
                  <a:ext uri="{0D108BD9-81ED-4DB2-BD59-A6C34878D82A}">
                    <a16:rowId xmlns:a16="http://schemas.microsoft.com/office/drawing/2014/main" val="2831645102"/>
                  </a:ext>
                </a:extLst>
              </a:tr>
            </a:tbl>
          </a:graphicData>
        </a:graphic>
      </p:graphicFrame>
      <p:sp>
        <p:nvSpPr>
          <p:cNvPr id="7" name="TextBox 6">
            <a:extLst>
              <a:ext uri="{FF2B5EF4-FFF2-40B4-BE49-F238E27FC236}">
                <a16:creationId xmlns:a16="http://schemas.microsoft.com/office/drawing/2014/main" id="{07614213-04C1-8C3A-C665-B1567E71FA03}"/>
              </a:ext>
            </a:extLst>
          </p:cNvPr>
          <p:cNvSpPr txBox="1"/>
          <p:nvPr/>
        </p:nvSpPr>
        <p:spPr>
          <a:xfrm>
            <a:off x="2426467" y="3190349"/>
            <a:ext cx="2918673" cy="184666"/>
          </a:xfrm>
          <a:prstGeom prst="rect">
            <a:avLst/>
          </a:prstGeom>
          <a:noFill/>
        </p:spPr>
        <p:txBody>
          <a:bodyPr wrap="square" rtlCol="0">
            <a:spAutoFit/>
          </a:bodyPr>
          <a:lstStyle/>
          <a:p>
            <a:r>
              <a:rPr lang="en-IN" sz="600" i="1" dirty="0">
                <a:latin typeface="Georgia" panose="02040502050405020303" pitchFamily="18" charset="0"/>
              </a:rPr>
              <a:t>Sources: Horticulture crop statistics of Karnataka state at a glance – 2023-24</a:t>
            </a:r>
          </a:p>
        </p:txBody>
      </p:sp>
      <p:grpSp>
        <p:nvGrpSpPr>
          <p:cNvPr id="443" name="Group 442">
            <a:extLst>
              <a:ext uri="{FF2B5EF4-FFF2-40B4-BE49-F238E27FC236}">
                <a16:creationId xmlns:a16="http://schemas.microsoft.com/office/drawing/2014/main" id="{67EE3820-1313-18BC-5E91-BFB3D4F81A4E}"/>
              </a:ext>
            </a:extLst>
          </p:cNvPr>
          <p:cNvGrpSpPr/>
          <p:nvPr/>
        </p:nvGrpSpPr>
        <p:grpSpPr>
          <a:xfrm>
            <a:off x="604704" y="990600"/>
            <a:ext cx="4778869" cy="2514600"/>
            <a:chOff x="448165" y="919144"/>
            <a:chExt cx="4926960" cy="2392760"/>
          </a:xfrm>
        </p:grpSpPr>
        <p:graphicFrame>
          <p:nvGraphicFramePr>
            <p:cNvPr id="203" name="Chart 202">
              <a:extLst>
                <a:ext uri="{FF2B5EF4-FFF2-40B4-BE49-F238E27FC236}">
                  <a16:creationId xmlns:a16="http://schemas.microsoft.com/office/drawing/2014/main" id="{AA2D7D80-E112-04AC-A0CD-FBB90B6F606D}"/>
                </a:ext>
              </a:extLst>
            </p:cNvPr>
            <p:cNvGraphicFramePr>
              <a:graphicFrameLocks/>
            </p:cNvGraphicFramePr>
            <p:nvPr>
              <p:extLst>
                <p:ext uri="{D42A27DB-BD31-4B8C-83A1-F6EECF244321}">
                  <p14:modId xmlns:p14="http://schemas.microsoft.com/office/powerpoint/2010/main" val="1930244732"/>
                </p:ext>
              </p:extLst>
            </p:nvPr>
          </p:nvGraphicFramePr>
          <p:xfrm>
            <a:off x="448165" y="919144"/>
            <a:ext cx="4361966" cy="137257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14" name="Chart 213">
              <a:extLst>
                <a:ext uri="{FF2B5EF4-FFF2-40B4-BE49-F238E27FC236}">
                  <a16:creationId xmlns:a16="http://schemas.microsoft.com/office/drawing/2014/main" id="{3D045328-BA26-AD61-400A-7C1D0227F607}"/>
                </a:ext>
              </a:extLst>
            </p:cNvPr>
            <p:cNvGraphicFramePr>
              <a:graphicFrameLocks/>
            </p:cNvGraphicFramePr>
            <p:nvPr>
              <p:extLst>
                <p:ext uri="{D42A27DB-BD31-4B8C-83A1-F6EECF244321}">
                  <p14:modId xmlns:p14="http://schemas.microsoft.com/office/powerpoint/2010/main" val="33354827"/>
                </p:ext>
              </p:extLst>
            </p:nvPr>
          </p:nvGraphicFramePr>
          <p:xfrm>
            <a:off x="515571" y="2066520"/>
            <a:ext cx="4859554" cy="1245384"/>
          </p:xfrm>
          <a:graphic>
            <a:graphicData uri="http://schemas.openxmlformats.org/drawingml/2006/chart">
              <c:chart xmlns:c="http://schemas.openxmlformats.org/drawingml/2006/chart" xmlns:r="http://schemas.openxmlformats.org/officeDocument/2006/relationships" r:id="rId3"/>
            </a:graphicData>
          </a:graphic>
        </p:graphicFrame>
        <p:sp>
          <p:nvSpPr>
            <p:cNvPr id="442" name="Rectangle 441">
              <a:extLst>
                <a:ext uri="{FF2B5EF4-FFF2-40B4-BE49-F238E27FC236}">
                  <a16:creationId xmlns:a16="http://schemas.microsoft.com/office/drawing/2014/main" id="{ADA5A3A6-9C36-6CA2-0385-DB8D3BBFAC2B}"/>
                </a:ext>
              </a:extLst>
            </p:cNvPr>
            <p:cNvSpPr/>
            <p:nvPr/>
          </p:nvSpPr>
          <p:spPr>
            <a:xfrm>
              <a:off x="515571" y="1098955"/>
              <a:ext cx="4769745" cy="2095240"/>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Georgia" panose="02040502050405020303" pitchFamily="18" charset="0"/>
              </a:endParaRPr>
            </a:p>
          </p:txBody>
        </p:sp>
      </p:grpSp>
      <p:sp>
        <p:nvSpPr>
          <p:cNvPr id="444" name="Text 64">
            <a:extLst>
              <a:ext uri="{FF2B5EF4-FFF2-40B4-BE49-F238E27FC236}">
                <a16:creationId xmlns:a16="http://schemas.microsoft.com/office/drawing/2014/main" id="{9C184057-3CCC-B9CA-53EA-EAD618A9A90A}"/>
              </a:ext>
            </a:extLst>
          </p:cNvPr>
          <p:cNvSpPr/>
          <p:nvPr/>
        </p:nvSpPr>
        <p:spPr>
          <a:xfrm>
            <a:off x="7060489" y="1699611"/>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42 FPOs</a:t>
            </a:r>
          </a:p>
          <a:p>
            <a:r>
              <a:rPr lang="en-US" sz="900" b="1" dirty="0">
                <a:solidFill>
                  <a:srgbClr val="14342B"/>
                </a:solidFill>
                <a:latin typeface="Georgia" panose="02040502050405020303" pitchFamily="18" charset="0"/>
                <a:ea typeface="Inter" pitchFamily="34" charset="-122"/>
              </a:rPr>
              <a:t>WDD FPOs</a:t>
            </a:r>
          </a:p>
          <a:p>
            <a:r>
              <a:rPr lang="en-US" sz="600" b="1" dirty="0">
                <a:solidFill>
                  <a:srgbClr val="14342B"/>
                </a:solidFill>
                <a:latin typeface="Georgia" panose="02040502050405020303" pitchFamily="18" charset="0"/>
                <a:ea typeface="Inter" pitchFamily="34" charset="-122"/>
              </a:rPr>
              <a:t>₹ </a:t>
            </a:r>
            <a:r>
              <a:rPr lang="en-US" sz="600" b="1" dirty="0">
                <a:latin typeface="Georgia" panose="02040502050405020303" pitchFamily="18" charset="0"/>
                <a:ea typeface="Inter" pitchFamily="34" charset="-122"/>
              </a:rPr>
              <a:t>11 Cr total transactions in FY 23-24</a:t>
            </a:r>
          </a:p>
          <a:p>
            <a:r>
              <a:rPr lang="en-US" sz="700" b="1" i="1" dirty="0">
                <a:solidFill>
                  <a:srgbClr val="14342B"/>
                </a:solidFill>
                <a:latin typeface="Georgia" panose="02040502050405020303" pitchFamily="18" charset="0"/>
                <a:ea typeface="Inter" pitchFamily="34" charset="-122"/>
              </a:rPr>
              <a:t>Key crops: Banana, Onion, Tomato</a:t>
            </a:r>
          </a:p>
        </p:txBody>
      </p:sp>
      <p:grpSp>
        <p:nvGrpSpPr>
          <p:cNvPr id="10" name="Group 9">
            <a:extLst>
              <a:ext uri="{FF2B5EF4-FFF2-40B4-BE49-F238E27FC236}">
                <a16:creationId xmlns:a16="http://schemas.microsoft.com/office/drawing/2014/main" id="{2D4A2358-9F0C-1CA5-FE47-68ECC8257E42}"/>
              </a:ext>
            </a:extLst>
          </p:cNvPr>
          <p:cNvGrpSpPr/>
          <p:nvPr/>
        </p:nvGrpSpPr>
        <p:grpSpPr>
          <a:xfrm>
            <a:off x="8686800" y="1661200"/>
            <a:ext cx="1905000" cy="820766"/>
            <a:chOff x="10332093" y="1661200"/>
            <a:chExt cx="1714548" cy="820766"/>
          </a:xfrm>
        </p:grpSpPr>
        <p:sp>
          <p:nvSpPr>
            <p:cNvPr id="94" name="Shape 61">
              <a:extLst>
                <a:ext uri="{FF2B5EF4-FFF2-40B4-BE49-F238E27FC236}">
                  <a16:creationId xmlns:a16="http://schemas.microsoft.com/office/drawing/2014/main" id="{727553D6-46FA-140F-41F5-58D3E5F783E3}"/>
                </a:ext>
              </a:extLst>
            </p:cNvPr>
            <p:cNvSpPr/>
            <p:nvPr/>
          </p:nvSpPr>
          <p:spPr>
            <a:xfrm>
              <a:off x="10332093" y="1661200"/>
              <a:ext cx="1514597" cy="820766"/>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49" name="Text 64">
              <a:extLst>
                <a:ext uri="{FF2B5EF4-FFF2-40B4-BE49-F238E27FC236}">
                  <a16:creationId xmlns:a16="http://schemas.microsoft.com/office/drawing/2014/main" id="{CFE28D10-F469-8FB8-98AE-D97160EF21AB}"/>
                </a:ext>
              </a:extLst>
            </p:cNvPr>
            <p:cNvSpPr/>
            <p:nvPr/>
          </p:nvSpPr>
          <p:spPr>
            <a:xfrm>
              <a:off x="10385149" y="1677962"/>
              <a:ext cx="1661492"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23 MT</a:t>
              </a:r>
            </a:p>
            <a:p>
              <a:r>
                <a:rPr lang="en-US" sz="900" b="1" dirty="0">
                  <a:solidFill>
                    <a:srgbClr val="14342B"/>
                  </a:solidFill>
                  <a:latin typeface="Georgia" panose="02040502050405020303" pitchFamily="18" charset="0"/>
                  <a:ea typeface="Inter" pitchFamily="34" charset="-122"/>
                </a:rPr>
                <a:t>Horticulture Department FPOs</a:t>
              </a:r>
            </a:p>
            <a:p>
              <a:r>
                <a:rPr lang="en-US" sz="600" b="1" dirty="0">
                  <a:latin typeface="Georgia" panose="02040502050405020303" pitchFamily="18" charset="0"/>
                  <a:ea typeface="Inter" pitchFamily="34" charset="-122"/>
                </a:rPr>
                <a:t>₹89,03,000 transactions in FY 23-24</a:t>
              </a:r>
              <a:endParaRPr lang="en-US" sz="600" b="1" dirty="0">
                <a:solidFill>
                  <a:srgbClr val="14342B"/>
                </a:solidFill>
                <a:latin typeface="Georgia" panose="02040502050405020303" pitchFamily="18" charset="0"/>
                <a:ea typeface="Inter" pitchFamily="34" charset="-122"/>
              </a:endParaRPr>
            </a:p>
            <a:p>
              <a:r>
                <a:rPr lang="en-US" sz="700" b="1" i="1" dirty="0">
                  <a:solidFill>
                    <a:srgbClr val="14342B"/>
                  </a:solidFill>
                  <a:latin typeface="Georgia" panose="02040502050405020303" pitchFamily="18" charset="0"/>
                  <a:ea typeface="Inter" pitchFamily="34" charset="-122"/>
                </a:rPr>
                <a:t>Key crops: Grapes, Pomegranate</a:t>
              </a:r>
            </a:p>
            <a:p>
              <a:endParaRPr lang="en-US" sz="900" b="1" dirty="0">
                <a:solidFill>
                  <a:srgbClr val="14342B"/>
                </a:solidFill>
                <a:latin typeface="Georgia" panose="02040502050405020303" pitchFamily="18" charset="0"/>
                <a:ea typeface="Inter" pitchFamily="34" charset="-122"/>
              </a:endParaRPr>
            </a:p>
          </p:txBody>
        </p:sp>
      </p:grpSp>
      <p:grpSp>
        <p:nvGrpSpPr>
          <p:cNvPr id="456" name="Group 455">
            <a:extLst>
              <a:ext uri="{FF2B5EF4-FFF2-40B4-BE49-F238E27FC236}">
                <a16:creationId xmlns:a16="http://schemas.microsoft.com/office/drawing/2014/main" id="{0D9D6439-5D01-B4F9-D3A6-BC0385A926F2}"/>
              </a:ext>
            </a:extLst>
          </p:cNvPr>
          <p:cNvGrpSpPr/>
          <p:nvPr/>
        </p:nvGrpSpPr>
        <p:grpSpPr>
          <a:xfrm>
            <a:off x="5396858" y="3086359"/>
            <a:ext cx="3171196" cy="2367034"/>
            <a:chOff x="5562604" y="1159491"/>
            <a:chExt cx="5186930" cy="3576788"/>
          </a:xfrm>
        </p:grpSpPr>
        <p:grpSp>
          <p:nvGrpSpPr>
            <p:cNvPr id="464" name="Group 463">
              <a:extLst>
                <a:ext uri="{FF2B5EF4-FFF2-40B4-BE49-F238E27FC236}">
                  <a16:creationId xmlns:a16="http://schemas.microsoft.com/office/drawing/2014/main" id="{C882A13B-4DAE-BFBB-CCA6-F2B3974DCF5F}"/>
                </a:ext>
              </a:extLst>
            </p:cNvPr>
            <p:cNvGrpSpPr/>
            <p:nvPr/>
          </p:nvGrpSpPr>
          <p:grpSpPr>
            <a:xfrm>
              <a:off x="5584470" y="2807907"/>
              <a:ext cx="2477333" cy="1928372"/>
              <a:chOff x="10002347" y="7336157"/>
              <a:chExt cx="3644503" cy="3480966"/>
            </a:xfrm>
          </p:grpSpPr>
          <p:sp>
            <p:nvSpPr>
              <p:cNvPr id="470" name="Shape 61">
                <a:extLst>
                  <a:ext uri="{FF2B5EF4-FFF2-40B4-BE49-F238E27FC236}">
                    <a16:creationId xmlns:a16="http://schemas.microsoft.com/office/drawing/2014/main" id="{6A39181E-F08B-3FF5-D488-1ACEEA969DF1}"/>
                  </a:ext>
                </a:extLst>
              </p:cNvPr>
              <p:cNvSpPr/>
              <p:nvPr/>
            </p:nvSpPr>
            <p:spPr>
              <a:xfrm>
                <a:off x="10002347" y="8622563"/>
                <a:ext cx="3644503" cy="2194560"/>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71" name="Text 63">
                <a:extLst>
                  <a:ext uri="{FF2B5EF4-FFF2-40B4-BE49-F238E27FC236}">
                    <a16:creationId xmlns:a16="http://schemas.microsoft.com/office/drawing/2014/main" id="{99CD7773-A7DD-951B-FC58-F7B388023F17}"/>
                  </a:ext>
                </a:extLst>
              </p:cNvPr>
              <p:cNvSpPr/>
              <p:nvPr/>
            </p:nvSpPr>
            <p:spPr>
              <a:xfrm>
                <a:off x="10482754" y="7336157"/>
                <a:ext cx="1341846" cy="312420"/>
              </a:xfrm>
              <a:prstGeom prst="rect">
                <a:avLst/>
              </a:prstGeom>
              <a:noFill/>
              <a:ln/>
            </p:spPr>
            <p:txBody>
              <a:bodyPr wrap="square" lIns="25400" tIns="25400" rIns="25400" bIns="25400" rtlCol="0" anchor="t">
                <a:normAutofit fontScale="25000" lnSpcReduction="20000"/>
              </a:bodyPr>
              <a:lstStyle/>
              <a:p>
                <a:endParaRPr lang="en-US" dirty="0">
                  <a:latin typeface="Georgia" panose="02040502050405020303" pitchFamily="18" charset="0"/>
                </a:endParaRPr>
              </a:p>
            </p:txBody>
          </p:sp>
        </p:grpSp>
        <p:grpSp>
          <p:nvGrpSpPr>
            <p:cNvPr id="465" name="Group 464">
              <a:extLst>
                <a:ext uri="{FF2B5EF4-FFF2-40B4-BE49-F238E27FC236}">
                  <a16:creationId xmlns:a16="http://schemas.microsoft.com/office/drawing/2014/main" id="{F067BBAB-701C-3AA8-D307-FB79F9DD98ED}"/>
                </a:ext>
              </a:extLst>
            </p:cNvPr>
            <p:cNvGrpSpPr/>
            <p:nvPr/>
          </p:nvGrpSpPr>
          <p:grpSpPr>
            <a:xfrm>
              <a:off x="5562604" y="1159492"/>
              <a:ext cx="2511882" cy="1342766"/>
              <a:chOff x="9970175" y="6791328"/>
              <a:chExt cx="3695328" cy="2423870"/>
            </a:xfrm>
          </p:grpSpPr>
          <p:sp>
            <p:nvSpPr>
              <p:cNvPr id="468" name="Shape 61">
                <a:extLst>
                  <a:ext uri="{FF2B5EF4-FFF2-40B4-BE49-F238E27FC236}">
                    <a16:creationId xmlns:a16="http://schemas.microsoft.com/office/drawing/2014/main" id="{618D1A69-A395-DB40-1CB6-AD10D492CD13}"/>
                  </a:ext>
                </a:extLst>
              </p:cNvPr>
              <p:cNvSpPr/>
              <p:nvPr/>
            </p:nvSpPr>
            <p:spPr>
              <a:xfrm>
                <a:off x="9970175" y="6791328"/>
                <a:ext cx="3644503"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9" name="Text 64">
                <a:extLst>
                  <a:ext uri="{FF2B5EF4-FFF2-40B4-BE49-F238E27FC236}">
                    <a16:creationId xmlns:a16="http://schemas.microsoft.com/office/drawing/2014/main" id="{1D28A95C-8F14-949D-F74D-4588883391C8}"/>
                  </a:ext>
                </a:extLst>
              </p:cNvPr>
              <p:cNvSpPr/>
              <p:nvPr/>
            </p:nvSpPr>
            <p:spPr>
              <a:xfrm>
                <a:off x="10025634" y="6852622"/>
                <a:ext cx="3639869" cy="2362576"/>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1,31,996 MT capacity</a:t>
                </a:r>
              </a:p>
              <a:p>
                <a:r>
                  <a:rPr lang="en-US" sz="900" b="1" dirty="0">
                    <a:solidFill>
                      <a:srgbClr val="14342B"/>
                    </a:solidFill>
                    <a:latin typeface="Georgia" panose="02040502050405020303" pitchFamily="18" charset="0"/>
                    <a:ea typeface="Inter" pitchFamily="34" charset="-122"/>
                  </a:rPr>
                  <a:t>Cold storage units</a:t>
                </a:r>
              </a:p>
              <a:p>
                <a:r>
                  <a:rPr lang="en-US" sz="700" b="1" i="1" dirty="0">
                    <a:solidFill>
                      <a:srgbClr val="14342B"/>
                    </a:solidFill>
                    <a:latin typeface="Georgia" panose="02040502050405020303" pitchFamily="18" charset="0"/>
                    <a:ea typeface="Inter" pitchFamily="34" charset="-122"/>
                  </a:rPr>
                  <a:t>Key crops: Lemon, Vegetables and fruits, Potato, Beetroot</a:t>
                </a:r>
              </a:p>
              <a:p>
                <a:r>
                  <a:rPr lang="en-US" sz="600" dirty="0">
                    <a:solidFill>
                      <a:srgbClr val="14342B"/>
                    </a:solidFill>
                    <a:latin typeface="Georgia" panose="02040502050405020303" pitchFamily="18" charset="0"/>
                    <a:ea typeface="Inter" pitchFamily="34" charset="-122"/>
                  </a:rPr>
                  <a:t>Upcoming units: Vijayapura -12000 MT</a:t>
                </a:r>
              </a:p>
            </p:txBody>
          </p:sp>
        </p:grpSp>
        <p:sp>
          <p:nvSpPr>
            <p:cNvPr id="466" name="Shape 61">
              <a:extLst>
                <a:ext uri="{FF2B5EF4-FFF2-40B4-BE49-F238E27FC236}">
                  <a16:creationId xmlns:a16="http://schemas.microsoft.com/office/drawing/2014/main" id="{8EF6F204-39A5-E4D3-0DFD-2B87911AA023}"/>
                </a:ext>
              </a:extLst>
            </p:cNvPr>
            <p:cNvSpPr/>
            <p:nvPr/>
          </p:nvSpPr>
          <p:spPr>
            <a:xfrm>
              <a:off x="8272049" y="1159491"/>
              <a:ext cx="2477333" cy="121573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67" name="Shape 61">
              <a:extLst>
                <a:ext uri="{FF2B5EF4-FFF2-40B4-BE49-F238E27FC236}">
                  <a16:creationId xmlns:a16="http://schemas.microsoft.com/office/drawing/2014/main" id="{CE18E51A-472C-2171-AD7D-3DE751F3A83D}"/>
                </a:ext>
              </a:extLst>
            </p:cNvPr>
            <p:cNvSpPr/>
            <p:nvPr/>
          </p:nvSpPr>
          <p:spPr>
            <a:xfrm>
              <a:off x="8272201" y="3518776"/>
              <a:ext cx="2477333" cy="1215733"/>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grpSp>
      <p:sp>
        <p:nvSpPr>
          <p:cNvPr id="458" name="Shape 61">
            <a:extLst>
              <a:ext uri="{FF2B5EF4-FFF2-40B4-BE49-F238E27FC236}">
                <a16:creationId xmlns:a16="http://schemas.microsoft.com/office/drawing/2014/main" id="{B57C5442-5EB3-C99A-406A-6327764208CC}"/>
              </a:ext>
            </a:extLst>
          </p:cNvPr>
          <p:cNvSpPr/>
          <p:nvPr/>
        </p:nvSpPr>
        <p:spPr>
          <a:xfrm>
            <a:off x="8760502" y="4647678"/>
            <a:ext cx="1514597"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grpSp>
        <p:nvGrpSpPr>
          <p:cNvPr id="461" name="Group 460">
            <a:extLst>
              <a:ext uri="{FF2B5EF4-FFF2-40B4-BE49-F238E27FC236}">
                <a16:creationId xmlns:a16="http://schemas.microsoft.com/office/drawing/2014/main" id="{3CB9211B-E885-A5BA-569B-32A4A5B24793}"/>
              </a:ext>
            </a:extLst>
          </p:cNvPr>
          <p:cNvGrpSpPr/>
          <p:nvPr/>
        </p:nvGrpSpPr>
        <p:grpSpPr>
          <a:xfrm>
            <a:off x="8846775" y="4663672"/>
            <a:ext cx="3047751" cy="804544"/>
            <a:chOff x="6068207" y="8643943"/>
            <a:chExt cx="7333658" cy="2194560"/>
          </a:xfrm>
        </p:grpSpPr>
        <p:sp>
          <p:nvSpPr>
            <p:cNvPr id="462" name="Shape 61">
              <a:extLst>
                <a:ext uri="{FF2B5EF4-FFF2-40B4-BE49-F238E27FC236}">
                  <a16:creationId xmlns:a16="http://schemas.microsoft.com/office/drawing/2014/main" id="{27339D1E-AAD7-92D8-FF67-AFCE7F52A4ED}"/>
                </a:ext>
              </a:extLst>
            </p:cNvPr>
            <p:cNvSpPr/>
            <p:nvPr/>
          </p:nvSpPr>
          <p:spPr>
            <a:xfrm>
              <a:off x="9757361" y="8643943"/>
              <a:ext cx="3644504"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3" name="Text 64">
              <a:extLst>
                <a:ext uri="{FF2B5EF4-FFF2-40B4-BE49-F238E27FC236}">
                  <a16:creationId xmlns:a16="http://schemas.microsoft.com/office/drawing/2014/main" id="{0D775D37-1B33-0ABC-A518-E1164B28E54B}"/>
                </a:ext>
              </a:extLst>
            </p:cNvPr>
            <p:cNvSpPr/>
            <p:nvPr/>
          </p:nvSpPr>
          <p:spPr>
            <a:xfrm>
              <a:off x="6068207" y="8813647"/>
              <a:ext cx="3370181" cy="312421"/>
            </a:xfrm>
            <a:prstGeom prst="rect">
              <a:avLst/>
            </a:prstGeom>
            <a:noFill/>
            <a:ln/>
          </p:spPr>
          <p:txBody>
            <a:bodyPr wrap="square" lIns="25400" tIns="25400" rIns="25400" bIns="25400" rtlCol="0" anchor="t">
              <a:noAutofit/>
            </a:bodyPr>
            <a:lstStyle/>
            <a:p>
              <a:r>
                <a:rPr lang="en-US" sz="900" b="1" dirty="0">
                  <a:latin typeface="Georgia" panose="02040502050405020303" pitchFamily="18" charset="0"/>
                </a:rPr>
                <a:t>Agricultural training centers</a:t>
              </a:r>
            </a:p>
            <a:p>
              <a:endParaRPr lang="en-US" sz="900" b="1" dirty="0">
                <a:latin typeface="Georgia" panose="02040502050405020303" pitchFamily="18" charset="0"/>
              </a:endParaRPr>
            </a:p>
            <a:p>
              <a:r>
                <a:rPr lang="en-US" sz="700" dirty="0" err="1">
                  <a:solidFill>
                    <a:srgbClr val="14342B"/>
                  </a:solidFill>
                  <a:latin typeface="Georgia" panose="02040502050405020303" pitchFamily="18" charset="0"/>
                  <a:ea typeface="Fraunces" pitchFamily="34" charset="-122"/>
                </a:rPr>
                <a:t>Bagalkote</a:t>
              </a:r>
              <a:r>
                <a:rPr lang="en-US" sz="700" dirty="0">
                  <a:solidFill>
                    <a:srgbClr val="14342B"/>
                  </a:solidFill>
                  <a:latin typeface="Georgia" panose="02040502050405020303" pitchFamily="18" charset="0"/>
                  <a:ea typeface="Fraunces" pitchFamily="34" charset="-122"/>
                </a:rPr>
                <a:t>, Vijayapura, Belagavi</a:t>
              </a:r>
            </a:p>
            <a:p>
              <a:endParaRPr lang="en-US" sz="900" b="1" dirty="0">
                <a:latin typeface="Georgia" panose="02040502050405020303" pitchFamily="18" charset="0"/>
              </a:endParaRPr>
            </a:p>
          </p:txBody>
        </p:sp>
      </p:grpSp>
      <p:sp>
        <p:nvSpPr>
          <p:cNvPr id="455" name="Shape 41">
            <a:extLst>
              <a:ext uri="{FF2B5EF4-FFF2-40B4-BE49-F238E27FC236}">
                <a16:creationId xmlns:a16="http://schemas.microsoft.com/office/drawing/2014/main" id="{6F5B0D26-F2C4-6020-33C9-20A24A58B4FE}"/>
              </a:ext>
            </a:extLst>
          </p:cNvPr>
          <p:cNvSpPr/>
          <p:nvPr/>
        </p:nvSpPr>
        <p:spPr>
          <a:xfrm>
            <a:off x="5396856" y="2586448"/>
            <a:ext cx="4478287" cy="407388"/>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452" name="Text 42">
            <a:extLst>
              <a:ext uri="{FF2B5EF4-FFF2-40B4-BE49-F238E27FC236}">
                <a16:creationId xmlns:a16="http://schemas.microsoft.com/office/drawing/2014/main" id="{7AB416E0-A8ED-36D8-104E-F3CE98189FF4}"/>
              </a:ext>
            </a:extLst>
          </p:cNvPr>
          <p:cNvSpPr/>
          <p:nvPr/>
        </p:nvSpPr>
        <p:spPr>
          <a:xfrm>
            <a:off x="5520689" y="2663492"/>
            <a:ext cx="3769226" cy="233672"/>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Ecosystem for all fruits and vegetables</a:t>
            </a:r>
          </a:p>
        </p:txBody>
      </p:sp>
      <p:sp>
        <p:nvSpPr>
          <p:cNvPr id="453" name="Text 65">
            <a:extLst>
              <a:ext uri="{FF2B5EF4-FFF2-40B4-BE49-F238E27FC236}">
                <a16:creationId xmlns:a16="http://schemas.microsoft.com/office/drawing/2014/main" id="{12EFA774-38EF-7FD9-270B-018A24292982}"/>
              </a:ext>
            </a:extLst>
          </p:cNvPr>
          <p:cNvSpPr/>
          <p:nvPr/>
        </p:nvSpPr>
        <p:spPr>
          <a:xfrm>
            <a:off x="5520689" y="3654421"/>
            <a:ext cx="1447800" cy="77197"/>
          </a:xfrm>
          <a:prstGeom prst="rect">
            <a:avLst/>
          </a:prstGeom>
          <a:noFill/>
          <a:ln/>
        </p:spPr>
        <p:txBody>
          <a:bodyPr wrap="square" lIns="25400" tIns="25400" rIns="25400" bIns="25400" rtlCol="0" anchor="t">
            <a:noAutofit/>
          </a:bodyPr>
          <a:lstStyle/>
          <a:p>
            <a:endParaRPr lang="en-US" sz="700" dirty="0">
              <a:solidFill>
                <a:srgbClr val="0B6E78"/>
              </a:solidFill>
              <a:latin typeface="Georgia" panose="02040502050405020303" pitchFamily="18" charset="0"/>
              <a:ea typeface="JetBrains Mono" pitchFamily="34" charset="-122"/>
              <a:cs typeface="JetBrains Mono" pitchFamily="34" charset="-120"/>
            </a:endParaRPr>
          </a:p>
        </p:txBody>
      </p:sp>
      <p:sp>
        <p:nvSpPr>
          <p:cNvPr id="472" name="Text 64">
            <a:extLst>
              <a:ext uri="{FF2B5EF4-FFF2-40B4-BE49-F238E27FC236}">
                <a16:creationId xmlns:a16="http://schemas.microsoft.com/office/drawing/2014/main" id="{1BC1D08A-04F1-BE67-6BD9-DA9A9ECAC579}"/>
              </a:ext>
            </a:extLst>
          </p:cNvPr>
          <p:cNvSpPr/>
          <p:nvPr/>
        </p:nvSpPr>
        <p:spPr>
          <a:xfrm>
            <a:off x="7095613" y="3116107"/>
            <a:ext cx="1495246" cy="846293"/>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64 FPOs</a:t>
            </a:r>
          </a:p>
          <a:p>
            <a:r>
              <a:rPr lang="en-US" sz="900" b="1" dirty="0">
                <a:solidFill>
                  <a:srgbClr val="14342B"/>
                </a:solidFill>
                <a:latin typeface="Georgia" panose="02040502050405020303" pitchFamily="18" charset="0"/>
                <a:ea typeface="Inter" pitchFamily="34" charset="-122"/>
              </a:rPr>
              <a:t>WDD FPOs</a:t>
            </a:r>
          </a:p>
          <a:p>
            <a:r>
              <a:rPr lang="en-US" sz="600" b="1" dirty="0">
                <a:solidFill>
                  <a:srgbClr val="14342B"/>
                </a:solidFill>
                <a:latin typeface="Georgia" panose="02040502050405020303" pitchFamily="18" charset="0"/>
                <a:ea typeface="Inter" pitchFamily="34" charset="-122"/>
              </a:rPr>
              <a:t>₹ </a:t>
            </a:r>
            <a:r>
              <a:rPr lang="en-US" sz="600" b="1" dirty="0">
                <a:latin typeface="Georgia" panose="02040502050405020303" pitchFamily="18" charset="0"/>
                <a:ea typeface="Inter" pitchFamily="34" charset="-122"/>
              </a:rPr>
              <a:t>19 Cr total transactions in FY 23-24</a:t>
            </a:r>
          </a:p>
          <a:p>
            <a:r>
              <a:rPr lang="en-US" sz="700" b="1" i="1" dirty="0">
                <a:solidFill>
                  <a:srgbClr val="14342B"/>
                </a:solidFill>
                <a:latin typeface="Georgia" panose="02040502050405020303" pitchFamily="18" charset="0"/>
                <a:ea typeface="Inter" pitchFamily="34" charset="-122"/>
              </a:rPr>
              <a:t>Key crops: Banana, Onion, Tomato, Vegetables</a:t>
            </a:r>
          </a:p>
          <a:p>
            <a:endParaRPr lang="en-US" sz="700" b="1" i="1" dirty="0">
              <a:solidFill>
                <a:srgbClr val="14342B"/>
              </a:solidFill>
              <a:latin typeface="Georgia" panose="02040502050405020303" pitchFamily="18" charset="0"/>
              <a:ea typeface="Inter" pitchFamily="34" charset="-122"/>
            </a:endParaRPr>
          </a:p>
        </p:txBody>
      </p:sp>
      <p:grpSp>
        <p:nvGrpSpPr>
          <p:cNvPr id="14" name="Group 13">
            <a:extLst>
              <a:ext uri="{FF2B5EF4-FFF2-40B4-BE49-F238E27FC236}">
                <a16:creationId xmlns:a16="http://schemas.microsoft.com/office/drawing/2014/main" id="{5C0F7FDB-4937-C84A-1E56-833550A4073C}"/>
              </a:ext>
            </a:extLst>
          </p:cNvPr>
          <p:cNvGrpSpPr/>
          <p:nvPr/>
        </p:nvGrpSpPr>
        <p:grpSpPr>
          <a:xfrm>
            <a:off x="8733200" y="3086359"/>
            <a:ext cx="1872884" cy="804544"/>
            <a:chOff x="10366381" y="3086359"/>
            <a:chExt cx="1688357" cy="804544"/>
          </a:xfrm>
        </p:grpSpPr>
        <p:sp>
          <p:nvSpPr>
            <p:cNvPr id="460" name="Shape 61">
              <a:extLst>
                <a:ext uri="{FF2B5EF4-FFF2-40B4-BE49-F238E27FC236}">
                  <a16:creationId xmlns:a16="http://schemas.microsoft.com/office/drawing/2014/main" id="{E9EC0642-932A-41B1-DA8D-CA7B88756DF4}"/>
                </a:ext>
              </a:extLst>
            </p:cNvPr>
            <p:cNvSpPr/>
            <p:nvPr/>
          </p:nvSpPr>
          <p:spPr>
            <a:xfrm>
              <a:off x="10366381" y="3086359"/>
              <a:ext cx="1514597"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74" name="Text 64">
              <a:extLst>
                <a:ext uri="{FF2B5EF4-FFF2-40B4-BE49-F238E27FC236}">
                  <a16:creationId xmlns:a16="http://schemas.microsoft.com/office/drawing/2014/main" id="{A7DDB771-B1BF-67A2-7120-6BBB14638820}"/>
                </a:ext>
              </a:extLst>
            </p:cNvPr>
            <p:cNvSpPr/>
            <p:nvPr/>
          </p:nvSpPr>
          <p:spPr>
            <a:xfrm>
              <a:off x="10393246" y="3101860"/>
              <a:ext cx="1661492"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1553 MT</a:t>
              </a:r>
            </a:p>
            <a:p>
              <a:r>
                <a:rPr lang="en-US" sz="900" b="1" dirty="0">
                  <a:solidFill>
                    <a:srgbClr val="14342B"/>
                  </a:solidFill>
                  <a:latin typeface="Georgia" panose="02040502050405020303" pitchFamily="18" charset="0"/>
                  <a:ea typeface="Inter" pitchFamily="34" charset="-122"/>
                </a:rPr>
                <a:t>Horticulture Department FPOs</a:t>
              </a:r>
            </a:p>
            <a:p>
              <a:r>
                <a:rPr lang="en-US" sz="600" b="1" dirty="0">
                  <a:solidFill>
                    <a:srgbClr val="14342B"/>
                  </a:solidFill>
                  <a:latin typeface="Georgia" panose="02040502050405020303" pitchFamily="18" charset="0"/>
                  <a:ea typeface="Inter" pitchFamily="34" charset="-122"/>
                </a:rPr>
                <a:t>₹24,60,25,000 transactions in FY 23-24</a:t>
              </a:r>
            </a:p>
            <a:p>
              <a:r>
                <a:rPr lang="en-US" sz="700" b="1" i="1" dirty="0">
                  <a:solidFill>
                    <a:srgbClr val="14342B"/>
                  </a:solidFill>
                  <a:latin typeface="Georgia" panose="02040502050405020303" pitchFamily="18" charset="0"/>
                  <a:ea typeface="Inter" pitchFamily="34" charset="-122"/>
                </a:rPr>
                <a:t>Key crops: Onion, Lemon, Sweet Potato</a:t>
              </a:r>
            </a:p>
            <a:p>
              <a:endParaRPr lang="en-US" sz="900" b="1" dirty="0">
                <a:solidFill>
                  <a:srgbClr val="14342B"/>
                </a:solidFill>
                <a:latin typeface="Georgia" panose="02040502050405020303" pitchFamily="18" charset="0"/>
                <a:ea typeface="Inter" pitchFamily="34" charset="-122"/>
              </a:endParaRPr>
            </a:p>
          </p:txBody>
        </p:sp>
      </p:grpSp>
      <p:sp>
        <p:nvSpPr>
          <p:cNvPr id="475" name="Text 64">
            <a:extLst>
              <a:ext uri="{FF2B5EF4-FFF2-40B4-BE49-F238E27FC236}">
                <a16:creationId xmlns:a16="http://schemas.microsoft.com/office/drawing/2014/main" id="{3559FA17-52B2-FBCD-C39D-F92B6F4C7F81}"/>
              </a:ext>
            </a:extLst>
          </p:cNvPr>
          <p:cNvSpPr/>
          <p:nvPr/>
        </p:nvSpPr>
        <p:spPr>
          <a:xfrm>
            <a:off x="5451075" y="4731209"/>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7 centers</a:t>
            </a:r>
          </a:p>
          <a:p>
            <a:r>
              <a:rPr lang="en-US" sz="900" b="1" dirty="0">
                <a:solidFill>
                  <a:srgbClr val="14342B"/>
                </a:solidFill>
                <a:latin typeface="Georgia" panose="02040502050405020303" pitchFamily="18" charset="0"/>
                <a:ea typeface="Inter" pitchFamily="34" charset="-122"/>
              </a:rPr>
              <a:t>Seed production centers</a:t>
            </a:r>
          </a:p>
          <a:p>
            <a:r>
              <a:rPr lang="en-US" sz="600" b="1" dirty="0">
                <a:latin typeface="Georgia" panose="02040502050405020303" pitchFamily="18" charset="0"/>
                <a:ea typeface="Inter" pitchFamily="34" charset="-122"/>
              </a:rPr>
              <a:t>70 ha total</a:t>
            </a:r>
          </a:p>
        </p:txBody>
      </p:sp>
      <p:sp>
        <p:nvSpPr>
          <p:cNvPr id="476" name="Text 64">
            <a:extLst>
              <a:ext uri="{FF2B5EF4-FFF2-40B4-BE49-F238E27FC236}">
                <a16:creationId xmlns:a16="http://schemas.microsoft.com/office/drawing/2014/main" id="{F264A94B-2D16-4143-1030-5A7A3B2AE2BB}"/>
              </a:ext>
            </a:extLst>
          </p:cNvPr>
          <p:cNvSpPr/>
          <p:nvPr/>
        </p:nvSpPr>
        <p:spPr>
          <a:xfrm>
            <a:off x="7104635" y="4723714"/>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45 farms</a:t>
            </a:r>
          </a:p>
          <a:p>
            <a:r>
              <a:rPr lang="en-US" sz="900" b="1" dirty="0">
                <a:solidFill>
                  <a:srgbClr val="14342B"/>
                </a:solidFill>
                <a:latin typeface="Georgia" panose="02040502050405020303" pitchFamily="18" charset="0"/>
                <a:ea typeface="Inter" pitchFamily="34" charset="-122"/>
              </a:rPr>
              <a:t>Horticulture farms &amp; nurseries</a:t>
            </a:r>
          </a:p>
          <a:p>
            <a:r>
              <a:rPr lang="en-US" sz="600" b="1" dirty="0">
                <a:latin typeface="Georgia" panose="02040502050405020303" pitchFamily="18" charset="0"/>
                <a:ea typeface="Inter" pitchFamily="34" charset="-122"/>
              </a:rPr>
              <a:t>692 acres</a:t>
            </a:r>
          </a:p>
        </p:txBody>
      </p:sp>
      <p:sp>
        <p:nvSpPr>
          <p:cNvPr id="477" name="Text 64">
            <a:extLst>
              <a:ext uri="{FF2B5EF4-FFF2-40B4-BE49-F238E27FC236}">
                <a16:creationId xmlns:a16="http://schemas.microsoft.com/office/drawing/2014/main" id="{D5840FE7-7A35-739C-84AD-BCDB9A38775A}"/>
              </a:ext>
            </a:extLst>
          </p:cNvPr>
          <p:cNvSpPr/>
          <p:nvPr/>
        </p:nvSpPr>
        <p:spPr>
          <a:xfrm>
            <a:off x="10450220" y="4702920"/>
            <a:ext cx="724087"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55</a:t>
            </a:r>
          </a:p>
          <a:p>
            <a:r>
              <a:rPr lang="en-US" sz="900" b="1" dirty="0">
                <a:solidFill>
                  <a:srgbClr val="14342B"/>
                </a:solidFill>
                <a:latin typeface="Georgia" panose="02040502050405020303" pitchFamily="18" charset="0"/>
                <a:ea typeface="Inter" pitchFamily="34" charset="-122"/>
              </a:rPr>
              <a:t>SHGs</a:t>
            </a:r>
          </a:p>
        </p:txBody>
      </p:sp>
      <p:sp>
        <p:nvSpPr>
          <p:cNvPr id="478" name="TextBox 477">
            <a:extLst>
              <a:ext uri="{FF2B5EF4-FFF2-40B4-BE49-F238E27FC236}">
                <a16:creationId xmlns:a16="http://schemas.microsoft.com/office/drawing/2014/main" id="{5F68E5D2-3EBB-A116-E291-5ABA91A9E913}"/>
              </a:ext>
            </a:extLst>
          </p:cNvPr>
          <p:cNvSpPr txBox="1"/>
          <p:nvPr/>
        </p:nvSpPr>
        <p:spPr>
          <a:xfrm>
            <a:off x="625235" y="5334000"/>
            <a:ext cx="4677855" cy="200055"/>
          </a:xfrm>
          <a:prstGeom prst="rect">
            <a:avLst/>
          </a:prstGeom>
          <a:noFill/>
        </p:spPr>
        <p:txBody>
          <a:bodyPr wrap="square" rtlCol="0">
            <a:spAutoFit/>
          </a:bodyPr>
          <a:lstStyle/>
          <a:p>
            <a:r>
              <a:rPr lang="en-IN" sz="700" i="1" dirty="0">
                <a:latin typeface="Georgia" panose="02040502050405020303" pitchFamily="18" charset="0"/>
              </a:rPr>
              <a:t>Source: As reported by district officials, Horticulture department, Government of Karnataka, as of March 2026</a:t>
            </a:r>
          </a:p>
        </p:txBody>
      </p:sp>
      <p:sp>
        <p:nvSpPr>
          <p:cNvPr id="16" name="TextBox 15">
            <a:extLst>
              <a:ext uri="{FF2B5EF4-FFF2-40B4-BE49-F238E27FC236}">
                <a16:creationId xmlns:a16="http://schemas.microsoft.com/office/drawing/2014/main" id="{9FC7A138-42C2-232C-FE4F-788F1033881E}"/>
              </a:ext>
            </a:extLst>
          </p:cNvPr>
          <p:cNvSpPr txBox="1"/>
          <p:nvPr/>
        </p:nvSpPr>
        <p:spPr>
          <a:xfrm>
            <a:off x="607208" y="5595545"/>
            <a:ext cx="6269957" cy="630942"/>
          </a:xfrm>
          <a:prstGeom prst="rect">
            <a:avLst/>
          </a:prstGeom>
          <a:noFill/>
        </p:spPr>
        <p:txBody>
          <a:bodyPr wrap="square" rtlCol="0">
            <a:spAutoFit/>
          </a:bodyPr>
          <a:lstStyle/>
          <a:p>
            <a:r>
              <a:rPr lang="en-US" sz="800" i="1" dirty="0">
                <a:latin typeface="Georgia" panose="02040502050405020303" pitchFamily="18" charset="0"/>
              </a:rPr>
              <a:t>Sources: As per the internal data shared by the following departments under Government of Karnataka, as of March 2026:</a:t>
            </a:r>
          </a:p>
          <a:p>
            <a:endParaRPr lang="en-US" sz="300" i="1" dirty="0">
              <a:latin typeface="Georgia" panose="02040502050405020303" pitchFamily="18" charset="0"/>
            </a:endParaRPr>
          </a:p>
          <a:p>
            <a:pPr marL="228600" indent="-228600">
              <a:buFont typeface="Arial" panose="020B0604020202020204" pitchFamily="34" charset="0"/>
              <a:buChar char="•"/>
            </a:pPr>
            <a:r>
              <a:rPr lang="en-IN" sz="800" i="1" dirty="0">
                <a:latin typeface="Georgia" panose="02040502050405020303" pitchFamily="18" charset="0"/>
              </a:rPr>
              <a:t>KAPPEC – Processing infrastructure</a:t>
            </a:r>
          </a:p>
          <a:p>
            <a:pPr marL="228600" indent="-228600">
              <a:buFont typeface="Arial" panose="020B0604020202020204" pitchFamily="34" charset="0"/>
              <a:buChar char="•"/>
            </a:pPr>
            <a:r>
              <a:rPr lang="en-IN" sz="800" i="1" dirty="0">
                <a:latin typeface="Georgia" panose="02040502050405020303" pitchFamily="18" charset="0"/>
              </a:rPr>
              <a:t>Directorate of horticulture – Cold storage infrastructure, Horticulture farms/nurseries, Horticulture department FPOs</a:t>
            </a:r>
          </a:p>
          <a:p>
            <a:pPr marL="228600" indent="-228600">
              <a:buFont typeface="Arial" panose="020B0604020202020204" pitchFamily="34" charset="0"/>
              <a:buChar char="•"/>
            </a:pPr>
            <a:r>
              <a:rPr lang="en-IN" sz="800" i="1" dirty="0">
                <a:latin typeface="Georgia" panose="02040502050405020303" pitchFamily="18" charset="0"/>
              </a:rPr>
              <a:t>Watershed development department – WDD FPOs</a:t>
            </a:r>
          </a:p>
        </p:txBody>
      </p:sp>
      <p:grpSp>
        <p:nvGrpSpPr>
          <p:cNvPr id="204" name="Group 203">
            <a:extLst>
              <a:ext uri="{FF2B5EF4-FFF2-40B4-BE49-F238E27FC236}">
                <a16:creationId xmlns:a16="http://schemas.microsoft.com/office/drawing/2014/main" id="{DE48B168-39BB-507F-C099-CB92DD696460}"/>
              </a:ext>
            </a:extLst>
          </p:cNvPr>
          <p:cNvGrpSpPr/>
          <p:nvPr/>
        </p:nvGrpSpPr>
        <p:grpSpPr>
          <a:xfrm>
            <a:off x="662097" y="3456935"/>
            <a:ext cx="4653243" cy="429265"/>
            <a:chOff x="689731" y="3276599"/>
            <a:chExt cx="4478287" cy="881562"/>
          </a:xfrm>
          <a:solidFill>
            <a:srgbClr val="4B4B4D"/>
          </a:solidFill>
        </p:grpSpPr>
        <p:sp>
          <p:nvSpPr>
            <p:cNvPr id="11" name="Shape 41">
              <a:extLst>
                <a:ext uri="{FF2B5EF4-FFF2-40B4-BE49-F238E27FC236}">
                  <a16:creationId xmlns:a16="http://schemas.microsoft.com/office/drawing/2014/main" id="{B0E9CC52-073D-1136-B58C-7691EB83C431}"/>
                </a:ext>
              </a:extLst>
            </p:cNvPr>
            <p:cNvSpPr/>
            <p:nvPr/>
          </p:nvSpPr>
          <p:spPr>
            <a:xfrm>
              <a:off x="689731" y="3276601"/>
              <a:ext cx="4478287" cy="881560"/>
            </a:xfrm>
            <a:prstGeom prst="roundRect">
              <a:avLst>
                <a:gd name="adj" fmla="val 4644"/>
              </a:avLst>
            </a:prstGeom>
            <a:grpFill/>
            <a:ln/>
          </p:spPr>
          <p:txBody>
            <a:bodyPr/>
            <a:lstStyle/>
            <a:p>
              <a:pPr algn="r"/>
              <a:endParaRPr lang="en-US" sz="1100" dirty="0">
                <a:solidFill>
                  <a:schemeClr val="bg1"/>
                </a:solidFill>
                <a:latin typeface="Georgia" panose="02040502050405020303" pitchFamily="18" charset="0"/>
              </a:endParaRPr>
            </a:p>
          </p:txBody>
        </p:sp>
        <p:sp>
          <p:nvSpPr>
            <p:cNvPr id="12" name="Shape 44">
              <a:extLst>
                <a:ext uri="{FF2B5EF4-FFF2-40B4-BE49-F238E27FC236}">
                  <a16:creationId xmlns:a16="http://schemas.microsoft.com/office/drawing/2014/main" id="{C9A00FDB-1435-68F9-73C9-7E598A6F1DEF}"/>
                </a:ext>
              </a:extLst>
            </p:cNvPr>
            <p:cNvSpPr/>
            <p:nvPr/>
          </p:nvSpPr>
          <p:spPr>
            <a:xfrm>
              <a:off x="2885490" y="3340476"/>
              <a:ext cx="9525" cy="735330"/>
            </a:xfrm>
            <a:prstGeom prst="rect">
              <a:avLst/>
            </a:prstGeom>
            <a:grpFill/>
            <a:ln/>
          </p:spPr>
          <p:txBody>
            <a:bodyPr/>
            <a:lstStyle/>
            <a:p>
              <a:endParaRPr lang="en-IN" sz="1100">
                <a:solidFill>
                  <a:schemeClr val="bg1"/>
                </a:solidFill>
                <a:latin typeface="Georgia" panose="02040502050405020303" pitchFamily="18" charset="0"/>
              </a:endParaRPr>
            </a:p>
          </p:txBody>
        </p:sp>
        <p:sp>
          <p:nvSpPr>
            <p:cNvPr id="17" name="Text 43">
              <a:extLst>
                <a:ext uri="{FF2B5EF4-FFF2-40B4-BE49-F238E27FC236}">
                  <a16:creationId xmlns:a16="http://schemas.microsoft.com/office/drawing/2014/main" id="{0C466A5E-BBE9-0A7B-BCA6-D70CF77D767A}"/>
                </a:ext>
              </a:extLst>
            </p:cNvPr>
            <p:cNvSpPr/>
            <p:nvPr/>
          </p:nvSpPr>
          <p:spPr>
            <a:xfrm>
              <a:off x="1163171" y="3708850"/>
              <a:ext cx="1115499" cy="391574"/>
            </a:xfrm>
            <a:prstGeom prst="rect">
              <a:avLst/>
            </a:prstGeom>
            <a:grpFill/>
            <a:ln/>
          </p:spPr>
          <p:txBody>
            <a:bodyPr wrap="square" lIns="25400" tIns="25400" rIns="25400" bIns="25400" rtlCol="0" anchor="t">
              <a:normAutofit fontScale="92500" lnSpcReduction="20000"/>
            </a:bodyPr>
            <a:lstStyle/>
            <a:p>
              <a:r>
                <a:rPr lang="en-US" sz="1200" b="1" dirty="0">
                  <a:solidFill>
                    <a:schemeClr val="bg1"/>
                  </a:solidFill>
                  <a:latin typeface="Georgia" panose="02040502050405020303" pitchFamily="18" charset="0"/>
                  <a:ea typeface="Fraunces" pitchFamily="34" charset="-122"/>
                  <a:cs typeface="Fraunces" pitchFamily="34" charset="-120"/>
                </a:rPr>
                <a:t>31,33,277</a:t>
              </a:r>
              <a:r>
                <a:rPr lang="en-US" sz="1100" b="1" dirty="0">
                  <a:solidFill>
                    <a:schemeClr val="bg1"/>
                  </a:solidFill>
                  <a:latin typeface="Georgia" panose="02040502050405020303" pitchFamily="18" charset="0"/>
                  <a:ea typeface="Fraunces" pitchFamily="34" charset="-122"/>
                  <a:cs typeface="Fraunces" pitchFamily="34" charset="-120"/>
                </a:rPr>
                <a:t> </a:t>
              </a:r>
              <a:r>
                <a:rPr lang="en-US" sz="1200" dirty="0">
                  <a:solidFill>
                    <a:schemeClr val="bg1"/>
                  </a:solidFill>
                  <a:latin typeface="Georgia" panose="02040502050405020303" pitchFamily="18" charset="0"/>
                  <a:ea typeface="Fraunces" pitchFamily="34" charset="-122"/>
                  <a:cs typeface="Fraunces" pitchFamily="34" charset="-120"/>
                </a:rPr>
                <a:t>MT</a:t>
              </a:r>
              <a:endParaRPr lang="en-US" sz="1200" dirty="0">
                <a:solidFill>
                  <a:schemeClr val="bg1"/>
                </a:solidFill>
                <a:latin typeface="Georgia" panose="02040502050405020303" pitchFamily="18" charset="0"/>
              </a:endParaRPr>
            </a:p>
          </p:txBody>
        </p:sp>
        <p:sp>
          <p:nvSpPr>
            <p:cNvPr id="19" name="Text 42">
              <a:extLst>
                <a:ext uri="{FF2B5EF4-FFF2-40B4-BE49-F238E27FC236}">
                  <a16:creationId xmlns:a16="http://schemas.microsoft.com/office/drawing/2014/main" id="{B7C7C55C-0423-77B5-2E8C-31E3195C4A1A}"/>
                </a:ext>
              </a:extLst>
            </p:cNvPr>
            <p:cNvSpPr/>
            <p:nvPr/>
          </p:nvSpPr>
          <p:spPr>
            <a:xfrm>
              <a:off x="706488" y="3276599"/>
              <a:ext cx="2020722" cy="269807"/>
            </a:xfrm>
            <a:prstGeom prst="rect">
              <a:avLst/>
            </a:prstGeom>
            <a:grpFill/>
            <a:ln/>
          </p:spPr>
          <p:txBody>
            <a:bodyPr wrap="square" lIns="25400" tIns="25400" rIns="25400" bIns="25400" rtlCol="0" anchor="t">
              <a:noAutofit/>
            </a:bodyPr>
            <a:lstStyle/>
            <a:p>
              <a:pPr algn="ctr"/>
              <a:r>
                <a:rPr lang="en-US" sz="1100" b="1" dirty="0">
                  <a:solidFill>
                    <a:schemeClr val="bg1"/>
                  </a:solidFill>
                  <a:latin typeface="Georgia" panose="02040502050405020303" pitchFamily="18" charset="0"/>
                </a:rPr>
                <a:t>Crop-specific production</a:t>
              </a:r>
            </a:p>
          </p:txBody>
        </p:sp>
        <p:sp>
          <p:nvSpPr>
            <p:cNvPr id="22" name="Text 45">
              <a:extLst>
                <a:ext uri="{FF2B5EF4-FFF2-40B4-BE49-F238E27FC236}">
                  <a16:creationId xmlns:a16="http://schemas.microsoft.com/office/drawing/2014/main" id="{96E81271-0327-AA0C-C67A-98255463696E}"/>
                </a:ext>
              </a:extLst>
            </p:cNvPr>
            <p:cNvSpPr/>
            <p:nvPr/>
          </p:nvSpPr>
          <p:spPr>
            <a:xfrm>
              <a:off x="3368581" y="3276601"/>
              <a:ext cx="1325871" cy="352970"/>
            </a:xfrm>
            <a:prstGeom prst="rect">
              <a:avLst/>
            </a:prstGeom>
            <a:grpFill/>
            <a:ln/>
          </p:spPr>
          <p:txBody>
            <a:bodyPr wrap="square" lIns="25400" tIns="25400" rIns="25400" bIns="25400" rtlCol="0" anchor="t">
              <a:noAutofit/>
            </a:bodyPr>
            <a:lstStyle/>
            <a:p>
              <a:pPr algn="r"/>
              <a:r>
                <a:rPr lang="en-US" sz="1100" b="1" dirty="0">
                  <a:solidFill>
                    <a:schemeClr val="bg1"/>
                  </a:solidFill>
                  <a:latin typeface="Georgia" panose="02040502050405020303" pitchFamily="18" charset="0"/>
                </a:rPr>
                <a:t>Total production</a:t>
              </a:r>
            </a:p>
          </p:txBody>
        </p:sp>
        <p:sp>
          <p:nvSpPr>
            <p:cNvPr id="25" name="Text 46">
              <a:extLst>
                <a:ext uri="{FF2B5EF4-FFF2-40B4-BE49-F238E27FC236}">
                  <a16:creationId xmlns:a16="http://schemas.microsoft.com/office/drawing/2014/main" id="{695264D8-BB49-4C20-EF0C-AB98ECF8CC90}"/>
                </a:ext>
              </a:extLst>
            </p:cNvPr>
            <p:cNvSpPr/>
            <p:nvPr/>
          </p:nvSpPr>
          <p:spPr>
            <a:xfrm>
              <a:off x="3305816" y="3656944"/>
              <a:ext cx="1306821" cy="362564"/>
            </a:xfrm>
            <a:prstGeom prst="rect">
              <a:avLst/>
            </a:prstGeom>
            <a:grpFill/>
            <a:ln/>
          </p:spPr>
          <p:txBody>
            <a:bodyPr wrap="square" lIns="25400" tIns="25400" rIns="25400" bIns="25400" rtlCol="0" anchor="t">
              <a:noAutofit/>
            </a:bodyPr>
            <a:lstStyle/>
            <a:p>
              <a:pPr algn="r"/>
              <a:r>
                <a:rPr lang="en-US" sz="1100" b="1" dirty="0">
                  <a:solidFill>
                    <a:schemeClr val="bg1"/>
                  </a:solidFill>
                  <a:latin typeface="Georgia" panose="02040502050405020303" pitchFamily="18" charset="0"/>
                  <a:ea typeface="Fraunces" pitchFamily="34" charset="-122"/>
                  <a:cs typeface="Fraunces" pitchFamily="34" charset="-120"/>
                </a:rPr>
                <a:t>40,84,375 </a:t>
              </a:r>
              <a:r>
                <a:rPr lang="en-US" sz="1100" dirty="0">
                  <a:solidFill>
                    <a:schemeClr val="bg1"/>
                  </a:solidFill>
                  <a:latin typeface="Georgia" panose="02040502050405020303" pitchFamily="18" charset="0"/>
                  <a:ea typeface="Fraunces" pitchFamily="34" charset="-122"/>
                  <a:cs typeface="Fraunces" pitchFamily="34" charset="-120"/>
                </a:rPr>
                <a:t>MT</a:t>
              </a:r>
              <a:endParaRPr lang="en-US" sz="1100" dirty="0">
                <a:solidFill>
                  <a:schemeClr val="bg1"/>
                </a:solidFill>
                <a:latin typeface="Georgia" panose="02040502050405020303" pitchFamily="18" charset="0"/>
              </a:endParaRPr>
            </a:p>
          </p:txBody>
        </p:sp>
      </p:grpSp>
      <p:sp>
        <p:nvSpPr>
          <p:cNvPr id="5" name="TextBox 4">
            <a:extLst>
              <a:ext uri="{FF2B5EF4-FFF2-40B4-BE49-F238E27FC236}">
                <a16:creationId xmlns:a16="http://schemas.microsoft.com/office/drawing/2014/main" id="{5DC2A184-88F4-8C59-2890-81270288C7B3}"/>
              </a:ext>
            </a:extLst>
          </p:cNvPr>
          <p:cNvSpPr txBox="1"/>
          <p:nvPr/>
        </p:nvSpPr>
        <p:spPr>
          <a:xfrm>
            <a:off x="6400800" y="5873404"/>
            <a:ext cx="4953000" cy="338554"/>
          </a:xfrm>
          <a:prstGeom prst="rect">
            <a:avLst/>
          </a:prstGeom>
          <a:noFill/>
        </p:spPr>
        <p:txBody>
          <a:bodyPr wrap="square" rtlCol="0">
            <a:spAutoFit/>
          </a:bodyPr>
          <a:lstStyle/>
          <a:p>
            <a:pPr marL="228600" indent="-228600">
              <a:buFont typeface="Arial" panose="020B0604020202020204" pitchFamily="34" charset="0"/>
              <a:buChar char="•"/>
            </a:pPr>
            <a:r>
              <a:rPr lang="en-IN" sz="800" i="1" dirty="0">
                <a:latin typeface="Georgia" panose="02040502050405020303" pitchFamily="18" charset="0"/>
              </a:rPr>
              <a:t>Department of agriculture – Seed production </a:t>
            </a:r>
            <a:r>
              <a:rPr lang="en-IN" sz="800" i="1" dirty="0" err="1">
                <a:latin typeface="Georgia" panose="02040502050405020303" pitchFamily="18" charset="0"/>
              </a:rPr>
              <a:t>centers</a:t>
            </a:r>
            <a:r>
              <a:rPr lang="en-IN" sz="800" i="1" dirty="0">
                <a:latin typeface="Georgia" panose="02040502050405020303" pitchFamily="18" charset="0"/>
              </a:rPr>
              <a:t>, Agricultural training </a:t>
            </a:r>
            <a:r>
              <a:rPr lang="en-IN" sz="800" i="1" dirty="0" err="1">
                <a:latin typeface="Georgia" panose="02040502050405020303" pitchFamily="18" charset="0"/>
              </a:rPr>
              <a:t>centers</a:t>
            </a:r>
            <a:endParaRPr lang="en-IN" sz="800" i="1" dirty="0">
              <a:latin typeface="Georgia" panose="02040502050405020303" pitchFamily="18" charset="0"/>
            </a:endParaRPr>
          </a:p>
          <a:p>
            <a:pPr marL="228600" indent="-228600">
              <a:buFont typeface="Arial" panose="020B0604020202020204" pitchFamily="34" charset="0"/>
              <a:buChar char="•"/>
            </a:pPr>
            <a:r>
              <a:rPr lang="en-IN" sz="800" i="1" dirty="0">
                <a:latin typeface="Georgia" panose="02040502050405020303" pitchFamily="18" charset="0"/>
              </a:rPr>
              <a:t>KSRLPS - SHGs</a:t>
            </a:r>
          </a:p>
        </p:txBody>
      </p:sp>
      <p:sp>
        <p:nvSpPr>
          <p:cNvPr id="6" name="Rectangle 5">
            <a:extLst>
              <a:ext uri="{FF2B5EF4-FFF2-40B4-BE49-F238E27FC236}">
                <a16:creationId xmlns:a16="http://schemas.microsoft.com/office/drawing/2014/main" id="{D6854C12-06CD-8882-D78A-6F9B499C9A8E}"/>
              </a:ext>
            </a:extLst>
          </p:cNvPr>
          <p:cNvSpPr/>
          <p:nvPr/>
        </p:nvSpPr>
        <p:spPr>
          <a:xfrm>
            <a:off x="640284" y="5633355"/>
            <a:ext cx="11196500" cy="576072"/>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00" dirty="0">
              <a:latin typeface="Georgia" panose="02040502050405020303" pitchFamily="18" charset="0"/>
            </a:endParaRPr>
          </a:p>
        </p:txBody>
      </p:sp>
      <p:sp>
        <p:nvSpPr>
          <p:cNvPr id="4" name="Shape 41">
            <a:extLst>
              <a:ext uri="{FF2B5EF4-FFF2-40B4-BE49-F238E27FC236}">
                <a16:creationId xmlns:a16="http://schemas.microsoft.com/office/drawing/2014/main" id="{AABFDFEB-14FF-422A-D50B-B5440E03DCAA}"/>
              </a:ext>
            </a:extLst>
          </p:cNvPr>
          <p:cNvSpPr/>
          <p:nvPr/>
        </p:nvSpPr>
        <p:spPr>
          <a:xfrm>
            <a:off x="5409020" y="4066044"/>
            <a:ext cx="4478287" cy="407388"/>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9" name="Text 42">
            <a:extLst>
              <a:ext uri="{FF2B5EF4-FFF2-40B4-BE49-F238E27FC236}">
                <a16:creationId xmlns:a16="http://schemas.microsoft.com/office/drawing/2014/main" id="{52888D6D-D675-180D-D512-851CD39ADE3D}"/>
              </a:ext>
            </a:extLst>
          </p:cNvPr>
          <p:cNvSpPr/>
          <p:nvPr/>
        </p:nvSpPr>
        <p:spPr>
          <a:xfrm>
            <a:off x="5486402" y="4142898"/>
            <a:ext cx="3769226" cy="233672"/>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Other infrastructure available</a:t>
            </a:r>
          </a:p>
        </p:txBody>
      </p:sp>
      <p:pic>
        <p:nvPicPr>
          <p:cNvPr id="8" name="Picture 7">
            <a:extLst>
              <a:ext uri="{FF2B5EF4-FFF2-40B4-BE49-F238E27FC236}">
                <a16:creationId xmlns:a16="http://schemas.microsoft.com/office/drawing/2014/main" id="{A2ACDB97-F6C8-E663-BE6E-D42782575B6E}"/>
              </a:ext>
            </a:extLst>
          </p:cNvPr>
          <p:cNvPicPr>
            <a:picLocks noChangeAspect="1"/>
          </p:cNvPicPr>
          <p:nvPr/>
        </p:nvPicPr>
        <p:blipFill>
          <a:blip r:embed="rId4" cstate="print">
            <a:extLst>
              <a:ext uri="{28A0092B-C50C-407E-A947-70E740481C1C}">
                <a14:useLocalDpi xmlns:a14="http://schemas.microsoft.com/office/drawing/2010/main" val="0"/>
              </a:ext>
            </a:extLst>
          </a:blip>
          <a:srcRect t="4377" b="6971"/>
          <a:stretch>
            <a:fillRect/>
          </a:stretch>
        </p:blipFill>
        <p:spPr>
          <a:xfrm>
            <a:off x="10872564" y="167820"/>
            <a:ext cx="1133564" cy="1246801"/>
          </a:xfrm>
          <a:prstGeom prst="rect">
            <a:avLst/>
          </a:prstGeom>
        </p:spPr>
      </p:pic>
      <p:pic>
        <p:nvPicPr>
          <p:cNvPr id="15" name="Picture 14">
            <a:extLst>
              <a:ext uri="{FF2B5EF4-FFF2-40B4-BE49-F238E27FC236}">
                <a16:creationId xmlns:a16="http://schemas.microsoft.com/office/drawing/2014/main" id="{1ED81C35-54A2-C590-8DE4-0ACEF44595DE}"/>
              </a:ext>
            </a:extLst>
          </p:cNvPr>
          <p:cNvPicPr>
            <a:picLocks noChangeAspect="1"/>
          </p:cNvPicPr>
          <p:nvPr/>
        </p:nvPicPr>
        <p:blipFill>
          <a:blip r:embed="rId5"/>
          <a:stretch>
            <a:fillRect/>
          </a:stretch>
        </p:blipFill>
        <p:spPr>
          <a:xfrm>
            <a:off x="183672" y="6227327"/>
            <a:ext cx="11899133" cy="666227"/>
          </a:xfrm>
          <a:prstGeom prst="rect">
            <a:avLst/>
          </a:prstGeom>
        </p:spPr>
      </p:pic>
    </p:spTree>
    <p:extLst>
      <p:ext uri="{BB962C8B-B14F-4D97-AF65-F5344CB8AC3E}">
        <p14:creationId xmlns:p14="http://schemas.microsoft.com/office/powerpoint/2010/main" val="31476570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B3F5F-A242-87FF-F76D-3AE6D5DFCF7E}"/>
            </a:ext>
          </a:extLst>
        </p:cNvPr>
        <p:cNvGrpSpPr/>
        <p:nvPr/>
      </p:nvGrpSpPr>
      <p:grpSpPr>
        <a:xfrm>
          <a:off x="0" y="0"/>
          <a:ext cx="0" cy="0"/>
          <a:chOff x="0" y="0"/>
          <a:chExt cx="0" cy="0"/>
        </a:xfrm>
      </p:grpSpPr>
      <p:grpSp>
        <p:nvGrpSpPr>
          <p:cNvPr id="288" name="Group 287">
            <a:extLst>
              <a:ext uri="{FF2B5EF4-FFF2-40B4-BE49-F238E27FC236}">
                <a16:creationId xmlns:a16="http://schemas.microsoft.com/office/drawing/2014/main" id="{524A010C-F001-8A45-7F59-FC937E614328}"/>
              </a:ext>
            </a:extLst>
          </p:cNvPr>
          <p:cNvGrpSpPr/>
          <p:nvPr/>
        </p:nvGrpSpPr>
        <p:grpSpPr>
          <a:xfrm>
            <a:off x="5362569" y="1151209"/>
            <a:ext cx="4478287" cy="1739716"/>
            <a:chOff x="5362567" y="1151208"/>
            <a:chExt cx="4478287" cy="1706039"/>
          </a:xfrm>
        </p:grpSpPr>
        <p:grpSp>
          <p:nvGrpSpPr>
            <p:cNvPr id="245" name="Group 244">
              <a:extLst>
                <a:ext uri="{FF2B5EF4-FFF2-40B4-BE49-F238E27FC236}">
                  <a16:creationId xmlns:a16="http://schemas.microsoft.com/office/drawing/2014/main" id="{00B9D5A8-E5BC-DF7A-D400-A577E0517AFE}"/>
                </a:ext>
              </a:extLst>
            </p:cNvPr>
            <p:cNvGrpSpPr/>
            <p:nvPr/>
          </p:nvGrpSpPr>
          <p:grpSpPr>
            <a:xfrm>
              <a:off x="5362567" y="1151208"/>
              <a:ext cx="4478287" cy="1706039"/>
              <a:chOff x="5362567" y="1151208"/>
              <a:chExt cx="4478287" cy="1706039"/>
            </a:xfrm>
          </p:grpSpPr>
          <p:grpSp>
            <p:nvGrpSpPr>
              <p:cNvPr id="56" name="Group 55">
                <a:extLst>
                  <a:ext uri="{FF2B5EF4-FFF2-40B4-BE49-F238E27FC236}">
                    <a16:creationId xmlns:a16="http://schemas.microsoft.com/office/drawing/2014/main" id="{BBB2ADCD-CFB8-16B7-8AD3-F3C975B3FD78}"/>
                  </a:ext>
                </a:extLst>
              </p:cNvPr>
              <p:cNvGrpSpPr/>
              <p:nvPr/>
            </p:nvGrpSpPr>
            <p:grpSpPr>
              <a:xfrm>
                <a:off x="5362567" y="1651327"/>
                <a:ext cx="3171105" cy="1205920"/>
                <a:chOff x="5562601" y="1159491"/>
                <a:chExt cx="5186781" cy="1821490"/>
              </a:xfrm>
            </p:grpSpPr>
            <p:sp>
              <p:nvSpPr>
                <p:cNvPr id="30" name="Text 63">
                  <a:extLst>
                    <a:ext uri="{FF2B5EF4-FFF2-40B4-BE49-F238E27FC236}">
                      <a16:creationId xmlns:a16="http://schemas.microsoft.com/office/drawing/2014/main" id="{5102C6C2-C743-4C36-AB34-D59ABDAC34FA}"/>
                    </a:ext>
                  </a:extLst>
                </p:cNvPr>
                <p:cNvSpPr/>
                <p:nvPr/>
              </p:nvSpPr>
              <p:spPr>
                <a:xfrm>
                  <a:off x="5911025" y="2807908"/>
                  <a:ext cx="912114" cy="173073"/>
                </a:xfrm>
                <a:prstGeom prst="rect">
                  <a:avLst/>
                </a:prstGeom>
                <a:noFill/>
                <a:ln/>
              </p:spPr>
              <p:txBody>
                <a:bodyPr wrap="square" lIns="25400" tIns="25400" rIns="25400" bIns="25400" rtlCol="0" anchor="t">
                  <a:normAutofit fontScale="25000" lnSpcReduction="20000"/>
                </a:bodyPr>
                <a:lstStyle/>
                <a:p>
                  <a:endParaRPr lang="en-US" dirty="0">
                    <a:latin typeface="Georgia" panose="02040502050405020303" pitchFamily="18" charset="0"/>
                  </a:endParaRPr>
                </a:p>
              </p:txBody>
            </p:sp>
            <p:grpSp>
              <p:nvGrpSpPr>
                <p:cNvPr id="38" name="Group 37">
                  <a:extLst>
                    <a:ext uri="{FF2B5EF4-FFF2-40B4-BE49-F238E27FC236}">
                      <a16:creationId xmlns:a16="http://schemas.microsoft.com/office/drawing/2014/main" id="{8041B0D7-8889-2783-5A15-BD7786F338D9}"/>
                    </a:ext>
                  </a:extLst>
                </p:cNvPr>
                <p:cNvGrpSpPr/>
                <p:nvPr/>
              </p:nvGrpSpPr>
              <p:grpSpPr>
                <a:xfrm>
                  <a:off x="5562601" y="1159493"/>
                  <a:ext cx="2483380" cy="1215734"/>
                  <a:chOff x="9970175" y="6791328"/>
                  <a:chExt cx="3653399" cy="2194560"/>
                </a:xfrm>
              </p:grpSpPr>
              <p:sp>
                <p:nvSpPr>
                  <p:cNvPr id="39" name="Shape 61">
                    <a:extLst>
                      <a:ext uri="{FF2B5EF4-FFF2-40B4-BE49-F238E27FC236}">
                        <a16:creationId xmlns:a16="http://schemas.microsoft.com/office/drawing/2014/main" id="{1F2ADEFF-5792-EF41-988F-8687557BCABC}"/>
                      </a:ext>
                    </a:extLst>
                  </p:cNvPr>
                  <p:cNvSpPr/>
                  <p:nvPr/>
                </p:nvSpPr>
                <p:spPr>
                  <a:xfrm>
                    <a:off x="9970175" y="6791328"/>
                    <a:ext cx="3644503"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2" name="Text 64">
                    <a:extLst>
                      <a:ext uri="{FF2B5EF4-FFF2-40B4-BE49-F238E27FC236}">
                        <a16:creationId xmlns:a16="http://schemas.microsoft.com/office/drawing/2014/main" id="{F18A5901-DD12-12EE-53B7-EBD543AEF679}"/>
                      </a:ext>
                    </a:extLst>
                  </p:cNvPr>
                  <p:cNvSpPr/>
                  <p:nvPr/>
                </p:nvSpPr>
                <p:spPr>
                  <a:xfrm>
                    <a:off x="10025634" y="6852621"/>
                    <a:ext cx="3597940" cy="1635905"/>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6269MT capacity</a:t>
                    </a:r>
                  </a:p>
                  <a:p>
                    <a:r>
                      <a:rPr lang="en-US" sz="900" b="1" dirty="0">
                        <a:solidFill>
                          <a:srgbClr val="14342B"/>
                        </a:solidFill>
                        <a:latin typeface="Georgia" panose="02040502050405020303" pitchFamily="18" charset="0"/>
                        <a:ea typeface="Inter" pitchFamily="34" charset="-122"/>
                      </a:rPr>
                      <a:t>Cold storage units</a:t>
                    </a:r>
                  </a:p>
                  <a:p>
                    <a:r>
                      <a:rPr lang="en-US" sz="700" b="1" i="1" dirty="0">
                        <a:solidFill>
                          <a:srgbClr val="14342B"/>
                        </a:solidFill>
                        <a:latin typeface="Georgia" panose="02040502050405020303" pitchFamily="18" charset="0"/>
                        <a:ea typeface="Inter" pitchFamily="34" charset="-122"/>
                      </a:rPr>
                      <a:t>Key crops: Mango, Onion, Grapes, Pomegranate</a:t>
                    </a:r>
                  </a:p>
                </p:txBody>
              </p:sp>
            </p:grpSp>
            <p:sp>
              <p:nvSpPr>
                <p:cNvPr id="45" name="Shape 61">
                  <a:extLst>
                    <a:ext uri="{FF2B5EF4-FFF2-40B4-BE49-F238E27FC236}">
                      <a16:creationId xmlns:a16="http://schemas.microsoft.com/office/drawing/2014/main" id="{CBA2C6E0-C29A-509A-7D9C-CBFD5D36B237}"/>
                    </a:ext>
                  </a:extLst>
                </p:cNvPr>
                <p:cNvSpPr/>
                <p:nvPr/>
              </p:nvSpPr>
              <p:spPr>
                <a:xfrm>
                  <a:off x="8272049" y="1159491"/>
                  <a:ext cx="2477333" cy="121573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grpSp>
          <p:sp>
            <p:nvSpPr>
              <p:cNvPr id="212" name="Shape 41">
                <a:extLst>
                  <a:ext uri="{FF2B5EF4-FFF2-40B4-BE49-F238E27FC236}">
                    <a16:creationId xmlns:a16="http://schemas.microsoft.com/office/drawing/2014/main" id="{98599EEB-7AED-289C-8F8C-70FAE2CFEBD3}"/>
                  </a:ext>
                </a:extLst>
              </p:cNvPr>
              <p:cNvSpPr/>
              <p:nvPr/>
            </p:nvSpPr>
            <p:spPr>
              <a:xfrm>
                <a:off x="5362567" y="1151208"/>
                <a:ext cx="4478287" cy="407557"/>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grpSp>
        <p:sp>
          <p:nvSpPr>
            <p:cNvPr id="213" name="Text 42">
              <a:extLst>
                <a:ext uri="{FF2B5EF4-FFF2-40B4-BE49-F238E27FC236}">
                  <a16:creationId xmlns:a16="http://schemas.microsoft.com/office/drawing/2014/main" id="{6BAFF3C9-2AD2-0BBC-4357-FC3F808A077F}"/>
                </a:ext>
              </a:extLst>
            </p:cNvPr>
            <p:cNvSpPr/>
            <p:nvPr/>
          </p:nvSpPr>
          <p:spPr>
            <a:xfrm>
              <a:off x="5486400" y="1228284"/>
              <a:ext cx="3769226" cy="233769"/>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Crop-specific ecosystem (seven key crops)</a:t>
              </a:r>
            </a:p>
          </p:txBody>
        </p:sp>
        <p:sp>
          <p:nvSpPr>
            <p:cNvPr id="219" name="Text 65">
              <a:extLst>
                <a:ext uri="{FF2B5EF4-FFF2-40B4-BE49-F238E27FC236}">
                  <a16:creationId xmlns:a16="http://schemas.microsoft.com/office/drawing/2014/main" id="{58360F58-6848-A8F6-E649-4143EFB04C87}"/>
                </a:ext>
              </a:extLst>
            </p:cNvPr>
            <p:cNvSpPr/>
            <p:nvPr/>
          </p:nvSpPr>
          <p:spPr>
            <a:xfrm>
              <a:off x="5486400" y="2219625"/>
              <a:ext cx="1447800" cy="77229"/>
            </a:xfrm>
            <a:prstGeom prst="rect">
              <a:avLst/>
            </a:prstGeom>
            <a:noFill/>
            <a:ln/>
          </p:spPr>
          <p:txBody>
            <a:bodyPr wrap="square" lIns="25400" tIns="25400" rIns="25400" bIns="25400" rtlCol="0" anchor="t">
              <a:noAutofit/>
            </a:bodyPr>
            <a:lstStyle/>
            <a:p>
              <a:endParaRPr lang="en-US" sz="700" dirty="0">
                <a:solidFill>
                  <a:srgbClr val="0B6E78"/>
                </a:solidFill>
                <a:latin typeface="Georgia" panose="02040502050405020303" pitchFamily="18" charset="0"/>
                <a:ea typeface="JetBrains Mono" pitchFamily="34" charset="-122"/>
                <a:cs typeface="JetBrains Mono" pitchFamily="34" charset="-120"/>
              </a:endParaRPr>
            </a:p>
          </p:txBody>
        </p:sp>
      </p:grpSp>
      <p:sp>
        <p:nvSpPr>
          <p:cNvPr id="2" name="Title 1">
            <a:extLst>
              <a:ext uri="{FF2B5EF4-FFF2-40B4-BE49-F238E27FC236}">
                <a16:creationId xmlns:a16="http://schemas.microsoft.com/office/drawing/2014/main" id="{0AE70B0E-CCC9-3B34-6416-54F64DADDBBA}"/>
              </a:ext>
            </a:extLst>
          </p:cNvPr>
          <p:cNvSpPr>
            <a:spLocks noGrp="1"/>
          </p:cNvSpPr>
          <p:nvPr>
            <p:ph type="title"/>
          </p:nvPr>
        </p:nvSpPr>
        <p:spPr>
          <a:xfrm>
            <a:off x="640284" y="208002"/>
            <a:ext cx="10561116" cy="553998"/>
          </a:xfrm>
        </p:spPr>
        <p:txBody>
          <a:bodyPr/>
          <a:lstStyle/>
          <a:p>
            <a:r>
              <a:rPr lang="en-US" sz="2400" dirty="0">
                <a:solidFill>
                  <a:schemeClr val="bg1"/>
                </a:solidFill>
                <a:latin typeface="Georgia" panose="02040502050405020303" pitchFamily="18" charset="0"/>
              </a:rPr>
              <a:t>Central Karnataka Onion-Pomegranate cluster</a:t>
            </a:r>
            <a:br>
              <a:rPr lang="en-US" sz="2400" dirty="0">
                <a:solidFill>
                  <a:schemeClr val="bg1"/>
                </a:solidFill>
                <a:latin typeface="Georgia" panose="02040502050405020303" pitchFamily="18" charset="0"/>
              </a:rPr>
            </a:br>
            <a:r>
              <a:rPr lang="en-US" sz="1200" i="1" dirty="0">
                <a:solidFill>
                  <a:schemeClr val="bg1"/>
                </a:solidFill>
                <a:latin typeface="Georgia" panose="02040502050405020303" pitchFamily="18" charset="0"/>
              </a:rPr>
              <a:t>(</a:t>
            </a:r>
            <a:r>
              <a:rPr lang="it-IT" sz="1200" i="1" dirty="0">
                <a:solidFill>
                  <a:schemeClr val="bg1"/>
                </a:solidFill>
                <a:latin typeface="Georgia" panose="02040502050405020303" pitchFamily="18" charset="0"/>
              </a:rPr>
              <a:t>Chitradurga, Davanagere, Koppal, Ballari, Vijayanagara)</a:t>
            </a:r>
            <a:endParaRPr lang="en-IN" sz="1200" i="1" dirty="0">
              <a:solidFill>
                <a:schemeClr val="bg1"/>
              </a:solidFill>
              <a:latin typeface="Georgia" panose="02040502050405020303" pitchFamily="18" charset="0"/>
            </a:endParaRPr>
          </a:p>
        </p:txBody>
      </p:sp>
      <p:sp>
        <p:nvSpPr>
          <p:cNvPr id="3" name="Slide Number Placeholder 2">
            <a:extLst>
              <a:ext uri="{FF2B5EF4-FFF2-40B4-BE49-F238E27FC236}">
                <a16:creationId xmlns:a16="http://schemas.microsoft.com/office/drawing/2014/main" id="{C9A6DC4F-62BF-D523-8628-329530CB4119}"/>
              </a:ext>
            </a:extLst>
          </p:cNvPr>
          <p:cNvSpPr>
            <a:spLocks noGrp="1"/>
          </p:cNvSpPr>
          <p:nvPr>
            <p:ph type="sldNum" sz="quarter" idx="7"/>
          </p:nvPr>
        </p:nvSpPr>
        <p:spPr>
          <a:xfrm>
            <a:off x="779630" y="6440648"/>
            <a:ext cx="383540" cy="115416"/>
          </a:xfrm>
        </p:spPr>
        <p:txBody>
          <a:bodyPr/>
          <a:lstStyle/>
          <a:p>
            <a:pPr marL="12700">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33</a:t>
            </a:fld>
            <a:endParaRPr dirty="0">
              <a:latin typeface="Georgia" panose="02040502050405020303" pitchFamily="18" charset="0"/>
            </a:endParaRPr>
          </a:p>
        </p:txBody>
      </p:sp>
      <p:graphicFrame>
        <p:nvGraphicFramePr>
          <p:cNvPr id="21" name="Table 20">
            <a:extLst>
              <a:ext uri="{FF2B5EF4-FFF2-40B4-BE49-F238E27FC236}">
                <a16:creationId xmlns:a16="http://schemas.microsoft.com/office/drawing/2014/main" id="{38A455A3-83DA-C187-10D9-6D9F88B55D89}"/>
              </a:ext>
            </a:extLst>
          </p:cNvPr>
          <p:cNvGraphicFramePr>
            <a:graphicFrameLocks noGrp="1"/>
          </p:cNvGraphicFramePr>
          <p:nvPr>
            <p:extLst>
              <p:ext uri="{D42A27DB-BD31-4B8C-83A1-F6EECF244321}">
                <p14:modId xmlns:p14="http://schemas.microsoft.com/office/powerpoint/2010/main" val="365000261"/>
              </p:ext>
            </p:extLst>
          </p:nvPr>
        </p:nvGraphicFramePr>
        <p:xfrm>
          <a:off x="656800" y="3962400"/>
          <a:ext cx="4648103" cy="1586434"/>
        </p:xfrm>
        <a:graphic>
          <a:graphicData uri="http://schemas.openxmlformats.org/drawingml/2006/table">
            <a:tbl>
              <a:tblPr firstRow="1" bandRow="1">
                <a:tableStyleId>{21E4AEA4-8DFA-4A89-87EB-49C32662AFE0}</a:tableStyleId>
              </a:tblPr>
              <a:tblGrid>
                <a:gridCol w="4648103">
                  <a:extLst>
                    <a:ext uri="{9D8B030D-6E8A-4147-A177-3AD203B41FA5}">
                      <a16:colId xmlns:a16="http://schemas.microsoft.com/office/drawing/2014/main" val="3341958433"/>
                    </a:ext>
                  </a:extLst>
                </a:gridCol>
              </a:tblGrid>
              <a:tr h="211389">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dirty="0">
                          <a:latin typeface="Georgia" panose="02040502050405020303" pitchFamily="18" charset="0"/>
                        </a:rPr>
                        <a:t>Major reasons for crop-loss across districts</a:t>
                      </a:r>
                    </a:p>
                  </a:txBody>
                  <a:tcPr marL="67006" marR="67006" marT="33504" marB="33504">
                    <a:solidFill>
                      <a:srgbClr val="0B6E78"/>
                    </a:solidFill>
                  </a:tcPr>
                </a:tc>
                <a:extLst>
                  <a:ext uri="{0D108BD9-81ED-4DB2-BD59-A6C34878D82A}">
                    <a16:rowId xmlns:a16="http://schemas.microsoft.com/office/drawing/2014/main" val="2643714482"/>
                  </a:ext>
                </a:extLst>
              </a:tr>
              <a:tr h="1367026">
                <a:tc>
                  <a:txBody>
                    <a:bodyPr/>
                    <a:lstStyle/>
                    <a:p>
                      <a:pPr marL="0" marR="0" lvl="0" indent="0" algn="l"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dirty="0">
                          <a:effectLst/>
                          <a:latin typeface="Georgia" panose="02040502050405020303" pitchFamily="18" charset="0"/>
                        </a:rPr>
                        <a:t>Onion (</a:t>
                      </a:r>
                      <a:r>
                        <a:rPr lang="en-IN" sz="1100" b="1" dirty="0" err="1">
                          <a:effectLst/>
                          <a:latin typeface="Georgia" panose="02040502050405020303" pitchFamily="18" charset="0"/>
                        </a:rPr>
                        <a:t>Chitradurga</a:t>
                      </a:r>
                      <a:r>
                        <a:rPr lang="en-IN" sz="1100" b="1" dirty="0">
                          <a:effectLst/>
                          <a:latin typeface="Georgia" panose="02040502050405020303" pitchFamily="18" charset="0"/>
                        </a:rPr>
                        <a:t>):</a:t>
                      </a:r>
                      <a:r>
                        <a:rPr lang="en-IN" sz="1100" dirty="0">
                          <a:latin typeface="Georgia" panose="02040502050405020303" pitchFamily="18" charset="0"/>
                        </a:rPr>
                        <a:t> Improper curing, lack of storage facilities, prolonged storage due to market price fluctuation</a:t>
                      </a:r>
                    </a:p>
                    <a:p>
                      <a:pPr marL="0" marR="0" lvl="0" indent="0" algn="l"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dirty="0">
                          <a:effectLst/>
                          <a:latin typeface="Georgia" panose="02040502050405020303" pitchFamily="18" charset="0"/>
                        </a:rPr>
                        <a:t>Pomegranate (</a:t>
                      </a:r>
                      <a:r>
                        <a:rPr lang="en-IN" sz="1100" b="1" dirty="0" err="1">
                          <a:effectLst/>
                          <a:latin typeface="Georgia" panose="02040502050405020303" pitchFamily="18" charset="0"/>
                        </a:rPr>
                        <a:t>Chitradurga</a:t>
                      </a:r>
                      <a:r>
                        <a:rPr lang="en-IN" sz="1100" b="1" dirty="0">
                          <a:effectLst/>
                          <a:latin typeface="Georgia" panose="02040502050405020303" pitchFamily="18" charset="0"/>
                        </a:rPr>
                        <a:t>):</a:t>
                      </a:r>
                      <a:r>
                        <a:rPr lang="en-IN" sz="1100" dirty="0">
                          <a:latin typeface="Georgia" panose="02040502050405020303" pitchFamily="18" charset="0"/>
                        </a:rPr>
                        <a:t> Sun scorching, bacterial blight, fruit cracking, poor handling during transport</a:t>
                      </a:r>
                    </a:p>
                    <a:p>
                      <a:pPr marL="0" marR="0" lvl="0" indent="0" algn="l"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dirty="0">
                          <a:effectLst/>
                          <a:latin typeface="Georgia" panose="02040502050405020303" pitchFamily="18" charset="0"/>
                        </a:rPr>
                        <a:t>Banana (</a:t>
                      </a:r>
                      <a:r>
                        <a:rPr lang="en-IN" sz="1100" b="1" dirty="0" err="1">
                          <a:effectLst/>
                          <a:latin typeface="Georgia" panose="02040502050405020303" pitchFamily="18" charset="0"/>
                        </a:rPr>
                        <a:t>Chitradurga</a:t>
                      </a:r>
                      <a:r>
                        <a:rPr lang="en-IN" sz="1100" b="1" dirty="0">
                          <a:effectLst/>
                          <a:latin typeface="Georgia" panose="02040502050405020303" pitchFamily="18" charset="0"/>
                        </a:rPr>
                        <a:t>, Ballari):</a:t>
                      </a:r>
                      <a:r>
                        <a:rPr lang="en-IN" sz="1100" dirty="0">
                          <a:latin typeface="Georgia" panose="02040502050405020303" pitchFamily="18" charset="0"/>
                        </a:rPr>
                        <a:t> Sun scorching, lack of bunch covering, bruising during harvest, lack of pre-cooling</a:t>
                      </a:r>
                      <a:endParaRPr lang="en-US" sz="1100" dirty="0">
                        <a:latin typeface="Georgia" panose="02040502050405020303" pitchFamily="18" charset="0"/>
                      </a:endParaRPr>
                    </a:p>
                  </a:txBody>
                  <a:tcPr marL="67006" marR="67006" marT="33504" marB="33504">
                    <a:solidFill>
                      <a:schemeClr val="accent5">
                        <a:lumMod val="20000"/>
                        <a:lumOff val="80000"/>
                      </a:schemeClr>
                    </a:solidFill>
                  </a:tcPr>
                </a:tc>
                <a:extLst>
                  <a:ext uri="{0D108BD9-81ED-4DB2-BD59-A6C34878D82A}">
                    <a16:rowId xmlns:a16="http://schemas.microsoft.com/office/drawing/2014/main" val="2831645102"/>
                  </a:ext>
                </a:extLst>
              </a:tr>
            </a:tbl>
          </a:graphicData>
        </a:graphic>
      </p:graphicFrame>
      <p:sp>
        <p:nvSpPr>
          <p:cNvPr id="16" name="TextBox 15">
            <a:extLst>
              <a:ext uri="{FF2B5EF4-FFF2-40B4-BE49-F238E27FC236}">
                <a16:creationId xmlns:a16="http://schemas.microsoft.com/office/drawing/2014/main" id="{67D1D694-3F30-CD16-909A-06050437578F}"/>
              </a:ext>
            </a:extLst>
          </p:cNvPr>
          <p:cNvSpPr txBox="1"/>
          <p:nvPr/>
        </p:nvSpPr>
        <p:spPr>
          <a:xfrm>
            <a:off x="607208" y="5562600"/>
            <a:ext cx="6446155" cy="630942"/>
          </a:xfrm>
          <a:prstGeom prst="rect">
            <a:avLst/>
          </a:prstGeom>
          <a:noFill/>
        </p:spPr>
        <p:txBody>
          <a:bodyPr wrap="square" rtlCol="0">
            <a:spAutoFit/>
          </a:bodyPr>
          <a:lstStyle/>
          <a:p>
            <a:r>
              <a:rPr lang="en-US" sz="800" i="1" dirty="0">
                <a:latin typeface="Georgia" panose="02040502050405020303" pitchFamily="18" charset="0"/>
              </a:rPr>
              <a:t>Sources: As per the internal data shared by the following departments under Government of Karnataka, as of March 2026:</a:t>
            </a:r>
          </a:p>
          <a:p>
            <a:endParaRPr lang="en-US" sz="300" i="1" dirty="0">
              <a:latin typeface="Georgia" panose="02040502050405020303" pitchFamily="18" charset="0"/>
            </a:endParaRPr>
          </a:p>
          <a:p>
            <a:pPr marL="228600" indent="-228600">
              <a:buFont typeface="Arial" panose="020B0604020202020204" pitchFamily="34" charset="0"/>
              <a:buChar char="•"/>
            </a:pPr>
            <a:r>
              <a:rPr lang="en-IN" sz="800" i="1" dirty="0">
                <a:latin typeface="Georgia" panose="02040502050405020303" pitchFamily="18" charset="0"/>
              </a:rPr>
              <a:t>KAPPEC – Processing infrastructure</a:t>
            </a:r>
          </a:p>
          <a:p>
            <a:pPr marL="228600" indent="-228600">
              <a:buFont typeface="Arial" panose="020B0604020202020204" pitchFamily="34" charset="0"/>
              <a:buChar char="•"/>
            </a:pPr>
            <a:r>
              <a:rPr lang="en-IN" sz="800" i="1" dirty="0">
                <a:latin typeface="Georgia" panose="02040502050405020303" pitchFamily="18" charset="0"/>
              </a:rPr>
              <a:t>Directorate of horticulture – Cold storage infrastructure, Horticulture farms/nurseries, Horticulture department FPOs</a:t>
            </a:r>
          </a:p>
          <a:p>
            <a:pPr marL="228600" indent="-228600">
              <a:buFont typeface="Arial" panose="020B0604020202020204" pitchFamily="34" charset="0"/>
              <a:buChar char="•"/>
            </a:pPr>
            <a:r>
              <a:rPr lang="en-IN" sz="800" i="1" dirty="0">
                <a:latin typeface="Georgia" panose="02040502050405020303" pitchFamily="18" charset="0"/>
              </a:rPr>
              <a:t>Watershed development department – WDD FPOs</a:t>
            </a:r>
          </a:p>
        </p:txBody>
      </p:sp>
      <p:sp>
        <p:nvSpPr>
          <p:cNvPr id="7" name="TextBox 6">
            <a:extLst>
              <a:ext uri="{FF2B5EF4-FFF2-40B4-BE49-F238E27FC236}">
                <a16:creationId xmlns:a16="http://schemas.microsoft.com/office/drawing/2014/main" id="{4B774DDC-1832-5DB9-D668-58D0FA8A45E7}"/>
              </a:ext>
            </a:extLst>
          </p:cNvPr>
          <p:cNvSpPr txBox="1"/>
          <p:nvPr/>
        </p:nvSpPr>
        <p:spPr>
          <a:xfrm>
            <a:off x="2362200" y="3170467"/>
            <a:ext cx="2998747" cy="184666"/>
          </a:xfrm>
          <a:prstGeom prst="rect">
            <a:avLst/>
          </a:prstGeom>
          <a:noFill/>
        </p:spPr>
        <p:txBody>
          <a:bodyPr wrap="square" rtlCol="0">
            <a:spAutoFit/>
          </a:bodyPr>
          <a:lstStyle/>
          <a:p>
            <a:r>
              <a:rPr lang="en-IN" sz="600" i="1" dirty="0">
                <a:latin typeface="Georgia" panose="02040502050405020303" pitchFamily="18" charset="0"/>
              </a:rPr>
              <a:t>Sources: Horticulture crop statistics of Karnataka state at a glance – 2023-24</a:t>
            </a:r>
          </a:p>
        </p:txBody>
      </p:sp>
      <p:grpSp>
        <p:nvGrpSpPr>
          <p:cNvPr id="204" name="Group 203">
            <a:extLst>
              <a:ext uri="{FF2B5EF4-FFF2-40B4-BE49-F238E27FC236}">
                <a16:creationId xmlns:a16="http://schemas.microsoft.com/office/drawing/2014/main" id="{8A70730C-5537-5301-2938-ED12858C7681}"/>
              </a:ext>
            </a:extLst>
          </p:cNvPr>
          <p:cNvGrpSpPr/>
          <p:nvPr/>
        </p:nvGrpSpPr>
        <p:grpSpPr>
          <a:xfrm>
            <a:off x="647798" y="3429000"/>
            <a:ext cx="4653243" cy="429265"/>
            <a:chOff x="689731" y="3276599"/>
            <a:chExt cx="4478287" cy="881562"/>
          </a:xfrm>
          <a:solidFill>
            <a:srgbClr val="4B4B4D"/>
          </a:solidFill>
        </p:grpSpPr>
        <p:sp>
          <p:nvSpPr>
            <p:cNvPr id="11" name="Shape 41">
              <a:extLst>
                <a:ext uri="{FF2B5EF4-FFF2-40B4-BE49-F238E27FC236}">
                  <a16:creationId xmlns:a16="http://schemas.microsoft.com/office/drawing/2014/main" id="{4F9E98E1-6733-F111-1778-858E21265047}"/>
                </a:ext>
              </a:extLst>
            </p:cNvPr>
            <p:cNvSpPr/>
            <p:nvPr/>
          </p:nvSpPr>
          <p:spPr>
            <a:xfrm>
              <a:off x="689731" y="3276601"/>
              <a:ext cx="4478287" cy="881560"/>
            </a:xfrm>
            <a:prstGeom prst="roundRect">
              <a:avLst>
                <a:gd name="adj" fmla="val 4644"/>
              </a:avLst>
            </a:prstGeom>
            <a:grpFill/>
            <a:ln/>
          </p:spPr>
          <p:txBody>
            <a:bodyPr/>
            <a:lstStyle/>
            <a:p>
              <a:pPr algn="r"/>
              <a:endParaRPr lang="en-US" sz="1100" dirty="0">
                <a:solidFill>
                  <a:schemeClr val="bg1"/>
                </a:solidFill>
                <a:latin typeface="Georgia" panose="02040502050405020303" pitchFamily="18" charset="0"/>
              </a:endParaRPr>
            </a:p>
          </p:txBody>
        </p:sp>
        <p:sp>
          <p:nvSpPr>
            <p:cNvPr id="12" name="Shape 44">
              <a:extLst>
                <a:ext uri="{FF2B5EF4-FFF2-40B4-BE49-F238E27FC236}">
                  <a16:creationId xmlns:a16="http://schemas.microsoft.com/office/drawing/2014/main" id="{16842189-B4E4-B5FF-0E15-DC16E700EB1A}"/>
                </a:ext>
              </a:extLst>
            </p:cNvPr>
            <p:cNvSpPr/>
            <p:nvPr/>
          </p:nvSpPr>
          <p:spPr>
            <a:xfrm>
              <a:off x="2885490" y="3340476"/>
              <a:ext cx="9525" cy="735330"/>
            </a:xfrm>
            <a:prstGeom prst="rect">
              <a:avLst/>
            </a:prstGeom>
            <a:grpFill/>
            <a:ln/>
          </p:spPr>
          <p:txBody>
            <a:bodyPr/>
            <a:lstStyle/>
            <a:p>
              <a:endParaRPr lang="en-IN" sz="1100">
                <a:solidFill>
                  <a:schemeClr val="bg1"/>
                </a:solidFill>
                <a:latin typeface="Georgia" panose="02040502050405020303" pitchFamily="18" charset="0"/>
              </a:endParaRPr>
            </a:p>
          </p:txBody>
        </p:sp>
        <p:sp>
          <p:nvSpPr>
            <p:cNvPr id="17" name="Text 43">
              <a:extLst>
                <a:ext uri="{FF2B5EF4-FFF2-40B4-BE49-F238E27FC236}">
                  <a16:creationId xmlns:a16="http://schemas.microsoft.com/office/drawing/2014/main" id="{65FE9576-21BF-A739-4878-4B9B4A1B8193}"/>
                </a:ext>
              </a:extLst>
            </p:cNvPr>
            <p:cNvSpPr/>
            <p:nvPr/>
          </p:nvSpPr>
          <p:spPr>
            <a:xfrm>
              <a:off x="1163171" y="3708850"/>
              <a:ext cx="1115499" cy="391574"/>
            </a:xfrm>
            <a:prstGeom prst="rect">
              <a:avLst/>
            </a:prstGeom>
            <a:grpFill/>
            <a:ln/>
          </p:spPr>
          <p:txBody>
            <a:bodyPr wrap="square" lIns="25400" tIns="25400" rIns="25400" bIns="25400" rtlCol="0" anchor="t">
              <a:normAutofit fontScale="92500" lnSpcReduction="20000"/>
            </a:bodyPr>
            <a:lstStyle/>
            <a:p>
              <a:r>
                <a:rPr lang="en-US" sz="1100" b="1" dirty="0">
                  <a:solidFill>
                    <a:schemeClr val="bg1"/>
                  </a:solidFill>
                  <a:latin typeface="Georgia" panose="02040502050405020303" pitchFamily="18" charset="0"/>
                  <a:ea typeface="Fraunces" pitchFamily="34" charset="-122"/>
                  <a:cs typeface="Fraunces" pitchFamily="34" charset="-120"/>
                </a:rPr>
                <a:t> </a:t>
              </a:r>
              <a:r>
                <a:rPr lang="en-US" sz="1200" b="1" dirty="0">
                  <a:solidFill>
                    <a:schemeClr val="bg1"/>
                  </a:solidFill>
                  <a:latin typeface="Georgia" panose="02040502050405020303" pitchFamily="18" charset="0"/>
                  <a:ea typeface="Fraunces" pitchFamily="34" charset="-122"/>
                  <a:cs typeface="Fraunces" pitchFamily="34" charset="-120"/>
                </a:rPr>
                <a:t>13,98,113</a:t>
              </a:r>
              <a:r>
                <a:rPr lang="en-US" sz="1100" b="1" dirty="0">
                  <a:solidFill>
                    <a:schemeClr val="bg1"/>
                  </a:solidFill>
                  <a:latin typeface="Georgia" panose="02040502050405020303" pitchFamily="18" charset="0"/>
                  <a:ea typeface="Fraunces" pitchFamily="34" charset="-122"/>
                  <a:cs typeface="Fraunces" pitchFamily="34" charset="-120"/>
                </a:rPr>
                <a:t> </a:t>
              </a:r>
              <a:r>
                <a:rPr lang="en-US" sz="1200" dirty="0">
                  <a:solidFill>
                    <a:schemeClr val="bg1"/>
                  </a:solidFill>
                  <a:latin typeface="Georgia" panose="02040502050405020303" pitchFamily="18" charset="0"/>
                  <a:ea typeface="Fraunces" pitchFamily="34" charset="-122"/>
                  <a:cs typeface="Fraunces" pitchFamily="34" charset="-120"/>
                </a:rPr>
                <a:t>MT</a:t>
              </a:r>
              <a:endParaRPr lang="en-US" sz="1200" dirty="0">
                <a:solidFill>
                  <a:schemeClr val="bg1"/>
                </a:solidFill>
                <a:latin typeface="Georgia" panose="02040502050405020303" pitchFamily="18" charset="0"/>
              </a:endParaRPr>
            </a:p>
          </p:txBody>
        </p:sp>
        <p:sp>
          <p:nvSpPr>
            <p:cNvPr id="19" name="Text 42">
              <a:extLst>
                <a:ext uri="{FF2B5EF4-FFF2-40B4-BE49-F238E27FC236}">
                  <a16:creationId xmlns:a16="http://schemas.microsoft.com/office/drawing/2014/main" id="{5D1A53FD-1785-3B1D-28BA-4F5390BD0D7A}"/>
                </a:ext>
              </a:extLst>
            </p:cNvPr>
            <p:cNvSpPr/>
            <p:nvPr/>
          </p:nvSpPr>
          <p:spPr>
            <a:xfrm>
              <a:off x="706488" y="3276599"/>
              <a:ext cx="2020722" cy="269807"/>
            </a:xfrm>
            <a:prstGeom prst="rect">
              <a:avLst/>
            </a:prstGeom>
            <a:grpFill/>
            <a:ln/>
          </p:spPr>
          <p:txBody>
            <a:bodyPr wrap="square" lIns="25400" tIns="25400" rIns="25400" bIns="25400" rtlCol="0" anchor="t">
              <a:noAutofit/>
            </a:bodyPr>
            <a:lstStyle/>
            <a:p>
              <a:pPr algn="ctr"/>
              <a:r>
                <a:rPr lang="en-US" sz="1100" b="1" dirty="0">
                  <a:solidFill>
                    <a:schemeClr val="bg1"/>
                  </a:solidFill>
                  <a:latin typeface="Georgia" panose="02040502050405020303" pitchFamily="18" charset="0"/>
                </a:rPr>
                <a:t>Crop-specific production</a:t>
              </a:r>
            </a:p>
          </p:txBody>
        </p:sp>
        <p:sp>
          <p:nvSpPr>
            <p:cNvPr id="22" name="Text 45">
              <a:extLst>
                <a:ext uri="{FF2B5EF4-FFF2-40B4-BE49-F238E27FC236}">
                  <a16:creationId xmlns:a16="http://schemas.microsoft.com/office/drawing/2014/main" id="{93928CA6-5052-187D-1DFD-3C821B7E932A}"/>
                </a:ext>
              </a:extLst>
            </p:cNvPr>
            <p:cNvSpPr/>
            <p:nvPr/>
          </p:nvSpPr>
          <p:spPr>
            <a:xfrm>
              <a:off x="3368581" y="3276601"/>
              <a:ext cx="1325871" cy="352970"/>
            </a:xfrm>
            <a:prstGeom prst="rect">
              <a:avLst/>
            </a:prstGeom>
            <a:grpFill/>
            <a:ln/>
          </p:spPr>
          <p:txBody>
            <a:bodyPr wrap="square" lIns="25400" tIns="25400" rIns="25400" bIns="25400" rtlCol="0" anchor="t">
              <a:noAutofit/>
            </a:bodyPr>
            <a:lstStyle/>
            <a:p>
              <a:pPr algn="r"/>
              <a:r>
                <a:rPr lang="en-US" sz="1100" b="1" dirty="0">
                  <a:solidFill>
                    <a:schemeClr val="bg1"/>
                  </a:solidFill>
                  <a:latin typeface="Georgia" panose="02040502050405020303" pitchFamily="18" charset="0"/>
                </a:rPr>
                <a:t>Total production</a:t>
              </a:r>
            </a:p>
          </p:txBody>
        </p:sp>
        <p:sp>
          <p:nvSpPr>
            <p:cNvPr id="25" name="Text 46">
              <a:extLst>
                <a:ext uri="{FF2B5EF4-FFF2-40B4-BE49-F238E27FC236}">
                  <a16:creationId xmlns:a16="http://schemas.microsoft.com/office/drawing/2014/main" id="{3074CE8B-B8E1-0277-905C-5FBF36C5A811}"/>
                </a:ext>
              </a:extLst>
            </p:cNvPr>
            <p:cNvSpPr/>
            <p:nvPr/>
          </p:nvSpPr>
          <p:spPr>
            <a:xfrm>
              <a:off x="3305816" y="3656944"/>
              <a:ext cx="1306821" cy="362564"/>
            </a:xfrm>
            <a:prstGeom prst="rect">
              <a:avLst/>
            </a:prstGeom>
            <a:grpFill/>
            <a:ln/>
          </p:spPr>
          <p:txBody>
            <a:bodyPr wrap="square" lIns="25400" tIns="25400" rIns="25400" bIns="25400" rtlCol="0" anchor="t">
              <a:noAutofit/>
            </a:bodyPr>
            <a:lstStyle/>
            <a:p>
              <a:pPr algn="r"/>
              <a:r>
                <a:rPr lang="en-US" sz="1100" b="1" dirty="0">
                  <a:solidFill>
                    <a:schemeClr val="bg1"/>
                  </a:solidFill>
                  <a:latin typeface="Georgia" panose="02040502050405020303" pitchFamily="18" charset="0"/>
                  <a:ea typeface="Fraunces" pitchFamily="34" charset="-122"/>
                  <a:cs typeface="Fraunces" pitchFamily="34" charset="-120"/>
                </a:rPr>
                <a:t>18,85,113 </a:t>
              </a:r>
              <a:r>
                <a:rPr lang="en-US" sz="1100" dirty="0">
                  <a:solidFill>
                    <a:schemeClr val="bg1"/>
                  </a:solidFill>
                  <a:latin typeface="Georgia" panose="02040502050405020303" pitchFamily="18" charset="0"/>
                  <a:ea typeface="Fraunces" pitchFamily="34" charset="-122"/>
                  <a:cs typeface="Fraunces" pitchFamily="34" charset="-120"/>
                </a:rPr>
                <a:t>MT</a:t>
              </a:r>
              <a:endParaRPr lang="en-US" sz="1100" dirty="0">
                <a:solidFill>
                  <a:schemeClr val="bg1"/>
                </a:solidFill>
                <a:latin typeface="Georgia" panose="02040502050405020303" pitchFamily="18" charset="0"/>
              </a:endParaRPr>
            </a:p>
          </p:txBody>
        </p:sp>
      </p:grpSp>
      <p:sp>
        <p:nvSpPr>
          <p:cNvPr id="442" name="Rectangle 441">
            <a:extLst>
              <a:ext uri="{FF2B5EF4-FFF2-40B4-BE49-F238E27FC236}">
                <a16:creationId xmlns:a16="http://schemas.microsoft.com/office/drawing/2014/main" id="{FDDA3DFF-957C-2EE8-5492-CCF4A6EBD772}"/>
              </a:ext>
            </a:extLst>
          </p:cNvPr>
          <p:cNvSpPr/>
          <p:nvPr/>
        </p:nvSpPr>
        <p:spPr>
          <a:xfrm>
            <a:off x="685800" y="1204389"/>
            <a:ext cx="4639823" cy="2189137"/>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Georgia" panose="02040502050405020303" pitchFamily="18" charset="0"/>
            </a:endParaRPr>
          </a:p>
        </p:txBody>
      </p:sp>
      <p:sp>
        <p:nvSpPr>
          <p:cNvPr id="444" name="Text 64">
            <a:extLst>
              <a:ext uri="{FF2B5EF4-FFF2-40B4-BE49-F238E27FC236}">
                <a16:creationId xmlns:a16="http://schemas.microsoft.com/office/drawing/2014/main" id="{C7A27182-CB9E-48F2-87A8-D22E9B9EBEB3}"/>
              </a:ext>
            </a:extLst>
          </p:cNvPr>
          <p:cNvSpPr/>
          <p:nvPr/>
        </p:nvSpPr>
        <p:spPr>
          <a:xfrm>
            <a:off x="7060489" y="1699611"/>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58 FPOs</a:t>
            </a:r>
          </a:p>
          <a:p>
            <a:r>
              <a:rPr lang="en-US" sz="900" b="1" dirty="0">
                <a:solidFill>
                  <a:srgbClr val="14342B"/>
                </a:solidFill>
                <a:latin typeface="Georgia" panose="02040502050405020303" pitchFamily="18" charset="0"/>
                <a:ea typeface="Inter" pitchFamily="34" charset="-122"/>
              </a:rPr>
              <a:t>WDD FPOs</a:t>
            </a:r>
          </a:p>
          <a:p>
            <a:r>
              <a:rPr lang="en-US" sz="600" b="1" dirty="0">
                <a:solidFill>
                  <a:srgbClr val="14342B"/>
                </a:solidFill>
                <a:latin typeface="Georgia" panose="02040502050405020303" pitchFamily="18" charset="0"/>
                <a:ea typeface="Inter" pitchFamily="34" charset="-122"/>
              </a:rPr>
              <a:t>₹ </a:t>
            </a:r>
            <a:r>
              <a:rPr lang="en-US" sz="600" b="1" dirty="0">
                <a:latin typeface="Georgia" panose="02040502050405020303" pitchFamily="18" charset="0"/>
                <a:ea typeface="Inter" pitchFamily="34" charset="-122"/>
              </a:rPr>
              <a:t>23 Cr total transactions in FY 23-24</a:t>
            </a:r>
          </a:p>
          <a:p>
            <a:r>
              <a:rPr lang="en-US" sz="700" b="1" i="1" dirty="0">
                <a:solidFill>
                  <a:srgbClr val="14342B"/>
                </a:solidFill>
                <a:latin typeface="Georgia" panose="02040502050405020303" pitchFamily="18" charset="0"/>
                <a:ea typeface="Inter" pitchFamily="34" charset="-122"/>
              </a:rPr>
              <a:t>Key crops: Onion, Pomegranate, Tomato</a:t>
            </a:r>
          </a:p>
        </p:txBody>
      </p:sp>
      <p:grpSp>
        <p:nvGrpSpPr>
          <p:cNvPr id="464" name="Group 463">
            <a:extLst>
              <a:ext uri="{FF2B5EF4-FFF2-40B4-BE49-F238E27FC236}">
                <a16:creationId xmlns:a16="http://schemas.microsoft.com/office/drawing/2014/main" id="{311AA9C4-57E9-0F26-9E77-32924BFB3969}"/>
              </a:ext>
            </a:extLst>
          </p:cNvPr>
          <p:cNvGrpSpPr/>
          <p:nvPr/>
        </p:nvGrpSpPr>
        <p:grpSpPr>
          <a:xfrm>
            <a:off x="5410226" y="4177242"/>
            <a:ext cx="1514597" cy="1276151"/>
            <a:chOff x="10002347" y="7336157"/>
            <a:chExt cx="3644503" cy="3480966"/>
          </a:xfrm>
        </p:grpSpPr>
        <p:sp>
          <p:nvSpPr>
            <p:cNvPr id="470" name="Shape 61">
              <a:extLst>
                <a:ext uri="{FF2B5EF4-FFF2-40B4-BE49-F238E27FC236}">
                  <a16:creationId xmlns:a16="http://schemas.microsoft.com/office/drawing/2014/main" id="{1A0EDFD9-2D8E-38C8-F48D-84A086B07870}"/>
                </a:ext>
              </a:extLst>
            </p:cNvPr>
            <p:cNvSpPr/>
            <p:nvPr/>
          </p:nvSpPr>
          <p:spPr>
            <a:xfrm>
              <a:off x="10002347" y="8622563"/>
              <a:ext cx="3644503" cy="2194560"/>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71" name="Text 63">
              <a:extLst>
                <a:ext uri="{FF2B5EF4-FFF2-40B4-BE49-F238E27FC236}">
                  <a16:creationId xmlns:a16="http://schemas.microsoft.com/office/drawing/2014/main" id="{6716A9F2-C111-FF93-7EBC-3768E6488BDB}"/>
                </a:ext>
              </a:extLst>
            </p:cNvPr>
            <p:cNvSpPr/>
            <p:nvPr/>
          </p:nvSpPr>
          <p:spPr>
            <a:xfrm>
              <a:off x="10482754" y="7336157"/>
              <a:ext cx="1341846" cy="312420"/>
            </a:xfrm>
            <a:prstGeom prst="rect">
              <a:avLst/>
            </a:prstGeom>
            <a:noFill/>
            <a:ln/>
          </p:spPr>
          <p:txBody>
            <a:bodyPr wrap="square" lIns="25400" tIns="25400" rIns="25400" bIns="25400" rtlCol="0" anchor="t">
              <a:normAutofit fontScale="25000" lnSpcReduction="20000"/>
            </a:bodyPr>
            <a:lstStyle/>
            <a:p>
              <a:endParaRPr lang="en-US" dirty="0">
                <a:latin typeface="Georgia" panose="02040502050405020303" pitchFamily="18" charset="0"/>
              </a:endParaRPr>
            </a:p>
          </p:txBody>
        </p:sp>
      </p:grpSp>
      <p:grpSp>
        <p:nvGrpSpPr>
          <p:cNvPr id="465" name="Group 464">
            <a:extLst>
              <a:ext uri="{FF2B5EF4-FFF2-40B4-BE49-F238E27FC236}">
                <a16:creationId xmlns:a16="http://schemas.microsoft.com/office/drawing/2014/main" id="{AFAB4D60-143F-E63D-D07B-DA70B0F8B36C}"/>
              </a:ext>
            </a:extLst>
          </p:cNvPr>
          <p:cNvGrpSpPr/>
          <p:nvPr/>
        </p:nvGrpSpPr>
        <p:grpSpPr>
          <a:xfrm>
            <a:off x="5396858" y="3086360"/>
            <a:ext cx="1535720" cy="888611"/>
            <a:chOff x="9970175" y="6791328"/>
            <a:chExt cx="3695328" cy="2423870"/>
          </a:xfrm>
        </p:grpSpPr>
        <p:sp>
          <p:nvSpPr>
            <p:cNvPr id="468" name="Shape 61">
              <a:extLst>
                <a:ext uri="{FF2B5EF4-FFF2-40B4-BE49-F238E27FC236}">
                  <a16:creationId xmlns:a16="http://schemas.microsoft.com/office/drawing/2014/main" id="{D4A34C67-1FD7-B811-C84A-C6479CD3ED59}"/>
                </a:ext>
              </a:extLst>
            </p:cNvPr>
            <p:cNvSpPr/>
            <p:nvPr/>
          </p:nvSpPr>
          <p:spPr>
            <a:xfrm>
              <a:off x="9970175" y="6791328"/>
              <a:ext cx="3644503"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9" name="Text 64">
              <a:extLst>
                <a:ext uri="{FF2B5EF4-FFF2-40B4-BE49-F238E27FC236}">
                  <a16:creationId xmlns:a16="http://schemas.microsoft.com/office/drawing/2014/main" id="{90A3B21F-40F5-031E-B83A-E2AF8A1A76F4}"/>
                </a:ext>
              </a:extLst>
            </p:cNvPr>
            <p:cNvSpPr/>
            <p:nvPr/>
          </p:nvSpPr>
          <p:spPr>
            <a:xfrm>
              <a:off x="10025634" y="6852622"/>
              <a:ext cx="3639869" cy="2362576"/>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2,47,252 MT capacity</a:t>
              </a:r>
            </a:p>
            <a:p>
              <a:r>
                <a:rPr lang="en-US" sz="900" b="1" dirty="0">
                  <a:solidFill>
                    <a:srgbClr val="14342B"/>
                  </a:solidFill>
                  <a:latin typeface="Georgia" panose="02040502050405020303" pitchFamily="18" charset="0"/>
                  <a:ea typeface="Inter" pitchFamily="34" charset="-122"/>
                </a:rPr>
                <a:t>Cold storage units</a:t>
              </a:r>
            </a:p>
            <a:p>
              <a:r>
                <a:rPr lang="en-US" sz="700" b="1" i="1" dirty="0">
                  <a:solidFill>
                    <a:srgbClr val="14342B"/>
                  </a:solidFill>
                  <a:latin typeface="Georgia" panose="02040502050405020303" pitchFamily="18" charset="0"/>
                  <a:ea typeface="Inter" pitchFamily="34" charset="-122"/>
                </a:rPr>
                <a:t>Key crops: Gherkin, Vegetables and fruits, Grape, Potato, Pomegranate, Onion, Mango</a:t>
              </a:r>
            </a:p>
          </p:txBody>
        </p:sp>
      </p:grpSp>
      <p:sp>
        <p:nvSpPr>
          <p:cNvPr id="466" name="Shape 61">
            <a:extLst>
              <a:ext uri="{FF2B5EF4-FFF2-40B4-BE49-F238E27FC236}">
                <a16:creationId xmlns:a16="http://schemas.microsoft.com/office/drawing/2014/main" id="{A9B810CB-ABA1-7DC9-6694-0C7F616E2DC8}"/>
              </a:ext>
            </a:extLst>
          </p:cNvPr>
          <p:cNvSpPr/>
          <p:nvPr/>
        </p:nvSpPr>
        <p:spPr>
          <a:xfrm>
            <a:off x="7053364" y="3086359"/>
            <a:ext cx="1592728"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67" name="Shape 61">
            <a:extLst>
              <a:ext uri="{FF2B5EF4-FFF2-40B4-BE49-F238E27FC236}">
                <a16:creationId xmlns:a16="http://schemas.microsoft.com/office/drawing/2014/main" id="{27C00AF5-751D-CDFD-7337-F11022983BCC}"/>
              </a:ext>
            </a:extLst>
          </p:cNvPr>
          <p:cNvSpPr/>
          <p:nvPr/>
        </p:nvSpPr>
        <p:spPr>
          <a:xfrm>
            <a:off x="7053457" y="4647678"/>
            <a:ext cx="1514597" cy="804543"/>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58" name="Shape 61">
            <a:extLst>
              <a:ext uri="{FF2B5EF4-FFF2-40B4-BE49-F238E27FC236}">
                <a16:creationId xmlns:a16="http://schemas.microsoft.com/office/drawing/2014/main" id="{141186D9-2512-599F-3DC2-BE74E2540545}"/>
              </a:ext>
            </a:extLst>
          </p:cNvPr>
          <p:cNvSpPr/>
          <p:nvPr/>
        </p:nvSpPr>
        <p:spPr>
          <a:xfrm>
            <a:off x="8760502" y="4647678"/>
            <a:ext cx="1514597"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grpSp>
        <p:nvGrpSpPr>
          <p:cNvPr id="461" name="Group 460">
            <a:extLst>
              <a:ext uri="{FF2B5EF4-FFF2-40B4-BE49-F238E27FC236}">
                <a16:creationId xmlns:a16="http://schemas.microsoft.com/office/drawing/2014/main" id="{0AB970AF-3590-8E07-F99F-5DCFAD9396C3}"/>
              </a:ext>
            </a:extLst>
          </p:cNvPr>
          <p:cNvGrpSpPr/>
          <p:nvPr/>
        </p:nvGrpSpPr>
        <p:grpSpPr>
          <a:xfrm>
            <a:off x="8846775" y="4663672"/>
            <a:ext cx="3047751" cy="804544"/>
            <a:chOff x="6068207" y="8643943"/>
            <a:chExt cx="7333658" cy="2194560"/>
          </a:xfrm>
        </p:grpSpPr>
        <p:sp>
          <p:nvSpPr>
            <p:cNvPr id="462" name="Shape 61">
              <a:extLst>
                <a:ext uri="{FF2B5EF4-FFF2-40B4-BE49-F238E27FC236}">
                  <a16:creationId xmlns:a16="http://schemas.microsoft.com/office/drawing/2014/main" id="{8EC29FA3-1501-9AC2-2B4C-C2898F4E012F}"/>
                </a:ext>
              </a:extLst>
            </p:cNvPr>
            <p:cNvSpPr/>
            <p:nvPr/>
          </p:nvSpPr>
          <p:spPr>
            <a:xfrm>
              <a:off x="9757361" y="8643943"/>
              <a:ext cx="3644504"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3" name="Text 64">
              <a:extLst>
                <a:ext uri="{FF2B5EF4-FFF2-40B4-BE49-F238E27FC236}">
                  <a16:creationId xmlns:a16="http://schemas.microsoft.com/office/drawing/2014/main" id="{3685D706-47DC-9021-8F96-83299825D81F}"/>
                </a:ext>
              </a:extLst>
            </p:cNvPr>
            <p:cNvSpPr/>
            <p:nvPr/>
          </p:nvSpPr>
          <p:spPr>
            <a:xfrm>
              <a:off x="6068207" y="8813647"/>
              <a:ext cx="3370181" cy="312421"/>
            </a:xfrm>
            <a:prstGeom prst="rect">
              <a:avLst/>
            </a:prstGeom>
            <a:noFill/>
            <a:ln/>
          </p:spPr>
          <p:txBody>
            <a:bodyPr wrap="square" lIns="25400" tIns="25400" rIns="25400" bIns="25400" rtlCol="0" anchor="t">
              <a:noAutofit/>
            </a:bodyPr>
            <a:lstStyle/>
            <a:p>
              <a:r>
                <a:rPr lang="en-US" sz="900" b="1" dirty="0">
                  <a:latin typeface="Georgia" panose="02040502050405020303" pitchFamily="18" charset="0"/>
                </a:rPr>
                <a:t>Agricultural training centers</a:t>
              </a:r>
            </a:p>
            <a:p>
              <a:endParaRPr lang="en-US" sz="900" b="1" dirty="0">
                <a:latin typeface="Georgia" panose="02040502050405020303" pitchFamily="18" charset="0"/>
              </a:endParaRPr>
            </a:p>
            <a:p>
              <a:r>
                <a:rPr lang="en-US" sz="700" dirty="0" err="1">
                  <a:solidFill>
                    <a:srgbClr val="14342B"/>
                  </a:solidFill>
                  <a:latin typeface="Georgia" panose="02040502050405020303" pitchFamily="18" charset="0"/>
                  <a:ea typeface="Fraunces" pitchFamily="34" charset="-122"/>
                </a:rPr>
                <a:t>Chitradurga</a:t>
              </a:r>
              <a:r>
                <a:rPr lang="en-US" sz="700" dirty="0">
                  <a:solidFill>
                    <a:srgbClr val="14342B"/>
                  </a:solidFill>
                  <a:latin typeface="Georgia" panose="02040502050405020303" pitchFamily="18" charset="0"/>
                  <a:ea typeface="Fraunces" pitchFamily="34" charset="-122"/>
                </a:rPr>
                <a:t>, </a:t>
              </a:r>
              <a:r>
                <a:rPr lang="en-US" sz="700" dirty="0" err="1">
                  <a:solidFill>
                    <a:srgbClr val="14342B"/>
                  </a:solidFill>
                  <a:latin typeface="Georgia" panose="02040502050405020303" pitchFamily="18" charset="0"/>
                  <a:ea typeface="Fraunces" pitchFamily="34" charset="-122"/>
                </a:rPr>
                <a:t>Davanagere</a:t>
              </a:r>
              <a:r>
                <a:rPr lang="en-US" sz="700" dirty="0">
                  <a:solidFill>
                    <a:srgbClr val="14342B"/>
                  </a:solidFill>
                  <a:latin typeface="Georgia" panose="02040502050405020303" pitchFamily="18" charset="0"/>
                  <a:ea typeface="Fraunces" pitchFamily="34" charset="-122"/>
                </a:rPr>
                <a:t>, Ballari, </a:t>
              </a:r>
              <a:r>
                <a:rPr lang="en-US" sz="700" dirty="0" err="1">
                  <a:solidFill>
                    <a:srgbClr val="14342B"/>
                  </a:solidFill>
                  <a:latin typeface="Georgia" panose="02040502050405020303" pitchFamily="18" charset="0"/>
                  <a:ea typeface="Fraunces" pitchFamily="34" charset="-122"/>
                </a:rPr>
                <a:t>Koppal</a:t>
              </a:r>
              <a:endParaRPr lang="en-US" sz="900" b="1" dirty="0">
                <a:latin typeface="Georgia" panose="02040502050405020303" pitchFamily="18" charset="0"/>
              </a:endParaRPr>
            </a:p>
          </p:txBody>
        </p:sp>
      </p:grpSp>
      <p:sp>
        <p:nvSpPr>
          <p:cNvPr id="455" name="Shape 41">
            <a:extLst>
              <a:ext uri="{FF2B5EF4-FFF2-40B4-BE49-F238E27FC236}">
                <a16:creationId xmlns:a16="http://schemas.microsoft.com/office/drawing/2014/main" id="{79A4B11E-D248-1AEE-5D25-A3999F300A6D}"/>
              </a:ext>
            </a:extLst>
          </p:cNvPr>
          <p:cNvSpPr/>
          <p:nvPr/>
        </p:nvSpPr>
        <p:spPr>
          <a:xfrm>
            <a:off x="5396856" y="2586448"/>
            <a:ext cx="4478287" cy="407388"/>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452" name="Text 42">
            <a:extLst>
              <a:ext uri="{FF2B5EF4-FFF2-40B4-BE49-F238E27FC236}">
                <a16:creationId xmlns:a16="http://schemas.microsoft.com/office/drawing/2014/main" id="{E51C9FEF-1587-945D-E92E-71E1A8E9F667}"/>
              </a:ext>
            </a:extLst>
          </p:cNvPr>
          <p:cNvSpPr/>
          <p:nvPr/>
        </p:nvSpPr>
        <p:spPr>
          <a:xfrm>
            <a:off x="5520689" y="2663492"/>
            <a:ext cx="3769226" cy="233672"/>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Ecosystem for all fruits and vegetables</a:t>
            </a:r>
          </a:p>
        </p:txBody>
      </p:sp>
      <p:sp>
        <p:nvSpPr>
          <p:cNvPr id="453" name="Text 65">
            <a:extLst>
              <a:ext uri="{FF2B5EF4-FFF2-40B4-BE49-F238E27FC236}">
                <a16:creationId xmlns:a16="http://schemas.microsoft.com/office/drawing/2014/main" id="{536B93AE-9310-E83A-1C46-8E96C78AF727}"/>
              </a:ext>
            </a:extLst>
          </p:cNvPr>
          <p:cNvSpPr/>
          <p:nvPr/>
        </p:nvSpPr>
        <p:spPr>
          <a:xfrm>
            <a:off x="5520689" y="3654421"/>
            <a:ext cx="1447800" cy="77197"/>
          </a:xfrm>
          <a:prstGeom prst="rect">
            <a:avLst/>
          </a:prstGeom>
          <a:noFill/>
          <a:ln/>
        </p:spPr>
        <p:txBody>
          <a:bodyPr wrap="square" lIns="25400" tIns="25400" rIns="25400" bIns="25400" rtlCol="0" anchor="t">
            <a:noAutofit/>
          </a:bodyPr>
          <a:lstStyle/>
          <a:p>
            <a:endParaRPr lang="en-US" sz="700" dirty="0">
              <a:solidFill>
                <a:srgbClr val="0B6E78"/>
              </a:solidFill>
              <a:latin typeface="Georgia" panose="02040502050405020303" pitchFamily="18" charset="0"/>
              <a:ea typeface="JetBrains Mono" pitchFamily="34" charset="-122"/>
              <a:cs typeface="JetBrains Mono" pitchFamily="34" charset="-120"/>
            </a:endParaRPr>
          </a:p>
        </p:txBody>
      </p:sp>
      <p:sp>
        <p:nvSpPr>
          <p:cNvPr id="472" name="Text 64">
            <a:extLst>
              <a:ext uri="{FF2B5EF4-FFF2-40B4-BE49-F238E27FC236}">
                <a16:creationId xmlns:a16="http://schemas.microsoft.com/office/drawing/2014/main" id="{ADA558A6-3AAD-2B69-8ADB-ADEE68737924}"/>
              </a:ext>
            </a:extLst>
          </p:cNvPr>
          <p:cNvSpPr/>
          <p:nvPr/>
        </p:nvSpPr>
        <p:spPr>
          <a:xfrm>
            <a:off x="7095612" y="3116107"/>
            <a:ext cx="1550479" cy="846293"/>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62 FPOs</a:t>
            </a:r>
          </a:p>
          <a:p>
            <a:r>
              <a:rPr lang="en-US" sz="900" b="1" dirty="0">
                <a:solidFill>
                  <a:srgbClr val="14342B"/>
                </a:solidFill>
                <a:latin typeface="Georgia" panose="02040502050405020303" pitchFamily="18" charset="0"/>
                <a:ea typeface="Inter" pitchFamily="34" charset="-122"/>
              </a:rPr>
              <a:t>WDD FPOs</a:t>
            </a:r>
          </a:p>
          <a:p>
            <a:r>
              <a:rPr lang="en-US" sz="600" b="1" dirty="0">
                <a:solidFill>
                  <a:srgbClr val="14342B"/>
                </a:solidFill>
                <a:latin typeface="Georgia" panose="02040502050405020303" pitchFamily="18" charset="0"/>
                <a:ea typeface="Inter" pitchFamily="34" charset="-122"/>
              </a:rPr>
              <a:t>₹ 29 </a:t>
            </a:r>
            <a:r>
              <a:rPr lang="en-US" sz="600" b="1" dirty="0">
                <a:latin typeface="Georgia" panose="02040502050405020303" pitchFamily="18" charset="0"/>
                <a:ea typeface="Inter" pitchFamily="34" charset="-122"/>
              </a:rPr>
              <a:t>Cr total transactions in FY 23-24</a:t>
            </a:r>
          </a:p>
          <a:p>
            <a:r>
              <a:rPr lang="en-US" sz="700" b="1" i="1" dirty="0">
                <a:solidFill>
                  <a:srgbClr val="14342B"/>
                </a:solidFill>
                <a:latin typeface="Georgia" panose="02040502050405020303" pitchFamily="18" charset="0"/>
                <a:ea typeface="Inter" pitchFamily="34" charset="-122"/>
              </a:rPr>
              <a:t>Key crops: Banana, Tomato, Sugarcane, Onion, Pomegranate</a:t>
            </a:r>
          </a:p>
        </p:txBody>
      </p:sp>
      <p:grpSp>
        <p:nvGrpSpPr>
          <p:cNvPr id="8" name="Group 7">
            <a:extLst>
              <a:ext uri="{FF2B5EF4-FFF2-40B4-BE49-F238E27FC236}">
                <a16:creationId xmlns:a16="http://schemas.microsoft.com/office/drawing/2014/main" id="{C3698F22-8567-19C9-7CE1-737D3FC8EA6B}"/>
              </a:ext>
            </a:extLst>
          </p:cNvPr>
          <p:cNvGrpSpPr/>
          <p:nvPr/>
        </p:nvGrpSpPr>
        <p:grpSpPr>
          <a:xfrm>
            <a:off x="8733202" y="3086359"/>
            <a:ext cx="1858598" cy="804544"/>
            <a:chOff x="10366381" y="3086359"/>
            <a:chExt cx="1706198" cy="804544"/>
          </a:xfrm>
        </p:grpSpPr>
        <p:sp>
          <p:nvSpPr>
            <p:cNvPr id="460" name="Shape 61">
              <a:extLst>
                <a:ext uri="{FF2B5EF4-FFF2-40B4-BE49-F238E27FC236}">
                  <a16:creationId xmlns:a16="http://schemas.microsoft.com/office/drawing/2014/main" id="{C46E3F41-FAB4-4DC3-2A5D-5FFF14BC1F0E}"/>
                </a:ext>
              </a:extLst>
            </p:cNvPr>
            <p:cNvSpPr/>
            <p:nvPr/>
          </p:nvSpPr>
          <p:spPr>
            <a:xfrm>
              <a:off x="10366381" y="3086359"/>
              <a:ext cx="1514597"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74" name="Text 64">
              <a:extLst>
                <a:ext uri="{FF2B5EF4-FFF2-40B4-BE49-F238E27FC236}">
                  <a16:creationId xmlns:a16="http://schemas.microsoft.com/office/drawing/2014/main" id="{7A65C534-1271-E2B5-2219-6CFAE71A540A}"/>
                </a:ext>
              </a:extLst>
            </p:cNvPr>
            <p:cNvSpPr/>
            <p:nvPr/>
          </p:nvSpPr>
          <p:spPr>
            <a:xfrm>
              <a:off x="10411087" y="3132280"/>
              <a:ext cx="1661492"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216 MT</a:t>
              </a:r>
            </a:p>
            <a:p>
              <a:r>
                <a:rPr lang="en-US" sz="900" b="1" dirty="0">
                  <a:solidFill>
                    <a:srgbClr val="14342B"/>
                  </a:solidFill>
                  <a:latin typeface="Georgia" panose="02040502050405020303" pitchFamily="18" charset="0"/>
                  <a:ea typeface="Inter" pitchFamily="34" charset="-122"/>
                </a:rPr>
                <a:t>Horticulture Department FPOs</a:t>
              </a:r>
            </a:p>
            <a:p>
              <a:r>
                <a:rPr lang="en-US" sz="600" b="1" dirty="0">
                  <a:solidFill>
                    <a:srgbClr val="14342B"/>
                  </a:solidFill>
                  <a:latin typeface="Georgia" panose="02040502050405020303" pitchFamily="18" charset="0"/>
                  <a:ea typeface="Inter" pitchFamily="34" charset="-122"/>
                </a:rPr>
                <a:t>₹48,10,000 transactions in FY 23-24</a:t>
              </a:r>
            </a:p>
            <a:p>
              <a:endParaRPr lang="en-US" sz="600" b="1" dirty="0">
                <a:solidFill>
                  <a:srgbClr val="14342B"/>
                </a:solidFill>
                <a:latin typeface="Georgia" panose="02040502050405020303" pitchFamily="18" charset="0"/>
                <a:ea typeface="Inter" pitchFamily="34" charset="-122"/>
              </a:endParaRPr>
            </a:p>
            <a:p>
              <a:endParaRPr lang="en-US" sz="600" b="1" dirty="0">
                <a:solidFill>
                  <a:srgbClr val="14342B"/>
                </a:solidFill>
                <a:latin typeface="Georgia" panose="02040502050405020303" pitchFamily="18" charset="0"/>
                <a:ea typeface="Inter" pitchFamily="34" charset="-122"/>
              </a:endParaRPr>
            </a:p>
            <a:p>
              <a:endParaRPr lang="en-US" sz="600" b="1" dirty="0">
                <a:solidFill>
                  <a:srgbClr val="14342B"/>
                </a:solidFill>
                <a:latin typeface="Georgia" panose="02040502050405020303" pitchFamily="18" charset="0"/>
                <a:ea typeface="Inter" pitchFamily="34" charset="-122"/>
              </a:endParaRPr>
            </a:p>
          </p:txBody>
        </p:sp>
      </p:grpSp>
      <p:sp>
        <p:nvSpPr>
          <p:cNvPr id="475" name="Text 64">
            <a:extLst>
              <a:ext uri="{FF2B5EF4-FFF2-40B4-BE49-F238E27FC236}">
                <a16:creationId xmlns:a16="http://schemas.microsoft.com/office/drawing/2014/main" id="{BC187E86-B683-7029-2AB6-8923F8AD60F6}"/>
              </a:ext>
            </a:extLst>
          </p:cNvPr>
          <p:cNvSpPr/>
          <p:nvPr/>
        </p:nvSpPr>
        <p:spPr>
          <a:xfrm>
            <a:off x="5451075" y="4731209"/>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11 centers</a:t>
            </a:r>
          </a:p>
          <a:p>
            <a:r>
              <a:rPr lang="en-US" sz="900" b="1" dirty="0">
                <a:solidFill>
                  <a:srgbClr val="14342B"/>
                </a:solidFill>
                <a:latin typeface="Georgia" panose="02040502050405020303" pitchFamily="18" charset="0"/>
                <a:ea typeface="Inter" pitchFamily="34" charset="-122"/>
              </a:rPr>
              <a:t>Seed production centers</a:t>
            </a:r>
          </a:p>
          <a:p>
            <a:r>
              <a:rPr lang="en-US" sz="600" b="1" dirty="0">
                <a:latin typeface="Georgia" panose="02040502050405020303" pitchFamily="18" charset="0"/>
                <a:ea typeface="Inter" pitchFamily="34" charset="-122"/>
              </a:rPr>
              <a:t>241 ha total</a:t>
            </a:r>
          </a:p>
        </p:txBody>
      </p:sp>
      <p:sp>
        <p:nvSpPr>
          <p:cNvPr id="476" name="Text 64">
            <a:extLst>
              <a:ext uri="{FF2B5EF4-FFF2-40B4-BE49-F238E27FC236}">
                <a16:creationId xmlns:a16="http://schemas.microsoft.com/office/drawing/2014/main" id="{3B0EBC3F-7091-D3D2-9BC1-CDF4908C7748}"/>
              </a:ext>
            </a:extLst>
          </p:cNvPr>
          <p:cNvSpPr/>
          <p:nvPr/>
        </p:nvSpPr>
        <p:spPr>
          <a:xfrm>
            <a:off x="7104635" y="4723714"/>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45 farms</a:t>
            </a:r>
          </a:p>
          <a:p>
            <a:r>
              <a:rPr lang="en-US" sz="900" b="1" dirty="0">
                <a:solidFill>
                  <a:srgbClr val="14342B"/>
                </a:solidFill>
                <a:latin typeface="Georgia" panose="02040502050405020303" pitchFamily="18" charset="0"/>
                <a:ea typeface="Inter" pitchFamily="34" charset="-122"/>
              </a:rPr>
              <a:t>Horticulture farms &amp; nurseries</a:t>
            </a:r>
          </a:p>
          <a:p>
            <a:r>
              <a:rPr lang="en-US" sz="600" b="1" dirty="0">
                <a:latin typeface="Georgia" panose="02040502050405020303" pitchFamily="18" charset="0"/>
                <a:ea typeface="Inter" pitchFamily="34" charset="-122"/>
              </a:rPr>
              <a:t>1324 acres</a:t>
            </a:r>
          </a:p>
        </p:txBody>
      </p:sp>
      <p:sp>
        <p:nvSpPr>
          <p:cNvPr id="477" name="Text 64">
            <a:extLst>
              <a:ext uri="{FF2B5EF4-FFF2-40B4-BE49-F238E27FC236}">
                <a16:creationId xmlns:a16="http://schemas.microsoft.com/office/drawing/2014/main" id="{BA753305-5A2E-B6F8-DE01-8987DCB35A26}"/>
              </a:ext>
            </a:extLst>
          </p:cNvPr>
          <p:cNvSpPr/>
          <p:nvPr/>
        </p:nvSpPr>
        <p:spPr>
          <a:xfrm>
            <a:off x="10450220" y="4702920"/>
            <a:ext cx="724087"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18</a:t>
            </a:r>
          </a:p>
          <a:p>
            <a:r>
              <a:rPr lang="en-US" sz="900" b="1" dirty="0">
                <a:solidFill>
                  <a:srgbClr val="14342B"/>
                </a:solidFill>
                <a:latin typeface="Georgia" panose="02040502050405020303" pitchFamily="18" charset="0"/>
                <a:ea typeface="Inter" pitchFamily="34" charset="-122"/>
              </a:rPr>
              <a:t>SHGs</a:t>
            </a:r>
          </a:p>
        </p:txBody>
      </p:sp>
      <p:sp>
        <p:nvSpPr>
          <p:cNvPr id="5" name="TextBox 4">
            <a:extLst>
              <a:ext uri="{FF2B5EF4-FFF2-40B4-BE49-F238E27FC236}">
                <a16:creationId xmlns:a16="http://schemas.microsoft.com/office/drawing/2014/main" id="{0D304D9C-FD2E-625F-1729-30F6A20D1FA3}"/>
              </a:ext>
            </a:extLst>
          </p:cNvPr>
          <p:cNvSpPr txBox="1"/>
          <p:nvPr/>
        </p:nvSpPr>
        <p:spPr>
          <a:xfrm>
            <a:off x="6400800" y="5840459"/>
            <a:ext cx="4953000" cy="338554"/>
          </a:xfrm>
          <a:prstGeom prst="rect">
            <a:avLst/>
          </a:prstGeom>
          <a:noFill/>
        </p:spPr>
        <p:txBody>
          <a:bodyPr wrap="square" rtlCol="0">
            <a:spAutoFit/>
          </a:bodyPr>
          <a:lstStyle/>
          <a:p>
            <a:pPr marL="228600" indent="-228600">
              <a:buFont typeface="Arial" panose="020B0604020202020204" pitchFamily="34" charset="0"/>
              <a:buChar char="•"/>
            </a:pPr>
            <a:r>
              <a:rPr lang="en-IN" sz="800" i="1" dirty="0">
                <a:latin typeface="Georgia" panose="02040502050405020303" pitchFamily="18" charset="0"/>
              </a:rPr>
              <a:t>Department of agriculture – Seed production </a:t>
            </a:r>
            <a:r>
              <a:rPr lang="en-IN" sz="800" i="1" dirty="0" err="1">
                <a:latin typeface="Georgia" panose="02040502050405020303" pitchFamily="18" charset="0"/>
              </a:rPr>
              <a:t>centers</a:t>
            </a:r>
            <a:r>
              <a:rPr lang="en-IN" sz="800" i="1" dirty="0">
                <a:latin typeface="Georgia" panose="02040502050405020303" pitchFamily="18" charset="0"/>
              </a:rPr>
              <a:t>, Agricultural training </a:t>
            </a:r>
            <a:r>
              <a:rPr lang="en-IN" sz="800" i="1" dirty="0" err="1">
                <a:latin typeface="Georgia" panose="02040502050405020303" pitchFamily="18" charset="0"/>
              </a:rPr>
              <a:t>centers</a:t>
            </a:r>
            <a:endParaRPr lang="en-IN" sz="800" i="1" dirty="0">
              <a:latin typeface="Georgia" panose="02040502050405020303" pitchFamily="18" charset="0"/>
            </a:endParaRPr>
          </a:p>
          <a:p>
            <a:pPr marL="228600" indent="-228600">
              <a:buFont typeface="Arial" panose="020B0604020202020204" pitchFamily="34" charset="0"/>
              <a:buChar char="•"/>
            </a:pPr>
            <a:r>
              <a:rPr lang="en-IN" sz="800" i="1" dirty="0">
                <a:latin typeface="Georgia" panose="02040502050405020303" pitchFamily="18" charset="0"/>
              </a:rPr>
              <a:t>KSRLPS - SHGs</a:t>
            </a:r>
          </a:p>
        </p:txBody>
      </p:sp>
      <p:sp>
        <p:nvSpPr>
          <p:cNvPr id="6" name="Rectangle 5">
            <a:extLst>
              <a:ext uri="{FF2B5EF4-FFF2-40B4-BE49-F238E27FC236}">
                <a16:creationId xmlns:a16="http://schemas.microsoft.com/office/drawing/2014/main" id="{6894AD1D-76E6-9CD7-9942-E49EEA1D44F7}"/>
              </a:ext>
            </a:extLst>
          </p:cNvPr>
          <p:cNvSpPr/>
          <p:nvPr/>
        </p:nvSpPr>
        <p:spPr>
          <a:xfrm>
            <a:off x="640284" y="5600410"/>
            <a:ext cx="11196500" cy="576072"/>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00" dirty="0">
              <a:latin typeface="Georgia" panose="02040502050405020303" pitchFamily="18" charset="0"/>
            </a:endParaRPr>
          </a:p>
        </p:txBody>
      </p:sp>
      <p:sp>
        <p:nvSpPr>
          <p:cNvPr id="4" name="Shape 41">
            <a:extLst>
              <a:ext uri="{FF2B5EF4-FFF2-40B4-BE49-F238E27FC236}">
                <a16:creationId xmlns:a16="http://schemas.microsoft.com/office/drawing/2014/main" id="{94250997-972C-790E-DBF3-034217B9EBF3}"/>
              </a:ext>
            </a:extLst>
          </p:cNvPr>
          <p:cNvSpPr/>
          <p:nvPr/>
        </p:nvSpPr>
        <p:spPr>
          <a:xfrm>
            <a:off x="5409020" y="4066044"/>
            <a:ext cx="4478287" cy="407388"/>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9" name="Text 42">
            <a:extLst>
              <a:ext uri="{FF2B5EF4-FFF2-40B4-BE49-F238E27FC236}">
                <a16:creationId xmlns:a16="http://schemas.microsoft.com/office/drawing/2014/main" id="{0F038584-269E-27FD-4A17-775C34491A4E}"/>
              </a:ext>
            </a:extLst>
          </p:cNvPr>
          <p:cNvSpPr/>
          <p:nvPr/>
        </p:nvSpPr>
        <p:spPr>
          <a:xfrm>
            <a:off x="5486402" y="4142898"/>
            <a:ext cx="3769226" cy="233672"/>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Other infrastructure available</a:t>
            </a:r>
          </a:p>
        </p:txBody>
      </p:sp>
      <p:graphicFrame>
        <p:nvGraphicFramePr>
          <p:cNvPr id="27" name="Chart 26">
            <a:extLst>
              <a:ext uri="{FF2B5EF4-FFF2-40B4-BE49-F238E27FC236}">
                <a16:creationId xmlns:a16="http://schemas.microsoft.com/office/drawing/2014/main" id="{1D1B5EAA-674E-7D63-F8CB-F84F1ED379EB}"/>
              </a:ext>
            </a:extLst>
          </p:cNvPr>
          <p:cNvGraphicFramePr>
            <a:graphicFrameLocks/>
          </p:cNvGraphicFramePr>
          <p:nvPr>
            <p:extLst>
              <p:ext uri="{D42A27DB-BD31-4B8C-83A1-F6EECF244321}">
                <p14:modId xmlns:p14="http://schemas.microsoft.com/office/powerpoint/2010/main" val="3355827806"/>
              </p:ext>
            </p:extLst>
          </p:nvPr>
        </p:nvGraphicFramePr>
        <p:xfrm>
          <a:off x="666387" y="1094620"/>
          <a:ext cx="4572000" cy="1187536"/>
        </p:xfrm>
        <a:graphic>
          <a:graphicData uri="http://schemas.openxmlformats.org/drawingml/2006/chart">
            <c:chart xmlns:c="http://schemas.openxmlformats.org/drawingml/2006/chart" xmlns:r="http://schemas.openxmlformats.org/officeDocument/2006/relationships" r:id="rId2"/>
          </a:graphicData>
        </a:graphic>
      </p:graphicFrame>
      <p:pic>
        <p:nvPicPr>
          <p:cNvPr id="10" name="Picture 9">
            <a:extLst>
              <a:ext uri="{FF2B5EF4-FFF2-40B4-BE49-F238E27FC236}">
                <a16:creationId xmlns:a16="http://schemas.microsoft.com/office/drawing/2014/main" id="{F5837527-7E78-1BD1-492B-3FAC8C546E49}"/>
              </a:ext>
            </a:extLst>
          </p:cNvPr>
          <p:cNvPicPr>
            <a:picLocks noChangeAspect="1"/>
          </p:cNvPicPr>
          <p:nvPr/>
        </p:nvPicPr>
        <p:blipFill>
          <a:blip r:embed="rId3" cstate="print">
            <a:extLst>
              <a:ext uri="{28A0092B-C50C-407E-A947-70E740481C1C}">
                <a14:useLocalDpi xmlns:a14="http://schemas.microsoft.com/office/drawing/2010/main" val="0"/>
              </a:ext>
            </a:extLst>
          </a:blip>
          <a:srcRect l="6026" t="5108" b="11111"/>
          <a:stretch>
            <a:fillRect/>
          </a:stretch>
        </p:blipFill>
        <p:spPr>
          <a:xfrm>
            <a:off x="10841802" y="160982"/>
            <a:ext cx="1213242" cy="1280005"/>
          </a:xfrm>
          <a:prstGeom prst="rect">
            <a:avLst/>
          </a:prstGeom>
        </p:spPr>
      </p:pic>
      <p:graphicFrame>
        <p:nvGraphicFramePr>
          <p:cNvPr id="13" name="Chart 12">
            <a:extLst>
              <a:ext uri="{FF2B5EF4-FFF2-40B4-BE49-F238E27FC236}">
                <a16:creationId xmlns:a16="http://schemas.microsoft.com/office/drawing/2014/main" id="{1A281602-470A-EC21-0A58-111BB81C3302}"/>
              </a:ext>
            </a:extLst>
          </p:cNvPr>
          <p:cNvGraphicFramePr>
            <a:graphicFrameLocks/>
          </p:cNvGraphicFramePr>
          <p:nvPr>
            <p:extLst>
              <p:ext uri="{D42A27DB-BD31-4B8C-83A1-F6EECF244321}">
                <p14:modId xmlns:p14="http://schemas.microsoft.com/office/powerpoint/2010/main" val="1225665492"/>
              </p:ext>
            </p:extLst>
          </p:nvPr>
        </p:nvGraphicFramePr>
        <p:xfrm>
          <a:off x="658069" y="2152310"/>
          <a:ext cx="4572000" cy="1187536"/>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a:extLst>
              <a:ext uri="{FF2B5EF4-FFF2-40B4-BE49-F238E27FC236}">
                <a16:creationId xmlns:a16="http://schemas.microsoft.com/office/drawing/2014/main" id="{FBB76F05-12D0-21E0-5A3A-4A81E6DAFC8F}"/>
              </a:ext>
            </a:extLst>
          </p:cNvPr>
          <p:cNvSpPr txBox="1"/>
          <p:nvPr/>
        </p:nvSpPr>
        <p:spPr>
          <a:xfrm>
            <a:off x="625235" y="5334000"/>
            <a:ext cx="4677855" cy="200055"/>
          </a:xfrm>
          <a:prstGeom prst="rect">
            <a:avLst/>
          </a:prstGeom>
          <a:noFill/>
        </p:spPr>
        <p:txBody>
          <a:bodyPr wrap="square" rtlCol="0">
            <a:spAutoFit/>
          </a:bodyPr>
          <a:lstStyle/>
          <a:p>
            <a:r>
              <a:rPr lang="en-IN" sz="700" i="1" dirty="0">
                <a:latin typeface="Georgia" panose="02040502050405020303" pitchFamily="18" charset="0"/>
              </a:rPr>
              <a:t>Source: As reported by district officials, Horticulture department, Government of Karnataka, as of March 2026</a:t>
            </a:r>
          </a:p>
        </p:txBody>
      </p:sp>
      <p:pic>
        <p:nvPicPr>
          <p:cNvPr id="18" name="Picture 17">
            <a:extLst>
              <a:ext uri="{FF2B5EF4-FFF2-40B4-BE49-F238E27FC236}">
                <a16:creationId xmlns:a16="http://schemas.microsoft.com/office/drawing/2014/main" id="{DF5CD1D4-951D-0525-D5AC-7A6A1816E3A8}"/>
              </a:ext>
            </a:extLst>
          </p:cNvPr>
          <p:cNvPicPr>
            <a:picLocks noChangeAspect="1"/>
          </p:cNvPicPr>
          <p:nvPr/>
        </p:nvPicPr>
        <p:blipFill>
          <a:blip r:embed="rId5"/>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35607680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07C57-D3F8-5089-91E0-B7C9A562D002}"/>
            </a:ext>
          </a:extLst>
        </p:cNvPr>
        <p:cNvGrpSpPr/>
        <p:nvPr/>
      </p:nvGrpSpPr>
      <p:grpSpPr>
        <a:xfrm>
          <a:off x="0" y="0"/>
          <a:ext cx="0" cy="0"/>
          <a:chOff x="0" y="0"/>
          <a:chExt cx="0" cy="0"/>
        </a:xfrm>
      </p:grpSpPr>
      <p:graphicFrame>
        <p:nvGraphicFramePr>
          <p:cNvPr id="26" name="Chart 25">
            <a:extLst>
              <a:ext uri="{FF2B5EF4-FFF2-40B4-BE49-F238E27FC236}">
                <a16:creationId xmlns:a16="http://schemas.microsoft.com/office/drawing/2014/main" id="{3AB24EFE-AB80-CC78-A136-765780665681}"/>
              </a:ext>
            </a:extLst>
          </p:cNvPr>
          <p:cNvGraphicFramePr>
            <a:graphicFrameLocks/>
          </p:cNvGraphicFramePr>
          <p:nvPr>
            <p:extLst>
              <p:ext uri="{D42A27DB-BD31-4B8C-83A1-F6EECF244321}">
                <p14:modId xmlns:p14="http://schemas.microsoft.com/office/powerpoint/2010/main" val="754516807"/>
              </p:ext>
            </p:extLst>
          </p:nvPr>
        </p:nvGraphicFramePr>
        <p:xfrm>
          <a:off x="647186" y="2203838"/>
          <a:ext cx="4572000" cy="1344865"/>
        </p:xfrm>
        <a:graphic>
          <a:graphicData uri="http://schemas.openxmlformats.org/drawingml/2006/chart">
            <c:chart xmlns:c="http://schemas.openxmlformats.org/drawingml/2006/chart" xmlns:r="http://schemas.openxmlformats.org/officeDocument/2006/relationships" r:id="rId2"/>
          </a:graphicData>
        </a:graphic>
      </p:graphicFrame>
      <p:grpSp>
        <p:nvGrpSpPr>
          <p:cNvPr id="288" name="Group 287">
            <a:extLst>
              <a:ext uri="{FF2B5EF4-FFF2-40B4-BE49-F238E27FC236}">
                <a16:creationId xmlns:a16="http://schemas.microsoft.com/office/drawing/2014/main" id="{BEF4E30A-8F34-E528-6626-C817A8BA8AD0}"/>
              </a:ext>
            </a:extLst>
          </p:cNvPr>
          <p:cNvGrpSpPr/>
          <p:nvPr/>
        </p:nvGrpSpPr>
        <p:grpSpPr>
          <a:xfrm>
            <a:off x="5362569" y="1151209"/>
            <a:ext cx="4478287" cy="1739716"/>
            <a:chOff x="5362567" y="1151208"/>
            <a:chExt cx="4478287" cy="1706039"/>
          </a:xfrm>
        </p:grpSpPr>
        <p:grpSp>
          <p:nvGrpSpPr>
            <p:cNvPr id="245" name="Group 244">
              <a:extLst>
                <a:ext uri="{FF2B5EF4-FFF2-40B4-BE49-F238E27FC236}">
                  <a16:creationId xmlns:a16="http://schemas.microsoft.com/office/drawing/2014/main" id="{4C5E1802-2D5E-A33B-B1EA-EF5BF366BFEF}"/>
                </a:ext>
              </a:extLst>
            </p:cNvPr>
            <p:cNvGrpSpPr/>
            <p:nvPr/>
          </p:nvGrpSpPr>
          <p:grpSpPr>
            <a:xfrm>
              <a:off x="5362567" y="1151208"/>
              <a:ext cx="4478287" cy="1706039"/>
              <a:chOff x="5362567" y="1151208"/>
              <a:chExt cx="4478287" cy="1706039"/>
            </a:xfrm>
          </p:grpSpPr>
          <p:grpSp>
            <p:nvGrpSpPr>
              <p:cNvPr id="56" name="Group 55">
                <a:extLst>
                  <a:ext uri="{FF2B5EF4-FFF2-40B4-BE49-F238E27FC236}">
                    <a16:creationId xmlns:a16="http://schemas.microsoft.com/office/drawing/2014/main" id="{B523F11F-0DF1-A824-8630-87FBDA7D3194}"/>
                  </a:ext>
                </a:extLst>
              </p:cNvPr>
              <p:cNvGrpSpPr/>
              <p:nvPr/>
            </p:nvGrpSpPr>
            <p:grpSpPr>
              <a:xfrm>
                <a:off x="5362567" y="1651327"/>
                <a:ext cx="3171105" cy="1205920"/>
                <a:chOff x="5562601" y="1159491"/>
                <a:chExt cx="5186781" cy="1821490"/>
              </a:xfrm>
            </p:grpSpPr>
            <p:sp>
              <p:nvSpPr>
                <p:cNvPr id="30" name="Text 63">
                  <a:extLst>
                    <a:ext uri="{FF2B5EF4-FFF2-40B4-BE49-F238E27FC236}">
                      <a16:creationId xmlns:a16="http://schemas.microsoft.com/office/drawing/2014/main" id="{DCA3DCA5-8564-6DBB-5F76-D7F8B14A3F20}"/>
                    </a:ext>
                  </a:extLst>
                </p:cNvPr>
                <p:cNvSpPr/>
                <p:nvPr/>
              </p:nvSpPr>
              <p:spPr>
                <a:xfrm>
                  <a:off x="5911025" y="2807908"/>
                  <a:ext cx="912114" cy="173073"/>
                </a:xfrm>
                <a:prstGeom prst="rect">
                  <a:avLst/>
                </a:prstGeom>
                <a:noFill/>
                <a:ln/>
              </p:spPr>
              <p:txBody>
                <a:bodyPr wrap="square" lIns="25400" tIns="25400" rIns="25400" bIns="25400" rtlCol="0" anchor="t">
                  <a:normAutofit fontScale="25000" lnSpcReduction="20000"/>
                </a:bodyPr>
                <a:lstStyle/>
                <a:p>
                  <a:endParaRPr lang="en-US" dirty="0">
                    <a:latin typeface="Georgia" panose="02040502050405020303" pitchFamily="18" charset="0"/>
                  </a:endParaRPr>
                </a:p>
              </p:txBody>
            </p:sp>
            <p:grpSp>
              <p:nvGrpSpPr>
                <p:cNvPr id="38" name="Group 37">
                  <a:extLst>
                    <a:ext uri="{FF2B5EF4-FFF2-40B4-BE49-F238E27FC236}">
                      <a16:creationId xmlns:a16="http://schemas.microsoft.com/office/drawing/2014/main" id="{A98D9F04-96EA-83A4-8D27-ACB0F08F8B45}"/>
                    </a:ext>
                  </a:extLst>
                </p:cNvPr>
                <p:cNvGrpSpPr/>
                <p:nvPr/>
              </p:nvGrpSpPr>
              <p:grpSpPr>
                <a:xfrm>
                  <a:off x="5562601" y="1159493"/>
                  <a:ext cx="2483380" cy="1215734"/>
                  <a:chOff x="9970175" y="6791328"/>
                  <a:chExt cx="3653399" cy="2194560"/>
                </a:xfrm>
              </p:grpSpPr>
              <p:sp>
                <p:nvSpPr>
                  <p:cNvPr id="39" name="Shape 61">
                    <a:extLst>
                      <a:ext uri="{FF2B5EF4-FFF2-40B4-BE49-F238E27FC236}">
                        <a16:creationId xmlns:a16="http://schemas.microsoft.com/office/drawing/2014/main" id="{8F015774-E180-207B-BDA8-331C54E75794}"/>
                      </a:ext>
                    </a:extLst>
                  </p:cNvPr>
                  <p:cNvSpPr/>
                  <p:nvPr/>
                </p:nvSpPr>
                <p:spPr>
                  <a:xfrm>
                    <a:off x="9970175" y="6791328"/>
                    <a:ext cx="3644503"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2" name="Text 64">
                    <a:extLst>
                      <a:ext uri="{FF2B5EF4-FFF2-40B4-BE49-F238E27FC236}">
                        <a16:creationId xmlns:a16="http://schemas.microsoft.com/office/drawing/2014/main" id="{F8354186-3E16-0163-7A7B-801E6FBE0683}"/>
                      </a:ext>
                    </a:extLst>
                  </p:cNvPr>
                  <p:cNvSpPr/>
                  <p:nvPr/>
                </p:nvSpPr>
                <p:spPr>
                  <a:xfrm>
                    <a:off x="10025634" y="6852621"/>
                    <a:ext cx="3597940" cy="1635905"/>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6121 MT capacity</a:t>
                    </a:r>
                  </a:p>
                  <a:p>
                    <a:r>
                      <a:rPr lang="en-US" sz="900" b="1" dirty="0">
                        <a:solidFill>
                          <a:srgbClr val="14342B"/>
                        </a:solidFill>
                        <a:latin typeface="Georgia" panose="02040502050405020303" pitchFamily="18" charset="0"/>
                        <a:ea typeface="Inter" pitchFamily="34" charset="-122"/>
                      </a:rPr>
                      <a:t>Cold storage units</a:t>
                    </a:r>
                  </a:p>
                  <a:p>
                    <a:r>
                      <a:rPr lang="en-US" sz="700" b="1" i="1" dirty="0">
                        <a:solidFill>
                          <a:srgbClr val="14342B"/>
                        </a:solidFill>
                        <a:latin typeface="Georgia" panose="02040502050405020303" pitchFamily="18" charset="0"/>
                        <a:ea typeface="Inter" pitchFamily="34" charset="-122"/>
                      </a:rPr>
                      <a:t>Key crops: Grapes, Pomegranate</a:t>
                    </a:r>
                  </a:p>
                </p:txBody>
              </p:sp>
            </p:grpSp>
            <p:sp>
              <p:nvSpPr>
                <p:cNvPr id="45" name="Shape 61">
                  <a:extLst>
                    <a:ext uri="{FF2B5EF4-FFF2-40B4-BE49-F238E27FC236}">
                      <a16:creationId xmlns:a16="http://schemas.microsoft.com/office/drawing/2014/main" id="{00CAE15E-5B69-CF0B-A6BC-2E122ED388DB}"/>
                    </a:ext>
                  </a:extLst>
                </p:cNvPr>
                <p:cNvSpPr/>
                <p:nvPr/>
              </p:nvSpPr>
              <p:spPr>
                <a:xfrm>
                  <a:off x="8272049" y="1159491"/>
                  <a:ext cx="2477333" cy="121573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grpSp>
          <p:sp>
            <p:nvSpPr>
              <p:cNvPr id="212" name="Shape 41">
                <a:extLst>
                  <a:ext uri="{FF2B5EF4-FFF2-40B4-BE49-F238E27FC236}">
                    <a16:creationId xmlns:a16="http://schemas.microsoft.com/office/drawing/2014/main" id="{740AACBA-508F-A0AB-5F29-94B746283E44}"/>
                  </a:ext>
                </a:extLst>
              </p:cNvPr>
              <p:cNvSpPr/>
              <p:nvPr/>
            </p:nvSpPr>
            <p:spPr>
              <a:xfrm>
                <a:off x="5362567" y="1151208"/>
                <a:ext cx="4478287" cy="407557"/>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grpSp>
        <p:sp>
          <p:nvSpPr>
            <p:cNvPr id="213" name="Text 42">
              <a:extLst>
                <a:ext uri="{FF2B5EF4-FFF2-40B4-BE49-F238E27FC236}">
                  <a16:creationId xmlns:a16="http://schemas.microsoft.com/office/drawing/2014/main" id="{908E5435-774F-B173-FEE0-81E862678EDD}"/>
                </a:ext>
              </a:extLst>
            </p:cNvPr>
            <p:cNvSpPr/>
            <p:nvPr/>
          </p:nvSpPr>
          <p:spPr>
            <a:xfrm>
              <a:off x="5486400" y="1228284"/>
              <a:ext cx="3769226" cy="233769"/>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Crop-specific ecosystem (seven key crops)</a:t>
              </a:r>
            </a:p>
          </p:txBody>
        </p:sp>
        <p:sp>
          <p:nvSpPr>
            <p:cNvPr id="219" name="Text 65">
              <a:extLst>
                <a:ext uri="{FF2B5EF4-FFF2-40B4-BE49-F238E27FC236}">
                  <a16:creationId xmlns:a16="http://schemas.microsoft.com/office/drawing/2014/main" id="{9A3DA540-B114-8D2D-A870-3AD594EF8ED0}"/>
                </a:ext>
              </a:extLst>
            </p:cNvPr>
            <p:cNvSpPr/>
            <p:nvPr/>
          </p:nvSpPr>
          <p:spPr>
            <a:xfrm>
              <a:off x="5486400" y="2219625"/>
              <a:ext cx="1447800" cy="77229"/>
            </a:xfrm>
            <a:prstGeom prst="rect">
              <a:avLst/>
            </a:prstGeom>
            <a:noFill/>
            <a:ln/>
          </p:spPr>
          <p:txBody>
            <a:bodyPr wrap="square" lIns="25400" tIns="25400" rIns="25400" bIns="25400" rtlCol="0" anchor="t">
              <a:noAutofit/>
            </a:bodyPr>
            <a:lstStyle/>
            <a:p>
              <a:endParaRPr lang="en-US" sz="700" dirty="0">
                <a:solidFill>
                  <a:srgbClr val="0B6E78"/>
                </a:solidFill>
                <a:latin typeface="Georgia" panose="02040502050405020303" pitchFamily="18" charset="0"/>
                <a:ea typeface="JetBrains Mono" pitchFamily="34" charset="-122"/>
                <a:cs typeface="JetBrains Mono" pitchFamily="34" charset="-120"/>
              </a:endParaRPr>
            </a:p>
          </p:txBody>
        </p:sp>
      </p:grpSp>
      <p:sp>
        <p:nvSpPr>
          <p:cNvPr id="2" name="Title 1">
            <a:extLst>
              <a:ext uri="{FF2B5EF4-FFF2-40B4-BE49-F238E27FC236}">
                <a16:creationId xmlns:a16="http://schemas.microsoft.com/office/drawing/2014/main" id="{2338B2DB-E492-BF61-969D-6849A834A989}"/>
              </a:ext>
            </a:extLst>
          </p:cNvPr>
          <p:cNvSpPr>
            <a:spLocks noGrp="1"/>
          </p:cNvSpPr>
          <p:nvPr>
            <p:ph type="title"/>
          </p:nvPr>
        </p:nvSpPr>
        <p:spPr>
          <a:xfrm>
            <a:off x="600309" y="217778"/>
            <a:ext cx="10561116" cy="553998"/>
          </a:xfrm>
        </p:spPr>
        <p:txBody>
          <a:bodyPr/>
          <a:lstStyle/>
          <a:p>
            <a:r>
              <a:rPr lang="en-US" sz="2400" dirty="0">
                <a:solidFill>
                  <a:schemeClr val="bg1"/>
                </a:solidFill>
                <a:latin typeface="Georgia" panose="02040502050405020303" pitchFamily="18" charset="0"/>
              </a:rPr>
              <a:t>Kalyana Karnataka Onion-Tomato cluster</a:t>
            </a:r>
            <a:br>
              <a:rPr lang="en-US" sz="1200" dirty="0">
                <a:solidFill>
                  <a:schemeClr val="bg1"/>
                </a:solidFill>
                <a:latin typeface="Georgia" panose="02040502050405020303" pitchFamily="18" charset="0"/>
              </a:rPr>
            </a:br>
            <a:r>
              <a:rPr lang="en-US" sz="1200" i="1" dirty="0">
                <a:solidFill>
                  <a:schemeClr val="bg1"/>
                </a:solidFill>
                <a:latin typeface="Georgia" panose="02040502050405020303" pitchFamily="18" charset="0"/>
                <a:ea typeface="Trebuchet MS"/>
                <a:sym typeface="Trebuchet MS"/>
              </a:rPr>
              <a:t>(</a:t>
            </a:r>
            <a:r>
              <a:rPr lang="en-IN" sz="1200" i="1" dirty="0">
                <a:solidFill>
                  <a:schemeClr val="bg1"/>
                </a:solidFill>
                <a:latin typeface="Georgia" panose="02040502050405020303" pitchFamily="18" charset="0"/>
              </a:rPr>
              <a:t>Raichur, Yadgiri, Kalaburagi, Bidar) </a:t>
            </a:r>
          </a:p>
        </p:txBody>
      </p:sp>
      <p:sp>
        <p:nvSpPr>
          <p:cNvPr id="3" name="Slide Number Placeholder 2">
            <a:extLst>
              <a:ext uri="{FF2B5EF4-FFF2-40B4-BE49-F238E27FC236}">
                <a16:creationId xmlns:a16="http://schemas.microsoft.com/office/drawing/2014/main" id="{6E680879-D026-A1F3-1401-C05CBE7869FD}"/>
              </a:ext>
            </a:extLst>
          </p:cNvPr>
          <p:cNvSpPr>
            <a:spLocks noGrp="1"/>
          </p:cNvSpPr>
          <p:nvPr>
            <p:ph type="sldNum" sz="quarter" idx="7"/>
          </p:nvPr>
        </p:nvSpPr>
        <p:spPr>
          <a:xfrm>
            <a:off x="779630" y="6440648"/>
            <a:ext cx="383540" cy="115416"/>
          </a:xfrm>
        </p:spPr>
        <p:txBody>
          <a:bodyPr/>
          <a:lstStyle/>
          <a:p>
            <a:pPr marL="12700">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34</a:t>
            </a:fld>
            <a:endParaRPr dirty="0">
              <a:latin typeface="Georgia" panose="02040502050405020303" pitchFamily="18" charset="0"/>
            </a:endParaRPr>
          </a:p>
        </p:txBody>
      </p:sp>
      <p:graphicFrame>
        <p:nvGraphicFramePr>
          <p:cNvPr id="21" name="Table 20">
            <a:extLst>
              <a:ext uri="{FF2B5EF4-FFF2-40B4-BE49-F238E27FC236}">
                <a16:creationId xmlns:a16="http://schemas.microsoft.com/office/drawing/2014/main" id="{AD9DCAA8-B94B-04EE-D133-CFA59FE92CA9}"/>
              </a:ext>
            </a:extLst>
          </p:cNvPr>
          <p:cNvGraphicFramePr>
            <a:graphicFrameLocks noGrp="1"/>
          </p:cNvGraphicFramePr>
          <p:nvPr>
            <p:extLst>
              <p:ext uri="{D42A27DB-BD31-4B8C-83A1-F6EECF244321}">
                <p14:modId xmlns:p14="http://schemas.microsoft.com/office/powerpoint/2010/main" val="2542673234"/>
              </p:ext>
            </p:extLst>
          </p:nvPr>
        </p:nvGraphicFramePr>
        <p:xfrm>
          <a:off x="656800" y="3962400"/>
          <a:ext cx="4648103" cy="1586434"/>
        </p:xfrm>
        <a:graphic>
          <a:graphicData uri="http://schemas.openxmlformats.org/drawingml/2006/table">
            <a:tbl>
              <a:tblPr firstRow="1" bandRow="1">
                <a:tableStyleId>{21E4AEA4-8DFA-4A89-87EB-49C32662AFE0}</a:tableStyleId>
              </a:tblPr>
              <a:tblGrid>
                <a:gridCol w="4648103">
                  <a:extLst>
                    <a:ext uri="{9D8B030D-6E8A-4147-A177-3AD203B41FA5}">
                      <a16:colId xmlns:a16="http://schemas.microsoft.com/office/drawing/2014/main" val="3341958433"/>
                    </a:ext>
                  </a:extLst>
                </a:gridCol>
              </a:tblGrid>
              <a:tr h="211389">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dirty="0">
                          <a:latin typeface="Georgia" panose="02040502050405020303" pitchFamily="18" charset="0"/>
                        </a:rPr>
                        <a:t>Major reasons for crop-loss across districts</a:t>
                      </a:r>
                    </a:p>
                  </a:txBody>
                  <a:tcPr marL="67006" marR="67006" marT="33504" marB="33504">
                    <a:solidFill>
                      <a:srgbClr val="0B6E78"/>
                    </a:solidFill>
                  </a:tcPr>
                </a:tc>
                <a:extLst>
                  <a:ext uri="{0D108BD9-81ED-4DB2-BD59-A6C34878D82A}">
                    <a16:rowId xmlns:a16="http://schemas.microsoft.com/office/drawing/2014/main" val="2643714482"/>
                  </a:ext>
                </a:extLst>
              </a:tr>
              <a:tr h="1367026">
                <a:tc>
                  <a:txBody>
                    <a:bodyPr/>
                    <a:lstStyle/>
                    <a:p>
                      <a:pPr marL="0" marR="0" lvl="0" indent="0" algn="l"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IN" sz="1000" b="1" dirty="0">
                          <a:effectLst/>
                          <a:latin typeface="Georgia" panose="02040502050405020303" pitchFamily="18" charset="0"/>
                        </a:rPr>
                        <a:t>Pomegranate (Raichur, </a:t>
                      </a:r>
                      <a:r>
                        <a:rPr lang="en-IN" sz="1000" b="1" dirty="0" err="1">
                          <a:effectLst/>
                          <a:latin typeface="Georgia" panose="02040502050405020303" pitchFamily="18" charset="0"/>
                        </a:rPr>
                        <a:t>Yadgir</a:t>
                      </a:r>
                      <a:r>
                        <a:rPr lang="en-IN" sz="1000" b="1" dirty="0">
                          <a:effectLst/>
                          <a:latin typeface="Georgia" panose="02040502050405020303" pitchFamily="18" charset="0"/>
                        </a:rPr>
                        <a:t>):</a:t>
                      </a:r>
                      <a:r>
                        <a:rPr lang="en-IN" sz="1000" dirty="0">
                          <a:latin typeface="Georgia" panose="02040502050405020303" pitchFamily="18" charset="0"/>
                        </a:rPr>
                        <a:t> Bacterial blight, wilt, poor market access and storage facilities</a:t>
                      </a:r>
                      <a:br>
                        <a:rPr lang="en-IN" sz="1000" dirty="0">
                          <a:latin typeface="Georgia" panose="02040502050405020303" pitchFamily="18" charset="0"/>
                        </a:rPr>
                      </a:br>
                      <a:r>
                        <a:rPr lang="en-IN" sz="1000" b="1" dirty="0">
                          <a:effectLst/>
                          <a:latin typeface="Georgia" panose="02040502050405020303" pitchFamily="18" charset="0"/>
                        </a:rPr>
                        <a:t>Mango (Raichur, Bidar):</a:t>
                      </a:r>
                      <a:r>
                        <a:rPr lang="en-IN" sz="1000" dirty="0">
                          <a:latin typeface="Georgia" panose="02040502050405020303" pitchFamily="18" charset="0"/>
                        </a:rPr>
                        <a:t> Unseasonal rains, mango hoppers, price crash, poor harvesting practices</a:t>
                      </a:r>
                      <a:br>
                        <a:rPr lang="en-IN" sz="1000" dirty="0">
                          <a:latin typeface="Georgia" panose="02040502050405020303" pitchFamily="18" charset="0"/>
                        </a:rPr>
                      </a:br>
                      <a:r>
                        <a:rPr lang="en-IN" sz="1000" b="1" dirty="0">
                          <a:effectLst/>
                          <a:latin typeface="Georgia" panose="02040502050405020303" pitchFamily="18" charset="0"/>
                        </a:rPr>
                        <a:t>Onion (</a:t>
                      </a:r>
                      <a:r>
                        <a:rPr lang="en-IN" sz="1000" b="1" dirty="0" err="1">
                          <a:effectLst/>
                          <a:latin typeface="Georgia" panose="02040502050405020303" pitchFamily="18" charset="0"/>
                        </a:rPr>
                        <a:t>Yadgir</a:t>
                      </a:r>
                      <a:r>
                        <a:rPr lang="en-IN" sz="1000" b="1" dirty="0">
                          <a:effectLst/>
                          <a:latin typeface="Georgia" panose="02040502050405020303" pitchFamily="18" charset="0"/>
                        </a:rPr>
                        <a:t>, Bidar):</a:t>
                      </a:r>
                      <a:r>
                        <a:rPr lang="en-IN" sz="1000" dirty="0">
                          <a:latin typeface="Georgia" panose="02040502050405020303" pitchFamily="18" charset="0"/>
                        </a:rPr>
                        <a:t> Purple blotch, bulb rotting, mechanical damage, lack of storage infrastructure</a:t>
                      </a:r>
                      <a:br>
                        <a:rPr lang="en-IN" sz="1000" dirty="0">
                          <a:latin typeface="Georgia" panose="02040502050405020303" pitchFamily="18" charset="0"/>
                        </a:rPr>
                      </a:br>
                      <a:r>
                        <a:rPr lang="en-IN" sz="1000" b="1" dirty="0">
                          <a:effectLst/>
                          <a:latin typeface="Georgia" panose="02040502050405020303" pitchFamily="18" charset="0"/>
                        </a:rPr>
                        <a:t>Banana (Kalaburagi):</a:t>
                      </a:r>
                      <a:r>
                        <a:rPr lang="en-IN" sz="1000" dirty="0">
                          <a:latin typeface="Georgia" panose="02040502050405020303" pitchFamily="18" charset="0"/>
                        </a:rPr>
                        <a:t> Poor post-harvest handling, over-ripening, poor packing</a:t>
                      </a:r>
                      <a:endParaRPr lang="en-US" sz="1000" dirty="0">
                        <a:latin typeface="Georgia" panose="02040502050405020303" pitchFamily="18" charset="0"/>
                      </a:endParaRPr>
                    </a:p>
                  </a:txBody>
                  <a:tcPr marL="67006" marR="67006" marT="33504" marB="33504">
                    <a:solidFill>
                      <a:schemeClr val="accent5">
                        <a:lumMod val="20000"/>
                        <a:lumOff val="80000"/>
                      </a:schemeClr>
                    </a:solidFill>
                  </a:tcPr>
                </a:tc>
                <a:extLst>
                  <a:ext uri="{0D108BD9-81ED-4DB2-BD59-A6C34878D82A}">
                    <a16:rowId xmlns:a16="http://schemas.microsoft.com/office/drawing/2014/main" val="2831645102"/>
                  </a:ext>
                </a:extLst>
              </a:tr>
            </a:tbl>
          </a:graphicData>
        </a:graphic>
      </p:graphicFrame>
      <p:sp>
        <p:nvSpPr>
          <p:cNvPr id="7" name="TextBox 6">
            <a:extLst>
              <a:ext uri="{FF2B5EF4-FFF2-40B4-BE49-F238E27FC236}">
                <a16:creationId xmlns:a16="http://schemas.microsoft.com/office/drawing/2014/main" id="{B228D6DB-5A1D-8368-CB69-D0AA84824B88}"/>
              </a:ext>
            </a:extLst>
          </p:cNvPr>
          <p:cNvSpPr txBox="1"/>
          <p:nvPr/>
        </p:nvSpPr>
        <p:spPr>
          <a:xfrm>
            <a:off x="2438400" y="3175979"/>
            <a:ext cx="2928156" cy="184666"/>
          </a:xfrm>
          <a:prstGeom prst="rect">
            <a:avLst/>
          </a:prstGeom>
          <a:noFill/>
        </p:spPr>
        <p:txBody>
          <a:bodyPr wrap="square" rtlCol="0">
            <a:spAutoFit/>
          </a:bodyPr>
          <a:lstStyle/>
          <a:p>
            <a:r>
              <a:rPr lang="en-IN" sz="600" i="1" dirty="0">
                <a:latin typeface="Georgia" panose="02040502050405020303" pitchFamily="18" charset="0"/>
              </a:rPr>
              <a:t>Sources: Horticulture crop statistics of Karnataka state at a glance – 2023-24</a:t>
            </a:r>
          </a:p>
        </p:txBody>
      </p:sp>
      <p:grpSp>
        <p:nvGrpSpPr>
          <p:cNvPr id="204" name="Group 203">
            <a:extLst>
              <a:ext uri="{FF2B5EF4-FFF2-40B4-BE49-F238E27FC236}">
                <a16:creationId xmlns:a16="http://schemas.microsoft.com/office/drawing/2014/main" id="{12526E7E-AE0F-5721-DB48-B286B6805516}"/>
              </a:ext>
            </a:extLst>
          </p:cNvPr>
          <p:cNvGrpSpPr/>
          <p:nvPr/>
        </p:nvGrpSpPr>
        <p:grpSpPr>
          <a:xfrm>
            <a:off x="650818" y="3456935"/>
            <a:ext cx="4653243" cy="429265"/>
            <a:chOff x="689731" y="3276599"/>
            <a:chExt cx="4478287" cy="881562"/>
          </a:xfrm>
          <a:solidFill>
            <a:srgbClr val="4B4B4D"/>
          </a:solidFill>
        </p:grpSpPr>
        <p:sp>
          <p:nvSpPr>
            <p:cNvPr id="11" name="Shape 41">
              <a:extLst>
                <a:ext uri="{FF2B5EF4-FFF2-40B4-BE49-F238E27FC236}">
                  <a16:creationId xmlns:a16="http://schemas.microsoft.com/office/drawing/2014/main" id="{75429BD5-D796-270E-9BD7-5B4E0264DFED}"/>
                </a:ext>
              </a:extLst>
            </p:cNvPr>
            <p:cNvSpPr/>
            <p:nvPr/>
          </p:nvSpPr>
          <p:spPr>
            <a:xfrm>
              <a:off x="689731" y="3276601"/>
              <a:ext cx="4478287" cy="881560"/>
            </a:xfrm>
            <a:prstGeom prst="roundRect">
              <a:avLst>
                <a:gd name="adj" fmla="val 4644"/>
              </a:avLst>
            </a:prstGeom>
            <a:grpFill/>
            <a:ln/>
          </p:spPr>
          <p:txBody>
            <a:bodyPr/>
            <a:lstStyle/>
            <a:p>
              <a:pPr algn="r"/>
              <a:endParaRPr lang="en-US" sz="1100" dirty="0">
                <a:solidFill>
                  <a:schemeClr val="bg1"/>
                </a:solidFill>
                <a:latin typeface="Georgia" panose="02040502050405020303" pitchFamily="18" charset="0"/>
              </a:endParaRPr>
            </a:p>
          </p:txBody>
        </p:sp>
        <p:sp>
          <p:nvSpPr>
            <p:cNvPr id="12" name="Shape 44">
              <a:extLst>
                <a:ext uri="{FF2B5EF4-FFF2-40B4-BE49-F238E27FC236}">
                  <a16:creationId xmlns:a16="http://schemas.microsoft.com/office/drawing/2014/main" id="{CB9908C0-CA45-FB5C-62A2-1639230E6E9D}"/>
                </a:ext>
              </a:extLst>
            </p:cNvPr>
            <p:cNvSpPr/>
            <p:nvPr/>
          </p:nvSpPr>
          <p:spPr>
            <a:xfrm>
              <a:off x="2885490" y="3340476"/>
              <a:ext cx="9525" cy="735330"/>
            </a:xfrm>
            <a:prstGeom prst="rect">
              <a:avLst/>
            </a:prstGeom>
            <a:grpFill/>
            <a:ln/>
          </p:spPr>
          <p:txBody>
            <a:bodyPr/>
            <a:lstStyle/>
            <a:p>
              <a:endParaRPr lang="en-IN" sz="1100">
                <a:solidFill>
                  <a:schemeClr val="bg1"/>
                </a:solidFill>
                <a:latin typeface="Georgia" panose="02040502050405020303" pitchFamily="18" charset="0"/>
              </a:endParaRPr>
            </a:p>
          </p:txBody>
        </p:sp>
        <p:sp>
          <p:nvSpPr>
            <p:cNvPr id="17" name="Text 43">
              <a:extLst>
                <a:ext uri="{FF2B5EF4-FFF2-40B4-BE49-F238E27FC236}">
                  <a16:creationId xmlns:a16="http://schemas.microsoft.com/office/drawing/2014/main" id="{104A0A57-8186-FBA9-9BB9-2C608EEB2036}"/>
                </a:ext>
              </a:extLst>
            </p:cNvPr>
            <p:cNvSpPr/>
            <p:nvPr/>
          </p:nvSpPr>
          <p:spPr>
            <a:xfrm>
              <a:off x="1163171" y="3708850"/>
              <a:ext cx="1115499" cy="391574"/>
            </a:xfrm>
            <a:prstGeom prst="rect">
              <a:avLst/>
            </a:prstGeom>
            <a:grpFill/>
            <a:ln/>
          </p:spPr>
          <p:txBody>
            <a:bodyPr wrap="square" lIns="25400" tIns="25400" rIns="25400" bIns="25400" rtlCol="0" anchor="t">
              <a:normAutofit fontScale="92500" lnSpcReduction="20000"/>
            </a:bodyPr>
            <a:lstStyle/>
            <a:p>
              <a:r>
                <a:rPr lang="en-US" sz="1200" b="1" dirty="0">
                  <a:solidFill>
                    <a:schemeClr val="bg1"/>
                  </a:solidFill>
                  <a:latin typeface="Georgia" panose="02040502050405020303" pitchFamily="18" charset="0"/>
                  <a:ea typeface="Fraunces" pitchFamily="34" charset="-122"/>
                  <a:cs typeface="Fraunces" pitchFamily="34" charset="-120"/>
                </a:rPr>
                <a:t>3,38,030</a:t>
              </a:r>
              <a:r>
                <a:rPr lang="en-US" sz="1100" b="1" dirty="0">
                  <a:solidFill>
                    <a:schemeClr val="bg1"/>
                  </a:solidFill>
                  <a:latin typeface="Georgia" panose="02040502050405020303" pitchFamily="18" charset="0"/>
                  <a:ea typeface="Fraunces" pitchFamily="34" charset="-122"/>
                  <a:cs typeface="Fraunces" pitchFamily="34" charset="-120"/>
                </a:rPr>
                <a:t> </a:t>
              </a:r>
              <a:r>
                <a:rPr lang="en-US" sz="1200" dirty="0">
                  <a:solidFill>
                    <a:schemeClr val="bg1"/>
                  </a:solidFill>
                  <a:latin typeface="Georgia" panose="02040502050405020303" pitchFamily="18" charset="0"/>
                  <a:ea typeface="Fraunces" pitchFamily="34" charset="-122"/>
                  <a:cs typeface="Fraunces" pitchFamily="34" charset="-120"/>
                </a:rPr>
                <a:t>MT</a:t>
              </a:r>
              <a:endParaRPr lang="en-US" sz="1200" dirty="0">
                <a:solidFill>
                  <a:schemeClr val="bg1"/>
                </a:solidFill>
                <a:latin typeface="Georgia" panose="02040502050405020303" pitchFamily="18" charset="0"/>
              </a:endParaRPr>
            </a:p>
          </p:txBody>
        </p:sp>
        <p:sp>
          <p:nvSpPr>
            <p:cNvPr id="19" name="Text 42">
              <a:extLst>
                <a:ext uri="{FF2B5EF4-FFF2-40B4-BE49-F238E27FC236}">
                  <a16:creationId xmlns:a16="http://schemas.microsoft.com/office/drawing/2014/main" id="{495B8A7B-01A8-F5A1-EB7F-7E02ED406D93}"/>
                </a:ext>
              </a:extLst>
            </p:cNvPr>
            <p:cNvSpPr/>
            <p:nvPr/>
          </p:nvSpPr>
          <p:spPr>
            <a:xfrm>
              <a:off x="706488" y="3276599"/>
              <a:ext cx="2020722" cy="269807"/>
            </a:xfrm>
            <a:prstGeom prst="rect">
              <a:avLst/>
            </a:prstGeom>
            <a:grpFill/>
            <a:ln/>
          </p:spPr>
          <p:txBody>
            <a:bodyPr wrap="square" lIns="25400" tIns="25400" rIns="25400" bIns="25400" rtlCol="0" anchor="t">
              <a:noAutofit/>
            </a:bodyPr>
            <a:lstStyle/>
            <a:p>
              <a:pPr algn="ctr"/>
              <a:r>
                <a:rPr lang="en-US" sz="1100" b="1" dirty="0">
                  <a:solidFill>
                    <a:schemeClr val="bg1"/>
                  </a:solidFill>
                  <a:latin typeface="Georgia" panose="02040502050405020303" pitchFamily="18" charset="0"/>
                </a:rPr>
                <a:t>Crop-specific production</a:t>
              </a:r>
            </a:p>
          </p:txBody>
        </p:sp>
        <p:sp>
          <p:nvSpPr>
            <p:cNvPr id="22" name="Text 45">
              <a:extLst>
                <a:ext uri="{FF2B5EF4-FFF2-40B4-BE49-F238E27FC236}">
                  <a16:creationId xmlns:a16="http://schemas.microsoft.com/office/drawing/2014/main" id="{144F4874-27E4-1DD7-97C7-10CDC0CFCB5B}"/>
                </a:ext>
              </a:extLst>
            </p:cNvPr>
            <p:cNvSpPr/>
            <p:nvPr/>
          </p:nvSpPr>
          <p:spPr>
            <a:xfrm>
              <a:off x="3368581" y="3276601"/>
              <a:ext cx="1325871" cy="352970"/>
            </a:xfrm>
            <a:prstGeom prst="rect">
              <a:avLst/>
            </a:prstGeom>
            <a:grpFill/>
            <a:ln/>
          </p:spPr>
          <p:txBody>
            <a:bodyPr wrap="square" lIns="25400" tIns="25400" rIns="25400" bIns="25400" rtlCol="0" anchor="t">
              <a:noAutofit/>
            </a:bodyPr>
            <a:lstStyle/>
            <a:p>
              <a:pPr algn="r"/>
              <a:r>
                <a:rPr lang="en-US" sz="1100" b="1" dirty="0">
                  <a:solidFill>
                    <a:schemeClr val="bg1"/>
                  </a:solidFill>
                  <a:latin typeface="Georgia" panose="02040502050405020303" pitchFamily="18" charset="0"/>
                </a:rPr>
                <a:t>Total production</a:t>
              </a:r>
            </a:p>
          </p:txBody>
        </p:sp>
        <p:sp>
          <p:nvSpPr>
            <p:cNvPr id="25" name="Text 46">
              <a:extLst>
                <a:ext uri="{FF2B5EF4-FFF2-40B4-BE49-F238E27FC236}">
                  <a16:creationId xmlns:a16="http://schemas.microsoft.com/office/drawing/2014/main" id="{404B7F7C-183A-3113-BC4B-2074D4788184}"/>
                </a:ext>
              </a:extLst>
            </p:cNvPr>
            <p:cNvSpPr/>
            <p:nvPr/>
          </p:nvSpPr>
          <p:spPr>
            <a:xfrm>
              <a:off x="3305816" y="3656944"/>
              <a:ext cx="1306821" cy="362564"/>
            </a:xfrm>
            <a:prstGeom prst="rect">
              <a:avLst/>
            </a:prstGeom>
            <a:grpFill/>
            <a:ln/>
          </p:spPr>
          <p:txBody>
            <a:bodyPr wrap="square" lIns="25400" tIns="25400" rIns="25400" bIns="25400" rtlCol="0" anchor="t">
              <a:noAutofit/>
            </a:bodyPr>
            <a:lstStyle/>
            <a:p>
              <a:pPr algn="r"/>
              <a:r>
                <a:rPr lang="en-US" sz="1100" b="1" dirty="0">
                  <a:solidFill>
                    <a:schemeClr val="bg1"/>
                  </a:solidFill>
                  <a:latin typeface="Georgia" panose="02040502050405020303" pitchFamily="18" charset="0"/>
                  <a:ea typeface="Fraunces" pitchFamily="34" charset="-122"/>
                  <a:cs typeface="Fraunces" pitchFamily="34" charset="-120"/>
                </a:rPr>
                <a:t>7,57,643 </a:t>
              </a:r>
              <a:r>
                <a:rPr lang="en-US" sz="1100" dirty="0">
                  <a:solidFill>
                    <a:schemeClr val="bg1"/>
                  </a:solidFill>
                  <a:latin typeface="Georgia" panose="02040502050405020303" pitchFamily="18" charset="0"/>
                  <a:ea typeface="Fraunces" pitchFamily="34" charset="-122"/>
                  <a:cs typeface="Fraunces" pitchFamily="34" charset="-120"/>
                </a:rPr>
                <a:t>MT</a:t>
              </a:r>
              <a:endParaRPr lang="en-US" sz="1100" dirty="0">
                <a:solidFill>
                  <a:schemeClr val="bg1"/>
                </a:solidFill>
                <a:latin typeface="Georgia" panose="02040502050405020303" pitchFamily="18" charset="0"/>
              </a:endParaRPr>
            </a:p>
          </p:txBody>
        </p:sp>
      </p:grpSp>
      <p:sp>
        <p:nvSpPr>
          <p:cNvPr id="442" name="Rectangle 441">
            <a:extLst>
              <a:ext uri="{FF2B5EF4-FFF2-40B4-BE49-F238E27FC236}">
                <a16:creationId xmlns:a16="http://schemas.microsoft.com/office/drawing/2014/main" id="{3478F7D1-C76B-E02B-2F59-46CC5B17A006}"/>
              </a:ext>
            </a:extLst>
          </p:cNvPr>
          <p:cNvSpPr/>
          <p:nvPr/>
        </p:nvSpPr>
        <p:spPr>
          <a:xfrm>
            <a:off x="670084" y="1178591"/>
            <a:ext cx="4626379" cy="2198237"/>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Georgia" panose="02040502050405020303" pitchFamily="18" charset="0"/>
            </a:endParaRPr>
          </a:p>
        </p:txBody>
      </p:sp>
      <p:sp>
        <p:nvSpPr>
          <p:cNvPr id="444" name="Text 64">
            <a:extLst>
              <a:ext uri="{FF2B5EF4-FFF2-40B4-BE49-F238E27FC236}">
                <a16:creationId xmlns:a16="http://schemas.microsoft.com/office/drawing/2014/main" id="{CE13E9BC-5DE0-A537-F1F9-47B2889352DA}"/>
              </a:ext>
            </a:extLst>
          </p:cNvPr>
          <p:cNvSpPr/>
          <p:nvPr/>
        </p:nvSpPr>
        <p:spPr>
          <a:xfrm>
            <a:off x="7060489" y="1699611"/>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20 FPOs</a:t>
            </a:r>
          </a:p>
          <a:p>
            <a:r>
              <a:rPr lang="en-US" sz="900" b="1" dirty="0">
                <a:solidFill>
                  <a:srgbClr val="14342B"/>
                </a:solidFill>
                <a:latin typeface="Georgia" panose="02040502050405020303" pitchFamily="18" charset="0"/>
                <a:ea typeface="Inter" pitchFamily="34" charset="-122"/>
              </a:rPr>
              <a:t>WDD FPOs</a:t>
            </a:r>
          </a:p>
          <a:p>
            <a:r>
              <a:rPr lang="en-US" sz="600" b="1" dirty="0">
                <a:solidFill>
                  <a:srgbClr val="14342B"/>
                </a:solidFill>
                <a:latin typeface="Georgia" panose="02040502050405020303" pitchFamily="18" charset="0"/>
                <a:ea typeface="Inter" pitchFamily="34" charset="-122"/>
              </a:rPr>
              <a:t>₹ </a:t>
            </a:r>
            <a:r>
              <a:rPr lang="en-US" sz="600" b="1" dirty="0">
                <a:latin typeface="Georgia" panose="02040502050405020303" pitchFamily="18" charset="0"/>
                <a:ea typeface="Inter" pitchFamily="34" charset="-122"/>
              </a:rPr>
              <a:t>2 Cr total transactions in FY 23-24</a:t>
            </a:r>
          </a:p>
          <a:p>
            <a:r>
              <a:rPr lang="en-US" sz="700" b="1" i="1" dirty="0">
                <a:solidFill>
                  <a:srgbClr val="14342B"/>
                </a:solidFill>
                <a:latin typeface="Georgia" panose="02040502050405020303" pitchFamily="18" charset="0"/>
                <a:ea typeface="Inter" pitchFamily="34" charset="-122"/>
              </a:rPr>
              <a:t>Key crops: Onion, Pomegranate</a:t>
            </a:r>
          </a:p>
        </p:txBody>
      </p:sp>
      <p:grpSp>
        <p:nvGrpSpPr>
          <p:cNvPr id="456" name="Group 455">
            <a:extLst>
              <a:ext uri="{FF2B5EF4-FFF2-40B4-BE49-F238E27FC236}">
                <a16:creationId xmlns:a16="http://schemas.microsoft.com/office/drawing/2014/main" id="{EE98948F-FD3B-18D1-21F8-324C4C8D5D20}"/>
              </a:ext>
            </a:extLst>
          </p:cNvPr>
          <p:cNvGrpSpPr/>
          <p:nvPr/>
        </p:nvGrpSpPr>
        <p:grpSpPr>
          <a:xfrm>
            <a:off x="5396858" y="3086359"/>
            <a:ext cx="3171196" cy="2367034"/>
            <a:chOff x="5562604" y="1159491"/>
            <a:chExt cx="5186930" cy="3576788"/>
          </a:xfrm>
        </p:grpSpPr>
        <p:grpSp>
          <p:nvGrpSpPr>
            <p:cNvPr id="464" name="Group 463">
              <a:extLst>
                <a:ext uri="{FF2B5EF4-FFF2-40B4-BE49-F238E27FC236}">
                  <a16:creationId xmlns:a16="http://schemas.microsoft.com/office/drawing/2014/main" id="{0CD2A835-1CAD-F5DB-E56A-DB2B179AEED7}"/>
                </a:ext>
              </a:extLst>
            </p:cNvPr>
            <p:cNvGrpSpPr/>
            <p:nvPr/>
          </p:nvGrpSpPr>
          <p:grpSpPr>
            <a:xfrm>
              <a:off x="5584470" y="2807907"/>
              <a:ext cx="2477333" cy="1928372"/>
              <a:chOff x="10002347" y="7336157"/>
              <a:chExt cx="3644503" cy="3480966"/>
            </a:xfrm>
          </p:grpSpPr>
          <p:sp>
            <p:nvSpPr>
              <p:cNvPr id="470" name="Shape 61">
                <a:extLst>
                  <a:ext uri="{FF2B5EF4-FFF2-40B4-BE49-F238E27FC236}">
                    <a16:creationId xmlns:a16="http://schemas.microsoft.com/office/drawing/2014/main" id="{BA7A0B1C-2692-7FDD-1B5F-F7DEE5AD38E9}"/>
                  </a:ext>
                </a:extLst>
              </p:cNvPr>
              <p:cNvSpPr/>
              <p:nvPr/>
            </p:nvSpPr>
            <p:spPr>
              <a:xfrm>
                <a:off x="10002347" y="8622563"/>
                <a:ext cx="3644503" cy="2194560"/>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71" name="Text 63">
                <a:extLst>
                  <a:ext uri="{FF2B5EF4-FFF2-40B4-BE49-F238E27FC236}">
                    <a16:creationId xmlns:a16="http://schemas.microsoft.com/office/drawing/2014/main" id="{14856F03-E5C9-3573-7E30-1B3A9BABF181}"/>
                  </a:ext>
                </a:extLst>
              </p:cNvPr>
              <p:cNvSpPr/>
              <p:nvPr/>
            </p:nvSpPr>
            <p:spPr>
              <a:xfrm>
                <a:off x="10482754" y="7336157"/>
                <a:ext cx="1341846" cy="312420"/>
              </a:xfrm>
              <a:prstGeom prst="rect">
                <a:avLst/>
              </a:prstGeom>
              <a:noFill/>
              <a:ln/>
            </p:spPr>
            <p:txBody>
              <a:bodyPr wrap="square" lIns="25400" tIns="25400" rIns="25400" bIns="25400" rtlCol="0" anchor="t">
                <a:normAutofit fontScale="25000" lnSpcReduction="20000"/>
              </a:bodyPr>
              <a:lstStyle/>
              <a:p>
                <a:endParaRPr lang="en-US" dirty="0">
                  <a:latin typeface="Georgia" panose="02040502050405020303" pitchFamily="18" charset="0"/>
                </a:endParaRPr>
              </a:p>
            </p:txBody>
          </p:sp>
        </p:grpSp>
        <p:grpSp>
          <p:nvGrpSpPr>
            <p:cNvPr id="465" name="Group 464">
              <a:extLst>
                <a:ext uri="{FF2B5EF4-FFF2-40B4-BE49-F238E27FC236}">
                  <a16:creationId xmlns:a16="http://schemas.microsoft.com/office/drawing/2014/main" id="{8AA2C314-261F-40C9-C8E9-876DC5D05FBC}"/>
                </a:ext>
              </a:extLst>
            </p:cNvPr>
            <p:cNvGrpSpPr/>
            <p:nvPr/>
          </p:nvGrpSpPr>
          <p:grpSpPr>
            <a:xfrm>
              <a:off x="5562604" y="1159492"/>
              <a:ext cx="2511882" cy="1342766"/>
              <a:chOff x="9970175" y="6791328"/>
              <a:chExt cx="3695328" cy="2423870"/>
            </a:xfrm>
          </p:grpSpPr>
          <p:sp>
            <p:nvSpPr>
              <p:cNvPr id="468" name="Shape 61">
                <a:extLst>
                  <a:ext uri="{FF2B5EF4-FFF2-40B4-BE49-F238E27FC236}">
                    <a16:creationId xmlns:a16="http://schemas.microsoft.com/office/drawing/2014/main" id="{71707BC6-6A96-350A-F3CF-476CF6AE9275}"/>
                  </a:ext>
                </a:extLst>
              </p:cNvPr>
              <p:cNvSpPr/>
              <p:nvPr/>
            </p:nvSpPr>
            <p:spPr>
              <a:xfrm>
                <a:off x="9970175" y="6791328"/>
                <a:ext cx="3644503"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9" name="Text 64">
                <a:extLst>
                  <a:ext uri="{FF2B5EF4-FFF2-40B4-BE49-F238E27FC236}">
                    <a16:creationId xmlns:a16="http://schemas.microsoft.com/office/drawing/2014/main" id="{52FE4320-D0A0-A686-BB39-436C8A28B222}"/>
                  </a:ext>
                </a:extLst>
              </p:cNvPr>
              <p:cNvSpPr/>
              <p:nvPr/>
            </p:nvSpPr>
            <p:spPr>
              <a:xfrm>
                <a:off x="10025634" y="6852622"/>
                <a:ext cx="3639869" cy="2362576"/>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1,28,573 MT capacity</a:t>
                </a:r>
              </a:p>
              <a:p>
                <a:r>
                  <a:rPr lang="en-US" sz="900" b="1" dirty="0">
                    <a:solidFill>
                      <a:srgbClr val="14342B"/>
                    </a:solidFill>
                    <a:latin typeface="Georgia" panose="02040502050405020303" pitchFamily="18" charset="0"/>
                    <a:ea typeface="Inter" pitchFamily="34" charset="-122"/>
                  </a:rPr>
                  <a:t>Cold storage units</a:t>
                </a:r>
              </a:p>
              <a:p>
                <a:r>
                  <a:rPr lang="en-US" sz="700" b="1" i="1" dirty="0">
                    <a:solidFill>
                      <a:srgbClr val="14342B"/>
                    </a:solidFill>
                    <a:latin typeface="Georgia" panose="02040502050405020303" pitchFamily="18" charset="0"/>
                    <a:ea typeface="Inter" pitchFamily="34" charset="-122"/>
                  </a:rPr>
                  <a:t>Key crops: Vegetables and fruits, Grape, Potato, Pomegranate</a:t>
                </a:r>
              </a:p>
            </p:txBody>
          </p:sp>
        </p:grpSp>
        <p:sp>
          <p:nvSpPr>
            <p:cNvPr id="466" name="Shape 61">
              <a:extLst>
                <a:ext uri="{FF2B5EF4-FFF2-40B4-BE49-F238E27FC236}">
                  <a16:creationId xmlns:a16="http://schemas.microsoft.com/office/drawing/2014/main" id="{4B639F3C-6990-DEB8-F50F-CF246E8C1D4C}"/>
                </a:ext>
              </a:extLst>
            </p:cNvPr>
            <p:cNvSpPr/>
            <p:nvPr/>
          </p:nvSpPr>
          <p:spPr>
            <a:xfrm>
              <a:off x="8272049" y="1159491"/>
              <a:ext cx="2477333" cy="121573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67" name="Shape 61">
              <a:extLst>
                <a:ext uri="{FF2B5EF4-FFF2-40B4-BE49-F238E27FC236}">
                  <a16:creationId xmlns:a16="http://schemas.microsoft.com/office/drawing/2014/main" id="{0EB0FB24-BA0F-AD19-8643-8D482C0C4009}"/>
                </a:ext>
              </a:extLst>
            </p:cNvPr>
            <p:cNvSpPr/>
            <p:nvPr/>
          </p:nvSpPr>
          <p:spPr>
            <a:xfrm>
              <a:off x="8272201" y="3518776"/>
              <a:ext cx="2477333" cy="1215733"/>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grpSp>
      <p:sp>
        <p:nvSpPr>
          <p:cNvPr id="458" name="Shape 61">
            <a:extLst>
              <a:ext uri="{FF2B5EF4-FFF2-40B4-BE49-F238E27FC236}">
                <a16:creationId xmlns:a16="http://schemas.microsoft.com/office/drawing/2014/main" id="{5855062B-0736-00D2-9FE5-6591AE040090}"/>
              </a:ext>
            </a:extLst>
          </p:cNvPr>
          <p:cNvSpPr/>
          <p:nvPr/>
        </p:nvSpPr>
        <p:spPr>
          <a:xfrm>
            <a:off x="8760502" y="4647678"/>
            <a:ext cx="1514597"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grpSp>
        <p:nvGrpSpPr>
          <p:cNvPr id="461" name="Group 460">
            <a:extLst>
              <a:ext uri="{FF2B5EF4-FFF2-40B4-BE49-F238E27FC236}">
                <a16:creationId xmlns:a16="http://schemas.microsoft.com/office/drawing/2014/main" id="{9395A54E-EC73-06E2-172E-AA39F82F1C75}"/>
              </a:ext>
            </a:extLst>
          </p:cNvPr>
          <p:cNvGrpSpPr/>
          <p:nvPr/>
        </p:nvGrpSpPr>
        <p:grpSpPr>
          <a:xfrm>
            <a:off x="8846775" y="4663672"/>
            <a:ext cx="3047751" cy="804544"/>
            <a:chOff x="6068207" y="8643943"/>
            <a:chExt cx="7333658" cy="2194560"/>
          </a:xfrm>
        </p:grpSpPr>
        <p:sp>
          <p:nvSpPr>
            <p:cNvPr id="462" name="Shape 61">
              <a:extLst>
                <a:ext uri="{FF2B5EF4-FFF2-40B4-BE49-F238E27FC236}">
                  <a16:creationId xmlns:a16="http://schemas.microsoft.com/office/drawing/2014/main" id="{484F5128-A1A9-2C54-4BC0-AD5B7801A557}"/>
                </a:ext>
              </a:extLst>
            </p:cNvPr>
            <p:cNvSpPr/>
            <p:nvPr/>
          </p:nvSpPr>
          <p:spPr>
            <a:xfrm>
              <a:off x="9757361" y="8643943"/>
              <a:ext cx="3644504"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3" name="Text 64">
              <a:extLst>
                <a:ext uri="{FF2B5EF4-FFF2-40B4-BE49-F238E27FC236}">
                  <a16:creationId xmlns:a16="http://schemas.microsoft.com/office/drawing/2014/main" id="{93535F3A-906F-6EC7-5888-F0444772E77F}"/>
                </a:ext>
              </a:extLst>
            </p:cNvPr>
            <p:cNvSpPr/>
            <p:nvPr/>
          </p:nvSpPr>
          <p:spPr>
            <a:xfrm>
              <a:off x="6068207" y="8813647"/>
              <a:ext cx="3370181" cy="312421"/>
            </a:xfrm>
            <a:prstGeom prst="rect">
              <a:avLst/>
            </a:prstGeom>
            <a:noFill/>
            <a:ln/>
          </p:spPr>
          <p:txBody>
            <a:bodyPr wrap="square" lIns="25400" tIns="25400" rIns="25400" bIns="25400" rtlCol="0" anchor="t">
              <a:noAutofit/>
            </a:bodyPr>
            <a:lstStyle/>
            <a:p>
              <a:r>
                <a:rPr lang="en-US" sz="900" b="1" dirty="0">
                  <a:latin typeface="Georgia" panose="02040502050405020303" pitchFamily="18" charset="0"/>
                </a:rPr>
                <a:t>Agricultural training centers</a:t>
              </a:r>
            </a:p>
            <a:p>
              <a:endParaRPr lang="en-US" sz="900" b="1" dirty="0">
                <a:latin typeface="Georgia" panose="02040502050405020303" pitchFamily="18" charset="0"/>
              </a:endParaRPr>
            </a:p>
            <a:p>
              <a:r>
                <a:rPr lang="en-US" sz="700" dirty="0">
                  <a:solidFill>
                    <a:srgbClr val="14342B"/>
                  </a:solidFill>
                  <a:latin typeface="Georgia" panose="02040502050405020303" pitchFamily="18" charset="0"/>
                  <a:ea typeface="Fraunces" pitchFamily="34" charset="-122"/>
                </a:rPr>
                <a:t>Bidar, Kalaburagi, Raichur</a:t>
              </a:r>
              <a:endParaRPr lang="en-US" sz="900" dirty="0">
                <a:latin typeface="Georgia" panose="02040502050405020303" pitchFamily="18" charset="0"/>
              </a:endParaRPr>
            </a:p>
          </p:txBody>
        </p:sp>
      </p:grpSp>
      <p:sp>
        <p:nvSpPr>
          <p:cNvPr id="455" name="Shape 41">
            <a:extLst>
              <a:ext uri="{FF2B5EF4-FFF2-40B4-BE49-F238E27FC236}">
                <a16:creationId xmlns:a16="http://schemas.microsoft.com/office/drawing/2014/main" id="{FE6AC85E-0148-8143-7800-80056DAB235E}"/>
              </a:ext>
            </a:extLst>
          </p:cNvPr>
          <p:cNvSpPr/>
          <p:nvPr/>
        </p:nvSpPr>
        <p:spPr>
          <a:xfrm>
            <a:off x="5396856" y="2586448"/>
            <a:ext cx="4478287" cy="407388"/>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452" name="Text 42">
            <a:extLst>
              <a:ext uri="{FF2B5EF4-FFF2-40B4-BE49-F238E27FC236}">
                <a16:creationId xmlns:a16="http://schemas.microsoft.com/office/drawing/2014/main" id="{3BEBB0C0-4B86-DEDB-CEB5-72389A5F4D33}"/>
              </a:ext>
            </a:extLst>
          </p:cNvPr>
          <p:cNvSpPr/>
          <p:nvPr/>
        </p:nvSpPr>
        <p:spPr>
          <a:xfrm>
            <a:off x="5520689" y="2663492"/>
            <a:ext cx="3769226" cy="233672"/>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Ecosystem for all fruits and vegetables</a:t>
            </a:r>
          </a:p>
        </p:txBody>
      </p:sp>
      <p:sp>
        <p:nvSpPr>
          <p:cNvPr id="453" name="Text 65">
            <a:extLst>
              <a:ext uri="{FF2B5EF4-FFF2-40B4-BE49-F238E27FC236}">
                <a16:creationId xmlns:a16="http://schemas.microsoft.com/office/drawing/2014/main" id="{2A2DC419-055E-2CFF-2762-8C7FB4F29249}"/>
              </a:ext>
            </a:extLst>
          </p:cNvPr>
          <p:cNvSpPr/>
          <p:nvPr/>
        </p:nvSpPr>
        <p:spPr>
          <a:xfrm>
            <a:off x="5520689" y="3654421"/>
            <a:ext cx="1447800" cy="77197"/>
          </a:xfrm>
          <a:prstGeom prst="rect">
            <a:avLst/>
          </a:prstGeom>
          <a:noFill/>
          <a:ln/>
        </p:spPr>
        <p:txBody>
          <a:bodyPr wrap="square" lIns="25400" tIns="25400" rIns="25400" bIns="25400" rtlCol="0" anchor="t">
            <a:noAutofit/>
          </a:bodyPr>
          <a:lstStyle/>
          <a:p>
            <a:endParaRPr lang="en-US" sz="700" dirty="0">
              <a:solidFill>
                <a:srgbClr val="0B6E78"/>
              </a:solidFill>
              <a:latin typeface="Georgia" panose="02040502050405020303" pitchFamily="18" charset="0"/>
              <a:ea typeface="JetBrains Mono" pitchFamily="34" charset="-122"/>
              <a:cs typeface="JetBrains Mono" pitchFamily="34" charset="-120"/>
            </a:endParaRPr>
          </a:p>
        </p:txBody>
      </p:sp>
      <p:sp>
        <p:nvSpPr>
          <p:cNvPr id="472" name="Text 64">
            <a:extLst>
              <a:ext uri="{FF2B5EF4-FFF2-40B4-BE49-F238E27FC236}">
                <a16:creationId xmlns:a16="http://schemas.microsoft.com/office/drawing/2014/main" id="{74EE5103-D9AA-A427-57DE-AE0C42E62773}"/>
              </a:ext>
            </a:extLst>
          </p:cNvPr>
          <p:cNvSpPr/>
          <p:nvPr/>
        </p:nvSpPr>
        <p:spPr>
          <a:xfrm>
            <a:off x="7095613" y="3136640"/>
            <a:ext cx="1495246" cy="846293"/>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41 FPOs</a:t>
            </a:r>
          </a:p>
          <a:p>
            <a:r>
              <a:rPr lang="en-US" sz="900" b="1" dirty="0">
                <a:solidFill>
                  <a:srgbClr val="14342B"/>
                </a:solidFill>
                <a:latin typeface="Georgia" panose="02040502050405020303" pitchFamily="18" charset="0"/>
                <a:ea typeface="Inter" pitchFamily="34" charset="-122"/>
              </a:rPr>
              <a:t>WDD FPOs</a:t>
            </a:r>
          </a:p>
          <a:p>
            <a:r>
              <a:rPr lang="en-US" sz="600" b="1" dirty="0">
                <a:solidFill>
                  <a:srgbClr val="14342B"/>
                </a:solidFill>
                <a:latin typeface="Georgia" panose="02040502050405020303" pitchFamily="18" charset="0"/>
                <a:ea typeface="Inter" pitchFamily="34" charset="-122"/>
              </a:rPr>
              <a:t>₹ 13 </a:t>
            </a:r>
            <a:r>
              <a:rPr lang="en-US" sz="600" b="1" dirty="0">
                <a:latin typeface="Georgia" panose="02040502050405020303" pitchFamily="18" charset="0"/>
                <a:ea typeface="Inter" pitchFamily="34" charset="-122"/>
              </a:rPr>
              <a:t>Cr total transactions in FY 23-24</a:t>
            </a:r>
          </a:p>
          <a:p>
            <a:r>
              <a:rPr lang="en-US" sz="700" b="1" i="1" dirty="0">
                <a:solidFill>
                  <a:srgbClr val="14342B"/>
                </a:solidFill>
                <a:latin typeface="Georgia" panose="02040502050405020303" pitchFamily="18" charset="0"/>
                <a:ea typeface="Inter" pitchFamily="34" charset="-122"/>
              </a:rPr>
              <a:t>Key crops: Soyabean, Onion, Pomegranate</a:t>
            </a:r>
          </a:p>
        </p:txBody>
      </p:sp>
      <p:grpSp>
        <p:nvGrpSpPr>
          <p:cNvPr id="8" name="Group 7">
            <a:extLst>
              <a:ext uri="{FF2B5EF4-FFF2-40B4-BE49-F238E27FC236}">
                <a16:creationId xmlns:a16="http://schemas.microsoft.com/office/drawing/2014/main" id="{C131428F-71A3-CE62-C805-7226A21CD7FC}"/>
              </a:ext>
            </a:extLst>
          </p:cNvPr>
          <p:cNvGrpSpPr/>
          <p:nvPr/>
        </p:nvGrpSpPr>
        <p:grpSpPr>
          <a:xfrm>
            <a:off x="8733202" y="3048000"/>
            <a:ext cx="1864116" cy="842903"/>
            <a:chOff x="10366381" y="3048000"/>
            <a:chExt cx="1864116" cy="842903"/>
          </a:xfrm>
        </p:grpSpPr>
        <p:sp>
          <p:nvSpPr>
            <p:cNvPr id="460" name="Shape 61">
              <a:extLst>
                <a:ext uri="{FF2B5EF4-FFF2-40B4-BE49-F238E27FC236}">
                  <a16:creationId xmlns:a16="http://schemas.microsoft.com/office/drawing/2014/main" id="{2A3665B2-CBE7-F315-9EAF-A05D2581A023}"/>
                </a:ext>
              </a:extLst>
            </p:cNvPr>
            <p:cNvSpPr/>
            <p:nvPr/>
          </p:nvSpPr>
          <p:spPr>
            <a:xfrm>
              <a:off x="10366381" y="3086359"/>
              <a:ext cx="1717018"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74" name="Text 64">
              <a:extLst>
                <a:ext uri="{FF2B5EF4-FFF2-40B4-BE49-F238E27FC236}">
                  <a16:creationId xmlns:a16="http://schemas.microsoft.com/office/drawing/2014/main" id="{DA517F6D-7BD0-29ED-3FC4-1B71D1659749}"/>
                </a:ext>
              </a:extLst>
            </p:cNvPr>
            <p:cNvSpPr/>
            <p:nvPr/>
          </p:nvSpPr>
          <p:spPr>
            <a:xfrm>
              <a:off x="10411087" y="3048000"/>
              <a:ext cx="1819410"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1241 MT</a:t>
              </a:r>
            </a:p>
            <a:p>
              <a:r>
                <a:rPr lang="en-US" sz="900" b="1" dirty="0">
                  <a:solidFill>
                    <a:srgbClr val="14342B"/>
                  </a:solidFill>
                  <a:latin typeface="Georgia" panose="02040502050405020303" pitchFamily="18" charset="0"/>
                  <a:ea typeface="Inter" pitchFamily="34" charset="-122"/>
                </a:rPr>
                <a:t>Horticulture Department FPOs</a:t>
              </a:r>
            </a:p>
            <a:p>
              <a:r>
                <a:rPr lang="en-US" sz="600" b="1" dirty="0">
                  <a:solidFill>
                    <a:srgbClr val="14342B"/>
                  </a:solidFill>
                  <a:latin typeface="Georgia" panose="02040502050405020303" pitchFamily="18" charset="0"/>
                  <a:ea typeface="Inter" pitchFamily="34" charset="-122"/>
                </a:rPr>
                <a:t>₹1,23,28,688 transactions in FY 23-24</a:t>
              </a:r>
            </a:p>
            <a:p>
              <a:r>
                <a:rPr lang="en-US" sz="700" b="1" i="1" dirty="0">
                  <a:solidFill>
                    <a:srgbClr val="14342B"/>
                  </a:solidFill>
                  <a:latin typeface="Georgia" panose="02040502050405020303" pitchFamily="18" charset="0"/>
                  <a:ea typeface="Inter" pitchFamily="34" charset="-122"/>
                </a:rPr>
                <a:t>Key crops: Watermelon, Tomato, Cabbage, Onion, Guava</a:t>
              </a:r>
            </a:p>
          </p:txBody>
        </p:sp>
      </p:grpSp>
      <p:sp>
        <p:nvSpPr>
          <p:cNvPr id="475" name="Text 64">
            <a:extLst>
              <a:ext uri="{FF2B5EF4-FFF2-40B4-BE49-F238E27FC236}">
                <a16:creationId xmlns:a16="http://schemas.microsoft.com/office/drawing/2014/main" id="{F165466A-8A49-1442-5D1A-78346B8AA743}"/>
              </a:ext>
            </a:extLst>
          </p:cNvPr>
          <p:cNvSpPr/>
          <p:nvPr/>
        </p:nvSpPr>
        <p:spPr>
          <a:xfrm>
            <a:off x="5451075" y="4731209"/>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9 centers</a:t>
            </a:r>
          </a:p>
          <a:p>
            <a:r>
              <a:rPr lang="en-US" sz="900" b="1" dirty="0">
                <a:solidFill>
                  <a:srgbClr val="14342B"/>
                </a:solidFill>
                <a:latin typeface="Georgia" panose="02040502050405020303" pitchFamily="18" charset="0"/>
                <a:ea typeface="Inter" pitchFamily="34" charset="-122"/>
              </a:rPr>
              <a:t>Seed production centers</a:t>
            </a:r>
          </a:p>
          <a:p>
            <a:r>
              <a:rPr lang="en-US" sz="600" b="1" dirty="0">
                <a:latin typeface="Georgia" panose="02040502050405020303" pitchFamily="18" charset="0"/>
                <a:ea typeface="Inter" pitchFamily="34" charset="-122"/>
              </a:rPr>
              <a:t>70 ha total</a:t>
            </a:r>
          </a:p>
        </p:txBody>
      </p:sp>
      <p:sp>
        <p:nvSpPr>
          <p:cNvPr id="476" name="Text 64">
            <a:extLst>
              <a:ext uri="{FF2B5EF4-FFF2-40B4-BE49-F238E27FC236}">
                <a16:creationId xmlns:a16="http://schemas.microsoft.com/office/drawing/2014/main" id="{9B48C964-7231-08AE-2258-51C3BA903FCC}"/>
              </a:ext>
            </a:extLst>
          </p:cNvPr>
          <p:cNvSpPr/>
          <p:nvPr/>
        </p:nvSpPr>
        <p:spPr>
          <a:xfrm>
            <a:off x="7104635" y="4723714"/>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47 farms</a:t>
            </a:r>
          </a:p>
          <a:p>
            <a:r>
              <a:rPr lang="en-US" sz="900" b="1" dirty="0">
                <a:solidFill>
                  <a:srgbClr val="14342B"/>
                </a:solidFill>
                <a:latin typeface="Georgia" panose="02040502050405020303" pitchFamily="18" charset="0"/>
                <a:ea typeface="Inter" pitchFamily="34" charset="-122"/>
              </a:rPr>
              <a:t>Horticulture farms &amp; nurseries</a:t>
            </a:r>
          </a:p>
          <a:p>
            <a:r>
              <a:rPr lang="en-US" sz="600" b="1" dirty="0">
                <a:latin typeface="Georgia" panose="02040502050405020303" pitchFamily="18" charset="0"/>
                <a:ea typeface="Inter" pitchFamily="34" charset="-122"/>
              </a:rPr>
              <a:t>1154 acres</a:t>
            </a:r>
          </a:p>
        </p:txBody>
      </p:sp>
      <p:sp>
        <p:nvSpPr>
          <p:cNvPr id="477" name="Text 64">
            <a:extLst>
              <a:ext uri="{FF2B5EF4-FFF2-40B4-BE49-F238E27FC236}">
                <a16:creationId xmlns:a16="http://schemas.microsoft.com/office/drawing/2014/main" id="{36247577-5192-B0D3-46E4-E746BE6106A5}"/>
              </a:ext>
            </a:extLst>
          </p:cNvPr>
          <p:cNvSpPr/>
          <p:nvPr/>
        </p:nvSpPr>
        <p:spPr>
          <a:xfrm>
            <a:off x="10450220" y="4702920"/>
            <a:ext cx="724087"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16</a:t>
            </a:r>
          </a:p>
          <a:p>
            <a:r>
              <a:rPr lang="en-US" sz="900" b="1" dirty="0">
                <a:solidFill>
                  <a:srgbClr val="14342B"/>
                </a:solidFill>
                <a:latin typeface="Georgia" panose="02040502050405020303" pitchFamily="18" charset="0"/>
                <a:ea typeface="Inter" pitchFamily="34" charset="-122"/>
              </a:rPr>
              <a:t>SHGs</a:t>
            </a:r>
          </a:p>
        </p:txBody>
      </p:sp>
      <p:grpSp>
        <p:nvGrpSpPr>
          <p:cNvPr id="10" name="Group 9">
            <a:extLst>
              <a:ext uri="{FF2B5EF4-FFF2-40B4-BE49-F238E27FC236}">
                <a16:creationId xmlns:a16="http://schemas.microsoft.com/office/drawing/2014/main" id="{659F0E9A-476C-3219-63A6-7789DB321936}"/>
              </a:ext>
            </a:extLst>
          </p:cNvPr>
          <p:cNvGrpSpPr/>
          <p:nvPr/>
        </p:nvGrpSpPr>
        <p:grpSpPr>
          <a:xfrm>
            <a:off x="607208" y="5562600"/>
            <a:ext cx="11229576" cy="630942"/>
            <a:chOff x="607208" y="5699680"/>
            <a:chExt cx="11229576" cy="630942"/>
          </a:xfrm>
        </p:grpSpPr>
        <p:sp>
          <p:nvSpPr>
            <p:cNvPr id="16" name="TextBox 15">
              <a:extLst>
                <a:ext uri="{FF2B5EF4-FFF2-40B4-BE49-F238E27FC236}">
                  <a16:creationId xmlns:a16="http://schemas.microsoft.com/office/drawing/2014/main" id="{3C0C3BF5-5661-0E58-768E-ACC32FFB7EA6}"/>
                </a:ext>
              </a:extLst>
            </p:cNvPr>
            <p:cNvSpPr txBox="1"/>
            <p:nvPr/>
          </p:nvSpPr>
          <p:spPr>
            <a:xfrm>
              <a:off x="607208" y="5699680"/>
              <a:ext cx="6269957" cy="630942"/>
            </a:xfrm>
            <a:prstGeom prst="rect">
              <a:avLst/>
            </a:prstGeom>
            <a:noFill/>
          </p:spPr>
          <p:txBody>
            <a:bodyPr wrap="square" rtlCol="0">
              <a:spAutoFit/>
            </a:bodyPr>
            <a:lstStyle/>
            <a:p>
              <a:r>
                <a:rPr lang="en-US" sz="800" i="1" dirty="0">
                  <a:latin typeface="Georgia" panose="02040502050405020303" pitchFamily="18" charset="0"/>
                </a:rPr>
                <a:t>Sources: As per the internal data shared by the following departments under Government of Karnataka, as of March 2026:</a:t>
              </a:r>
            </a:p>
            <a:p>
              <a:endParaRPr lang="en-US" sz="300" i="1" dirty="0">
                <a:latin typeface="Georgia" panose="02040502050405020303" pitchFamily="18" charset="0"/>
              </a:endParaRPr>
            </a:p>
            <a:p>
              <a:pPr marL="228600" indent="-228600">
                <a:buFont typeface="Arial" panose="020B0604020202020204" pitchFamily="34" charset="0"/>
                <a:buChar char="•"/>
              </a:pPr>
              <a:r>
                <a:rPr lang="en-IN" sz="800" i="1" dirty="0">
                  <a:latin typeface="Georgia" panose="02040502050405020303" pitchFamily="18" charset="0"/>
                </a:rPr>
                <a:t>KAPPEC – Processing infrastructure</a:t>
              </a:r>
            </a:p>
            <a:p>
              <a:pPr marL="228600" indent="-228600">
                <a:buFont typeface="Arial" panose="020B0604020202020204" pitchFamily="34" charset="0"/>
                <a:buChar char="•"/>
              </a:pPr>
              <a:r>
                <a:rPr lang="en-IN" sz="800" i="1" dirty="0">
                  <a:latin typeface="Georgia" panose="02040502050405020303" pitchFamily="18" charset="0"/>
                </a:rPr>
                <a:t>Directorate of horticulture – Cold storage infrastructure, Horticulture farms/nurseries, Horticulture department FPOs</a:t>
              </a:r>
            </a:p>
            <a:p>
              <a:pPr marL="228600" indent="-228600">
                <a:buFont typeface="Arial" panose="020B0604020202020204" pitchFamily="34" charset="0"/>
                <a:buChar char="•"/>
              </a:pPr>
              <a:r>
                <a:rPr lang="en-IN" sz="800" i="1" dirty="0">
                  <a:latin typeface="Georgia" panose="02040502050405020303" pitchFamily="18" charset="0"/>
                </a:rPr>
                <a:t>Watershed development department – WDD FPOs</a:t>
              </a:r>
            </a:p>
          </p:txBody>
        </p:sp>
        <p:sp>
          <p:nvSpPr>
            <p:cNvPr id="5" name="TextBox 4">
              <a:extLst>
                <a:ext uri="{FF2B5EF4-FFF2-40B4-BE49-F238E27FC236}">
                  <a16:creationId xmlns:a16="http://schemas.microsoft.com/office/drawing/2014/main" id="{059FC862-27A8-4FE1-AB03-247DA156B8DC}"/>
                </a:ext>
              </a:extLst>
            </p:cNvPr>
            <p:cNvSpPr txBox="1"/>
            <p:nvPr/>
          </p:nvSpPr>
          <p:spPr>
            <a:xfrm>
              <a:off x="6400800" y="5977539"/>
              <a:ext cx="4953000" cy="338554"/>
            </a:xfrm>
            <a:prstGeom prst="rect">
              <a:avLst/>
            </a:prstGeom>
            <a:noFill/>
          </p:spPr>
          <p:txBody>
            <a:bodyPr wrap="square" rtlCol="0">
              <a:spAutoFit/>
            </a:bodyPr>
            <a:lstStyle/>
            <a:p>
              <a:pPr marL="228600" indent="-228600">
                <a:buFont typeface="Arial" panose="020B0604020202020204" pitchFamily="34" charset="0"/>
                <a:buChar char="•"/>
              </a:pPr>
              <a:r>
                <a:rPr lang="en-IN" sz="800" i="1" dirty="0">
                  <a:latin typeface="Georgia" panose="02040502050405020303" pitchFamily="18" charset="0"/>
                </a:rPr>
                <a:t>Department of agriculture – Seed production </a:t>
              </a:r>
              <a:r>
                <a:rPr lang="en-IN" sz="800" i="1" dirty="0" err="1">
                  <a:latin typeface="Georgia" panose="02040502050405020303" pitchFamily="18" charset="0"/>
                </a:rPr>
                <a:t>centers</a:t>
              </a:r>
              <a:r>
                <a:rPr lang="en-IN" sz="800" i="1" dirty="0">
                  <a:latin typeface="Georgia" panose="02040502050405020303" pitchFamily="18" charset="0"/>
                </a:rPr>
                <a:t>, Agricultural training </a:t>
              </a:r>
              <a:r>
                <a:rPr lang="en-IN" sz="800" i="1" dirty="0" err="1">
                  <a:latin typeface="Georgia" panose="02040502050405020303" pitchFamily="18" charset="0"/>
                </a:rPr>
                <a:t>centers</a:t>
              </a:r>
              <a:endParaRPr lang="en-IN" sz="800" i="1" dirty="0">
                <a:latin typeface="Georgia" panose="02040502050405020303" pitchFamily="18" charset="0"/>
              </a:endParaRPr>
            </a:p>
            <a:p>
              <a:pPr marL="228600" indent="-228600">
                <a:buFont typeface="Arial" panose="020B0604020202020204" pitchFamily="34" charset="0"/>
                <a:buChar char="•"/>
              </a:pPr>
              <a:r>
                <a:rPr lang="en-IN" sz="800" i="1" dirty="0">
                  <a:latin typeface="Georgia" panose="02040502050405020303" pitchFamily="18" charset="0"/>
                </a:rPr>
                <a:t>KSRLPS - SHGs</a:t>
              </a:r>
            </a:p>
          </p:txBody>
        </p:sp>
        <p:sp>
          <p:nvSpPr>
            <p:cNvPr id="6" name="Rectangle 5">
              <a:extLst>
                <a:ext uri="{FF2B5EF4-FFF2-40B4-BE49-F238E27FC236}">
                  <a16:creationId xmlns:a16="http://schemas.microsoft.com/office/drawing/2014/main" id="{8423F82E-45DB-2656-F377-53FF6D80B59C}"/>
                </a:ext>
              </a:extLst>
            </p:cNvPr>
            <p:cNvSpPr/>
            <p:nvPr/>
          </p:nvSpPr>
          <p:spPr>
            <a:xfrm>
              <a:off x="640284" y="5737490"/>
              <a:ext cx="11196500" cy="576072"/>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00" dirty="0">
                <a:latin typeface="Georgia" panose="02040502050405020303" pitchFamily="18" charset="0"/>
              </a:endParaRPr>
            </a:p>
          </p:txBody>
        </p:sp>
      </p:grpSp>
      <p:sp>
        <p:nvSpPr>
          <p:cNvPr id="4" name="Shape 41">
            <a:extLst>
              <a:ext uri="{FF2B5EF4-FFF2-40B4-BE49-F238E27FC236}">
                <a16:creationId xmlns:a16="http://schemas.microsoft.com/office/drawing/2014/main" id="{5EAF3FC3-4098-C249-14D9-8F7FE609A6C6}"/>
              </a:ext>
            </a:extLst>
          </p:cNvPr>
          <p:cNvSpPr/>
          <p:nvPr/>
        </p:nvSpPr>
        <p:spPr>
          <a:xfrm>
            <a:off x="5409020" y="4066044"/>
            <a:ext cx="4478287" cy="407388"/>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9" name="Text 42">
            <a:extLst>
              <a:ext uri="{FF2B5EF4-FFF2-40B4-BE49-F238E27FC236}">
                <a16:creationId xmlns:a16="http://schemas.microsoft.com/office/drawing/2014/main" id="{4BD31C31-5ED7-84D2-C460-4F037C4606EB}"/>
              </a:ext>
            </a:extLst>
          </p:cNvPr>
          <p:cNvSpPr/>
          <p:nvPr/>
        </p:nvSpPr>
        <p:spPr>
          <a:xfrm>
            <a:off x="5486402" y="4142898"/>
            <a:ext cx="3769226" cy="233672"/>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Other infrastructure available</a:t>
            </a:r>
          </a:p>
        </p:txBody>
      </p:sp>
      <p:grpSp>
        <p:nvGrpSpPr>
          <p:cNvPr id="18" name="Group 17">
            <a:extLst>
              <a:ext uri="{FF2B5EF4-FFF2-40B4-BE49-F238E27FC236}">
                <a16:creationId xmlns:a16="http://schemas.microsoft.com/office/drawing/2014/main" id="{9CD5B7C0-7885-BBFD-9FB6-E5C2EB047EF8}"/>
              </a:ext>
            </a:extLst>
          </p:cNvPr>
          <p:cNvGrpSpPr/>
          <p:nvPr/>
        </p:nvGrpSpPr>
        <p:grpSpPr>
          <a:xfrm>
            <a:off x="8709872" y="1672533"/>
            <a:ext cx="1887446" cy="804544"/>
            <a:chOff x="8709873" y="1672533"/>
            <a:chExt cx="1712484" cy="804544"/>
          </a:xfrm>
        </p:grpSpPr>
        <p:sp>
          <p:nvSpPr>
            <p:cNvPr id="20" name="Shape 61">
              <a:extLst>
                <a:ext uri="{FF2B5EF4-FFF2-40B4-BE49-F238E27FC236}">
                  <a16:creationId xmlns:a16="http://schemas.microsoft.com/office/drawing/2014/main" id="{2E7F38FB-4D19-658A-EFEF-B52BD4A3E847}"/>
                </a:ext>
              </a:extLst>
            </p:cNvPr>
            <p:cNvSpPr/>
            <p:nvPr/>
          </p:nvSpPr>
          <p:spPr>
            <a:xfrm>
              <a:off x="8709873" y="1672533"/>
              <a:ext cx="1514597"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23" name="Text 64">
              <a:extLst>
                <a:ext uri="{FF2B5EF4-FFF2-40B4-BE49-F238E27FC236}">
                  <a16:creationId xmlns:a16="http://schemas.microsoft.com/office/drawing/2014/main" id="{635F4B7C-F690-6B9B-7CF5-FB0A3D5FBDF4}"/>
                </a:ext>
              </a:extLst>
            </p:cNvPr>
            <p:cNvSpPr/>
            <p:nvPr/>
          </p:nvSpPr>
          <p:spPr>
            <a:xfrm>
              <a:off x="8760865" y="1703235"/>
              <a:ext cx="1661492"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1145 MT</a:t>
              </a:r>
            </a:p>
            <a:p>
              <a:r>
                <a:rPr lang="en-US" sz="900" b="1" dirty="0">
                  <a:solidFill>
                    <a:srgbClr val="14342B"/>
                  </a:solidFill>
                  <a:latin typeface="Georgia" panose="02040502050405020303" pitchFamily="18" charset="0"/>
                  <a:ea typeface="Inter" pitchFamily="34" charset="-122"/>
                </a:rPr>
                <a:t>Horticulture Department FPOs</a:t>
              </a:r>
            </a:p>
            <a:p>
              <a:r>
                <a:rPr lang="en-US" sz="600" b="1" dirty="0">
                  <a:solidFill>
                    <a:srgbClr val="14342B"/>
                  </a:solidFill>
                  <a:latin typeface="Georgia" panose="02040502050405020303" pitchFamily="18" charset="0"/>
                  <a:ea typeface="Inter" pitchFamily="34" charset="-122"/>
                </a:rPr>
                <a:t>₹35,76,288 transactions in FY 23-24</a:t>
              </a:r>
            </a:p>
            <a:p>
              <a:r>
                <a:rPr lang="en-US" sz="700" b="1" i="1" dirty="0">
                  <a:solidFill>
                    <a:srgbClr val="14342B"/>
                  </a:solidFill>
                  <a:latin typeface="Georgia" panose="02040502050405020303" pitchFamily="18" charset="0"/>
                  <a:ea typeface="Inter" pitchFamily="34" charset="-122"/>
                </a:rPr>
                <a:t>Key crops: Onion, Tomato</a:t>
              </a:r>
            </a:p>
            <a:p>
              <a:endParaRPr lang="en-US" sz="600" b="1" dirty="0">
                <a:solidFill>
                  <a:srgbClr val="14342B"/>
                </a:solidFill>
                <a:latin typeface="Georgia" panose="02040502050405020303" pitchFamily="18" charset="0"/>
                <a:ea typeface="Inter" pitchFamily="34" charset="-122"/>
              </a:endParaRPr>
            </a:p>
          </p:txBody>
        </p:sp>
      </p:grpSp>
      <p:graphicFrame>
        <p:nvGraphicFramePr>
          <p:cNvPr id="24" name="Chart 23">
            <a:extLst>
              <a:ext uri="{FF2B5EF4-FFF2-40B4-BE49-F238E27FC236}">
                <a16:creationId xmlns:a16="http://schemas.microsoft.com/office/drawing/2014/main" id="{ECE9C5EB-E331-9C49-1E2E-E83C0916522E}"/>
              </a:ext>
            </a:extLst>
          </p:cNvPr>
          <p:cNvGraphicFramePr>
            <a:graphicFrameLocks/>
          </p:cNvGraphicFramePr>
          <p:nvPr>
            <p:extLst>
              <p:ext uri="{D42A27DB-BD31-4B8C-83A1-F6EECF244321}">
                <p14:modId xmlns:p14="http://schemas.microsoft.com/office/powerpoint/2010/main" val="2087392958"/>
              </p:ext>
            </p:extLst>
          </p:nvPr>
        </p:nvGraphicFramePr>
        <p:xfrm>
          <a:off x="560980" y="938498"/>
          <a:ext cx="4713489" cy="1350913"/>
        </p:xfrm>
        <a:graphic>
          <a:graphicData uri="http://schemas.openxmlformats.org/drawingml/2006/chart">
            <c:chart xmlns:c="http://schemas.openxmlformats.org/drawingml/2006/chart" xmlns:r="http://schemas.openxmlformats.org/officeDocument/2006/relationships" r:id="rId3"/>
          </a:graphicData>
        </a:graphic>
      </p:graphicFrame>
      <p:pic>
        <p:nvPicPr>
          <p:cNvPr id="13" name="Picture 12">
            <a:extLst>
              <a:ext uri="{FF2B5EF4-FFF2-40B4-BE49-F238E27FC236}">
                <a16:creationId xmlns:a16="http://schemas.microsoft.com/office/drawing/2014/main" id="{D2A40C4C-4E26-5AF9-2735-B4A1F4D6B6DA}"/>
              </a:ext>
            </a:extLst>
          </p:cNvPr>
          <p:cNvPicPr>
            <a:picLocks noChangeAspect="1"/>
          </p:cNvPicPr>
          <p:nvPr/>
        </p:nvPicPr>
        <p:blipFill>
          <a:blip r:embed="rId4" cstate="print">
            <a:extLst>
              <a:ext uri="{28A0092B-C50C-407E-A947-70E740481C1C}">
                <a14:useLocalDpi xmlns:a14="http://schemas.microsoft.com/office/drawing/2010/main" val="0"/>
              </a:ext>
            </a:extLst>
          </a:blip>
          <a:srcRect l="7165" t="4595" r="10510" b="7627"/>
          <a:stretch>
            <a:fillRect/>
          </a:stretch>
        </p:blipFill>
        <p:spPr>
          <a:xfrm>
            <a:off x="10936972" y="191840"/>
            <a:ext cx="1034312" cy="1121561"/>
          </a:xfrm>
          <a:prstGeom prst="rect">
            <a:avLst/>
          </a:prstGeom>
        </p:spPr>
      </p:pic>
      <p:sp>
        <p:nvSpPr>
          <p:cNvPr id="14" name="TextBox 13">
            <a:extLst>
              <a:ext uri="{FF2B5EF4-FFF2-40B4-BE49-F238E27FC236}">
                <a16:creationId xmlns:a16="http://schemas.microsoft.com/office/drawing/2014/main" id="{08ED4C1F-8D95-7DF4-8DFC-03AF58C40392}"/>
              </a:ext>
            </a:extLst>
          </p:cNvPr>
          <p:cNvSpPr txBox="1"/>
          <p:nvPr/>
        </p:nvSpPr>
        <p:spPr>
          <a:xfrm>
            <a:off x="647186" y="5395652"/>
            <a:ext cx="4677855" cy="200055"/>
          </a:xfrm>
          <a:prstGeom prst="rect">
            <a:avLst/>
          </a:prstGeom>
          <a:noFill/>
        </p:spPr>
        <p:txBody>
          <a:bodyPr wrap="square" rtlCol="0">
            <a:spAutoFit/>
          </a:bodyPr>
          <a:lstStyle/>
          <a:p>
            <a:r>
              <a:rPr lang="en-IN" sz="700" i="1" dirty="0">
                <a:latin typeface="Georgia" panose="02040502050405020303" pitchFamily="18" charset="0"/>
              </a:rPr>
              <a:t>Source: As reported by district officials, Horticulture department, Government of Karnataka, as of March 2026</a:t>
            </a:r>
          </a:p>
        </p:txBody>
      </p:sp>
      <p:pic>
        <p:nvPicPr>
          <p:cNvPr id="27" name="Picture 26">
            <a:extLst>
              <a:ext uri="{FF2B5EF4-FFF2-40B4-BE49-F238E27FC236}">
                <a16:creationId xmlns:a16="http://schemas.microsoft.com/office/drawing/2014/main" id="{FAE9DBDB-072E-DA9E-DE79-C971920686D2}"/>
              </a:ext>
            </a:extLst>
          </p:cNvPr>
          <p:cNvPicPr>
            <a:picLocks noChangeAspect="1"/>
          </p:cNvPicPr>
          <p:nvPr/>
        </p:nvPicPr>
        <p:blipFill>
          <a:blip r:embed="rId5"/>
          <a:stretch>
            <a:fillRect/>
          </a:stretch>
        </p:blipFill>
        <p:spPr>
          <a:xfrm>
            <a:off x="312427" y="6207308"/>
            <a:ext cx="11710196" cy="655649"/>
          </a:xfrm>
          <a:prstGeom prst="rect">
            <a:avLst/>
          </a:prstGeom>
        </p:spPr>
      </p:pic>
    </p:spTree>
    <p:extLst>
      <p:ext uri="{BB962C8B-B14F-4D97-AF65-F5344CB8AC3E}">
        <p14:creationId xmlns:p14="http://schemas.microsoft.com/office/powerpoint/2010/main" val="36081967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2B797-2E71-80D3-60C9-A9321DF9E90C}"/>
            </a:ext>
          </a:extLst>
        </p:cNvPr>
        <p:cNvGrpSpPr/>
        <p:nvPr/>
      </p:nvGrpSpPr>
      <p:grpSpPr>
        <a:xfrm>
          <a:off x="0" y="0"/>
          <a:ext cx="0" cy="0"/>
          <a:chOff x="0" y="0"/>
          <a:chExt cx="0" cy="0"/>
        </a:xfrm>
      </p:grpSpPr>
      <p:grpSp>
        <p:nvGrpSpPr>
          <p:cNvPr id="288" name="Group 287">
            <a:extLst>
              <a:ext uri="{FF2B5EF4-FFF2-40B4-BE49-F238E27FC236}">
                <a16:creationId xmlns:a16="http://schemas.microsoft.com/office/drawing/2014/main" id="{DDF0D8E7-40A3-8DCD-4259-C4E83DF67187}"/>
              </a:ext>
            </a:extLst>
          </p:cNvPr>
          <p:cNvGrpSpPr/>
          <p:nvPr/>
        </p:nvGrpSpPr>
        <p:grpSpPr>
          <a:xfrm>
            <a:off x="5362569" y="1151209"/>
            <a:ext cx="4827613" cy="1739716"/>
            <a:chOff x="5362567" y="1151208"/>
            <a:chExt cx="4827613" cy="1706039"/>
          </a:xfrm>
        </p:grpSpPr>
        <p:grpSp>
          <p:nvGrpSpPr>
            <p:cNvPr id="245" name="Group 244">
              <a:extLst>
                <a:ext uri="{FF2B5EF4-FFF2-40B4-BE49-F238E27FC236}">
                  <a16:creationId xmlns:a16="http://schemas.microsoft.com/office/drawing/2014/main" id="{668C2410-6141-92E2-B980-8562748C4B9F}"/>
                </a:ext>
              </a:extLst>
            </p:cNvPr>
            <p:cNvGrpSpPr/>
            <p:nvPr/>
          </p:nvGrpSpPr>
          <p:grpSpPr>
            <a:xfrm>
              <a:off x="5362567" y="1151208"/>
              <a:ext cx="4827613" cy="1706039"/>
              <a:chOff x="5362567" y="1151208"/>
              <a:chExt cx="4827613" cy="1706039"/>
            </a:xfrm>
          </p:grpSpPr>
          <p:grpSp>
            <p:nvGrpSpPr>
              <p:cNvPr id="109" name="Group 108">
                <a:extLst>
                  <a:ext uri="{FF2B5EF4-FFF2-40B4-BE49-F238E27FC236}">
                    <a16:creationId xmlns:a16="http://schemas.microsoft.com/office/drawing/2014/main" id="{CECDA81D-C5EC-18D7-EE6D-FE55C59FB0EF}"/>
                  </a:ext>
                </a:extLst>
              </p:cNvPr>
              <p:cNvGrpSpPr/>
              <p:nvPr/>
            </p:nvGrpSpPr>
            <p:grpSpPr>
              <a:xfrm>
                <a:off x="5362567" y="1651327"/>
                <a:ext cx="4827613" cy="1205920"/>
                <a:chOff x="5413705" y="1344621"/>
                <a:chExt cx="4827613" cy="1205920"/>
              </a:xfrm>
            </p:grpSpPr>
            <p:grpSp>
              <p:nvGrpSpPr>
                <p:cNvPr id="56" name="Group 55">
                  <a:extLst>
                    <a:ext uri="{FF2B5EF4-FFF2-40B4-BE49-F238E27FC236}">
                      <a16:creationId xmlns:a16="http://schemas.microsoft.com/office/drawing/2014/main" id="{700D50FC-256C-028B-61D9-BC8E3F7BD5C7}"/>
                    </a:ext>
                  </a:extLst>
                </p:cNvPr>
                <p:cNvGrpSpPr/>
                <p:nvPr/>
              </p:nvGrpSpPr>
              <p:grpSpPr>
                <a:xfrm>
                  <a:off x="5413705" y="1344621"/>
                  <a:ext cx="3171105" cy="1205920"/>
                  <a:chOff x="5562601" y="1159491"/>
                  <a:chExt cx="5186781" cy="1821490"/>
                </a:xfrm>
              </p:grpSpPr>
              <p:sp>
                <p:nvSpPr>
                  <p:cNvPr id="30" name="Text 63">
                    <a:extLst>
                      <a:ext uri="{FF2B5EF4-FFF2-40B4-BE49-F238E27FC236}">
                        <a16:creationId xmlns:a16="http://schemas.microsoft.com/office/drawing/2014/main" id="{389AFF47-C3EF-3780-D104-2C4F8377D8E2}"/>
                      </a:ext>
                    </a:extLst>
                  </p:cNvPr>
                  <p:cNvSpPr/>
                  <p:nvPr/>
                </p:nvSpPr>
                <p:spPr>
                  <a:xfrm>
                    <a:off x="5911025" y="2807908"/>
                    <a:ext cx="912114" cy="173073"/>
                  </a:xfrm>
                  <a:prstGeom prst="rect">
                    <a:avLst/>
                  </a:prstGeom>
                  <a:noFill/>
                  <a:ln/>
                </p:spPr>
                <p:txBody>
                  <a:bodyPr wrap="square" lIns="25400" tIns="25400" rIns="25400" bIns="25400" rtlCol="0" anchor="t">
                    <a:normAutofit fontScale="25000" lnSpcReduction="20000"/>
                  </a:bodyPr>
                  <a:lstStyle/>
                  <a:p>
                    <a:endParaRPr lang="en-US" dirty="0">
                      <a:latin typeface="Georgia" panose="02040502050405020303" pitchFamily="18" charset="0"/>
                    </a:endParaRPr>
                  </a:p>
                </p:txBody>
              </p:sp>
              <p:grpSp>
                <p:nvGrpSpPr>
                  <p:cNvPr id="38" name="Group 37">
                    <a:extLst>
                      <a:ext uri="{FF2B5EF4-FFF2-40B4-BE49-F238E27FC236}">
                        <a16:creationId xmlns:a16="http://schemas.microsoft.com/office/drawing/2014/main" id="{35B2C251-D1F6-11DE-DF57-13431D6B4E15}"/>
                      </a:ext>
                    </a:extLst>
                  </p:cNvPr>
                  <p:cNvGrpSpPr/>
                  <p:nvPr/>
                </p:nvGrpSpPr>
                <p:grpSpPr>
                  <a:xfrm>
                    <a:off x="5562601" y="1159493"/>
                    <a:ext cx="2483380" cy="1215734"/>
                    <a:chOff x="9970175" y="6791328"/>
                    <a:chExt cx="3653399" cy="2194560"/>
                  </a:xfrm>
                </p:grpSpPr>
                <p:sp>
                  <p:nvSpPr>
                    <p:cNvPr id="39" name="Shape 61">
                      <a:extLst>
                        <a:ext uri="{FF2B5EF4-FFF2-40B4-BE49-F238E27FC236}">
                          <a16:creationId xmlns:a16="http://schemas.microsoft.com/office/drawing/2014/main" id="{A4510808-EB32-EE43-EDE2-8223FFA1E7F2}"/>
                        </a:ext>
                      </a:extLst>
                    </p:cNvPr>
                    <p:cNvSpPr/>
                    <p:nvPr/>
                  </p:nvSpPr>
                  <p:spPr>
                    <a:xfrm>
                      <a:off x="9970175" y="6791328"/>
                      <a:ext cx="3644503"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2" name="Text 64">
                      <a:extLst>
                        <a:ext uri="{FF2B5EF4-FFF2-40B4-BE49-F238E27FC236}">
                          <a16:creationId xmlns:a16="http://schemas.microsoft.com/office/drawing/2014/main" id="{FD4462A5-66E5-6114-3E3F-41700DFE1B8B}"/>
                        </a:ext>
                      </a:extLst>
                    </p:cNvPr>
                    <p:cNvSpPr/>
                    <p:nvPr/>
                  </p:nvSpPr>
                  <p:spPr>
                    <a:xfrm>
                      <a:off x="10025634" y="6852621"/>
                      <a:ext cx="3597940" cy="1635905"/>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9142 MT capacity</a:t>
                      </a:r>
                    </a:p>
                    <a:p>
                      <a:r>
                        <a:rPr lang="en-US" sz="900" b="1" dirty="0">
                          <a:solidFill>
                            <a:srgbClr val="14342B"/>
                          </a:solidFill>
                          <a:latin typeface="Georgia" panose="02040502050405020303" pitchFamily="18" charset="0"/>
                          <a:ea typeface="Inter" pitchFamily="34" charset="-122"/>
                        </a:rPr>
                        <a:t>Cold storage units</a:t>
                      </a:r>
                    </a:p>
                    <a:p>
                      <a:r>
                        <a:rPr lang="en-US" sz="700" b="1" i="1" dirty="0">
                          <a:solidFill>
                            <a:srgbClr val="14342B"/>
                          </a:solidFill>
                          <a:latin typeface="Georgia" panose="02040502050405020303" pitchFamily="18" charset="0"/>
                          <a:ea typeface="Inter" pitchFamily="34" charset="-122"/>
                        </a:rPr>
                        <a:t>Key crops: Banana, Mango</a:t>
                      </a:r>
                    </a:p>
                  </p:txBody>
                </p:sp>
              </p:grpSp>
              <p:sp>
                <p:nvSpPr>
                  <p:cNvPr id="45" name="Shape 61">
                    <a:extLst>
                      <a:ext uri="{FF2B5EF4-FFF2-40B4-BE49-F238E27FC236}">
                        <a16:creationId xmlns:a16="http://schemas.microsoft.com/office/drawing/2014/main" id="{DFEB4110-C717-FE8D-5C75-4977111C5002}"/>
                      </a:ext>
                    </a:extLst>
                  </p:cNvPr>
                  <p:cNvSpPr/>
                  <p:nvPr/>
                </p:nvSpPr>
                <p:spPr>
                  <a:xfrm>
                    <a:off x="8272049" y="1159491"/>
                    <a:ext cx="2477333" cy="121573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grpSp>
            <p:sp>
              <p:nvSpPr>
                <p:cNvPr id="99" name="Shape 61">
                  <a:extLst>
                    <a:ext uri="{FF2B5EF4-FFF2-40B4-BE49-F238E27FC236}">
                      <a16:creationId xmlns:a16="http://schemas.microsoft.com/office/drawing/2014/main" id="{C228E399-2A67-4A58-94DF-5CBAAB1250EB}"/>
                    </a:ext>
                  </a:extLst>
                </p:cNvPr>
                <p:cNvSpPr/>
                <p:nvPr/>
              </p:nvSpPr>
              <p:spPr>
                <a:xfrm>
                  <a:off x="8726721" y="1344621"/>
                  <a:ext cx="1514597" cy="804878"/>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grpSp>
          <p:sp>
            <p:nvSpPr>
              <p:cNvPr id="212" name="Shape 41">
                <a:extLst>
                  <a:ext uri="{FF2B5EF4-FFF2-40B4-BE49-F238E27FC236}">
                    <a16:creationId xmlns:a16="http://schemas.microsoft.com/office/drawing/2014/main" id="{CF3C4CBE-9E0C-25A2-FAF5-9567DB494D04}"/>
                  </a:ext>
                </a:extLst>
              </p:cNvPr>
              <p:cNvSpPr/>
              <p:nvPr/>
            </p:nvSpPr>
            <p:spPr>
              <a:xfrm>
                <a:off x="5362567" y="1151208"/>
                <a:ext cx="4478287" cy="407557"/>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grpSp>
        <p:sp>
          <p:nvSpPr>
            <p:cNvPr id="213" name="Text 42">
              <a:extLst>
                <a:ext uri="{FF2B5EF4-FFF2-40B4-BE49-F238E27FC236}">
                  <a16:creationId xmlns:a16="http://schemas.microsoft.com/office/drawing/2014/main" id="{1E4B05C9-60D8-348A-B5F7-6B937092B600}"/>
                </a:ext>
              </a:extLst>
            </p:cNvPr>
            <p:cNvSpPr/>
            <p:nvPr/>
          </p:nvSpPr>
          <p:spPr>
            <a:xfrm>
              <a:off x="5486400" y="1228284"/>
              <a:ext cx="3769226" cy="233769"/>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Crop-specific ecosystem (seven key crops)</a:t>
              </a:r>
            </a:p>
          </p:txBody>
        </p:sp>
        <p:sp>
          <p:nvSpPr>
            <p:cNvPr id="219" name="Text 65">
              <a:extLst>
                <a:ext uri="{FF2B5EF4-FFF2-40B4-BE49-F238E27FC236}">
                  <a16:creationId xmlns:a16="http://schemas.microsoft.com/office/drawing/2014/main" id="{74D0D2BE-4918-238F-46AA-C7F0F565B13A}"/>
                </a:ext>
              </a:extLst>
            </p:cNvPr>
            <p:cNvSpPr/>
            <p:nvPr/>
          </p:nvSpPr>
          <p:spPr>
            <a:xfrm>
              <a:off x="5486400" y="2219625"/>
              <a:ext cx="1447800" cy="77229"/>
            </a:xfrm>
            <a:prstGeom prst="rect">
              <a:avLst/>
            </a:prstGeom>
            <a:noFill/>
            <a:ln/>
          </p:spPr>
          <p:txBody>
            <a:bodyPr wrap="square" lIns="25400" tIns="25400" rIns="25400" bIns="25400" rtlCol="0" anchor="t">
              <a:noAutofit/>
            </a:bodyPr>
            <a:lstStyle/>
            <a:p>
              <a:endParaRPr lang="en-US" sz="700" dirty="0">
                <a:solidFill>
                  <a:srgbClr val="0B6E78"/>
                </a:solidFill>
                <a:latin typeface="Georgia" panose="02040502050405020303" pitchFamily="18" charset="0"/>
                <a:ea typeface="JetBrains Mono" pitchFamily="34" charset="-122"/>
                <a:cs typeface="JetBrains Mono" pitchFamily="34" charset="-120"/>
              </a:endParaRPr>
            </a:p>
          </p:txBody>
        </p:sp>
      </p:grpSp>
      <p:sp>
        <p:nvSpPr>
          <p:cNvPr id="2" name="Title 1">
            <a:extLst>
              <a:ext uri="{FF2B5EF4-FFF2-40B4-BE49-F238E27FC236}">
                <a16:creationId xmlns:a16="http://schemas.microsoft.com/office/drawing/2014/main" id="{1BC75FCA-85FB-1C02-C827-C85529BC4514}"/>
              </a:ext>
            </a:extLst>
          </p:cNvPr>
          <p:cNvSpPr>
            <a:spLocks noGrp="1"/>
          </p:cNvSpPr>
          <p:nvPr>
            <p:ph type="title"/>
          </p:nvPr>
        </p:nvSpPr>
        <p:spPr>
          <a:xfrm>
            <a:off x="640284" y="208002"/>
            <a:ext cx="10561116" cy="553998"/>
          </a:xfrm>
        </p:spPr>
        <p:txBody>
          <a:bodyPr/>
          <a:lstStyle/>
          <a:p>
            <a:r>
              <a:rPr lang="en-US" sz="2400" dirty="0">
                <a:solidFill>
                  <a:schemeClr val="bg1"/>
                </a:solidFill>
                <a:latin typeface="Georgia" panose="02040502050405020303" pitchFamily="18" charset="0"/>
              </a:rPr>
              <a:t>South Karnataka Banana-Tomato-Mango cluster</a:t>
            </a:r>
            <a:br>
              <a:rPr lang="en-US" sz="2400" dirty="0">
                <a:solidFill>
                  <a:schemeClr val="bg1"/>
                </a:solidFill>
                <a:latin typeface="Georgia" panose="02040502050405020303" pitchFamily="18" charset="0"/>
              </a:rPr>
            </a:br>
            <a:r>
              <a:rPr lang="en-US" sz="1200" i="1" dirty="0">
                <a:solidFill>
                  <a:schemeClr val="bg1"/>
                </a:solidFill>
                <a:latin typeface="Georgia" panose="02040502050405020303" pitchFamily="18" charset="0"/>
                <a:ea typeface="Trebuchet MS"/>
                <a:sym typeface="Trebuchet MS"/>
              </a:rPr>
              <a:t>(</a:t>
            </a:r>
            <a:r>
              <a:rPr lang="en-IN" sz="1200" i="1" dirty="0">
                <a:solidFill>
                  <a:schemeClr val="bg1"/>
                </a:solidFill>
                <a:latin typeface="Georgia" panose="02040502050405020303" pitchFamily="18" charset="0"/>
              </a:rPr>
              <a:t>Mysuru, </a:t>
            </a:r>
            <a:r>
              <a:rPr lang="en-IN" sz="1200" i="1" dirty="0" err="1">
                <a:solidFill>
                  <a:schemeClr val="bg1"/>
                </a:solidFill>
                <a:latin typeface="Georgia" panose="02040502050405020303" pitchFamily="18" charset="0"/>
              </a:rPr>
              <a:t>Mandya</a:t>
            </a:r>
            <a:r>
              <a:rPr lang="en-IN" sz="1200" i="1" dirty="0">
                <a:solidFill>
                  <a:schemeClr val="bg1"/>
                </a:solidFill>
                <a:latin typeface="Georgia" panose="02040502050405020303" pitchFamily="18" charset="0"/>
              </a:rPr>
              <a:t>, </a:t>
            </a:r>
            <a:r>
              <a:rPr lang="en-IN" sz="1200" i="1" dirty="0" err="1">
                <a:solidFill>
                  <a:schemeClr val="bg1"/>
                </a:solidFill>
                <a:latin typeface="Georgia" panose="02040502050405020303" pitchFamily="18" charset="0"/>
              </a:rPr>
              <a:t>Chamarajanagara</a:t>
            </a:r>
            <a:r>
              <a:rPr lang="en-IN" sz="1200" i="1" dirty="0">
                <a:solidFill>
                  <a:schemeClr val="bg1"/>
                </a:solidFill>
                <a:latin typeface="Georgia" panose="02040502050405020303" pitchFamily="18" charset="0"/>
              </a:rPr>
              <a:t>, Hassan, Ramanagara)</a:t>
            </a:r>
          </a:p>
        </p:txBody>
      </p:sp>
      <p:sp>
        <p:nvSpPr>
          <p:cNvPr id="3" name="Slide Number Placeholder 2">
            <a:extLst>
              <a:ext uri="{FF2B5EF4-FFF2-40B4-BE49-F238E27FC236}">
                <a16:creationId xmlns:a16="http://schemas.microsoft.com/office/drawing/2014/main" id="{9338C7AD-3534-7256-8AE9-78BFC7154DEA}"/>
              </a:ext>
            </a:extLst>
          </p:cNvPr>
          <p:cNvSpPr>
            <a:spLocks noGrp="1"/>
          </p:cNvSpPr>
          <p:nvPr>
            <p:ph type="sldNum" sz="quarter" idx="7"/>
          </p:nvPr>
        </p:nvSpPr>
        <p:spPr>
          <a:xfrm>
            <a:off x="779630" y="6440648"/>
            <a:ext cx="383540" cy="115416"/>
          </a:xfrm>
        </p:spPr>
        <p:txBody>
          <a:bodyPr/>
          <a:lstStyle/>
          <a:p>
            <a:pPr marL="12700">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35</a:t>
            </a:fld>
            <a:endParaRPr dirty="0">
              <a:latin typeface="Georgia" panose="02040502050405020303" pitchFamily="18" charset="0"/>
            </a:endParaRPr>
          </a:p>
        </p:txBody>
      </p:sp>
      <p:graphicFrame>
        <p:nvGraphicFramePr>
          <p:cNvPr id="21" name="Table 20">
            <a:extLst>
              <a:ext uri="{FF2B5EF4-FFF2-40B4-BE49-F238E27FC236}">
                <a16:creationId xmlns:a16="http://schemas.microsoft.com/office/drawing/2014/main" id="{5212A978-0C11-4706-6EAD-E30F02AE6483}"/>
              </a:ext>
            </a:extLst>
          </p:cNvPr>
          <p:cNvGraphicFramePr>
            <a:graphicFrameLocks noGrp="1"/>
          </p:cNvGraphicFramePr>
          <p:nvPr>
            <p:extLst>
              <p:ext uri="{D42A27DB-BD31-4B8C-83A1-F6EECF244321}">
                <p14:modId xmlns:p14="http://schemas.microsoft.com/office/powerpoint/2010/main" val="1199074143"/>
              </p:ext>
            </p:extLst>
          </p:nvPr>
        </p:nvGraphicFramePr>
        <p:xfrm>
          <a:off x="656800" y="3962400"/>
          <a:ext cx="4648103" cy="1586434"/>
        </p:xfrm>
        <a:graphic>
          <a:graphicData uri="http://schemas.openxmlformats.org/drawingml/2006/table">
            <a:tbl>
              <a:tblPr firstRow="1" bandRow="1">
                <a:tableStyleId>{21E4AEA4-8DFA-4A89-87EB-49C32662AFE0}</a:tableStyleId>
              </a:tblPr>
              <a:tblGrid>
                <a:gridCol w="4648103">
                  <a:extLst>
                    <a:ext uri="{9D8B030D-6E8A-4147-A177-3AD203B41FA5}">
                      <a16:colId xmlns:a16="http://schemas.microsoft.com/office/drawing/2014/main" val="3341958433"/>
                    </a:ext>
                  </a:extLst>
                </a:gridCol>
              </a:tblGrid>
              <a:tr h="211389">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dirty="0">
                          <a:latin typeface="Georgia" panose="02040502050405020303" pitchFamily="18" charset="0"/>
                        </a:rPr>
                        <a:t>Major reasons for crop-loss across districts</a:t>
                      </a:r>
                    </a:p>
                  </a:txBody>
                  <a:tcPr marL="67006" marR="67006" marT="33504" marB="33504">
                    <a:solidFill>
                      <a:srgbClr val="0B6E78"/>
                    </a:solidFill>
                  </a:tcPr>
                </a:tc>
                <a:extLst>
                  <a:ext uri="{0D108BD9-81ED-4DB2-BD59-A6C34878D82A}">
                    <a16:rowId xmlns:a16="http://schemas.microsoft.com/office/drawing/2014/main" val="2643714482"/>
                  </a:ext>
                </a:extLst>
              </a:tr>
              <a:tr h="1367026">
                <a:tc>
                  <a:txBody>
                    <a:bodyPr/>
                    <a:lstStyle/>
                    <a:p>
                      <a:pPr marL="0" marR="0" lvl="0" indent="0" algn="l"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dirty="0">
                          <a:effectLst/>
                          <a:latin typeface="Georgia" panose="02040502050405020303" pitchFamily="18" charset="0"/>
                        </a:rPr>
                        <a:t>Banana (Mysuru, </a:t>
                      </a:r>
                      <a:r>
                        <a:rPr lang="en-IN" sz="1100" b="1" dirty="0" err="1">
                          <a:effectLst/>
                          <a:latin typeface="Georgia" panose="02040502050405020303" pitchFamily="18" charset="0"/>
                        </a:rPr>
                        <a:t>Chamarajanagara</a:t>
                      </a:r>
                      <a:r>
                        <a:rPr lang="en-IN" sz="1100" b="1" dirty="0">
                          <a:effectLst/>
                          <a:latin typeface="Georgia" panose="02040502050405020303" pitchFamily="18" charset="0"/>
                        </a:rPr>
                        <a:t>):</a:t>
                      </a:r>
                      <a:r>
                        <a:rPr lang="en-IN" sz="1100" dirty="0">
                          <a:latin typeface="Georgia" panose="02040502050405020303" pitchFamily="18" charset="0"/>
                        </a:rPr>
                        <a:t> Improper harvesting, lack of disease-free planting material, rough handling during collection, lack of ventilated transport, poor sorting and grading</a:t>
                      </a:r>
                      <a:br>
                        <a:rPr lang="en-IN" sz="1100" dirty="0">
                          <a:latin typeface="Georgia" panose="02040502050405020303" pitchFamily="18" charset="0"/>
                        </a:rPr>
                      </a:br>
                      <a:r>
                        <a:rPr lang="en-IN" sz="1100" b="1" dirty="0">
                          <a:effectLst/>
                          <a:latin typeface="Georgia" panose="02040502050405020303" pitchFamily="18" charset="0"/>
                        </a:rPr>
                        <a:t>Mango (Mysuru):</a:t>
                      </a:r>
                      <a:r>
                        <a:rPr lang="en-IN" sz="1100" dirty="0">
                          <a:latin typeface="Georgia" panose="02040502050405020303" pitchFamily="18" charset="0"/>
                        </a:rPr>
                        <a:t> Unseasonal rainfall, hailstorms, lack of processing infrastructure, price fluctuation</a:t>
                      </a:r>
                      <a:br>
                        <a:rPr lang="en-IN" sz="1100" dirty="0">
                          <a:latin typeface="Georgia" panose="02040502050405020303" pitchFamily="18" charset="0"/>
                        </a:rPr>
                      </a:br>
                      <a:r>
                        <a:rPr lang="en-IN" sz="1100" b="1" dirty="0">
                          <a:effectLst/>
                          <a:latin typeface="Georgia" panose="02040502050405020303" pitchFamily="18" charset="0"/>
                        </a:rPr>
                        <a:t>Onion (</a:t>
                      </a:r>
                      <a:r>
                        <a:rPr lang="en-IN" sz="1100" b="1" dirty="0" err="1">
                          <a:effectLst/>
                          <a:latin typeface="Georgia" panose="02040502050405020303" pitchFamily="18" charset="0"/>
                        </a:rPr>
                        <a:t>Mandya</a:t>
                      </a:r>
                      <a:r>
                        <a:rPr lang="en-IN" sz="1100" b="1" dirty="0">
                          <a:effectLst/>
                          <a:latin typeface="Georgia" panose="02040502050405020303" pitchFamily="18" charset="0"/>
                        </a:rPr>
                        <a:t>):</a:t>
                      </a:r>
                      <a:r>
                        <a:rPr lang="en-IN" sz="1100" dirty="0">
                          <a:latin typeface="Georgia" panose="02040502050405020303" pitchFamily="18" charset="0"/>
                        </a:rPr>
                        <a:t> Time-consuming grading, size variation challenges, non-availability of nearby market</a:t>
                      </a:r>
                      <a:endParaRPr lang="en-US" sz="1100" dirty="0">
                        <a:latin typeface="Georgia" panose="02040502050405020303" pitchFamily="18" charset="0"/>
                      </a:endParaRPr>
                    </a:p>
                  </a:txBody>
                  <a:tcPr marL="67006" marR="67006" marT="33504" marB="33504">
                    <a:solidFill>
                      <a:schemeClr val="accent5">
                        <a:lumMod val="20000"/>
                        <a:lumOff val="80000"/>
                      </a:schemeClr>
                    </a:solidFill>
                  </a:tcPr>
                </a:tc>
                <a:extLst>
                  <a:ext uri="{0D108BD9-81ED-4DB2-BD59-A6C34878D82A}">
                    <a16:rowId xmlns:a16="http://schemas.microsoft.com/office/drawing/2014/main" val="2831645102"/>
                  </a:ext>
                </a:extLst>
              </a:tr>
            </a:tbl>
          </a:graphicData>
        </a:graphic>
      </p:graphicFrame>
      <p:sp>
        <p:nvSpPr>
          <p:cNvPr id="16" name="TextBox 15">
            <a:extLst>
              <a:ext uri="{FF2B5EF4-FFF2-40B4-BE49-F238E27FC236}">
                <a16:creationId xmlns:a16="http://schemas.microsoft.com/office/drawing/2014/main" id="{2CB8379D-5E8B-B19C-EF56-98DD8C7217A4}"/>
              </a:ext>
            </a:extLst>
          </p:cNvPr>
          <p:cNvSpPr txBox="1"/>
          <p:nvPr/>
        </p:nvSpPr>
        <p:spPr>
          <a:xfrm>
            <a:off x="607208" y="5562600"/>
            <a:ext cx="6098391" cy="630942"/>
          </a:xfrm>
          <a:prstGeom prst="rect">
            <a:avLst/>
          </a:prstGeom>
          <a:noFill/>
        </p:spPr>
        <p:txBody>
          <a:bodyPr wrap="square" rtlCol="0">
            <a:spAutoFit/>
          </a:bodyPr>
          <a:lstStyle/>
          <a:p>
            <a:r>
              <a:rPr lang="en-US" sz="800" i="1" dirty="0">
                <a:latin typeface="Georgia" panose="02040502050405020303" pitchFamily="18" charset="0"/>
              </a:rPr>
              <a:t>Sources: As per the internal data shared by the following departments under Government of Karnataka, as of March 2026:</a:t>
            </a:r>
          </a:p>
          <a:p>
            <a:endParaRPr lang="en-US" sz="300" i="1" dirty="0">
              <a:latin typeface="Georgia" panose="02040502050405020303" pitchFamily="18" charset="0"/>
            </a:endParaRPr>
          </a:p>
          <a:p>
            <a:pPr marL="228600" indent="-228600">
              <a:buFont typeface="Arial" panose="020B0604020202020204" pitchFamily="34" charset="0"/>
              <a:buChar char="•"/>
            </a:pPr>
            <a:r>
              <a:rPr lang="en-IN" sz="800" i="1" dirty="0">
                <a:latin typeface="Georgia" panose="02040502050405020303" pitchFamily="18" charset="0"/>
              </a:rPr>
              <a:t>KAPPEC – Processing infrastructure</a:t>
            </a:r>
          </a:p>
          <a:p>
            <a:pPr marL="228600" indent="-228600">
              <a:buFont typeface="Arial" panose="020B0604020202020204" pitchFamily="34" charset="0"/>
              <a:buChar char="•"/>
            </a:pPr>
            <a:r>
              <a:rPr lang="en-IN" sz="800" i="1" dirty="0">
                <a:latin typeface="Georgia" panose="02040502050405020303" pitchFamily="18" charset="0"/>
              </a:rPr>
              <a:t>Directorate of horticulture – Cold storage infrastructure, Horticulture farms/nurseries, Horticulture department FPOs</a:t>
            </a:r>
          </a:p>
          <a:p>
            <a:pPr marL="228600" indent="-228600">
              <a:buFont typeface="Arial" panose="020B0604020202020204" pitchFamily="34" charset="0"/>
              <a:buChar char="•"/>
            </a:pPr>
            <a:r>
              <a:rPr lang="en-IN" sz="800" i="1" dirty="0">
                <a:latin typeface="Georgia" panose="02040502050405020303" pitchFamily="18" charset="0"/>
              </a:rPr>
              <a:t>Watershed development department – WDD FPOs</a:t>
            </a:r>
          </a:p>
        </p:txBody>
      </p:sp>
      <p:sp>
        <p:nvSpPr>
          <p:cNvPr id="7" name="TextBox 6">
            <a:extLst>
              <a:ext uri="{FF2B5EF4-FFF2-40B4-BE49-F238E27FC236}">
                <a16:creationId xmlns:a16="http://schemas.microsoft.com/office/drawing/2014/main" id="{9E93BF66-CF8D-EC94-85D5-4DCB037200CC}"/>
              </a:ext>
            </a:extLst>
          </p:cNvPr>
          <p:cNvSpPr txBox="1"/>
          <p:nvPr/>
        </p:nvSpPr>
        <p:spPr>
          <a:xfrm>
            <a:off x="2336037" y="3175954"/>
            <a:ext cx="3016264" cy="184666"/>
          </a:xfrm>
          <a:prstGeom prst="rect">
            <a:avLst/>
          </a:prstGeom>
          <a:noFill/>
        </p:spPr>
        <p:txBody>
          <a:bodyPr wrap="square" rtlCol="0">
            <a:spAutoFit/>
          </a:bodyPr>
          <a:lstStyle/>
          <a:p>
            <a:r>
              <a:rPr lang="en-IN" sz="600" i="1" dirty="0">
                <a:latin typeface="Georgia" panose="02040502050405020303" pitchFamily="18" charset="0"/>
              </a:rPr>
              <a:t>Sources: Horticulture crop statistics of Karnataka state at a glance – 2023-24</a:t>
            </a:r>
          </a:p>
        </p:txBody>
      </p:sp>
      <p:grpSp>
        <p:nvGrpSpPr>
          <p:cNvPr id="204" name="Group 203">
            <a:extLst>
              <a:ext uri="{FF2B5EF4-FFF2-40B4-BE49-F238E27FC236}">
                <a16:creationId xmlns:a16="http://schemas.microsoft.com/office/drawing/2014/main" id="{E76114AA-90F7-E633-3640-2D469C074B7A}"/>
              </a:ext>
            </a:extLst>
          </p:cNvPr>
          <p:cNvGrpSpPr/>
          <p:nvPr/>
        </p:nvGrpSpPr>
        <p:grpSpPr>
          <a:xfrm>
            <a:off x="656800" y="3456935"/>
            <a:ext cx="4653243" cy="429265"/>
            <a:chOff x="689731" y="3276599"/>
            <a:chExt cx="4478287" cy="881562"/>
          </a:xfrm>
          <a:solidFill>
            <a:srgbClr val="4B4B4D"/>
          </a:solidFill>
        </p:grpSpPr>
        <p:sp>
          <p:nvSpPr>
            <p:cNvPr id="11" name="Shape 41">
              <a:extLst>
                <a:ext uri="{FF2B5EF4-FFF2-40B4-BE49-F238E27FC236}">
                  <a16:creationId xmlns:a16="http://schemas.microsoft.com/office/drawing/2014/main" id="{4306C4BA-88D4-554D-919F-A7855832059F}"/>
                </a:ext>
              </a:extLst>
            </p:cNvPr>
            <p:cNvSpPr/>
            <p:nvPr/>
          </p:nvSpPr>
          <p:spPr>
            <a:xfrm>
              <a:off x="689731" y="3276601"/>
              <a:ext cx="4478287" cy="881560"/>
            </a:xfrm>
            <a:prstGeom prst="roundRect">
              <a:avLst>
                <a:gd name="adj" fmla="val 4644"/>
              </a:avLst>
            </a:prstGeom>
            <a:grpFill/>
            <a:ln/>
          </p:spPr>
          <p:txBody>
            <a:bodyPr/>
            <a:lstStyle/>
            <a:p>
              <a:pPr algn="r"/>
              <a:endParaRPr lang="en-US" sz="1100" dirty="0">
                <a:solidFill>
                  <a:schemeClr val="bg1"/>
                </a:solidFill>
                <a:latin typeface="Georgia" panose="02040502050405020303" pitchFamily="18" charset="0"/>
              </a:endParaRPr>
            </a:p>
          </p:txBody>
        </p:sp>
        <p:sp>
          <p:nvSpPr>
            <p:cNvPr id="12" name="Shape 44">
              <a:extLst>
                <a:ext uri="{FF2B5EF4-FFF2-40B4-BE49-F238E27FC236}">
                  <a16:creationId xmlns:a16="http://schemas.microsoft.com/office/drawing/2014/main" id="{0E8B0327-1421-78B5-B503-F260E092E7FD}"/>
                </a:ext>
              </a:extLst>
            </p:cNvPr>
            <p:cNvSpPr/>
            <p:nvPr/>
          </p:nvSpPr>
          <p:spPr>
            <a:xfrm>
              <a:off x="2885490" y="3340476"/>
              <a:ext cx="9525" cy="735330"/>
            </a:xfrm>
            <a:prstGeom prst="rect">
              <a:avLst/>
            </a:prstGeom>
            <a:grpFill/>
            <a:ln/>
          </p:spPr>
          <p:txBody>
            <a:bodyPr/>
            <a:lstStyle/>
            <a:p>
              <a:endParaRPr lang="en-IN" sz="1100">
                <a:solidFill>
                  <a:schemeClr val="bg1"/>
                </a:solidFill>
                <a:latin typeface="Georgia" panose="02040502050405020303" pitchFamily="18" charset="0"/>
              </a:endParaRPr>
            </a:p>
          </p:txBody>
        </p:sp>
        <p:sp>
          <p:nvSpPr>
            <p:cNvPr id="17" name="Text 43">
              <a:extLst>
                <a:ext uri="{FF2B5EF4-FFF2-40B4-BE49-F238E27FC236}">
                  <a16:creationId xmlns:a16="http://schemas.microsoft.com/office/drawing/2014/main" id="{ED836D12-06F3-7D2D-EDB5-6D5A1E1E211B}"/>
                </a:ext>
              </a:extLst>
            </p:cNvPr>
            <p:cNvSpPr/>
            <p:nvPr/>
          </p:nvSpPr>
          <p:spPr>
            <a:xfrm>
              <a:off x="1190332" y="3653186"/>
              <a:ext cx="1115499" cy="391574"/>
            </a:xfrm>
            <a:prstGeom prst="rect">
              <a:avLst/>
            </a:prstGeom>
            <a:grpFill/>
            <a:ln/>
          </p:spPr>
          <p:txBody>
            <a:bodyPr wrap="square" lIns="25400" tIns="25400" rIns="25400" bIns="25400" rtlCol="0" anchor="t">
              <a:noAutofit/>
            </a:bodyPr>
            <a:lstStyle/>
            <a:p>
              <a:r>
                <a:rPr lang="en-US" sz="1100" b="1" dirty="0">
                  <a:solidFill>
                    <a:schemeClr val="bg1"/>
                  </a:solidFill>
                  <a:latin typeface="Georgia" panose="02040502050405020303" pitchFamily="18" charset="0"/>
                  <a:ea typeface="Fraunces" pitchFamily="34" charset="-122"/>
                  <a:cs typeface="Fraunces" pitchFamily="34" charset="-120"/>
                </a:rPr>
                <a:t>17,97,775 </a:t>
              </a:r>
              <a:r>
                <a:rPr lang="en-US" sz="1100" dirty="0">
                  <a:solidFill>
                    <a:schemeClr val="bg1"/>
                  </a:solidFill>
                  <a:latin typeface="Georgia" panose="02040502050405020303" pitchFamily="18" charset="0"/>
                  <a:ea typeface="Fraunces" pitchFamily="34" charset="-122"/>
                  <a:cs typeface="Fraunces" pitchFamily="34" charset="-120"/>
                </a:rPr>
                <a:t>MT</a:t>
              </a:r>
              <a:endParaRPr lang="en-US" sz="1100" dirty="0">
                <a:solidFill>
                  <a:schemeClr val="bg1"/>
                </a:solidFill>
                <a:latin typeface="Georgia" panose="02040502050405020303" pitchFamily="18" charset="0"/>
              </a:endParaRPr>
            </a:p>
          </p:txBody>
        </p:sp>
        <p:sp>
          <p:nvSpPr>
            <p:cNvPr id="19" name="Text 42">
              <a:extLst>
                <a:ext uri="{FF2B5EF4-FFF2-40B4-BE49-F238E27FC236}">
                  <a16:creationId xmlns:a16="http://schemas.microsoft.com/office/drawing/2014/main" id="{6FE67A72-22BB-929C-1D8F-CC76E69DE747}"/>
                </a:ext>
              </a:extLst>
            </p:cNvPr>
            <p:cNvSpPr/>
            <p:nvPr/>
          </p:nvSpPr>
          <p:spPr>
            <a:xfrm>
              <a:off x="706488" y="3276599"/>
              <a:ext cx="2020722" cy="269807"/>
            </a:xfrm>
            <a:prstGeom prst="rect">
              <a:avLst/>
            </a:prstGeom>
            <a:grpFill/>
            <a:ln/>
          </p:spPr>
          <p:txBody>
            <a:bodyPr wrap="square" lIns="25400" tIns="25400" rIns="25400" bIns="25400" rtlCol="0" anchor="t">
              <a:noAutofit/>
            </a:bodyPr>
            <a:lstStyle/>
            <a:p>
              <a:pPr algn="ctr"/>
              <a:r>
                <a:rPr lang="en-US" sz="1100" b="1" dirty="0">
                  <a:solidFill>
                    <a:schemeClr val="bg1"/>
                  </a:solidFill>
                  <a:latin typeface="Georgia" panose="02040502050405020303" pitchFamily="18" charset="0"/>
                </a:rPr>
                <a:t>Crop-specific production</a:t>
              </a:r>
            </a:p>
          </p:txBody>
        </p:sp>
        <p:sp>
          <p:nvSpPr>
            <p:cNvPr id="22" name="Text 45">
              <a:extLst>
                <a:ext uri="{FF2B5EF4-FFF2-40B4-BE49-F238E27FC236}">
                  <a16:creationId xmlns:a16="http://schemas.microsoft.com/office/drawing/2014/main" id="{59796312-A183-3433-4BB1-8860C7A56708}"/>
                </a:ext>
              </a:extLst>
            </p:cNvPr>
            <p:cNvSpPr/>
            <p:nvPr/>
          </p:nvSpPr>
          <p:spPr>
            <a:xfrm>
              <a:off x="3368581" y="3276601"/>
              <a:ext cx="1325871" cy="352970"/>
            </a:xfrm>
            <a:prstGeom prst="rect">
              <a:avLst/>
            </a:prstGeom>
            <a:grpFill/>
            <a:ln/>
          </p:spPr>
          <p:txBody>
            <a:bodyPr wrap="square" lIns="25400" tIns="25400" rIns="25400" bIns="25400" rtlCol="0" anchor="t">
              <a:noAutofit/>
            </a:bodyPr>
            <a:lstStyle/>
            <a:p>
              <a:pPr algn="r"/>
              <a:r>
                <a:rPr lang="en-US" sz="1100" b="1" dirty="0">
                  <a:solidFill>
                    <a:schemeClr val="bg1"/>
                  </a:solidFill>
                  <a:latin typeface="Georgia" panose="02040502050405020303" pitchFamily="18" charset="0"/>
                </a:rPr>
                <a:t>Total production</a:t>
              </a:r>
            </a:p>
          </p:txBody>
        </p:sp>
        <p:sp>
          <p:nvSpPr>
            <p:cNvPr id="25" name="Text 46">
              <a:extLst>
                <a:ext uri="{FF2B5EF4-FFF2-40B4-BE49-F238E27FC236}">
                  <a16:creationId xmlns:a16="http://schemas.microsoft.com/office/drawing/2014/main" id="{207DBE60-8E34-1020-5902-7352DA706F01}"/>
                </a:ext>
              </a:extLst>
            </p:cNvPr>
            <p:cNvSpPr/>
            <p:nvPr/>
          </p:nvSpPr>
          <p:spPr>
            <a:xfrm>
              <a:off x="3305816" y="3656944"/>
              <a:ext cx="1306821" cy="362564"/>
            </a:xfrm>
            <a:prstGeom prst="rect">
              <a:avLst/>
            </a:prstGeom>
            <a:grpFill/>
            <a:ln/>
          </p:spPr>
          <p:txBody>
            <a:bodyPr wrap="square" lIns="25400" tIns="25400" rIns="25400" bIns="25400" rtlCol="0" anchor="t">
              <a:noAutofit/>
            </a:bodyPr>
            <a:lstStyle/>
            <a:p>
              <a:pPr algn="r"/>
              <a:r>
                <a:rPr lang="en-US" sz="1100" b="1" dirty="0">
                  <a:solidFill>
                    <a:schemeClr val="bg1"/>
                  </a:solidFill>
                  <a:latin typeface="Georgia" panose="02040502050405020303" pitchFamily="18" charset="0"/>
                  <a:ea typeface="Fraunces" pitchFamily="34" charset="-122"/>
                  <a:cs typeface="Fraunces" pitchFamily="34" charset="-120"/>
                </a:rPr>
                <a:t>22,88,467 </a:t>
              </a:r>
              <a:r>
                <a:rPr lang="en-US" sz="1100" dirty="0">
                  <a:solidFill>
                    <a:schemeClr val="bg1"/>
                  </a:solidFill>
                  <a:latin typeface="Georgia" panose="02040502050405020303" pitchFamily="18" charset="0"/>
                  <a:ea typeface="Fraunces" pitchFamily="34" charset="-122"/>
                  <a:cs typeface="Fraunces" pitchFamily="34" charset="-120"/>
                </a:rPr>
                <a:t>MT</a:t>
              </a:r>
              <a:endParaRPr lang="en-US" sz="1100" dirty="0">
                <a:solidFill>
                  <a:schemeClr val="bg1"/>
                </a:solidFill>
                <a:latin typeface="Georgia" panose="02040502050405020303" pitchFamily="18" charset="0"/>
              </a:endParaRPr>
            </a:p>
          </p:txBody>
        </p:sp>
      </p:grpSp>
      <p:sp>
        <p:nvSpPr>
          <p:cNvPr id="442" name="Rectangle 441">
            <a:extLst>
              <a:ext uri="{FF2B5EF4-FFF2-40B4-BE49-F238E27FC236}">
                <a16:creationId xmlns:a16="http://schemas.microsoft.com/office/drawing/2014/main" id="{AD7F1F5C-E9EB-C507-3748-700DB0925FB5}"/>
              </a:ext>
            </a:extLst>
          </p:cNvPr>
          <p:cNvSpPr/>
          <p:nvPr/>
        </p:nvSpPr>
        <p:spPr>
          <a:xfrm>
            <a:off x="670084" y="1178591"/>
            <a:ext cx="4626379" cy="2182029"/>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Georgia" panose="02040502050405020303" pitchFamily="18" charset="0"/>
            </a:endParaRPr>
          </a:p>
        </p:txBody>
      </p:sp>
      <p:sp>
        <p:nvSpPr>
          <p:cNvPr id="444" name="Text 64">
            <a:extLst>
              <a:ext uri="{FF2B5EF4-FFF2-40B4-BE49-F238E27FC236}">
                <a16:creationId xmlns:a16="http://schemas.microsoft.com/office/drawing/2014/main" id="{9E3DAEB1-2C8D-FA7E-5552-EF92EC8EE36A}"/>
              </a:ext>
            </a:extLst>
          </p:cNvPr>
          <p:cNvSpPr/>
          <p:nvPr/>
        </p:nvSpPr>
        <p:spPr>
          <a:xfrm>
            <a:off x="7060489" y="1699611"/>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58 FPOs</a:t>
            </a:r>
          </a:p>
          <a:p>
            <a:r>
              <a:rPr lang="en-US" sz="900" b="1" dirty="0">
                <a:solidFill>
                  <a:srgbClr val="14342B"/>
                </a:solidFill>
                <a:latin typeface="Georgia" panose="02040502050405020303" pitchFamily="18" charset="0"/>
                <a:ea typeface="Inter" pitchFamily="34" charset="-122"/>
              </a:rPr>
              <a:t>WDD FPOs</a:t>
            </a:r>
          </a:p>
          <a:p>
            <a:r>
              <a:rPr lang="en-US" sz="600" b="1" dirty="0">
                <a:solidFill>
                  <a:srgbClr val="14342B"/>
                </a:solidFill>
                <a:latin typeface="Georgia" panose="02040502050405020303" pitchFamily="18" charset="0"/>
                <a:ea typeface="Inter" pitchFamily="34" charset="-122"/>
              </a:rPr>
              <a:t>₹ </a:t>
            </a:r>
            <a:r>
              <a:rPr lang="en-US" sz="600" b="1" dirty="0">
                <a:latin typeface="Georgia" panose="02040502050405020303" pitchFamily="18" charset="0"/>
                <a:ea typeface="Inter" pitchFamily="34" charset="-122"/>
              </a:rPr>
              <a:t>18 Cr total transactions in FY 23-24</a:t>
            </a:r>
          </a:p>
          <a:p>
            <a:r>
              <a:rPr lang="en-US" sz="700" b="1" i="1" dirty="0">
                <a:solidFill>
                  <a:srgbClr val="14342B"/>
                </a:solidFill>
                <a:latin typeface="Georgia" panose="02040502050405020303" pitchFamily="18" charset="0"/>
                <a:ea typeface="Inter" pitchFamily="34" charset="-122"/>
              </a:rPr>
              <a:t>Key crops: Banana, Mango, Tomato, Pomegranate</a:t>
            </a:r>
          </a:p>
        </p:txBody>
      </p:sp>
      <p:sp>
        <p:nvSpPr>
          <p:cNvPr id="445" name="Text 64">
            <a:extLst>
              <a:ext uri="{FF2B5EF4-FFF2-40B4-BE49-F238E27FC236}">
                <a16:creationId xmlns:a16="http://schemas.microsoft.com/office/drawing/2014/main" id="{853832BF-17AE-18F8-9990-CCDD992AC9C2}"/>
              </a:ext>
            </a:extLst>
          </p:cNvPr>
          <p:cNvSpPr/>
          <p:nvPr/>
        </p:nvSpPr>
        <p:spPr>
          <a:xfrm>
            <a:off x="8706151" y="1679671"/>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4500 MT/yr capacity</a:t>
            </a:r>
          </a:p>
          <a:p>
            <a:r>
              <a:rPr lang="en-US" sz="900" b="1" dirty="0">
                <a:solidFill>
                  <a:srgbClr val="14342B"/>
                </a:solidFill>
                <a:latin typeface="Georgia" panose="02040502050405020303" pitchFamily="18" charset="0"/>
                <a:ea typeface="Inter" pitchFamily="34" charset="-122"/>
              </a:rPr>
              <a:t>Processing infrastructure</a:t>
            </a:r>
          </a:p>
          <a:p>
            <a:r>
              <a:rPr lang="en-US" sz="700" b="1" i="1" dirty="0">
                <a:solidFill>
                  <a:srgbClr val="14342B"/>
                </a:solidFill>
                <a:latin typeface="Georgia" panose="02040502050405020303" pitchFamily="18" charset="0"/>
                <a:ea typeface="Inter" pitchFamily="34" charset="-122"/>
              </a:rPr>
              <a:t>Key crops: Mango, Banana</a:t>
            </a:r>
          </a:p>
        </p:txBody>
      </p:sp>
      <p:grpSp>
        <p:nvGrpSpPr>
          <p:cNvPr id="450" name="Group 449">
            <a:extLst>
              <a:ext uri="{FF2B5EF4-FFF2-40B4-BE49-F238E27FC236}">
                <a16:creationId xmlns:a16="http://schemas.microsoft.com/office/drawing/2014/main" id="{DE72B25D-6BD7-582A-3773-4680A63D4B91}"/>
              </a:ext>
            </a:extLst>
          </p:cNvPr>
          <p:cNvGrpSpPr/>
          <p:nvPr/>
        </p:nvGrpSpPr>
        <p:grpSpPr>
          <a:xfrm>
            <a:off x="5396856" y="2586448"/>
            <a:ext cx="6566544" cy="2881768"/>
            <a:chOff x="5362567" y="1151208"/>
            <a:chExt cx="6566544" cy="2882966"/>
          </a:xfrm>
        </p:grpSpPr>
        <p:grpSp>
          <p:nvGrpSpPr>
            <p:cNvPr id="451" name="Group 450">
              <a:extLst>
                <a:ext uri="{FF2B5EF4-FFF2-40B4-BE49-F238E27FC236}">
                  <a16:creationId xmlns:a16="http://schemas.microsoft.com/office/drawing/2014/main" id="{295F3D9A-4CD5-85F3-1FCC-5B731B80F708}"/>
                </a:ext>
              </a:extLst>
            </p:cNvPr>
            <p:cNvGrpSpPr/>
            <p:nvPr/>
          </p:nvGrpSpPr>
          <p:grpSpPr>
            <a:xfrm>
              <a:off x="5362567" y="1151208"/>
              <a:ext cx="6566544" cy="2882966"/>
              <a:chOff x="5362567" y="1151208"/>
              <a:chExt cx="6566544" cy="2882966"/>
            </a:xfrm>
          </p:grpSpPr>
          <p:grpSp>
            <p:nvGrpSpPr>
              <p:cNvPr id="454" name="Group 453">
                <a:extLst>
                  <a:ext uri="{FF2B5EF4-FFF2-40B4-BE49-F238E27FC236}">
                    <a16:creationId xmlns:a16="http://schemas.microsoft.com/office/drawing/2014/main" id="{217BF795-2556-E588-AF62-852CE0535B0F}"/>
                  </a:ext>
                </a:extLst>
              </p:cNvPr>
              <p:cNvGrpSpPr/>
              <p:nvPr/>
            </p:nvGrpSpPr>
            <p:grpSpPr>
              <a:xfrm>
                <a:off x="5362569" y="1641725"/>
                <a:ext cx="6566542" cy="2392449"/>
                <a:chOff x="5413707" y="1335019"/>
                <a:chExt cx="6566542" cy="2392449"/>
              </a:xfrm>
            </p:grpSpPr>
            <p:grpSp>
              <p:nvGrpSpPr>
                <p:cNvPr id="456" name="Group 455">
                  <a:extLst>
                    <a:ext uri="{FF2B5EF4-FFF2-40B4-BE49-F238E27FC236}">
                      <a16:creationId xmlns:a16="http://schemas.microsoft.com/office/drawing/2014/main" id="{CAE987C2-B5CF-7342-F583-38A5483CF1E8}"/>
                    </a:ext>
                  </a:extLst>
                </p:cNvPr>
                <p:cNvGrpSpPr/>
                <p:nvPr/>
              </p:nvGrpSpPr>
              <p:grpSpPr>
                <a:xfrm>
                  <a:off x="5413707" y="1335019"/>
                  <a:ext cx="3236249" cy="2377620"/>
                  <a:chOff x="5562604" y="1144988"/>
                  <a:chExt cx="5293333" cy="3591291"/>
                </a:xfrm>
              </p:grpSpPr>
              <p:grpSp>
                <p:nvGrpSpPr>
                  <p:cNvPr id="464" name="Group 463">
                    <a:extLst>
                      <a:ext uri="{FF2B5EF4-FFF2-40B4-BE49-F238E27FC236}">
                        <a16:creationId xmlns:a16="http://schemas.microsoft.com/office/drawing/2014/main" id="{83B0B95A-B07A-2173-6BA0-DEE88AAED77B}"/>
                      </a:ext>
                    </a:extLst>
                  </p:cNvPr>
                  <p:cNvGrpSpPr/>
                  <p:nvPr/>
                </p:nvGrpSpPr>
                <p:grpSpPr>
                  <a:xfrm>
                    <a:off x="5584470" y="2807907"/>
                    <a:ext cx="2477333" cy="1928372"/>
                    <a:chOff x="10002347" y="7336157"/>
                    <a:chExt cx="3644503" cy="3480966"/>
                  </a:xfrm>
                </p:grpSpPr>
                <p:sp>
                  <p:nvSpPr>
                    <p:cNvPr id="470" name="Shape 61">
                      <a:extLst>
                        <a:ext uri="{FF2B5EF4-FFF2-40B4-BE49-F238E27FC236}">
                          <a16:creationId xmlns:a16="http://schemas.microsoft.com/office/drawing/2014/main" id="{A40FE556-8905-91B3-A520-D83F4316A7CB}"/>
                        </a:ext>
                      </a:extLst>
                    </p:cNvPr>
                    <p:cNvSpPr/>
                    <p:nvPr/>
                  </p:nvSpPr>
                  <p:spPr>
                    <a:xfrm>
                      <a:off x="10002347" y="8622563"/>
                      <a:ext cx="3644503" cy="2194560"/>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71" name="Text 63">
                      <a:extLst>
                        <a:ext uri="{FF2B5EF4-FFF2-40B4-BE49-F238E27FC236}">
                          <a16:creationId xmlns:a16="http://schemas.microsoft.com/office/drawing/2014/main" id="{7F0A625A-FBA9-AD3F-DA7C-2597695D8FC0}"/>
                        </a:ext>
                      </a:extLst>
                    </p:cNvPr>
                    <p:cNvSpPr/>
                    <p:nvPr/>
                  </p:nvSpPr>
                  <p:spPr>
                    <a:xfrm>
                      <a:off x="10482754" y="7336157"/>
                      <a:ext cx="1341846" cy="312420"/>
                    </a:xfrm>
                    <a:prstGeom prst="rect">
                      <a:avLst/>
                    </a:prstGeom>
                    <a:noFill/>
                    <a:ln/>
                  </p:spPr>
                  <p:txBody>
                    <a:bodyPr wrap="square" lIns="25400" tIns="25400" rIns="25400" bIns="25400" rtlCol="0" anchor="t">
                      <a:normAutofit fontScale="25000" lnSpcReduction="20000"/>
                    </a:bodyPr>
                    <a:lstStyle/>
                    <a:p>
                      <a:endParaRPr lang="en-US" dirty="0">
                        <a:latin typeface="Georgia" panose="02040502050405020303" pitchFamily="18" charset="0"/>
                      </a:endParaRPr>
                    </a:p>
                  </p:txBody>
                </p:sp>
              </p:grpSp>
              <p:grpSp>
                <p:nvGrpSpPr>
                  <p:cNvPr id="465" name="Group 464">
                    <a:extLst>
                      <a:ext uri="{FF2B5EF4-FFF2-40B4-BE49-F238E27FC236}">
                        <a16:creationId xmlns:a16="http://schemas.microsoft.com/office/drawing/2014/main" id="{5B8564F8-3C89-D850-C518-A906E49EB632}"/>
                      </a:ext>
                    </a:extLst>
                  </p:cNvPr>
                  <p:cNvGrpSpPr/>
                  <p:nvPr/>
                </p:nvGrpSpPr>
                <p:grpSpPr>
                  <a:xfrm>
                    <a:off x="5562604" y="1144988"/>
                    <a:ext cx="2496061" cy="1308811"/>
                    <a:chOff x="9970175" y="6765145"/>
                    <a:chExt cx="3672053" cy="2362576"/>
                  </a:xfrm>
                </p:grpSpPr>
                <p:sp>
                  <p:nvSpPr>
                    <p:cNvPr id="468" name="Shape 61">
                      <a:extLst>
                        <a:ext uri="{FF2B5EF4-FFF2-40B4-BE49-F238E27FC236}">
                          <a16:creationId xmlns:a16="http://schemas.microsoft.com/office/drawing/2014/main" id="{AF7DA137-5299-E88C-7E40-14BAC31FAB9A}"/>
                        </a:ext>
                      </a:extLst>
                    </p:cNvPr>
                    <p:cNvSpPr/>
                    <p:nvPr/>
                  </p:nvSpPr>
                  <p:spPr>
                    <a:xfrm>
                      <a:off x="9970175" y="6791328"/>
                      <a:ext cx="3644503"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9" name="Text 64">
                      <a:extLst>
                        <a:ext uri="{FF2B5EF4-FFF2-40B4-BE49-F238E27FC236}">
                          <a16:creationId xmlns:a16="http://schemas.microsoft.com/office/drawing/2014/main" id="{F4E8BE81-3710-5151-FEB9-DD6D6C3BB124}"/>
                        </a:ext>
                      </a:extLst>
                    </p:cNvPr>
                    <p:cNvSpPr/>
                    <p:nvPr/>
                  </p:nvSpPr>
                  <p:spPr>
                    <a:xfrm>
                      <a:off x="10002359" y="6765145"/>
                      <a:ext cx="3639869" cy="2362576"/>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78,692 MT capacity</a:t>
                      </a:r>
                    </a:p>
                    <a:p>
                      <a:r>
                        <a:rPr lang="en-US" sz="900" b="1" dirty="0">
                          <a:solidFill>
                            <a:srgbClr val="14342B"/>
                          </a:solidFill>
                          <a:latin typeface="Georgia" panose="02040502050405020303" pitchFamily="18" charset="0"/>
                          <a:ea typeface="Inter" pitchFamily="34" charset="-122"/>
                        </a:rPr>
                        <a:t>Cold storage units</a:t>
                      </a:r>
                    </a:p>
                    <a:p>
                      <a:r>
                        <a:rPr lang="en-US" sz="700" b="1" i="1" dirty="0">
                          <a:solidFill>
                            <a:srgbClr val="14342B"/>
                          </a:solidFill>
                          <a:latin typeface="Georgia" panose="02040502050405020303" pitchFamily="18" charset="0"/>
                          <a:ea typeface="Inter" pitchFamily="34" charset="-122"/>
                        </a:rPr>
                        <a:t>Key crops: Banana, Vegetables and fruits, Citrus, Fruit pulp</a:t>
                      </a:r>
                    </a:p>
                    <a:p>
                      <a:r>
                        <a:rPr lang="en-US" sz="600" dirty="0">
                          <a:solidFill>
                            <a:srgbClr val="14342B"/>
                          </a:solidFill>
                          <a:latin typeface="Georgia" panose="02040502050405020303" pitchFamily="18" charset="0"/>
                          <a:ea typeface="Inter" pitchFamily="34" charset="-122"/>
                        </a:rPr>
                        <a:t>Upcoming units: Hassan -2000 MT, Mandya-2000 MT</a:t>
                      </a:r>
                    </a:p>
                  </p:txBody>
                </p:sp>
              </p:grpSp>
              <p:sp>
                <p:nvSpPr>
                  <p:cNvPr id="466" name="Shape 61">
                    <a:extLst>
                      <a:ext uri="{FF2B5EF4-FFF2-40B4-BE49-F238E27FC236}">
                        <a16:creationId xmlns:a16="http://schemas.microsoft.com/office/drawing/2014/main" id="{6492A67A-C424-911B-DDD7-48FBC74D6F0D}"/>
                      </a:ext>
                    </a:extLst>
                  </p:cNvPr>
                  <p:cNvSpPr/>
                  <p:nvPr/>
                </p:nvSpPr>
                <p:spPr>
                  <a:xfrm>
                    <a:off x="8272049" y="1159491"/>
                    <a:ext cx="2583888" cy="121573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67" name="Shape 61">
                    <a:extLst>
                      <a:ext uri="{FF2B5EF4-FFF2-40B4-BE49-F238E27FC236}">
                        <a16:creationId xmlns:a16="http://schemas.microsoft.com/office/drawing/2014/main" id="{E7C5E020-8923-522B-8906-C1B5BF84E94E}"/>
                      </a:ext>
                    </a:extLst>
                  </p:cNvPr>
                  <p:cNvSpPr/>
                  <p:nvPr/>
                </p:nvSpPr>
                <p:spPr>
                  <a:xfrm>
                    <a:off x="8272201" y="3518776"/>
                    <a:ext cx="2477333" cy="1215733"/>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grpSp>
            <p:grpSp>
              <p:nvGrpSpPr>
                <p:cNvPr id="457" name="Group 456">
                  <a:extLst>
                    <a:ext uri="{FF2B5EF4-FFF2-40B4-BE49-F238E27FC236}">
                      <a16:creationId xmlns:a16="http://schemas.microsoft.com/office/drawing/2014/main" id="{593D3BDB-97A9-847C-6573-4CEF88E12BEA}"/>
                    </a:ext>
                  </a:extLst>
                </p:cNvPr>
                <p:cNvGrpSpPr/>
                <p:nvPr/>
              </p:nvGrpSpPr>
              <p:grpSpPr>
                <a:xfrm>
                  <a:off x="8726722" y="1344621"/>
                  <a:ext cx="3253527" cy="2382847"/>
                  <a:chOff x="5562601" y="1159491"/>
                  <a:chExt cx="5321594" cy="3599187"/>
                </a:xfrm>
              </p:grpSpPr>
              <p:sp>
                <p:nvSpPr>
                  <p:cNvPr id="458" name="Shape 61">
                    <a:extLst>
                      <a:ext uri="{FF2B5EF4-FFF2-40B4-BE49-F238E27FC236}">
                        <a16:creationId xmlns:a16="http://schemas.microsoft.com/office/drawing/2014/main" id="{C223EF29-D22E-4761-0C8E-9F02E268D242}"/>
                      </a:ext>
                    </a:extLst>
                  </p:cNvPr>
                  <p:cNvSpPr/>
                  <p:nvPr/>
                </p:nvSpPr>
                <p:spPr>
                  <a:xfrm>
                    <a:off x="5645412" y="3518776"/>
                    <a:ext cx="2477333" cy="121573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59" name="Shape 61">
                    <a:extLst>
                      <a:ext uri="{FF2B5EF4-FFF2-40B4-BE49-F238E27FC236}">
                        <a16:creationId xmlns:a16="http://schemas.microsoft.com/office/drawing/2014/main" id="{3DEB2326-A755-2893-7B5A-1792BACEFE61}"/>
                      </a:ext>
                    </a:extLst>
                  </p:cNvPr>
                  <p:cNvSpPr/>
                  <p:nvPr/>
                </p:nvSpPr>
                <p:spPr>
                  <a:xfrm>
                    <a:off x="5562601" y="1159491"/>
                    <a:ext cx="2477333" cy="1215734"/>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0" name="Shape 61">
                    <a:extLst>
                      <a:ext uri="{FF2B5EF4-FFF2-40B4-BE49-F238E27FC236}">
                        <a16:creationId xmlns:a16="http://schemas.microsoft.com/office/drawing/2014/main" id="{E7DBB798-6648-F501-21DB-A36B7E2E3DCB}"/>
                      </a:ext>
                    </a:extLst>
                  </p:cNvPr>
                  <p:cNvSpPr/>
                  <p:nvPr/>
                </p:nvSpPr>
                <p:spPr>
                  <a:xfrm>
                    <a:off x="8272049" y="1159491"/>
                    <a:ext cx="2612146" cy="121573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grpSp>
                <p:nvGrpSpPr>
                  <p:cNvPr id="461" name="Group 460">
                    <a:extLst>
                      <a:ext uri="{FF2B5EF4-FFF2-40B4-BE49-F238E27FC236}">
                        <a16:creationId xmlns:a16="http://schemas.microsoft.com/office/drawing/2014/main" id="{10BC9344-43A7-9F33-C8E7-8C875027DD95}"/>
                      </a:ext>
                    </a:extLst>
                  </p:cNvPr>
                  <p:cNvGrpSpPr/>
                  <p:nvPr/>
                </p:nvGrpSpPr>
                <p:grpSpPr>
                  <a:xfrm>
                    <a:off x="5786524" y="3542944"/>
                    <a:ext cx="4985018" cy="1215734"/>
                    <a:chOff x="6068207" y="8643943"/>
                    <a:chExt cx="7333658" cy="2194560"/>
                  </a:xfrm>
                </p:grpSpPr>
                <p:sp>
                  <p:nvSpPr>
                    <p:cNvPr id="462" name="Shape 61">
                      <a:extLst>
                        <a:ext uri="{FF2B5EF4-FFF2-40B4-BE49-F238E27FC236}">
                          <a16:creationId xmlns:a16="http://schemas.microsoft.com/office/drawing/2014/main" id="{B096C735-D3F7-998D-76F1-037250574D24}"/>
                        </a:ext>
                      </a:extLst>
                    </p:cNvPr>
                    <p:cNvSpPr/>
                    <p:nvPr/>
                  </p:nvSpPr>
                  <p:spPr>
                    <a:xfrm>
                      <a:off x="9757361" y="8643943"/>
                      <a:ext cx="3644504"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3" name="Text 64">
                      <a:extLst>
                        <a:ext uri="{FF2B5EF4-FFF2-40B4-BE49-F238E27FC236}">
                          <a16:creationId xmlns:a16="http://schemas.microsoft.com/office/drawing/2014/main" id="{B1C769C5-B7A9-8824-BD3C-F37320B7BBE4}"/>
                        </a:ext>
                      </a:extLst>
                    </p:cNvPr>
                    <p:cNvSpPr/>
                    <p:nvPr/>
                  </p:nvSpPr>
                  <p:spPr>
                    <a:xfrm>
                      <a:off x="6068207" y="8813647"/>
                      <a:ext cx="3370181" cy="312421"/>
                    </a:xfrm>
                    <a:prstGeom prst="rect">
                      <a:avLst/>
                    </a:prstGeom>
                    <a:noFill/>
                    <a:ln/>
                  </p:spPr>
                  <p:txBody>
                    <a:bodyPr wrap="square" lIns="25400" tIns="25400" rIns="25400" bIns="25400" rtlCol="0" anchor="t">
                      <a:noAutofit/>
                    </a:bodyPr>
                    <a:lstStyle/>
                    <a:p>
                      <a:r>
                        <a:rPr lang="en-US" sz="900" b="1" dirty="0">
                          <a:latin typeface="Georgia" panose="02040502050405020303" pitchFamily="18" charset="0"/>
                        </a:rPr>
                        <a:t>Agricultural training centers</a:t>
                      </a:r>
                    </a:p>
                    <a:p>
                      <a:endParaRPr lang="en-US" sz="900" b="1" dirty="0">
                        <a:latin typeface="Georgia" panose="02040502050405020303" pitchFamily="18" charset="0"/>
                      </a:endParaRPr>
                    </a:p>
                    <a:p>
                      <a:r>
                        <a:rPr lang="en-US" sz="700" dirty="0">
                          <a:solidFill>
                            <a:srgbClr val="14342B"/>
                          </a:solidFill>
                          <a:latin typeface="Georgia" panose="02040502050405020303" pitchFamily="18" charset="0"/>
                          <a:ea typeface="Fraunces" pitchFamily="34" charset="-122"/>
                        </a:rPr>
                        <a:t>Hassan, Mandya, Mysuru</a:t>
                      </a:r>
                    </a:p>
                    <a:p>
                      <a:endParaRPr lang="en-US" sz="900" b="1" dirty="0">
                        <a:latin typeface="Georgia" panose="02040502050405020303" pitchFamily="18" charset="0"/>
                      </a:endParaRPr>
                    </a:p>
                  </p:txBody>
                </p:sp>
              </p:grpSp>
            </p:grpSp>
          </p:grpSp>
          <p:sp>
            <p:nvSpPr>
              <p:cNvPr id="455" name="Shape 41">
                <a:extLst>
                  <a:ext uri="{FF2B5EF4-FFF2-40B4-BE49-F238E27FC236}">
                    <a16:creationId xmlns:a16="http://schemas.microsoft.com/office/drawing/2014/main" id="{B4D80446-2FEA-8F9B-92BF-2CFC69F597A2}"/>
                  </a:ext>
                </a:extLst>
              </p:cNvPr>
              <p:cNvSpPr/>
              <p:nvPr/>
            </p:nvSpPr>
            <p:spPr>
              <a:xfrm>
                <a:off x="5362567" y="1151208"/>
                <a:ext cx="4478287" cy="407557"/>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grpSp>
        <p:sp>
          <p:nvSpPr>
            <p:cNvPr id="452" name="Text 42">
              <a:extLst>
                <a:ext uri="{FF2B5EF4-FFF2-40B4-BE49-F238E27FC236}">
                  <a16:creationId xmlns:a16="http://schemas.microsoft.com/office/drawing/2014/main" id="{2487D207-4854-ACFB-039A-44D4EBEF919C}"/>
                </a:ext>
              </a:extLst>
            </p:cNvPr>
            <p:cNvSpPr/>
            <p:nvPr/>
          </p:nvSpPr>
          <p:spPr>
            <a:xfrm>
              <a:off x="5486400" y="1228284"/>
              <a:ext cx="3769226" cy="233769"/>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Ecosystem for all fruits and vegetables</a:t>
              </a:r>
            </a:p>
          </p:txBody>
        </p:sp>
        <p:sp>
          <p:nvSpPr>
            <p:cNvPr id="453" name="Text 65">
              <a:extLst>
                <a:ext uri="{FF2B5EF4-FFF2-40B4-BE49-F238E27FC236}">
                  <a16:creationId xmlns:a16="http://schemas.microsoft.com/office/drawing/2014/main" id="{6065C164-5142-300A-3EA9-BC8F346B52AF}"/>
                </a:ext>
              </a:extLst>
            </p:cNvPr>
            <p:cNvSpPr/>
            <p:nvPr/>
          </p:nvSpPr>
          <p:spPr>
            <a:xfrm>
              <a:off x="5486400" y="2219625"/>
              <a:ext cx="1447800" cy="77229"/>
            </a:xfrm>
            <a:prstGeom prst="rect">
              <a:avLst/>
            </a:prstGeom>
            <a:noFill/>
            <a:ln/>
          </p:spPr>
          <p:txBody>
            <a:bodyPr wrap="square" lIns="25400" tIns="25400" rIns="25400" bIns="25400" rtlCol="0" anchor="t">
              <a:noAutofit/>
            </a:bodyPr>
            <a:lstStyle/>
            <a:p>
              <a:endParaRPr lang="en-US" sz="700" dirty="0">
                <a:solidFill>
                  <a:srgbClr val="0B6E78"/>
                </a:solidFill>
                <a:latin typeface="Georgia" panose="02040502050405020303" pitchFamily="18" charset="0"/>
                <a:ea typeface="JetBrains Mono" pitchFamily="34" charset="-122"/>
                <a:cs typeface="JetBrains Mono" pitchFamily="34" charset="-120"/>
              </a:endParaRPr>
            </a:p>
          </p:txBody>
        </p:sp>
      </p:grpSp>
      <p:sp>
        <p:nvSpPr>
          <p:cNvPr id="472" name="Text 64">
            <a:extLst>
              <a:ext uri="{FF2B5EF4-FFF2-40B4-BE49-F238E27FC236}">
                <a16:creationId xmlns:a16="http://schemas.microsoft.com/office/drawing/2014/main" id="{48DD415F-B28E-B5D9-A5CA-242F08D2FF45}"/>
              </a:ext>
            </a:extLst>
          </p:cNvPr>
          <p:cNvSpPr/>
          <p:nvPr/>
        </p:nvSpPr>
        <p:spPr>
          <a:xfrm>
            <a:off x="7095613" y="3136640"/>
            <a:ext cx="1656508" cy="846293"/>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58 FPOs</a:t>
            </a:r>
          </a:p>
          <a:p>
            <a:r>
              <a:rPr lang="en-US" sz="900" b="1" dirty="0">
                <a:solidFill>
                  <a:srgbClr val="14342B"/>
                </a:solidFill>
                <a:latin typeface="Georgia" panose="02040502050405020303" pitchFamily="18" charset="0"/>
                <a:ea typeface="Inter" pitchFamily="34" charset="-122"/>
              </a:rPr>
              <a:t>WDD FPOs</a:t>
            </a:r>
          </a:p>
          <a:p>
            <a:r>
              <a:rPr lang="en-US" sz="600" b="1" dirty="0">
                <a:solidFill>
                  <a:srgbClr val="14342B"/>
                </a:solidFill>
                <a:latin typeface="Georgia" panose="02040502050405020303" pitchFamily="18" charset="0"/>
                <a:ea typeface="Inter" pitchFamily="34" charset="-122"/>
              </a:rPr>
              <a:t>₹ </a:t>
            </a:r>
            <a:r>
              <a:rPr lang="en-US" sz="600" b="1" dirty="0">
                <a:latin typeface="Georgia" panose="02040502050405020303" pitchFamily="18" charset="0"/>
                <a:ea typeface="Inter" pitchFamily="34" charset="-122"/>
              </a:rPr>
              <a:t>18 Cr total transactions in FY 23-24</a:t>
            </a:r>
          </a:p>
          <a:p>
            <a:r>
              <a:rPr lang="en-US" sz="700" b="1" i="1" dirty="0">
                <a:solidFill>
                  <a:srgbClr val="14342B"/>
                </a:solidFill>
                <a:latin typeface="Georgia" panose="02040502050405020303" pitchFamily="18" charset="0"/>
                <a:ea typeface="Inter" pitchFamily="34" charset="-122"/>
              </a:rPr>
              <a:t>Key crops: Banana, Mango, Tomato, Pomegranate, Chilli</a:t>
            </a:r>
          </a:p>
          <a:p>
            <a:endParaRPr lang="en-US" sz="700" b="1" i="1" dirty="0">
              <a:solidFill>
                <a:srgbClr val="14342B"/>
              </a:solidFill>
              <a:latin typeface="Georgia" panose="02040502050405020303" pitchFamily="18" charset="0"/>
              <a:ea typeface="Inter" pitchFamily="34" charset="-122"/>
            </a:endParaRPr>
          </a:p>
        </p:txBody>
      </p:sp>
      <p:sp>
        <p:nvSpPr>
          <p:cNvPr id="473" name="Text 64">
            <a:extLst>
              <a:ext uri="{FF2B5EF4-FFF2-40B4-BE49-F238E27FC236}">
                <a16:creationId xmlns:a16="http://schemas.microsoft.com/office/drawing/2014/main" id="{5F9024CE-8E91-ED73-527C-139B96A1AB33}"/>
              </a:ext>
            </a:extLst>
          </p:cNvPr>
          <p:cNvSpPr/>
          <p:nvPr/>
        </p:nvSpPr>
        <p:spPr>
          <a:xfrm>
            <a:off x="8752121" y="3099678"/>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5460 MT/yr capacity</a:t>
            </a:r>
          </a:p>
          <a:p>
            <a:r>
              <a:rPr lang="en-US" sz="900" b="1" dirty="0">
                <a:solidFill>
                  <a:srgbClr val="14342B"/>
                </a:solidFill>
                <a:latin typeface="Georgia" panose="02040502050405020303" pitchFamily="18" charset="0"/>
                <a:ea typeface="Inter" pitchFamily="34" charset="-122"/>
              </a:rPr>
              <a:t>Processing infrastructure</a:t>
            </a:r>
          </a:p>
          <a:p>
            <a:r>
              <a:rPr lang="en-US" sz="700" b="1" i="1" dirty="0">
                <a:solidFill>
                  <a:srgbClr val="14342B"/>
                </a:solidFill>
                <a:latin typeface="Georgia" panose="02040502050405020303" pitchFamily="18" charset="0"/>
                <a:ea typeface="Inter" pitchFamily="34" charset="-122"/>
              </a:rPr>
              <a:t>Key crops: Mango, Banana</a:t>
            </a:r>
          </a:p>
        </p:txBody>
      </p:sp>
      <p:sp>
        <p:nvSpPr>
          <p:cNvPr id="474" name="Text 64">
            <a:extLst>
              <a:ext uri="{FF2B5EF4-FFF2-40B4-BE49-F238E27FC236}">
                <a16:creationId xmlns:a16="http://schemas.microsoft.com/office/drawing/2014/main" id="{ECB77355-9D56-50CF-B88E-4D893253550F}"/>
              </a:ext>
            </a:extLst>
          </p:cNvPr>
          <p:cNvSpPr/>
          <p:nvPr/>
        </p:nvSpPr>
        <p:spPr>
          <a:xfrm>
            <a:off x="10411087" y="3132280"/>
            <a:ext cx="1661492"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90 MT</a:t>
            </a:r>
          </a:p>
          <a:p>
            <a:r>
              <a:rPr lang="en-US" sz="900" b="1" dirty="0">
                <a:solidFill>
                  <a:srgbClr val="14342B"/>
                </a:solidFill>
                <a:latin typeface="Georgia" panose="02040502050405020303" pitchFamily="18" charset="0"/>
                <a:ea typeface="Inter" pitchFamily="34" charset="-122"/>
              </a:rPr>
              <a:t>Horticulture Department FPOs</a:t>
            </a:r>
          </a:p>
          <a:p>
            <a:r>
              <a:rPr lang="en-US" sz="600" b="1" dirty="0">
                <a:solidFill>
                  <a:srgbClr val="14342B"/>
                </a:solidFill>
                <a:latin typeface="Georgia" panose="02040502050405020303" pitchFamily="18" charset="0"/>
                <a:ea typeface="Inter" pitchFamily="34" charset="-122"/>
              </a:rPr>
              <a:t>₹1,20,47,000 transactions in FY 23-24</a:t>
            </a:r>
            <a:endParaRPr lang="en-US" sz="700" b="1" i="1" dirty="0">
              <a:solidFill>
                <a:srgbClr val="14342B"/>
              </a:solidFill>
              <a:latin typeface="Georgia" panose="02040502050405020303" pitchFamily="18" charset="0"/>
              <a:ea typeface="Inter" pitchFamily="34" charset="-122"/>
            </a:endParaRPr>
          </a:p>
          <a:p>
            <a:endParaRPr lang="en-US" sz="900" b="1" dirty="0">
              <a:solidFill>
                <a:srgbClr val="14342B"/>
              </a:solidFill>
              <a:latin typeface="Georgia" panose="02040502050405020303" pitchFamily="18" charset="0"/>
              <a:ea typeface="Inter" pitchFamily="34" charset="-122"/>
            </a:endParaRPr>
          </a:p>
        </p:txBody>
      </p:sp>
      <p:sp>
        <p:nvSpPr>
          <p:cNvPr id="475" name="Text 64">
            <a:extLst>
              <a:ext uri="{FF2B5EF4-FFF2-40B4-BE49-F238E27FC236}">
                <a16:creationId xmlns:a16="http://schemas.microsoft.com/office/drawing/2014/main" id="{B5437186-FEEA-48CC-0682-1AB811B26707}"/>
              </a:ext>
            </a:extLst>
          </p:cNvPr>
          <p:cNvSpPr/>
          <p:nvPr/>
        </p:nvSpPr>
        <p:spPr>
          <a:xfrm>
            <a:off x="5451075" y="4731209"/>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5 centers</a:t>
            </a:r>
          </a:p>
          <a:p>
            <a:r>
              <a:rPr lang="en-US" sz="900" b="1" dirty="0">
                <a:solidFill>
                  <a:srgbClr val="14342B"/>
                </a:solidFill>
                <a:latin typeface="Georgia" panose="02040502050405020303" pitchFamily="18" charset="0"/>
                <a:ea typeface="Inter" pitchFamily="34" charset="-122"/>
              </a:rPr>
              <a:t>Seed production centers</a:t>
            </a:r>
          </a:p>
          <a:p>
            <a:r>
              <a:rPr lang="en-US" sz="600" b="1" dirty="0">
                <a:latin typeface="Georgia" panose="02040502050405020303" pitchFamily="18" charset="0"/>
                <a:ea typeface="Inter" pitchFamily="34" charset="-122"/>
              </a:rPr>
              <a:t>46 ha total</a:t>
            </a:r>
          </a:p>
        </p:txBody>
      </p:sp>
      <p:sp>
        <p:nvSpPr>
          <p:cNvPr id="476" name="Text 64">
            <a:extLst>
              <a:ext uri="{FF2B5EF4-FFF2-40B4-BE49-F238E27FC236}">
                <a16:creationId xmlns:a16="http://schemas.microsoft.com/office/drawing/2014/main" id="{B5E5307D-E033-A63E-9E25-E84D622ADFD8}"/>
              </a:ext>
            </a:extLst>
          </p:cNvPr>
          <p:cNvSpPr/>
          <p:nvPr/>
        </p:nvSpPr>
        <p:spPr>
          <a:xfrm>
            <a:off x="7104635" y="4723714"/>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93 farms</a:t>
            </a:r>
          </a:p>
          <a:p>
            <a:r>
              <a:rPr lang="en-US" sz="900" b="1" dirty="0">
                <a:solidFill>
                  <a:srgbClr val="14342B"/>
                </a:solidFill>
                <a:latin typeface="Georgia" panose="02040502050405020303" pitchFamily="18" charset="0"/>
                <a:ea typeface="Inter" pitchFamily="34" charset="-122"/>
              </a:rPr>
              <a:t>Horticulture farms &amp; nurseries</a:t>
            </a:r>
          </a:p>
          <a:p>
            <a:r>
              <a:rPr lang="en-US" sz="600" b="1" dirty="0">
                <a:latin typeface="Georgia" panose="02040502050405020303" pitchFamily="18" charset="0"/>
                <a:ea typeface="Inter" pitchFamily="34" charset="-122"/>
              </a:rPr>
              <a:t>4433 acres</a:t>
            </a:r>
          </a:p>
        </p:txBody>
      </p:sp>
      <p:sp>
        <p:nvSpPr>
          <p:cNvPr id="477" name="Text 64">
            <a:extLst>
              <a:ext uri="{FF2B5EF4-FFF2-40B4-BE49-F238E27FC236}">
                <a16:creationId xmlns:a16="http://schemas.microsoft.com/office/drawing/2014/main" id="{F8C7CE04-E947-B214-1D28-5DA8199738DE}"/>
              </a:ext>
            </a:extLst>
          </p:cNvPr>
          <p:cNvSpPr/>
          <p:nvPr/>
        </p:nvSpPr>
        <p:spPr>
          <a:xfrm>
            <a:off x="10450220" y="4702920"/>
            <a:ext cx="724087"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9</a:t>
            </a:r>
          </a:p>
          <a:p>
            <a:r>
              <a:rPr lang="en-US" sz="900" b="1" dirty="0">
                <a:solidFill>
                  <a:srgbClr val="14342B"/>
                </a:solidFill>
                <a:latin typeface="Georgia" panose="02040502050405020303" pitchFamily="18" charset="0"/>
                <a:ea typeface="Inter" pitchFamily="34" charset="-122"/>
              </a:rPr>
              <a:t>SHGs</a:t>
            </a:r>
          </a:p>
        </p:txBody>
      </p:sp>
      <p:sp>
        <p:nvSpPr>
          <p:cNvPr id="5" name="TextBox 4">
            <a:extLst>
              <a:ext uri="{FF2B5EF4-FFF2-40B4-BE49-F238E27FC236}">
                <a16:creationId xmlns:a16="http://schemas.microsoft.com/office/drawing/2014/main" id="{24525EE9-8AC1-1D52-59AC-23BD7930BBAD}"/>
              </a:ext>
            </a:extLst>
          </p:cNvPr>
          <p:cNvSpPr txBox="1"/>
          <p:nvPr/>
        </p:nvSpPr>
        <p:spPr>
          <a:xfrm>
            <a:off x="6400800" y="5840459"/>
            <a:ext cx="4953000" cy="338554"/>
          </a:xfrm>
          <a:prstGeom prst="rect">
            <a:avLst/>
          </a:prstGeom>
          <a:noFill/>
        </p:spPr>
        <p:txBody>
          <a:bodyPr wrap="square" rtlCol="0">
            <a:spAutoFit/>
          </a:bodyPr>
          <a:lstStyle/>
          <a:p>
            <a:pPr marL="228600" indent="-228600">
              <a:buFont typeface="Arial" panose="020B0604020202020204" pitchFamily="34" charset="0"/>
              <a:buChar char="•"/>
            </a:pPr>
            <a:r>
              <a:rPr lang="en-IN" sz="800" i="1" dirty="0">
                <a:latin typeface="Georgia" panose="02040502050405020303" pitchFamily="18" charset="0"/>
              </a:rPr>
              <a:t>Department of agriculture – Seed production </a:t>
            </a:r>
            <a:r>
              <a:rPr lang="en-IN" sz="800" i="1" dirty="0" err="1">
                <a:latin typeface="Georgia" panose="02040502050405020303" pitchFamily="18" charset="0"/>
              </a:rPr>
              <a:t>centers</a:t>
            </a:r>
            <a:r>
              <a:rPr lang="en-IN" sz="800" i="1" dirty="0">
                <a:latin typeface="Georgia" panose="02040502050405020303" pitchFamily="18" charset="0"/>
              </a:rPr>
              <a:t>, Agricultural training </a:t>
            </a:r>
            <a:r>
              <a:rPr lang="en-IN" sz="800" i="1" dirty="0" err="1">
                <a:latin typeface="Georgia" panose="02040502050405020303" pitchFamily="18" charset="0"/>
              </a:rPr>
              <a:t>centers</a:t>
            </a:r>
            <a:endParaRPr lang="en-IN" sz="800" i="1" dirty="0">
              <a:latin typeface="Georgia" panose="02040502050405020303" pitchFamily="18" charset="0"/>
            </a:endParaRPr>
          </a:p>
          <a:p>
            <a:pPr marL="228600" indent="-228600">
              <a:buFont typeface="Arial" panose="020B0604020202020204" pitchFamily="34" charset="0"/>
              <a:buChar char="•"/>
            </a:pPr>
            <a:r>
              <a:rPr lang="en-IN" sz="800" i="1" dirty="0">
                <a:latin typeface="Georgia" panose="02040502050405020303" pitchFamily="18" charset="0"/>
              </a:rPr>
              <a:t>KSRLPS - SHGs</a:t>
            </a:r>
          </a:p>
        </p:txBody>
      </p:sp>
      <p:sp>
        <p:nvSpPr>
          <p:cNvPr id="6" name="Rectangle 5">
            <a:extLst>
              <a:ext uri="{FF2B5EF4-FFF2-40B4-BE49-F238E27FC236}">
                <a16:creationId xmlns:a16="http://schemas.microsoft.com/office/drawing/2014/main" id="{816B5498-B5EC-D402-BD52-929E47EE7C65}"/>
              </a:ext>
            </a:extLst>
          </p:cNvPr>
          <p:cNvSpPr/>
          <p:nvPr/>
        </p:nvSpPr>
        <p:spPr>
          <a:xfrm>
            <a:off x="640284" y="5600410"/>
            <a:ext cx="11196500" cy="576072"/>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00" dirty="0">
              <a:latin typeface="Georgia" panose="02040502050405020303" pitchFamily="18" charset="0"/>
            </a:endParaRPr>
          </a:p>
        </p:txBody>
      </p:sp>
      <p:sp>
        <p:nvSpPr>
          <p:cNvPr id="4" name="Shape 41">
            <a:extLst>
              <a:ext uri="{FF2B5EF4-FFF2-40B4-BE49-F238E27FC236}">
                <a16:creationId xmlns:a16="http://schemas.microsoft.com/office/drawing/2014/main" id="{A8509D81-4413-CB78-A705-3EBDAF9DBE82}"/>
              </a:ext>
            </a:extLst>
          </p:cNvPr>
          <p:cNvSpPr/>
          <p:nvPr/>
        </p:nvSpPr>
        <p:spPr>
          <a:xfrm>
            <a:off x="5409020" y="4066044"/>
            <a:ext cx="4478287" cy="407388"/>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9" name="Text 42">
            <a:extLst>
              <a:ext uri="{FF2B5EF4-FFF2-40B4-BE49-F238E27FC236}">
                <a16:creationId xmlns:a16="http://schemas.microsoft.com/office/drawing/2014/main" id="{E7263B70-B18C-866C-692A-85F0492252BC}"/>
              </a:ext>
            </a:extLst>
          </p:cNvPr>
          <p:cNvSpPr/>
          <p:nvPr/>
        </p:nvSpPr>
        <p:spPr>
          <a:xfrm>
            <a:off x="5486402" y="4142898"/>
            <a:ext cx="3769226" cy="233672"/>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Other infrastructure available</a:t>
            </a:r>
          </a:p>
        </p:txBody>
      </p:sp>
      <p:graphicFrame>
        <p:nvGraphicFramePr>
          <p:cNvPr id="8" name="Chart 7">
            <a:extLst>
              <a:ext uri="{FF2B5EF4-FFF2-40B4-BE49-F238E27FC236}">
                <a16:creationId xmlns:a16="http://schemas.microsoft.com/office/drawing/2014/main" id="{81390E3D-EAEF-756A-1A60-1FB8D457AD2A}"/>
              </a:ext>
            </a:extLst>
          </p:cNvPr>
          <p:cNvGraphicFramePr>
            <a:graphicFrameLocks/>
          </p:cNvGraphicFramePr>
          <p:nvPr>
            <p:extLst>
              <p:ext uri="{D42A27DB-BD31-4B8C-83A1-F6EECF244321}">
                <p14:modId xmlns:p14="http://schemas.microsoft.com/office/powerpoint/2010/main" val="1754349370"/>
              </p:ext>
            </p:extLst>
          </p:nvPr>
        </p:nvGraphicFramePr>
        <p:xfrm>
          <a:off x="836139" y="1079732"/>
          <a:ext cx="4572000" cy="118004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1DC6E879-D2BC-3582-A11F-FBC666715CD9}"/>
              </a:ext>
            </a:extLst>
          </p:cNvPr>
          <p:cNvGraphicFramePr>
            <a:graphicFrameLocks/>
          </p:cNvGraphicFramePr>
          <p:nvPr>
            <p:extLst>
              <p:ext uri="{D42A27DB-BD31-4B8C-83A1-F6EECF244321}">
                <p14:modId xmlns:p14="http://schemas.microsoft.com/office/powerpoint/2010/main" val="3934017913"/>
              </p:ext>
            </p:extLst>
          </p:nvPr>
        </p:nvGraphicFramePr>
        <p:xfrm>
          <a:off x="640909" y="2148024"/>
          <a:ext cx="4572000" cy="1124274"/>
        </p:xfrm>
        <a:graphic>
          <a:graphicData uri="http://schemas.openxmlformats.org/drawingml/2006/chart">
            <c:chart xmlns:c="http://schemas.openxmlformats.org/drawingml/2006/chart" xmlns:r="http://schemas.openxmlformats.org/officeDocument/2006/relationships" r:id="rId3"/>
          </a:graphicData>
        </a:graphic>
      </p:graphicFrame>
      <p:pic>
        <p:nvPicPr>
          <p:cNvPr id="13" name="Picture 12">
            <a:extLst>
              <a:ext uri="{FF2B5EF4-FFF2-40B4-BE49-F238E27FC236}">
                <a16:creationId xmlns:a16="http://schemas.microsoft.com/office/drawing/2014/main" id="{51577460-84C1-15A1-93FD-63D80895FCA1}"/>
              </a:ext>
            </a:extLst>
          </p:cNvPr>
          <p:cNvPicPr>
            <a:picLocks noChangeAspect="1"/>
          </p:cNvPicPr>
          <p:nvPr/>
        </p:nvPicPr>
        <p:blipFill>
          <a:blip r:embed="rId4" cstate="print">
            <a:extLst>
              <a:ext uri="{28A0092B-C50C-407E-A947-70E740481C1C}">
                <a14:useLocalDpi xmlns:a14="http://schemas.microsoft.com/office/drawing/2010/main" val="0"/>
              </a:ext>
            </a:extLst>
          </a:blip>
          <a:srcRect l="4303" t="4159" r="4303" b="10001"/>
          <a:stretch>
            <a:fillRect/>
          </a:stretch>
        </p:blipFill>
        <p:spPr>
          <a:xfrm>
            <a:off x="10704466" y="252298"/>
            <a:ext cx="1189894" cy="1180049"/>
          </a:xfrm>
          <a:prstGeom prst="rect">
            <a:avLst/>
          </a:prstGeom>
        </p:spPr>
      </p:pic>
      <p:sp>
        <p:nvSpPr>
          <p:cNvPr id="14" name="TextBox 13">
            <a:extLst>
              <a:ext uri="{FF2B5EF4-FFF2-40B4-BE49-F238E27FC236}">
                <a16:creationId xmlns:a16="http://schemas.microsoft.com/office/drawing/2014/main" id="{D5A2FCB1-DABF-C2EF-5609-5789FF91E56F}"/>
              </a:ext>
            </a:extLst>
          </p:cNvPr>
          <p:cNvSpPr txBox="1"/>
          <p:nvPr/>
        </p:nvSpPr>
        <p:spPr>
          <a:xfrm>
            <a:off x="625235" y="5334000"/>
            <a:ext cx="4677855" cy="200055"/>
          </a:xfrm>
          <a:prstGeom prst="rect">
            <a:avLst/>
          </a:prstGeom>
          <a:noFill/>
        </p:spPr>
        <p:txBody>
          <a:bodyPr wrap="square" rtlCol="0">
            <a:spAutoFit/>
          </a:bodyPr>
          <a:lstStyle/>
          <a:p>
            <a:r>
              <a:rPr lang="en-IN" sz="700" i="1" dirty="0">
                <a:latin typeface="Georgia" panose="02040502050405020303" pitchFamily="18" charset="0"/>
              </a:rPr>
              <a:t>Source: As reported by district officials, Horticulture department, Government of Karnataka, as of March 2026</a:t>
            </a:r>
          </a:p>
        </p:txBody>
      </p:sp>
      <p:pic>
        <p:nvPicPr>
          <p:cNvPr id="18" name="Picture 17">
            <a:extLst>
              <a:ext uri="{FF2B5EF4-FFF2-40B4-BE49-F238E27FC236}">
                <a16:creationId xmlns:a16="http://schemas.microsoft.com/office/drawing/2014/main" id="{3BBB7354-9D12-72CF-AE5C-2D2FAB2A4E1C}"/>
              </a:ext>
            </a:extLst>
          </p:cNvPr>
          <p:cNvPicPr>
            <a:picLocks noChangeAspect="1"/>
          </p:cNvPicPr>
          <p:nvPr/>
        </p:nvPicPr>
        <p:blipFill>
          <a:blip r:embed="rId5"/>
          <a:stretch>
            <a:fillRect/>
          </a:stretch>
        </p:blipFill>
        <p:spPr>
          <a:xfrm>
            <a:off x="521616" y="6247156"/>
            <a:ext cx="11196501" cy="626887"/>
          </a:xfrm>
          <a:prstGeom prst="rect">
            <a:avLst/>
          </a:prstGeom>
        </p:spPr>
      </p:pic>
    </p:spTree>
    <p:extLst>
      <p:ext uri="{BB962C8B-B14F-4D97-AF65-F5344CB8AC3E}">
        <p14:creationId xmlns:p14="http://schemas.microsoft.com/office/powerpoint/2010/main" val="2933350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10C77-B115-6341-2073-1071315E699B}"/>
            </a:ext>
          </a:extLst>
        </p:cNvPr>
        <p:cNvGrpSpPr/>
        <p:nvPr/>
      </p:nvGrpSpPr>
      <p:grpSpPr>
        <a:xfrm>
          <a:off x="0" y="0"/>
          <a:ext cx="0" cy="0"/>
          <a:chOff x="0" y="0"/>
          <a:chExt cx="0" cy="0"/>
        </a:xfrm>
      </p:grpSpPr>
      <p:graphicFrame>
        <p:nvGraphicFramePr>
          <p:cNvPr id="14" name="Chart 13">
            <a:extLst>
              <a:ext uri="{FF2B5EF4-FFF2-40B4-BE49-F238E27FC236}">
                <a16:creationId xmlns:a16="http://schemas.microsoft.com/office/drawing/2014/main" id="{A9A21A81-87A8-AD60-DEB3-E41F7F9E1C1B}"/>
              </a:ext>
            </a:extLst>
          </p:cNvPr>
          <p:cNvGraphicFramePr>
            <a:graphicFrameLocks/>
          </p:cNvGraphicFramePr>
          <p:nvPr>
            <p:extLst>
              <p:ext uri="{D42A27DB-BD31-4B8C-83A1-F6EECF244321}">
                <p14:modId xmlns:p14="http://schemas.microsoft.com/office/powerpoint/2010/main" val="2715667695"/>
              </p:ext>
            </p:extLst>
          </p:nvPr>
        </p:nvGraphicFramePr>
        <p:xfrm>
          <a:off x="629704" y="1982531"/>
          <a:ext cx="4572000" cy="1421961"/>
        </p:xfrm>
        <a:graphic>
          <a:graphicData uri="http://schemas.openxmlformats.org/drawingml/2006/chart">
            <c:chart xmlns:c="http://schemas.openxmlformats.org/drawingml/2006/chart" xmlns:r="http://schemas.openxmlformats.org/officeDocument/2006/relationships" r:id="rId2"/>
          </a:graphicData>
        </a:graphic>
      </p:graphicFrame>
      <p:sp>
        <p:nvSpPr>
          <p:cNvPr id="30" name="Text 63">
            <a:extLst>
              <a:ext uri="{FF2B5EF4-FFF2-40B4-BE49-F238E27FC236}">
                <a16:creationId xmlns:a16="http://schemas.microsoft.com/office/drawing/2014/main" id="{0D886F1F-E8E8-EC19-CF72-251B4FD30D59}"/>
              </a:ext>
            </a:extLst>
          </p:cNvPr>
          <p:cNvSpPr/>
          <p:nvPr/>
        </p:nvSpPr>
        <p:spPr>
          <a:xfrm>
            <a:off x="5575589" y="2774080"/>
            <a:ext cx="557650" cy="116845"/>
          </a:xfrm>
          <a:prstGeom prst="rect">
            <a:avLst/>
          </a:prstGeom>
          <a:noFill/>
          <a:ln/>
        </p:spPr>
        <p:txBody>
          <a:bodyPr wrap="square" lIns="25400" tIns="25400" rIns="25400" bIns="25400" rtlCol="0" anchor="t">
            <a:normAutofit fontScale="25000" lnSpcReduction="20000"/>
          </a:bodyPr>
          <a:lstStyle/>
          <a:p>
            <a:endParaRPr lang="en-US" dirty="0">
              <a:latin typeface="Georgia" panose="02040502050405020303" pitchFamily="18" charset="0"/>
            </a:endParaRPr>
          </a:p>
        </p:txBody>
      </p:sp>
      <p:grpSp>
        <p:nvGrpSpPr>
          <p:cNvPr id="38" name="Group 37">
            <a:extLst>
              <a:ext uri="{FF2B5EF4-FFF2-40B4-BE49-F238E27FC236}">
                <a16:creationId xmlns:a16="http://schemas.microsoft.com/office/drawing/2014/main" id="{220E5B97-9F38-AED8-334D-07436D3268EB}"/>
              </a:ext>
            </a:extLst>
          </p:cNvPr>
          <p:cNvGrpSpPr/>
          <p:nvPr/>
        </p:nvGrpSpPr>
        <p:grpSpPr>
          <a:xfrm>
            <a:off x="5362569" y="1661201"/>
            <a:ext cx="1518294" cy="820767"/>
            <a:chOff x="9970175" y="6791328"/>
            <a:chExt cx="3653399" cy="2194560"/>
          </a:xfrm>
        </p:grpSpPr>
        <p:sp>
          <p:nvSpPr>
            <p:cNvPr id="39" name="Shape 61">
              <a:extLst>
                <a:ext uri="{FF2B5EF4-FFF2-40B4-BE49-F238E27FC236}">
                  <a16:creationId xmlns:a16="http://schemas.microsoft.com/office/drawing/2014/main" id="{1D77DFC8-6F94-AAE3-21FE-4851871DF776}"/>
                </a:ext>
              </a:extLst>
            </p:cNvPr>
            <p:cNvSpPr/>
            <p:nvPr/>
          </p:nvSpPr>
          <p:spPr>
            <a:xfrm>
              <a:off x="9970175" y="6791328"/>
              <a:ext cx="3644503"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2" name="Text 64">
              <a:extLst>
                <a:ext uri="{FF2B5EF4-FFF2-40B4-BE49-F238E27FC236}">
                  <a16:creationId xmlns:a16="http://schemas.microsoft.com/office/drawing/2014/main" id="{3C36FFA9-06C4-0D5E-91CC-6B7CCAB79CCF}"/>
                </a:ext>
              </a:extLst>
            </p:cNvPr>
            <p:cNvSpPr/>
            <p:nvPr/>
          </p:nvSpPr>
          <p:spPr>
            <a:xfrm>
              <a:off x="10025634" y="6852621"/>
              <a:ext cx="3597940" cy="1635905"/>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14,832 MT capacity</a:t>
              </a:r>
            </a:p>
            <a:p>
              <a:r>
                <a:rPr lang="en-US" sz="900" b="1" dirty="0">
                  <a:solidFill>
                    <a:srgbClr val="14342B"/>
                  </a:solidFill>
                  <a:latin typeface="Georgia" panose="02040502050405020303" pitchFamily="18" charset="0"/>
                  <a:ea typeface="Inter" pitchFamily="34" charset="-122"/>
                </a:rPr>
                <a:t>Cold storage units</a:t>
              </a:r>
            </a:p>
            <a:p>
              <a:r>
                <a:rPr lang="en-US" sz="700" b="1" i="1" dirty="0">
                  <a:solidFill>
                    <a:srgbClr val="14342B"/>
                  </a:solidFill>
                  <a:latin typeface="Georgia" panose="02040502050405020303" pitchFamily="18" charset="0"/>
                  <a:ea typeface="Inter" pitchFamily="34" charset="-122"/>
                </a:rPr>
                <a:t>Key crops: Tomato</a:t>
              </a:r>
            </a:p>
          </p:txBody>
        </p:sp>
      </p:grpSp>
      <p:sp>
        <p:nvSpPr>
          <p:cNvPr id="45" name="Shape 61">
            <a:extLst>
              <a:ext uri="{FF2B5EF4-FFF2-40B4-BE49-F238E27FC236}">
                <a16:creationId xmlns:a16="http://schemas.microsoft.com/office/drawing/2014/main" id="{ABDD2E97-6A2A-2D85-A1EC-4B7CEEA95F3F}"/>
              </a:ext>
            </a:extLst>
          </p:cNvPr>
          <p:cNvSpPr/>
          <p:nvPr/>
        </p:nvSpPr>
        <p:spPr>
          <a:xfrm>
            <a:off x="7019077" y="1661200"/>
            <a:ext cx="1514597" cy="820767"/>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99" name="Shape 61">
            <a:extLst>
              <a:ext uri="{FF2B5EF4-FFF2-40B4-BE49-F238E27FC236}">
                <a16:creationId xmlns:a16="http://schemas.microsoft.com/office/drawing/2014/main" id="{1D2B392E-9AAA-D1E5-5902-2DDCD59776CC}"/>
              </a:ext>
            </a:extLst>
          </p:cNvPr>
          <p:cNvSpPr/>
          <p:nvPr/>
        </p:nvSpPr>
        <p:spPr>
          <a:xfrm>
            <a:off x="8675585" y="1661200"/>
            <a:ext cx="1565226" cy="820766"/>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94" name="Shape 61">
            <a:extLst>
              <a:ext uri="{FF2B5EF4-FFF2-40B4-BE49-F238E27FC236}">
                <a16:creationId xmlns:a16="http://schemas.microsoft.com/office/drawing/2014/main" id="{F7E60579-FD48-E752-4AB4-9FA96712C9A4}"/>
              </a:ext>
            </a:extLst>
          </p:cNvPr>
          <p:cNvSpPr/>
          <p:nvPr/>
        </p:nvSpPr>
        <p:spPr>
          <a:xfrm>
            <a:off x="10332093" y="1661200"/>
            <a:ext cx="1667899" cy="820766"/>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212" name="Shape 41">
            <a:extLst>
              <a:ext uri="{FF2B5EF4-FFF2-40B4-BE49-F238E27FC236}">
                <a16:creationId xmlns:a16="http://schemas.microsoft.com/office/drawing/2014/main" id="{4BFB10DB-A969-12FC-8384-B9AEBC97417C}"/>
              </a:ext>
            </a:extLst>
          </p:cNvPr>
          <p:cNvSpPr/>
          <p:nvPr/>
        </p:nvSpPr>
        <p:spPr>
          <a:xfrm>
            <a:off x="5362569" y="1151209"/>
            <a:ext cx="4478287" cy="415602"/>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213" name="Text 42">
            <a:extLst>
              <a:ext uri="{FF2B5EF4-FFF2-40B4-BE49-F238E27FC236}">
                <a16:creationId xmlns:a16="http://schemas.microsoft.com/office/drawing/2014/main" id="{692E05A7-0679-6CC7-9A8E-95B2D857B5A2}"/>
              </a:ext>
            </a:extLst>
          </p:cNvPr>
          <p:cNvSpPr/>
          <p:nvPr/>
        </p:nvSpPr>
        <p:spPr>
          <a:xfrm>
            <a:off x="5486402" y="1229806"/>
            <a:ext cx="3769226" cy="238384"/>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Crop-specific ecosystem (seven key crops)</a:t>
            </a:r>
          </a:p>
        </p:txBody>
      </p:sp>
      <p:sp>
        <p:nvSpPr>
          <p:cNvPr id="219" name="Text 65">
            <a:extLst>
              <a:ext uri="{FF2B5EF4-FFF2-40B4-BE49-F238E27FC236}">
                <a16:creationId xmlns:a16="http://schemas.microsoft.com/office/drawing/2014/main" id="{8548AEBE-39A5-EE19-AC79-2EDA67E9A227}"/>
              </a:ext>
            </a:extLst>
          </p:cNvPr>
          <p:cNvSpPr/>
          <p:nvPr/>
        </p:nvSpPr>
        <p:spPr>
          <a:xfrm>
            <a:off x="5486402" y="2240716"/>
            <a:ext cx="1447800" cy="78753"/>
          </a:xfrm>
          <a:prstGeom prst="rect">
            <a:avLst/>
          </a:prstGeom>
          <a:noFill/>
          <a:ln/>
        </p:spPr>
        <p:txBody>
          <a:bodyPr wrap="square" lIns="25400" tIns="25400" rIns="25400" bIns="25400" rtlCol="0" anchor="t">
            <a:noAutofit/>
          </a:bodyPr>
          <a:lstStyle/>
          <a:p>
            <a:endParaRPr lang="en-US" sz="700" dirty="0">
              <a:solidFill>
                <a:srgbClr val="0B6E78"/>
              </a:solidFill>
              <a:latin typeface="Georgia" panose="02040502050405020303" pitchFamily="18" charset="0"/>
              <a:ea typeface="JetBrains Mono" pitchFamily="34" charset="-122"/>
              <a:cs typeface="JetBrains Mono" pitchFamily="34" charset="-120"/>
            </a:endParaRPr>
          </a:p>
        </p:txBody>
      </p:sp>
      <p:sp>
        <p:nvSpPr>
          <p:cNvPr id="2" name="Title 1">
            <a:extLst>
              <a:ext uri="{FF2B5EF4-FFF2-40B4-BE49-F238E27FC236}">
                <a16:creationId xmlns:a16="http://schemas.microsoft.com/office/drawing/2014/main" id="{1EE8F5FC-9027-D3FC-4960-D492F691C472}"/>
              </a:ext>
            </a:extLst>
          </p:cNvPr>
          <p:cNvSpPr>
            <a:spLocks noGrp="1"/>
          </p:cNvSpPr>
          <p:nvPr>
            <p:ph type="title"/>
          </p:nvPr>
        </p:nvSpPr>
        <p:spPr>
          <a:xfrm>
            <a:off x="613191" y="202285"/>
            <a:ext cx="10561116" cy="553998"/>
          </a:xfrm>
        </p:spPr>
        <p:txBody>
          <a:bodyPr/>
          <a:lstStyle/>
          <a:p>
            <a:r>
              <a:rPr lang="en-US" sz="2400" dirty="0">
                <a:solidFill>
                  <a:schemeClr val="bg1"/>
                </a:solidFill>
                <a:latin typeface="Georgia" panose="02040502050405020303" pitchFamily="18" charset="0"/>
              </a:rPr>
              <a:t>East Karnataka Tomato-Mango cluster</a:t>
            </a:r>
            <a:br>
              <a:rPr lang="en-US" sz="2400" dirty="0">
                <a:solidFill>
                  <a:schemeClr val="bg1"/>
                </a:solidFill>
                <a:latin typeface="Georgia" panose="02040502050405020303" pitchFamily="18" charset="0"/>
              </a:rPr>
            </a:br>
            <a:r>
              <a:rPr lang="en-US" sz="1200" i="1" dirty="0">
                <a:solidFill>
                  <a:schemeClr val="bg1"/>
                </a:solidFill>
                <a:latin typeface="Georgia" panose="02040502050405020303" pitchFamily="18" charset="0"/>
                <a:ea typeface="Trebuchet MS"/>
                <a:sym typeface="Trebuchet MS"/>
              </a:rPr>
              <a:t>(</a:t>
            </a:r>
            <a:r>
              <a:rPr lang="en-IN" sz="1200" i="1" dirty="0">
                <a:solidFill>
                  <a:schemeClr val="bg1"/>
                </a:solidFill>
                <a:latin typeface="Georgia" panose="02040502050405020303" pitchFamily="18" charset="0"/>
              </a:rPr>
              <a:t>Kolar, </a:t>
            </a:r>
            <a:r>
              <a:rPr lang="en-IN" sz="1200" i="1" dirty="0" err="1">
                <a:solidFill>
                  <a:schemeClr val="bg1"/>
                </a:solidFill>
                <a:latin typeface="Georgia" panose="02040502050405020303" pitchFamily="18" charset="0"/>
              </a:rPr>
              <a:t>Chikkaballapura</a:t>
            </a:r>
            <a:r>
              <a:rPr lang="en-IN" sz="1200" i="1" dirty="0">
                <a:solidFill>
                  <a:schemeClr val="bg1"/>
                </a:solidFill>
                <a:latin typeface="Georgia" panose="02040502050405020303" pitchFamily="18" charset="0"/>
              </a:rPr>
              <a:t>, Bengaluru (urban), Bengaluru (rural), </a:t>
            </a:r>
            <a:r>
              <a:rPr lang="en-IN" sz="1200" i="1" dirty="0" err="1">
                <a:solidFill>
                  <a:schemeClr val="bg1"/>
                </a:solidFill>
                <a:latin typeface="Georgia" panose="02040502050405020303" pitchFamily="18" charset="0"/>
              </a:rPr>
              <a:t>Tumakuru</a:t>
            </a:r>
            <a:r>
              <a:rPr lang="en-IN" sz="1200" i="1" dirty="0">
                <a:solidFill>
                  <a:schemeClr val="bg1"/>
                </a:solidFill>
                <a:latin typeface="Georgia" panose="02040502050405020303" pitchFamily="18" charset="0"/>
              </a:rPr>
              <a:t>)</a:t>
            </a:r>
          </a:p>
        </p:txBody>
      </p:sp>
      <p:sp>
        <p:nvSpPr>
          <p:cNvPr id="3" name="Slide Number Placeholder 2">
            <a:extLst>
              <a:ext uri="{FF2B5EF4-FFF2-40B4-BE49-F238E27FC236}">
                <a16:creationId xmlns:a16="http://schemas.microsoft.com/office/drawing/2014/main" id="{3E391B2A-F625-753B-7B28-D99055873195}"/>
              </a:ext>
            </a:extLst>
          </p:cNvPr>
          <p:cNvSpPr>
            <a:spLocks noGrp="1"/>
          </p:cNvSpPr>
          <p:nvPr>
            <p:ph type="sldNum" sz="quarter" idx="7"/>
          </p:nvPr>
        </p:nvSpPr>
        <p:spPr>
          <a:xfrm>
            <a:off x="779630" y="6440648"/>
            <a:ext cx="383540" cy="115416"/>
          </a:xfrm>
        </p:spPr>
        <p:txBody>
          <a:bodyPr/>
          <a:lstStyle/>
          <a:p>
            <a:pPr marL="12700">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36</a:t>
            </a:fld>
            <a:endParaRPr dirty="0">
              <a:latin typeface="Georgia" panose="02040502050405020303" pitchFamily="18" charset="0"/>
            </a:endParaRPr>
          </a:p>
        </p:txBody>
      </p:sp>
      <p:graphicFrame>
        <p:nvGraphicFramePr>
          <p:cNvPr id="21" name="Table 20">
            <a:extLst>
              <a:ext uri="{FF2B5EF4-FFF2-40B4-BE49-F238E27FC236}">
                <a16:creationId xmlns:a16="http://schemas.microsoft.com/office/drawing/2014/main" id="{F25BA527-D192-C9A7-BE08-5FE7202A7666}"/>
              </a:ext>
            </a:extLst>
          </p:cNvPr>
          <p:cNvGraphicFramePr>
            <a:graphicFrameLocks noGrp="1"/>
          </p:cNvGraphicFramePr>
          <p:nvPr>
            <p:extLst>
              <p:ext uri="{D42A27DB-BD31-4B8C-83A1-F6EECF244321}">
                <p14:modId xmlns:p14="http://schemas.microsoft.com/office/powerpoint/2010/main" val="3807678570"/>
              </p:ext>
            </p:extLst>
          </p:nvPr>
        </p:nvGraphicFramePr>
        <p:xfrm>
          <a:off x="656800" y="3886200"/>
          <a:ext cx="4648103" cy="1586434"/>
        </p:xfrm>
        <a:graphic>
          <a:graphicData uri="http://schemas.openxmlformats.org/drawingml/2006/table">
            <a:tbl>
              <a:tblPr firstRow="1" bandRow="1">
                <a:tableStyleId>{21E4AEA4-8DFA-4A89-87EB-49C32662AFE0}</a:tableStyleId>
              </a:tblPr>
              <a:tblGrid>
                <a:gridCol w="4648103">
                  <a:extLst>
                    <a:ext uri="{9D8B030D-6E8A-4147-A177-3AD203B41FA5}">
                      <a16:colId xmlns:a16="http://schemas.microsoft.com/office/drawing/2014/main" val="3341958433"/>
                    </a:ext>
                  </a:extLst>
                </a:gridCol>
              </a:tblGrid>
              <a:tr h="211389">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dirty="0">
                          <a:latin typeface="Georgia" panose="02040502050405020303" pitchFamily="18" charset="0"/>
                        </a:rPr>
                        <a:t>Major reasons for crop-loss across districts</a:t>
                      </a:r>
                    </a:p>
                  </a:txBody>
                  <a:tcPr marL="67006" marR="67006" marT="33504" marB="33504">
                    <a:solidFill>
                      <a:srgbClr val="0B6E78"/>
                    </a:solidFill>
                  </a:tcPr>
                </a:tc>
                <a:extLst>
                  <a:ext uri="{0D108BD9-81ED-4DB2-BD59-A6C34878D82A}">
                    <a16:rowId xmlns:a16="http://schemas.microsoft.com/office/drawing/2014/main" val="2643714482"/>
                  </a:ext>
                </a:extLst>
              </a:tr>
              <a:tr h="1367026">
                <a:tc>
                  <a:txBody>
                    <a:bodyPr/>
                    <a:lstStyle/>
                    <a:p>
                      <a:pPr marL="0" marR="0" lvl="0" indent="0" algn="l"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dirty="0">
                          <a:effectLst/>
                          <a:latin typeface="Georgia" panose="02040502050405020303" pitchFamily="18" charset="0"/>
                        </a:rPr>
                        <a:t>Mango (Kolar, </a:t>
                      </a:r>
                      <a:r>
                        <a:rPr lang="en-IN" sz="1100" b="1" dirty="0" err="1">
                          <a:effectLst/>
                          <a:latin typeface="Georgia" panose="02040502050405020303" pitchFamily="18" charset="0"/>
                        </a:rPr>
                        <a:t>Chikkaballapura</a:t>
                      </a:r>
                      <a:r>
                        <a:rPr lang="en-IN" sz="1100" b="1" dirty="0">
                          <a:effectLst/>
                          <a:latin typeface="Georgia" panose="02040502050405020303" pitchFamily="18" charset="0"/>
                        </a:rPr>
                        <a:t>, Bengaluru Rural, Bengaluru Urban, </a:t>
                      </a:r>
                      <a:r>
                        <a:rPr lang="en-IN" sz="1100" b="1" dirty="0" err="1">
                          <a:effectLst/>
                          <a:latin typeface="Georgia" panose="02040502050405020303" pitchFamily="18" charset="0"/>
                        </a:rPr>
                        <a:t>Tumakuru</a:t>
                      </a:r>
                      <a:r>
                        <a:rPr lang="en-IN" sz="1100" b="1" dirty="0">
                          <a:effectLst/>
                          <a:latin typeface="Georgia" panose="02040502050405020303" pitchFamily="18" charset="0"/>
                        </a:rPr>
                        <a:t>):</a:t>
                      </a:r>
                      <a:r>
                        <a:rPr lang="en-IN" sz="1100" dirty="0">
                          <a:latin typeface="Georgia" panose="02040502050405020303" pitchFamily="18" charset="0"/>
                        </a:rPr>
                        <a:t> Incorrect maturity at harvest, mechanical injury, unseasonal rainfall, sooty mould, mealy bugs, price volatility</a:t>
                      </a:r>
                      <a:br>
                        <a:rPr lang="en-IN" sz="1100" dirty="0">
                          <a:latin typeface="Georgia" panose="02040502050405020303" pitchFamily="18" charset="0"/>
                        </a:rPr>
                      </a:br>
                      <a:r>
                        <a:rPr lang="en-IN" sz="1100" b="1" dirty="0">
                          <a:effectLst/>
                          <a:latin typeface="Georgia" panose="02040502050405020303" pitchFamily="18" charset="0"/>
                        </a:rPr>
                        <a:t>Pomegranate (</a:t>
                      </a:r>
                      <a:r>
                        <a:rPr lang="en-IN" sz="1100" b="1" dirty="0" err="1">
                          <a:effectLst/>
                          <a:latin typeface="Georgia" panose="02040502050405020303" pitchFamily="18" charset="0"/>
                        </a:rPr>
                        <a:t>Chikkaballapura</a:t>
                      </a:r>
                      <a:r>
                        <a:rPr lang="en-IN" sz="1100" b="1" dirty="0">
                          <a:effectLst/>
                          <a:latin typeface="Georgia" panose="02040502050405020303" pitchFamily="18" charset="0"/>
                        </a:rPr>
                        <a:t>):</a:t>
                      </a:r>
                      <a:r>
                        <a:rPr lang="en-IN" sz="1100" dirty="0">
                          <a:latin typeface="Georgia" panose="02040502050405020303" pitchFamily="18" charset="0"/>
                        </a:rPr>
                        <a:t> Bacterial blight, anthracnose, fruit cracking, improper handling and lack of cold chain infrastructure</a:t>
                      </a:r>
                    </a:p>
                    <a:p>
                      <a:pPr marL="0" marR="0" lvl="0" indent="0" algn="l"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dirty="0">
                          <a:effectLst/>
                          <a:latin typeface="Georgia" panose="02040502050405020303" pitchFamily="18" charset="0"/>
                        </a:rPr>
                        <a:t>Tomato (Bengaluru Urban):</a:t>
                      </a:r>
                      <a:r>
                        <a:rPr lang="en-IN" sz="1100" dirty="0">
                          <a:latin typeface="Georgia" panose="02040502050405020303" pitchFamily="18" charset="0"/>
                        </a:rPr>
                        <a:t> Unseasonal rainfall, pest and disease, supply chain gaps, poor processing infrastructure</a:t>
                      </a:r>
                      <a:endParaRPr lang="en-US" sz="1100" dirty="0">
                        <a:latin typeface="Georgia" panose="02040502050405020303" pitchFamily="18" charset="0"/>
                      </a:endParaRPr>
                    </a:p>
                  </a:txBody>
                  <a:tcPr marL="67006" marR="67006" marT="33504" marB="33504">
                    <a:solidFill>
                      <a:schemeClr val="accent5">
                        <a:lumMod val="20000"/>
                        <a:lumOff val="80000"/>
                      </a:schemeClr>
                    </a:solidFill>
                  </a:tcPr>
                </a:tc>
                <a:extLst>
                  <a:ext uri="{0D108BD9-81ED-4DB2-BD59-A6C34878D82A}">
                    <a16:rowId xmlns:a16="http://schemas.microsoft.com/office/drawing/2014/main" val="2831645102"/>
                  </a:ext>
                </a:extLst>
              </a:tr>
            </a:tbl>
          </a:graphicData>
        </a:graphic>
      </p:graphicFrame>
      <p:sp>
        <p:nvSpPr>
          <p:cNvPr id="7" name="TextBox 6">
            <a:extLst>
              <a:ext uri="{FF2B5EF4-FFF2-40B4-BE49-F238E27FC236}">
                <a16:creationId xmlns:a16="http://schemas.microsoft.com/office/drawing/2014/main" id="{8F4BB6B4-65C0-EF1D-4E0E-CBBFDC6FC703}"/>
              </a:ext>
            </a:extLst>
          </p:cNvPr>
          <p:cNvSpPr txBox="1"/>
          <p:nvPr/>
        </p:nvSpPr>
        <p:spPr>
          <a:xfrm>
            <a:off x="2362200" y="3172921"/>
            <a:ext cx="2984460" cy="184666"/>
          </a:xfrm>
          <a:prstGeom prst="rect">
            <a:avLst/>
          </a:prstGeom>
          <a:noFill/>
        </p:spPr>
        <p:txBody>
          <a:bodyPr wrap="square" rtlCol="0">
            <a:spAutoFit/>
          </a:bodyPr>
          <a:lstStyle/>
          <a:p>
            <a:r>
              <a:rPr lang="en-IN" sz="600" i="1" dirty="0">
                <a:latin typeface="Georgia" panose="02040502050405020303" pitchFamily="18" charset="0"/>
              </a:rPr>
              <a:t>Sources: Horticulture crop statistics of Karnataka state at a glance – 2023-24</a:t>
            </a:r>
          </a:p>
        </p:txBody>
      </p:sp>
      <p:grpSp>
        <p:nvGrpSpPr>
          <p:cNvPr id="204" name="Group 203">
            <a:extLst>
              <a:ext uri="{FF2B5EF4-FFF2-40B4-BE49-F238E27FC236}">
                <a16:creationId xmlns:a16="http://schemas.microsoft.com/office/drawing/2014/main" id="{2BA487D9-3A49-8B70-4462-C9685230A095}"/>
              </a:ext>
            </a:extLst>
          </p:cNvPr>
          <p:cNvGrpSpPr/>
          <p:nvPr/>
        </p:nvGrpSpPr>
        <p:grpSpPr>
          <a:xfrm>
            <a:off x="651660" y="3429000"/>
            <a:ext cx="4653243" cy="429265"/>
            <a:chOff x="689731" y="3276599"/>
            <a:chExt cx="4478287" cy="881562"/>
          </a:xfrm>
          <a:solidFill>
            <a:srgbClr val="4B4B4D"/>
          </a:solidFill>
        </p:grpSpPr>
        <p:sp>
          <p:nvSpPr>
            <p:cNvPr id="11" name="Shape 41">
              <a:extLst>
                <a:ext uri="{FF2B5EF4-FFF2-40B4-BE49-F238E27FC236}">
                  <a16:creationId xmlns:a16="http://schemas.microsoft.com/office/drawing/2014/main" id="{2EEC051D-CB31-F86B-8F73-D44BD6A06D56}"/>
                </a:ext>
              </a:extLst>
            </p:cNvPr>
            <p:cNvSpPr/>
            <p:nvPr/>
          </p:nvSpPr>
          <p:spPr>
            <a:xfrm>
              <a:off x="689731" y="3276601"/>
              <a:ext cx="4478287" cy="881560"/>
            </a:xfrm>
            <a:prstGeom prst="roundRect">
              <a:avLst>
                <a:gd name="adj" fmla="val 4644"/>
              </a:avLst>
            </a:prstGeom>
            <a:grpFill/>
            <a:ln/>
          </p:spPr>
          <p:txBody>
            <a:bodyPr/>
            <a:lstStyle/>
            <a:p>
              <a:pPr algn="r"/>
              <a:endParaRPr lang="en-US" sz="1100" dirty="0">
                <a:solidFill>
                  <a:schemeClr val="bg1"/>
                </a:solidFill>
                <a:latin typeface="Georgia" panose="02040502050405020303" pitchFamily="18" charset="0"/>
              </a:endParaRPr>
            </a:p>
          </p:txBody>
        </p:sp>
        <p:sp>
          <p:nvSpPr>
            <p:cNvPr id="12" name="Shape 44">
              <a:extLst>
                <a:ext uri="{FF2B5EF4-FFF2-40B4-BE49-F238E27FC236}">
                  <a16:creationId xmlns:a16="http://schemas.microsoft.com/office/drawing/2014/main" id="{BE6FFDBB-B0F5-696F-A97B-93CEABE3C0A7}"/>
                </a:ext>
              </a:extLst>
            </p:cNvPr>
            <p:cNvSpPr/>
            <p:nvPr/>
          </p:nvSpPr>
          <p:spPr>
            <a:xfrm>
              <a:off x="2885490" y="3340476"/>
              <a:ext cx="9525" cy="735330"/>
            </a:xfrm>
            <a:prstGeom prst="rect">
              <a:avLst/>
            </a:prstGeom>
            <a:grpFill/>
            <a:ln/>
          </p:spPr>
          <p:txBody>
            <a:bodyPr/>
            <a:lstStyle/>
            <a:p>
              <a:endParaRPr lang="en-IN" sz="1100">
                <a:solidFill>
                  <a:schemeClr val="bg1"/>
                </a:solidFill>
                <a:latin typeface="Georgia" panose="02040502050405020303" pitchFamily="18" charset="0"/>
              </a:endParaRPr>
            </a:p>
          </p:txBody>
        </p:sp>
        <p:sp>
          <p:nvSpPr>
            <p:cNvPr id="17" name="Text 43">
              <a:extLst>
                <a:ext uri="{FF2B5EF4-FFF2-40B4-BE49-F238E27FC236}">
                  <a16:creationId xmlns:a16="http://schemas.microsoft.com/office/drawing/2014/main" id="{3BF02F59-8509-6F83-463D-E0E7B96F1F2C}"/>
                </a:ext>
              </a:extLst>
            </p:cNvPr>
            <p:cNvSpPr/>
            <p:nvPr/>
          </p:nvSpPr>
          <p:spPr>
            <a:xfrm>
              <a:off x="1163171" y="3708850"/>
              <a:ext cx="1115499" cy="391574"/>
            </a:xfrm>
            <a:prstGeom prst="rect">
              <a:avLst/>
            </a:prstGeom>
            <a:grpFill/>
            <a:ln/>
          </p:spPr>
          <p:txBody>
            <a:bodyPr wrap="square" lIns="25400" tIns="25400" rIns="25400" bIns="25400" rtlCol="0" anchor="t">
              <a:normAutofit fontScale="92500" lnSpcReduction="20000"/>
            </a:bodyPr>
            <a:lstStyle/>
            <a:p>
              <a:r>
                <a:rPr lang="en-US" sz="1200" b="1" dirty="0">
                  <a:solidFill>
                    <a:schemeClr val="bg1"/>
                  </a:solidFill>
                  <a:latin typeface="Georgia" panose="02040502050405020303" pitchFamily="18" charset="0"/>
                  <a:ea typeface="Fraunces" pitchFamily="34" charset="-122"/>
                  <a:cs typeface="Fraunces" pitchFamily="34" charset="-120"/>
                </a:rPr>
                <a:t>23,40,200</a:t>
              </a:r>
              <a:r>
                <a:rPr lang="en-US" sz="1200" dirty="0">
                  <a:solidFill>
                    <a:schemeClr val="bg1"/>
                  </a:solidFill>
                  <a:latin typeface="Georgia" panose="02040502050405020303" pitchFamily="18" charset="0"/>
                  <a:ea typeface="Fraunces" pitchFamily="34" charset="-122"/>
                  <a:cs typeface="Fraunces" pitchFamily="34" charset="-120"/>
                </a:rPr>
                <a:t> MT</a:t>
              </a:r>
              <a:endParaRPr lang="en-US" sz="1200" dirty="0">
                <a:solidFill>
                  <a:schemeClr val="bg1"/>
                </a:solidFill>
                <a:latin typeface="Georgia" panose="02040502050405020303" pitchFamily="18" charset="0"/>
              </a:endParaRPr>
            </a:p>
          </p:txBody>
        </p:sp>
        <p:sp>
          <p:nvSpPr>
            <p:cNvPr id="19" name="Text 42">
              <a:extLst>
                <a:ext uri="{FF2B5EF4-FFF2-40B4-BE49-F238E27FC236}">
                  <a16:creationId xmlns:a16="http://schemas.microsoft.com/office/drawing/2014/main" id="{FFE5D5BD-9302-3E36-DFD8-F553F25ECC64}"/>
                </a:ext>
              </a:extLst>
            </p:cNvPr>
            <p:cNvSpPr/>
            <p:nvPr/>
          </p:nvSpPr>
          <p:spPr>
            <a:xfrm>
              <a:off x="706488" y="3276599"/>
              <a:ext cx="2020722" cy="269807"/>
            </a:xfrm>
            <a:prstGeom prst="rect">
              <a:avLst/>
            </a:prstGeom>
            <a:grpFill/>
            <a:ln/>
          </p:spPr>
          <p:txBody>
            <a:bodyPr wrap="square" lIns="25400" tIns="25400" rIns="25400" bIns="25400" rtlCol="0" anchor="t">
              <a:noAutofit/>
            </a:bodyPr>
            <a:lstStyle/>
            <a:p>
              <a:pPr algn="ctr"/>
              <a:r>
                <a:rPr lang="en-US" sz="1100" b="1" dirty="0">
                  <a:solidFill>
                    <a:schemeClr val="bg1"/>
                  </a:solidFill>
                  <a:latin typeface="Georgia" panose="02040502050405020303" pitchFamily="18" charset="0"/>
                </a:rPr>
                <a:t>Crop-specific production</a:t>
              </a:r>
            </a:p>
          </p:txBody>
        </p:sp>
        <p:sp>
          <p:nvSpPr>
            <p:cNvPr id="22" name="Text 45">
              <a:extLst>
                <a:ext uri="{FF2B5EF4-FFF2-40B4-BE49-F238E27FC236}">
                  <a16:creationId xmlns:a16="http://schemas.microsoft.com/office/drawing/2014/main" id="{17AEDEA5-87DA-6751-1BFE-81C0DC5C8CEA}"/>
                </a:ext>
              </a:extLst>
            </p:cNvPr>
            <p:cNvSpPr/>
            <p:nvPr/>
          </p:nvSpPr>
          <p:spPr>
            <a:xfrm>
              <a:off x="3368581" y="3276601"/>
              <a:ext cx="1325871" cy="352970"/>
            </a:xfrm>
            <a:prstGeom prst="rect">
              <a:avLst/>
            </a:prstGeom>
            <a:grpFill/>
            <a:ln/>
          </p:spPr>
          <p:txBody>
            <a:bodyPr wrap="square" lIns="25400" tIns="25400" rIns="25400" bIns="25400" rtlCol="0" anchor="t">
              <a:noAutofit/>
            </a:bodyPr>
            <a:lstStyle/>
            <a:p>
              <a:pPr algn="r"/>
              <a:r>
                <a:rPr lang="en-US" sz="1100" b="1" dirty="0">
                  <a:solidFill>
                    <a:schemeClr val="bg1"/>
                  </a:solidFill>
                  <a:latin typeface="Georgia" panose="02040502050405020303" pitchFamily="18" charset="0"/>
                </a:rPr>
                <a:t>Total production</a:t>
              </a:r>
            </a:p>
          </p:txBody>
        </p:sp>
        <p:sp>
          <p:nvSpPr>
            <p:cNvPr id="25" name="Text 46">
              <a:extLst>
                <a:ext uri="{FF2B5EF4-FFF2-40B4-BE49-F238E27FC236}">
                  <a16:creationId xmlns:a16="http://schemas.microsoft.com/office/drawing/2014/main" id="{D6EB4857-16E4-91F9-F9B0-7C2F6751FB29}"/>
                </a:ext>
              </a:extLst>
            </p:cNvPr>
            <p:cNvSpPr/>
            <p:nvPr/>
          </p:nvSpPr>
          <p:spPr>
            <a:xfrm>
              <a:off x="3305816" y="3656944"/>
              <a:ext cx="1306821" cy="362564"/>
            </a:xfrm>
            <a:prstGeom prst="rect">
              <a:avLst/>
            </a:prstGeom>
            <a:grpFill/>
            <a:ln/>
          </p:spPr>
          <p:txBody>
            <a:bodyPr wrap="square" lIns="25400" tIns="25400" rIns="25400" bIns="25400" rtlCol="0" anchor="t">
              <a:noAutofit/>
            </a:bodyPr>
            <a:lstStyle/>
            <a:p>
              <a:pPr algn="r"/>
              <a:r>
                <a:rPr lang="en-US" sz="1100" b="1" dirty="0">
                  <a:solidFill>
                    <a:schemeClr val="bg1"/>
                  </a:solidFill>
                  <a:latin typeface="Georgia" panose="02040502050405020303" pitchFamily="18" charset="0"/>
                  <a:ea typeface="Fraunces" pitchFamily="34" charset="-122"/>
                  <a:cs typeface="Fraunces" pitchFamily="34" charset="-120"/>
                </a:rPr>
                <a:t>33,90,501</a:t>
              </a:r>
              <a:r>
                <a:rPr lang="en-US" sz="1100" dirty="0">
                  <a:solidFill>
                    <a:schemeClr val="bg1"/>
                  </a:solidFill>
                  <a:latin typeface="Georgia" panose="02040502050405020303" pitchFamily="18" charset="0"/>
                  <a:ea typeface="Fraunces" pitchFamily="34" charset="-122"/>
                  <a:cs typeface="Fraunces" pitchFamily="34" charset="-120"/>
                </a:rPr>
                <a:t> MT</a:t>
              </a:r>
              <a:endParaRPr lang="en-US" sz="1100" dirty="0">
                <a:solidFill>
                  <a:schemeClr val="bg1"/>
                </a:solidFill>
                <a:latin typeface="Georgia" panose="02040502050405020303" pitchFamily="18" charset="0"/>
              </a:endParaRPr>
            </a:p>
          </p:txBody>
        </p:sp>
      </p:grpSp>
      <p:sp>
        <p:nvSpPr>
          <p:cNvPr id="442" name="Rectangle 441">
            <a:extLst>
              <a:ext uri="{FF2B5EF4-FFF2-40B4-BE49-F238E27FC236}">
                <a16:creationId xmlns:a16="http://schemas.microsoft.com/office/drawing/2014/main" id="{4B8ACABD-A32F-9077-A67C-34677C9CAE6D}"/>
              </a:ext>
            </a:extLst>
          </p:cNvPr>
          <p:cNvSpPr/>
          <p:nvPr/>
        </p:nvSpPr>
        <p:spPr>
          <a:xfrm>
            <a:off x="670084" y="1178591"/>
            <a:ext cx="4626379" cy="2178996"/>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Georgia" panose="02040502050405020303" pitchFamily="18" charset="0"/>
            </a:endParaRPr>
          </a:p>
        </p:txBody>
      </p:sp>
      <p:sp>
        <p:nvSpPr>
          <p:cNvPr id="444" name="Text 64">
            <a:extLst>
              <a:ext uri="{FF2B5EF4-FFF2-40B4-BE49-F238E27FC236}">
                <a16:creationId xmlns:a16="http://schemas.microsoft.com/office/drawing/2014/main" id="{38C8872B-FA87-4934-00F4-B0BFBC1867DA}"/>
              </a:ext>
            </a:extLst>
          </p:cNvPr>
          <p:cNvSpPr/>
          <p:nvPr/>
        </p:nvSpPr>
        <p:spPr>
          <a:xfrm>
            <a:off x="7060489" y="1699611"/>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22 FPOs</a:t>
            </a:r>
          </a:p>
          <a:p>
            <a:r>
              <a:rPr lang="en-US" sz="900" b="1" dirty="0">
                <a:solidFill>
                  <a:srgbClr val="14342B"/>
                </a:solidFill>
                <a:latin typeface="Georgia" panose="02040502050405020303" pitchFamily="18" charset="0"/>
                <a:ea typeface="Inter" pitchFamily="34" charset="-122"/>
              </a:rPr>
              <a:t>WDD FPOs</a:t>
            </a:r>
          </a:p>
          <a:p>
            <a:r>
              <a:rPr lang="en-US" sz="600" b="1" dirty="0">
                <a:solidFill>
                  <a:srgbClr val="14342B"/>
                </a:solidFill>
                <a:latin typeface="Georgia" panose="02040502050405020303" pitchFamily="18" charset="0"/>
                <a:ea typeface="Inter" pitchFamily="34" charset="-122"/>
              </a:rPr>
              <a:t>₹ 9</a:t>
            </a:r>
            <a:r>
              <a:rPr lang="en-US" sz="600" b="1" dirty="0">
                <a:latin typeface="Georgia" panose="02040502050405020303" pitchFamily="18" charset="0"/>
                <a:ea typeface="Inter" pitchFamily="34" charset="-122"/>
              </a:rPr>
              <a:t> Cr total transactions  in FY 23-24</a:t>
            </a:r>
          </a:p>
          <a:p>
            <a:r>
              <a:rPr lang="en-US" sz="700" b="1" i="1" dirty="0">
                <a:solidFill>
                  <a:srgbClr val="14342B"/>
                </a:solidFill>
                <a:latin typeface="Georgia" panose="02040502050405020303" pitchFamily="18" charset="0"/>
                <a:ea typeface="Inter" pitchFamily="34" charset="-122"/>
              </a:rPr>
              <a:t>Key crops: Grapes, Mango, Tomato, Pomegranate</a:t>
            </a:r>
          </a:p>
        </p:txBody>
      </p:sp>
      <p:sp>
        <p:nvSpPr>
          <p:cNvPr id="445" name="Text 64">
            <a:extLst>
              <a:ext uri="{FF2B5EF4-FFF2-40B4-BE49-F238E27FC236}">
                <a16:creationId xmlns:a16="http://schemas.microsoft.com/office/drawing/2014/main" id="{157F614C-82E7-BE53-D49D-C90FC6B9E084}"/>
              </a:ext>
            </a:extLst>
          </p:cNvPr>
          <p:cNvSpPr/>
          <p:nvPr/>
        </p:nvSpPr>
        <p:spPr>
          <a:xfrm>
            <a:off x="8706151" y="1654060"/>
            <a:ext cx="1541218"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9,65,338 MT/yr capacity</a:t>
            </a:r>
          </a:p>
          <a:p>
            <a:r>
              <a:rPr lang="en-US" sz="900" b="1" dirty="0">
                <a:solidFill>
                  <a:srgbClr val="14342B"/>
                </a:solidFill>
                <a:latin typeface="Georgia" panose="02040502050405020303" pitchFamily="18" charset="0"/>
                <a:ea typeface="Inter" pitchFamily="34" charset="-122"/>
              </a:rPr>
              <a:t>Processing infrastructure</a:t>
            </a:r>
          </a:p>
          <a:p>
            <a:r>
              <a:rPr lang="en-US" sz="700" b="1" i="1" dirty="0">
                <a:solidFill>
                  <a:srgbClr val="14342B"/>
                </a:solidFill>
                <a:latin typeface="Georgia" panose="02040502050405020303" pitchFamily="18" charset="0"/>
                <a:ea typeface="Inter" pitchFamily="34" charset="-122"/>
              </a:rPr>
              <a:t>Key crops: Banana, Grapes, Mango, Tomato, Pomegranate</a:t>
            </a:r>
          </a:p>
        </p:txBody>
      </p:sp>
      <p:sp>
        <p:nvSpPr>
          <p:cNvPr id="449" name="Text 64">
            <a:extLst>
              <a:ext uri="{FF2B5EF4-FFF2-40B4-BE49-F238E27FC236}">
                <a16:creationId xmlns:a16="http://schemas.microsoft.com/office/drawing/2014/main" id="{290A2103-EBAF-CE1F-EFE4-F59B4EE83995}"/>
              </a:ext>
            </a:extLst>
          </p:cNvPr>
          <p:cNvSpPr/>
          <p:nvPr/>
        </p:nvSpPr>
        <p:spPr>
          <a:xfrm>
            <a:off x="10385149" y="1677962"/>
            <a:ext cx="1661492"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667 MT</a:t>
            </a:r>
          </a:p>
          <a:p>
            <a:r>
              <a:rPr lang="en-US" sz="900" b="1" dirty="0">
                <a:solidFill>
                  <a:srgbClr val="14342B"/>
                </a:solidFill>
                <a:latin typeface="Georgia" panose="02040502050405020303" pitchFamily="18" charset="0"/>
                <a:ea typeface="Inter" pitchFamily="34" charset="-122"/>
              </a:rPr>
              <a:t>Horticulture Department FPOs</a:t>
            </a:r>
          </a:p>
          <a:p>
            <a:r>
              <a:rPr lang="en-US" sz="600" b="1" dirty="0">
                <a:latin typeface="Georgia" panose="02040502050405020303" pitchFamily="18" charset="0"/>
                <a:ea typeface="Inter" pitchFamily="34" charset="-122"/>
              </a:rPr>
              <a:t>₹1.48 crores transactions in FY 23-24</a:t>
            </a:r>
            <a:endParaRPr lang="en-US" sz="600" b="1" dirty="0">
              <a:solidFill>
                <a:srgbClr val="14342B"/>
              </a:solidFill>
              <a:latin typeface="Georgia" panose="02040502050405020303" pitchFamily="18" charset="0"/>
              <a:ea typeface="Inter" pitchFamily="34" charset="-122"/>
            </a:endParaRPr>
          </a:p>
          <a:p>
            <a:r>
              <a:rPr lang="en-US" sz="700" b="1" i="1" dirty="0">
                <a:solidFill>
                  <a:srgbClr val="14342B"/>
                </a:solidFill>
                <a:latin typeface="Georgia" panose="02040502050405020303" pitchFamily="18" charset="0"/>
                <a:ea typeface="Inter" pitchFamily="34" charset="-122"/>
              </a:rPr>
              <a:t>Key crops: Onion, Pomegranate,</a:t>
            </a:r>
          </a:p>
          <a:p>
            <a:r>
              <a:rPr lang="en-US" sz="700" b="1" i="1" dirty="0">
                <a:solidFill>
                  <a:srgbClr val="14342B"/>
                </a:solidFill>
                <a:latin typeface="Georgia" panose="02040502050405020303" pitchFamily="18" charset="0"/>
                <a:ea typeface="Inter" pitchFamily="34" charset="-122"/>
              </a:rPr>
              <a:t>Mango</a:t>
            </a:r>
          </a:p>
          <a:p>
            <a:endParaRPr lang="en-US" sz="900" b="1" dirty="0">
              <a:solidFill>
                <a:srgbClr val="14342B"/>
              </a:solidFill>
              <a:latin typeface="Georgia" panose="02040502050405020303" pitchFamily="18" charset="0"/>
              <a:ea typeface="Inter" pitchFamily="34" charset="-122"/>
            </a:endParaRPr>
          </a:p>
        </p:txBody>
      </p:sp>
      <p:grpSp>
        <p:nvGrpSpPr>
          <p:cNvPr id="464" name="Group 463">
            <a:extLst>
              <a:ext uri="{FF2B5EF4-FFF2-40B4-BE49-F238E27FC236}">
                <a16:creationId xmlns:a16="http://schemas.microsoft.com/office/drawing/2014/main" id="{60DB12D4-280F-61DC-6A84-3422CB500B85}"/>
              </a:ext>
            </a:extLst>
          </p:cNvPr>
          <p:cNvGrpSpPr/>
          <p:nvPr/>
        </p:nvGrpSpPr>
        <p:grpSpPr>
          <a:xfrm>
            <a:off x="5410226" y="4177242"/>
            <a:ext cx="1514597" cy="1276151"/>
            <a:chOff x="10002347" y="7336157"/>
            <a:chExt cx="3644503" cy="3480966"/>
          </a:xfrm>
        </p:grpSpPr>
        <p:sp>
          <p:nvSpPr>
            <p:cNvPr id="470" name="Shape 61">
              <a:extLst>
                <a:ext uri="{FF2B5EF4-FFF2-40B4-BE49-F238E27FC236}">
                  <a16:creationId xmlns:a16="http://schemas.microsoft.com/office/drawing/2014/main" id="{9A5FACB1-C44E-B498-F0E7-3C3E8C515F33}"/>
                </a:ext>
              </a:extLst>
            </p:cNvPr>
            <p:cNvSpPr/>
            <p:nvPr/>
          </p:nvSpPr>
          <p:spPr>
            <a:xfrm>
              <a:off x="10002347" y="8622563"/>
              <a:ext cx="3644503" cy="2194560"/>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71" name="Text 63">
              <a:extLst>
                <a:ext uri="{FF2B5EF4-FFF2-40B4-BE49-F238E27FC236}">
                  <a16:creationId xmlns:a16="http://schemas.microsoft.com/office/drawing/2014/main" id="{888B4594-693D-B608-2655-8F452695FCDF}"/>
                </a:ext>
              </a:extLst>
            </p:cNvPr>
            <p:cNvSpPr/>
            <p:nvPr/>
          </p:nvSpPr>
          <p:spPr>
            <a:xfrm>
              <a:off x="10482754" y="7336157"/>
              <a:ext cx="1341846" cy="312420"/>
            </a:xfrm>
            <a:prstGeom prst="rect">
              <a:avLst/>
            </a:prstGeom>
            <a:noFill/>
            <a:ln/>
          </p:spPr>
          <p:txBody>
            <a:bodyPr wrap="square" lIns="25400" tIns="25400" rIns="25400" bIns="25400" rtlCol="0" anchor="t">
              <a:normAutofit fontScale="25000" lnSpcReduction="20000"/>
            </a:bodyPr>
            <a:lstStyle/>
            <a:p>
              <a:endParaRPr lang="en-US" dirty="0">
                <a:latin typeface="Georgia" panose="02040502050405020303" pitchFamily="18" charset="0"/>
              </a:endParaRPr>
            </a:p>
          </p:txBody>
        </p:sp>
      </p:grpSp>
      <p:grpSp>
        <p:nvGrpSpPr>
          <p:cNvPr id="465" name="Group 464">
            <a:extLst>
              <a:ext uri="{FF2B5EF4-FFF2-40B4-BE49-F238E27FC236}">
                <a16:creationId xmlns:a16="http://schemas.microsoft.com/office/drawing/2014/main" id="{FFE07B81-9D75-A011-E95A-412B8EE5E870}"/>
              </a:ext>
            </a:extLst>
          </p:cNvPr>
          <p:cNvGrpSpPr/>
          <p:nvPr/>
        </p:nvGrpSpPr>
        <p:grpSpPr>
          <a:xfrm>
            <a:off x="5396858" y="3086360"/>
            <a:ext cx="1535720" cy="888611"/>
            <a:chOff x="9970175" y="6791328"/>
            <a:chExt cx="3695328" cy="2423870"/>
          </a:xfrm>
        </p:grpSpPr>
        <p:sp>
          <p:nvSpPr>
            <p:cNvPr id="468" name="Shape 61">
              <a:extLst>
                <a:ext uri="{FF2B5EF4-FFF2-40B4-BE49-F238E27FC236}">
                  <a16:creationId xmlns:a16="http://schemas.microsoft.com/office/drawing/2014/main" id="{F432CDFA-9F59-910F-99D3-90435B62A454}"/>
                </a:ext>
              </a:extLst>
            </p:cNvPr>
            <p:cNvSpPr/>
            <p:nvPr/>
          </p:nvSpPr>
          <p:spPr>
            <a:xfrm>
              <a:off x="9970175" y="6791328"/>
              <a:ext cx="3644503"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9" name="Text 64">
              <a:extLst>
                <a:ext uri="{FF2B5EF4-FFF2-40B4-BE49-F238E27FC236}">
                  <a16:creationId xmlns:a16="http://schemas.microsoft.com/office/drawing/2014/main" id="{18262A7B-C45A-5CAD-C152-11E5DCE2AF6D}"/>
                </a:ext>
              </a:extLst>
            </p:cNvPr>
            <p:cNvSpPr/>
            <p:nvPr/>
          </p:nvSpPr>
          <p:spPr>
            <a:xfrm>
              <a:off x="10025634" y="6852622"/>
              <a:ext cx="3639869" cy="2362576"/>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46,982 MT capacity</a:t>
              </a:r>
            </a:p>
            <a:p>
              <a:r>
                <a:rPr lang="en-US" sz="900" b="1" dirty="0">
                  <a:solidFill>
                    <a:srgbClr val="14342B"/>
                  </a:solidFill>
                  <a:latin typeface="Georgia" panose="02040502050405020303" pitchFamily="18" charset="0"/>
                  <a:ea typeface="Inter" pitchFamily="34" charset="-122"/>
                </a:rPr>
                <a:t>Cold storage units</a:t>
              </a:r>
            </a:p>
            <a:p>
              <a:r>
                <a:rPr lang="en-US" sz="700" b="1" i="1" dirty="0">
                  <a:solidFill>
                    <a:srgbClr val="14342B"/>
                  </a:solidFill>
                  <a:latin typeface="Georgia" panose="02040502050405020303" pitchFamily="18" charset="0"/>
                  <a:ea typeface="Inter" pitchFamily="34" charset="-122"/>
                </a:rPr>
                <a:t>Key crops: Cut rose, Vegetables and fruits, Fruit pulp</a:t>
              </a:r>
            </a:p>
            <a:p>
              <a:r>
                <a:rPr lang="en-US" sz="600" dirty="0">
                  <a:solidFill>
                    <a:srgbClr val="14342B"/>
                  </a:solidFill>
                  <a:latin typeface="Georgia" panose="02040502050405020303" pitchFamily="18" charset="0"/>
                  <a:ea typeface="Inter" pitchFamily="34" charset="-122"/>
                </a:rPr>
                <a:t>Upcoming units: Kolar -2000 MT</a:t>
              </a:r>
            </a:p>
          </p:txBody>
        </p:sp>
      </p:grpSp>
      <p:sp>
        <p:nvSpPr>
          <p:cNvPr id="466" name="Shape 61">
            <a:extLst>
              <a:ext uri="{FF2B5EF4-FFF2-40B4-BE49-F238E27FC236}">
                <a16:creationId xmlns:a16="http://schemas.microsoft.com/office/drawing/2014/main" id="{AE01C1A1-C7FE-388E-0B73-4F5F23A8C54F}"/>
              </a:ext>
            </a:extLst>
          </p:cNvPr>
          <p:cNvSpPr/>
          <p:nvPr/>
        </p:nvSpPr>
        <p:spPr>
          <a:xfrm>
            <a:off x="7053364" y="3086359"/>
            <a:ext cx="1514597"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67" name="Shape 61">
            <a:extLst>
              <a:ext uri="{FF2B5EF4-FFF2-40B4-BE49-F238E27FC236}">
                <a16:creationId xmlns:a16="http://schemas.microsoft.com/office/drawing/2014/main" id="{08B165CD-360E-2498-1247-2E271A71F068}"/>
              </a:ext>
            </a:extLst>
          </p:cNvPr>
          <p:cNvSpPr/>
          <p:nvPr/>
        </p:nvSpPr>
        <p:spPr>
          <a:xfrm>
            <a:off x="7053457" y="4647678"/>
            <a:ext cx="1514597" cy="804543"/>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58" name="Shape 61">
            <a:extLst>
              <a:ext uri="{FF2B5EF4-FFF2-40B4-BE49-F238E27FC236}">
                <a16:creationId xmlns:a16="http://schemas.microsoft.com/office/drawing/2014/main" id="{9B291F9E-62D8-7849-CE7E-4CC9590678A6}"/>
              </a:ext>
            </a:extLst>
          </p:cNvPr>
          <p:cNvSpPr/>
          <p:nvPr/>
        </p:nvSpPr>
        <p:spPr>
          <a:xfrm>
            <a:off x="8760502" y="4647678"/>
            <a:ext cx="1514597"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59" name="Shape 61">
            <a:extLst>
              <a:ext uri="{FF2B5EF4-FFF2-40B4-BE49-F238E27FC236}">
                <a16:creationId xmlns:a16="http://schemas.microsoft.com/office/drawing/2014/main" id="{AF3F584F-E174-A1F8-82C9-60799A69C526}"/>
              </a:ext>
            </a:extLst>
          </p:cNvPr>
          <p:cNvSpPr/>
          <p:nvPr/>
        </p:nvSpPr>
        <p:spPr>
          <a:xfrm>
            <a:off x="8709873" y="3086359"/>
            <a:ext cx="1565226" cy="804544"/>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0" name="Shape 61">
            <a:extLst>
              <a:ext uri="{FF2B5EF4-FFF2-40B4-BE49-F238E27FC236}">
                <a16:creationId xmlns:a16="http://schemas.microsoft.com/office/drawing/2014/main" id="{8DCA6947-637A-4720-8D5E-5CFBE39FC778}"/>
              </a:ext>
            </a:extLst>
          </p:cNvPr>
          <p:cNvSpPr/>
          <p:nvPr/>
        </p:nvSpPr>
        <p:spPr>
          <a:xfrm>
            <a:off x="10366381" y="3086359"/>
            <a:ext cx="1633611"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grpSp>
        <p:nvGrpSpPr>
          <p:cNvPr id="461" name="Group 460">
            <a:extLst>
              <a:ext uri="{FF2B5EF4-FFF2-40B4-BE49-F238E27FC236}">
                <a16:creationId xmlns:a16="http://schemas.microsoft.com/office/drawing/2014/main" id="{E7E5658E-BC23-47E8-3F04-AF367EFB94D0}"/>
              </a:ext>
            </a:extLst>
          </p:cNvPr>
          <p:cNvGrpSpPr/>
          <p:nvPr/>
        </p:nvGrpSpPr>
        <p:grpSpPr>
          <a:xfrm>
            <a:off x="8846776" y="4663672"/>
            <a:ext cx="3047750" cy="804544"/>
            <a:chOff x="6068207" y="8643943"/>
            <a:chExt cx="7333658" cy="2194560"/>
          </a:xfrm>
        </p:grpSpPr>
        <p:sp>
          <p:nvSpPr>
            <p:cNvPr id="462" name="Shape 61">
              <a:extLst>
                <a:ext uri="{FF2B5EF4-FFF2-40B4-BE49-F238E27FC236}">
                  <a16:creationId xmlns:a16="http://schemas.microsoft.com/office/drawing/2014/main" id="{0870E8D0-F120-299D-B706-C77948881617}"/>
                </a:ext>
              </a:extLst>
            </p:cNvPr>
            <p:cNvSpPr/>
            <p:nvPr/>
          </p:nvSpPr>
          <p:spPr>
            <a:xfrm>
              <a:off x="9757361" y="8643943"/>
              <a:ext cx="3644504"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3" name="Text 64">
              <a:extLst>
                <a:ext uri="{FF2B5EF4-FFF2-40B4-BE49-F238E27FC236}">
                  <a16:creationId xmlns:a16="http://schemas.microsoft.com/office/drawing/2014/main" id="{7DEB191A-4D2B-6D79-3F26-925448E60162}"/>
                </a:ext>
              </a:extLst>
            </p:cNvPr>
            <p:cNvSpPr/>
            <p:nvPr/>
          </p:nvSpPr>
          <p:spPr>
            <a:xfrm>
              <a:off x="6068207" y="8813647"/>
              <a:ext cx="3370181" cy="312421"/>
            </a:xfrm>
            <a:prstGeom prst="rect">
              <a:avLst/>
            </a:prstGeom>
            <a:noFill/>
            <a:ln/>
          </p:spPr>
          <p:txBody>
            <a:bodyPr wrap="square" lIns="25400" tIns="25400" rIns="25400" bIns="25400" rtlCol="0" anchor="t">
              <a:noAutofit/>
            </a:bodyPr>
            <a:lstStyle/>
            <a:p>
              <a:r>
                <a:rPr lang="en-US" sz="900" b="1" dirty="0">
                  <a:latin typeface="Georgia" panose="02040502050405020303" pitchFamily="18" charset="0"/>
                </a:rPr>
                <a:t>Agricultural training centers</a:t>
              </a:r>
            </a:p>
            <a:p>
              <a:endParaRPr lang="en-US" sz="900" b="1" dirty="0">
                <a:latin typeface="Georgia" panose="02040502050405020303" pitchFamily="18" charset="0"/>
              </a:endParaRPr>
            </a:p>
            <a:p>
              <a:r>
                <a:rPr lang="en-US" sz="700" dirty="0" err="1">
                  <a:solidFill>
                    <a:srgbClr val="14342B"/>
                  </a:solidFill>
                  <a:latin typeface="Georgia" panose="02040502050405020303" pitchFamily="18" charset="0"/>
                  <a:ea typeface="Fraunces" pitchFamily="34" charset="-122"/>
                </a:rPr>
                <a:t>Chikkaballapura</a:t>
              </a:r>
              <a:r>
                <a:rPr lang="en-US" sz="700" dirty="0">
                  <a:solidFill>
                    <a:srgbClr val="14342B"/>
                  </a:solidFill>
                  <a:latin typeface="Georgia" panose="02040502050405020303" pitchFamily="18" charset="0"/>
                  <a:ea typeface="Fraunces" pitchFamily="34" charset="-122"/>
                </a:rPr>
                <a:t>, </a:t>
              </a:r>
              <a:r>
                <a:rPr lang="en-US" sz="700" dirty="0" err="1">
                  <a:solidFill>
                    <a:srgbClr val="14342B"/>
                  </a:solidFill>
                  <a:latin typeface="Georgia" panose="02040502050405020303" pitchFamily="18" charset="0"/>
                  <a:ea typeface="Fraunces" pitchFamily="34" charset="-122"/>
                </a:rPr>
                <a:t>Tumakuru</a:t>
              </a:r>
              <a:endParaRPr lang="en-US" sz="700" dirty="0">
                <a:solidFill>
                  <a:srgbClr val="14342B"/>
                </a:solidFill>
                <a:latin typeface="Georgia" panose="02040502050405020303" pitchFamily="18" charset="0"/>
                <a:ea typeface="Fraunces" pitchFamily="34" charset="-122"/>
              </a:endParaRPr>
            </a:p>
            <a:p>
              <a:endParaRPr lang="en-US" sz="900" b="1" dirty="0">
                <a:latin typeface="Georgia" panose="02040502050405020303" pitchFamily="18" charset="0"/>
              </a:endParaRPr>
            </a:p>
          </p:txBody>
        </p:sp>
      </p:grpSp>
      <p:sp>
        <p:nvSpPr>
          <p:cNvPr id="455" name="Shape 41">
            <a:extLst>
              <a:ext uri="{FF2B5EF4-FFF2-40B4-BE49-F238E27FC236}">
                <a16:creationId xmlns:a16="http://schemas.microsoft.com/office/drawing/2014/main" id="{CF007FCA-4534-AAFF-EBEA-A6C5A362599E}"/>
              </a:ext>
            </a:extLst>
          </p:cNvPr>
          <p:cNvSpPr/>
          <p:nvPr/>
        </p:nvSpPr>
        <p:spPr>
          <a:xfrm>
            <a:off x="5396856" y="2586448"/>
            <a:ext cx="4478287" cy="407388"/>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452" name="Text 42">
            <a:extLst>
              <a:ext uri="{FF2B5EF4-FFF2-40B4-BE49-F238E27FC236}">
                <a16:creationId xmlns:a16="http://schemas.microsoft.com/office/drawing/2014/main" id="{E6EA7DD8-EB1F-DBC3-3E6B-988A40464190}"/>
              </a:ext>
            </a:extLst>
          </p:cNvPr>
          <p:cNvSpPr/>
          <p:nvPr/>
        </p:nvSpPr>
        <p:spPr>
          <a:xfrm>
            <a:off x="5520689" y="2663492"/>
            <a:ext cx="3769226" cy="233672"/>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Ecosystem for all fruits and vegetables</a:t>
            </a:r>
          </a:p>
        </p:txBody>
      </p:sp>
      <p:sp>
        <p:nvSpPr>
          <p:cNvPr id="453" name="Text 65">
            <a:extLst>
              <a:ext uri="{FF2B5EF4-FFF2-40B4-BE49-F238E27FC236}">
                <a16:creationId xmlns:a16="http://schemas.microsoft.com/office/drawing/2014/main" id="{C1648E34-E823-E692-D004-096DD4744623}"/>
              </a:ext>
            </a:extLst>
          </p:cNvPr>
          <p:cNvSpPr/>
          <p:nvPr/>
        </p:nvSpPr>
        <p:spPr>
          <a:xfrm>
            <a:off x="5520689" y="3654421"/>
            <a:ext cx="1447800" cy="77197"/>
          </a:xfrm>
          <a:prstGeom prst="rect">
            <a:avLst/>
          </a:prstGeom>
          <a:noFill/>
          <a:ln/>
        </p:spPr>
        <p:txBody>
          <a:bodyPr wrap="square" lIns="25400" tIns="25400" rIns="25400" bIns="25400" rtlCol="0" anchor="t">
            <a:noAutofit/>
          </a:bodyPr>
          <a:lstStyle/>
          <a:p>
            <a:endParaRPr lang="en-US" sz="700" dirty="0">
              <a:solidFill>
                <a:srgbClr val="0B6E78"/>
              </a:solidFill>
              <a:latin typeface="Georgia" panose="02040502050405020303" pitchFamily="18" charset="0"/>
              <a:ea typeface="JetBrains Mono" pitchFamily="34" charset="-122"/>
              <a:cs typeface="JetBrains Mono" pitchFamily="34" charset="-120"/>
            </a:endParaRPr>
          </a:p>
        </p:txBody>
      </p:sp>
      <p:sp>
        <p:nvSpPr>
          <p:cNvPr id="472" name="Text 64">
            <a:extLst>
              <a:ext uri="{FF2B5EF4-FFF2-40B4-BE49-F238E27FC236}">
                <a16:creationId xmlns:a16="http://schemas.microsoft.com/office/drawing/2014/main" id="{C7A4EA33-8DBD-621C-7BDB-08F0739B73D3}"/>
              </a:ext>
            </a:extLst>
          </p:cNvPr>
          <p:cNvSpPr/>
          <p:nvPr/>
        </p:nvSpPr>
        <p:spPr>
          <a:xfrm>
            <a:off x="7095613" y="3136640"/>
            <a:ext cx="1495246" cy="846293"/>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40 FPOs</a:t>
            </a:r>
          </a:p>
          <a:p>
            <a:r>
              <a:rPr lang="en-US" sz="900" b="1" dirty="0">
                <a:solidFill>
                  <a:srgbClr val="14342B"/>
                </a:solidFill>
                <a:latin typeface="Georgia" panose="02040502050405020303" pitchFamily="18" charset="0"/>
                <a:ea typeface="Inter" pitchFamily="34" charset="-122"/>
              </a:rPr>
              <a:t>WDD FPOs</a:t>
            </a:r>
          </a:p>
          <a:p>
            <a:r>
              <a:rPr lang="en-US" sz="600" b="1" dirty="0">
                <a:solidFill>
                  <a:srgbClr val="14342B"/>
                </a:solidFill>
                <a:latin typeface="Georgia" panose="02040502050405020303" pitchFamily="18" charset="0"/>
                <a:ea typeface="Inter" pitchFamily="34" charset="-122"/>
              </a:rPr>
              <a:t>₹ </a:t>
            </a:r>
            <a:r>
              <a:rPr lang="en-US" sz="600" b="1" dirty="0">
                <a:latin typeface="Georgia" panose="02040502050405020303" pitchFamily="18" charset="0"/>
                <a:ea typeface="Inter" pitchFamily="34" charset="-122"/>
              </a:rPr>
              <a:t>13 Cr total transactions in FY 23-24</a:t>
            </a:r>
          </a:p>
          <a:p>
            <a:r>
              <a:rPr lang="en-US" sz="700" b="1" i="1" dirty="0">
                <a:solidFill>
                  <a:srgbClr val="14342B"/>
                </a:solidFill>
                <a:latin typeface="Georgia" panose="02040502050405020303" pitchFamily="18" charset="0"/>
                <a:ea typeface="Inter" pitchFamily="34" charset="-122"/>
              </a:rPr>
              <a:t>Key crops: Tomato, Grapes, Cabbage, Mango, Chilli, Vegetables</a:t>
            </a:r>
          </a:p>
          <a:p>
            <a:endParaRPr lang="en-US" sz="700" b="1" i="1" dirty="0">
              <a:solidFill>
                <a:srgbClr val="14342B"/>
              </a:solidFill>
              <a:latin typeface="Georgia" panose="02040502050405020303" pitchFamily="18" charset="0"/>
              <a:ea typeface="Inter" pitchFamily="34" charset="-122"/>
            </a:endParaRPr>
          </a:p>
        </p:txBody>
      </p:sp>
      <p:sp>
        <p:nvSpPr>
          <p:cNvPr id="473" name="Text 64">
            <a:extLst>
              <a:ext uri="{FF2B5EF4-FFF2-40B4-BE49-F238E27FC236}">
                <a16:creationId xmlns:a16="http://schemas.microsoft.com/office/drawing/2014/main" id="{CF44FD84-426E-EC60-0A31-2DB2157EF1F5}"/>
              </a:ext>
            </a:extLst>
          </p:cNvPr>
          <p:cNvSpPr/>
          <p:nvPr/>
        </p:nvSpPr>
        <p:spPr>
          <a:xfrm>
            <a:off x="8702166" y="3048000"/>
            <a:ext cx="1614260" cy="674949"/>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10,02,890 MT/yr capacity</a:t>
            </a:r>
          </a:p>
          <a:p>
            <a:r>
              <a:rPr lang="en-US" sz="900" b="1" dirty="0">
                <a:solidFill>
                  <a:srgbClr val="14342B"/>
                </a:solidFill>
                <a:latin typeface="Georgia" panose="02040502050405020303" pitchFamily="18" charset="0"/>
                <a:ea typeface="Inter" pitchFamily="34" charset="-122"/>
              </a:rPr>
              <a:t>Processing infrastructure</a:t>
            </a:r>
          </a:p>
          <a:p>
            <a:r>
              <a:rPr lang="en-US" sz="700" b="1" i="1" dirty="0">
                <a:solidFill>
                  <a:srgbClr val="14342B"/>
                </a:solidFill>
                <a:latin typeface="Georgia" panose="02040502050405020303" pitchFamily="18" charset="0"/>
                <a:ea typeface="Inter" pitchFamily="34" charset="-122"/>
              </a:rPr>
              <a:t>Key crops: Banana, Grapes, Mango, Tomato, Pomegranate, Papaya, Guava</a:t>
            </a:r>
          </a:p>
        </p:txBody>
      </p:sp>
      <p:sp>
        <p:nvSpPr>
          <p:cNvPr id="474" name="Text 64">
            <a:extLst>
              <a:ext uri="{FF2B5EF4-FFF2-40B4-BE49-F238E27FC236}">
                <a16:creationId xmlns:a16="http://schemas.microsoft.com/office/drawing/2014/main" id="{B9B87EC2-096C-0BBE-7B0B-F810A50CB894}"/>
              </a:ext>
            </a:extLst>
          </p:cNvPr>
          <p:cNvSpPr/>
          <p:nvPr/>
        </p:nvSpPr>
        <p:spPr>
          <a:xfrm>
            <a:off x="10411087" y="3048000"/>
            <a:ext cx="1588905"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698 MT</a:t>
            </a:r>
          </a:p>
          <a:p>
            <a:r>
              <a:rPr lang="en-US" sz="900" b="1" dirty="0">
                <a:solidFill>
                  <a:srgbClr val="14342B"/>
                </a:solidFill>
                <a:latin typeface="Georgia" panose="02040502050405020303" pitchFamily="18" charset="0"/>
                <a:ea typeface="Inter" pitchFamily="34" charset="-122"/>
              </a:rPr>
              <a:t>Horticulture Department FPOs</a:t>
            </a:r>
          </a:p>
          <a:p>
            <a:r>
              <a:rPr lang="en-US" sz="600" b="1" dirty="0">
                <a:solidFill>
                  <a:srgbClr val="14342B"/>
                </a:solidFill>
                <a:latin typeface="Georgia" panose="02040502050405020303" pitchFamily="18" charset="0"/>
                <a:ea typeface="Inter" pitchFamily="34" charset="-122"/>
              </a:rPr>
              <a:t>₹1.57 crores transactions in FY 23-24</a:t>
            </a:r>
          </a:p>
          <a:p>
            <a:r>
              <a:rPr lang="en-US" sz="700" b="1" i="1" dirty="0">
                <a:solidFill>
                  <a:srgbClr val="14342B"/>
                </a:solidFill>
                <a:latin typeface="Georgia" panose="02040502050405020303" pitchFamily="18" charset="0"/>
                <a:ea typeface="Inter" pitchFamily="34" charset="-122"/>
              </a:rPr>
              <a:t>Key crops: Fruits and vegetables, Ridge gourd</a:t>
            </a:r>
          </a:p>
          <a:p>
            <a:endParaRPr lang="en-US" sz="900" b="1" dirty="0">
              <a:solidFill>
                <a:srgbClr val="14342B"/>
              </a:solidFill>
              <a:latin typeface="Georgia" panose="02040502050405020303" pitchFamily="18" charset="0"/>
              <a:ea typeface="Inter" pitchFamily="34" charset="-122"/>
            </a:endParaRPr>
          </a:p>
        </p:txBody>
      </p:sp>
      <p:sp>
        <p:nvSpPr>
          <p:cNvPr id="475" name="Text 64">
            <a:extLst>
              <a:ext uri="{FF2B5EF4-FFF2-40B4-BE49-F238E27FC236}">
                <a16:creationId xmlns:a16="http://schemas.microsoft.com/office/drawing/2014/main" id="{72265652-78E0-15C3-4A84-67BC5A062168}"/>
              </a:ext>
            </a:extLst>
          </p:cNvPr>
          <p:cNvSpPr/>
          <p:nvPr/>
        </p:nvSpPr>
        <p:spPr>
          <a:xfrm>
            <a:off x="5451075" y="4731209"/>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7 centers</a:t>
            </a:r>
          </a:p>
          <a:p>
            <a:r>
              <a:rPr lang="en-US" sz="900" b="1" dirty="0">
                <a:solidFill>
                  <a:srgbClr val="14342B"/>
                </a:solidFill>
                <a:latin typeface="Georgia" panose="02040502050405020303" pitchFamily="18" charset="0"/>
                <a:ea typeface="Inter" pitchFamily="34" charset="-122"/>
              </a:rPr>
              <a:t>Seed production centers</a:t>
            </a:r>
          </a:p>
          <a:p>
            <a:r>
              <a:rPr lang="en-US" sz="600" b="1" dirty="0">
                <a:latin typeface="Georgia" panose="02040502050405020303" pitchFamily="18" charset="0"/>
                <a:ea typeface="Inter" pitchFamily="34" charset="-122"/>
              </a:rPr>
              <a:t>86 ha total</a:t>
            </a:r>
          </a:p>
        </p:txBody>
      </p:sp>
      <p:sp>
        <p:nvSpPr>
          <p:cNvPr id="476" name="Text 64">
            <a:extLst>
              <a:ext uri="{FF2B5EF4-FFF2-40B4-BE49-F238E27FC236}">
                <a16:creationId xmlns:a16="http://schemas.microsoft.com/office/drawing/2014/main" id="{63472EBF-F8A1-5752-1E25-EC8821070006}"/>
              </a:ext>
            </a:extLst>
          </p:cNvPr>
          <p:cNvSpPr/>
          <p:nvPr/>
        </p:nvSpPr>
        <p:spPr>
          <a:xfrm>
            <a:off x="7104635" y="4723714"/>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54 farms</a:t>
            </a:r>
          </a:p>
          <a:p>
            <a:r>
              <a:rPr lang="en-US" sz="900" b="1" dirty="0">
                <a:solidFill>
                  <a:srgbClr val="14342B"/>
                </a:solidFill>
                <a:latin typeface="Georgia" panose="02040502050405020303" pitchFamily="18" charset="0"/>
                <a:ea typeface="Inter" pitchFamily="34" charset="-122"/>
              </a:rPr>
              <a:t>Horticulture farms &amp; nurseries</a:t>
            </a:r>
          </a:p>
          <a:p>
            <a:r>
              <a:rPr lang="en-US" sz="600" b="1" dirty="0">
                <a:latin typeface="Georgia" panose="02040502050405020303" pitchFamily="18" charset="0"/>
                <a:ea typeface="Inter" pitchFamily="34" charset="-122"/>
              </a:rPr>
              <a:t>4383 acres</a:t>
            </a:r>
          </a:p>
        </p:txBody>
      </p:sp>
      <p:sp>
        <p:nvSpPr>
          <p:cNvPr id="477" name="Text 64">
            <a:extLst>
              <a:ext uri="{FF2B5EF4-FFF2-40B4-BE49-F238E27FC236}">
                <a16:creationId xmlns:a16="http://schemas.microsoft.com/office/drawing/2014/main" id="{B5E8709A-8F7B-25A7-F6F9-6E8040BFDEFC}"/>
              </a:ext>
            </a:extLst>
          </p:cNvPr>
          <p:cNvSpPr/>
          <p:nvPr/>
        </p:nvSpPr>
        <p:spPr>
          <a:xfrm>
            <a:off x="10450220" y="4702920"/>
            <a:ext cx="724087"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12</a:t>
            </a:r>
          </a:p>
          <a:p>
            <a:r>
              <a:rPr lang="en-US" sz="900" b="1" dirty="0">
                <a:solidFill>
                  <a:srgbClr val="14342B"/>
                </a:solidFill>
                <a:latin typeface="Georgia" panose="02040502050405020303" pitchFamily="18" charset="0"/>
                <a:ea typeface="Inter" pitchFamily="34" charset="-122"/>
              </a:rPr>
              <a:t>SHGs</a:t>
            </a:r>
          </a:p>
        </p:txBody>
      </p:sp>
      <p:grpSp>
        <p:nvGrpSpPr>
          <p:cNvPr id="13" name="Group 12">
            <a:extLst>
              <a:ext uri="{FF2B5EF4-FFF2-40B4-BE49-F238E27FC236}">
                <a16:creationId xmlns:a16="http://schemas.microsoft.com/office/drawing/2014/main" id="{31F075BE-9CBF-A16A-DBEB-E7DD36F788C5}"/>
              </a:ext>
            </a:extLst>
          </p:cNvPr>
          <p:cNvGrpSpPr/>
          <p:nvPr/>
        </p:nvGrpSpPr>
        <p:grpSpPr>
          <a:xfrm>
            <a:off x="607208" y="5541258"/>
            <a:ext cx="11229576" cy="630942"/>
            <a:chOff x="607208" y="5699680"/>
            <a:chExt cx="11229576" cy="630942"/>
          </a:xfrm>
        </p:grpSpPr>
        <p:sp>
          <p:nvSpPr>
            <p:cNvPr id="16" name="TextBox 15">
              <a:extLst>
                <a:ext uri="{FF2B5EF4-FFF2-40B4-BE49-F238E27FC236}">
                  <a16:creationId xmlns:a16="http://schemas.microsoft.com/office/drawing/2014/main" id="{4174DF2E-4C3B-987B-CF59-5ADEBF2EEB1B}"/>
                </a:ext>
              </a:extLst>
            </p:cNvPr>
            <p:cNvSpPr txBox="1"/>
            <p:nvPr/>
          </p:nvSpPr>
          <p:spPr>
            <a:xfrm>
              <a:off x="607208" y="5699680"/>
              <a:ext cx="6304247" cy="630942"/>
            </a:xfrm>
            <a:prstGeom prst="rect">
              <a:avLst/>
            </a:prstGeom>
            <a:noFill/>
          </p:spPr>
          <p:txBody>
            <a:bodyPr wrap="square" rtlCol="0">
              <a:spAutoFit/>
            </a:bodyPr>
            <a:lstStyle/>
            <a:p>
              <a:r>
                <a:rPr lang="en-US" sz="800" i="1" dirty="0">
                  <a:latin typeface="Georgia" panose="02040502050405020303" pitchFamily="18" charset="0"/>
                </a:rPr>
                <a:t>Sources: As per the internal data shared by the following departments under Government of Karnataka, as of March 2026:</a:t>
              </a:r>
            </a:p>
            <a:p>
              <a:endParaRPr lang="en-US" sz="300" i="1" dirty="0">
                <a:latin typeface="Georgia" panose="02040502050405020303" pitchFamily="18" charset="0"/>
              </a:endParaRPr>
            </a:p>
            <a:p>
              <a:pPr marL="228600" indent="-228600">
                <a:buFont typeface="Arial" panose="020B0604020202020204" pitchFamily="34" charset="0"/>
                <a:buChar char="•"/>
              </a:pPr>
              <a:r>
                <a:rPr lang="en-IN" sz="800" i="1" dirty="0">
                  <a:latin typeface="Georgia" panose="02040502050405020303" pitchFamily="18" charset="0"/>
                </a:rPr>
                <a:t>KAPPEC – Processing infrastructure</a:t>
              </a:r>
            </a:p>
            <a:p>
              <a:pPr marL="228600" indent="-228600">
                <a:buFont typeface="Arial" panose="020B0604020202020204" pitchFamily="34" charset="0"/>
                <a:buChar char="•"/>
              </a:pPr>
              <a:r>
                <a:rPr lang="en-IN" sz="800" i="1" dirty="0">
                  <a:latin typeface="Georgia" panose="02040502050405020303" pitchFamily="18" charset="0"/>
                </a:rPr>
                <a:t>Directorate of horticulture – Cold storage infrastructure, Horticulture farms/nurseries, Horticulture department FPOs</a:t>
              </a:r>
            </a:p>
            <a:p>
              <a:pPr marL="228600" indent="-228600">
                <a:buFont typeface="Arial" panose="020B0604020202020204" pitchFamily="34" charset="0"/>
                <a:buChar char="•"/>
              </a:pPr>
              <a:r>
                <a:rPr lang="en-IN" sz="800" i="1" dirty="0">
                  <a:latin typeface="Georgia" panose="02040502050405020303" pitchFamily="18" charset="0"/>
                </a:rPr>
                <a:t>Watershed development department – WDD FPOs</a:t>
              </a:r>
            </a:p>
          </p:txBody>
        </p:sp>
        <p:sp>
          <p:nvSpPr>
            <p:cNvPr id="5" name="TextBox 4">
              <a:extLst>
                <a:ext uri="{FF2B5EF4-FFF2-40B4-BE49-F238E27FC236}">
                  <a16:creationId xmlns:a16="http://schemas.microsoft.com/office/drawing/2014/main" id="{486C6073-B1DD-BEE8-1EA8-EDFF31A2F7CC}"/>
                </a:ext>
              </a:extLst>
            </p:cNvPr>
            <p:cNvSpPr txBox="1"/>
            <p:nvPr/>
          </p:nvSpPr>
          <p:spPr>
            <a:xfrm>
              <a:off x="6400800" y="5977539"/>
              <a:ext cx="4953000" cy="338554"/>
            </a:xfrm>
            <a:prstGeom prst="rect">
              <a:avLst/>
            </a:prstGeom>
            <a:noFill/>
          </p:spPr>
          <p:txBody>
            <a:bodyPr wrap="square" rtlCol="0">
              <a:spAutoFit/>
            </a:bodyPr>
            <a:lstStyle/>
            <a:p>
              <a:pPr marL="228600" indent="-228600">
                <a:buFont typeface="Arial" panose="020B0604020202020204" pitchFamily="34" charset="0"/>
                <a:buChar char="•"/>
              </a:pPr>
              <a:r>
                <a:rPr lang="en-IN" sz="800" i="1" dirty="0">
                  <a:latin typeface="Georgia" panose="02040502050405020303" pitchFamily="18" charset="0"/>
                </a:rPr>
                <a:t>Department of agriculture – Seed production </a:t>
              </a:r>
              <a:r>
                <a:rPr lang="en-IN" sz="800" i="1" dirty="0" err="1">
                  <a:latin typeface="Georgia" panose="02040502050405020303" pitchFamily="18" charset="0"/>
                </a:rPr>
                <a:t>centers</a:t>
              </a:r>
              <a:r>
                <a:rPr lang="en-IN" sz="800" i="1" dirty="0">
                  <a:latin typeface="Georgia" panose="02040502050405020303" pitchFamily="18" charset="0"/>
                </a:rPr>
                <a:t>, Agricultural training </a:t>
              </a:r>
              <a:r>
                <a:rPr lang="en-IN" sz="800" i="1" dirty="0" err="1">
                  <a:latin typeface="Georgia" panose="02040502050405020303" pitchFamily="18" charset="0"/>
                </a:rPr>
                <a:t>centers</a:t>
              </a:r>
              <a:endParaRPr lang="en-IN" sz="800" i="1" dirty="0">
                <a:latin typeface="Georgia" panose="02040502050405020303" pitchFamily="18" charset="0"/>
              </a:endParaRPr>
            </a:p>
            <a:p>
              <a:pPr marL="228600" indent="-228600">
                <a:buFont typeface="Arial" panose="020B0604020202020204" pitchFamily="34" charset="0"/>
                <a:buChar char="•"/>
              </a:pPr>
              <a:r>
                <a:rPr lang="en-IN" sz="800" i="1" dirty="0">
                  <a:latin typeface="Georgia" panose="02040502050405020303" pitchFamily="18" charset="0"/>
                </a:rPr>
                <a:t>KSRLPS - SHGs</a:t>
              </a:r>
            </a:p>
          </p:txBody>
        </p:sp>
        <p:sp>
          <p:nvSpPr>
            <p:cNvPr id="6" name="Rectangle 5">
              <a:extLst>
                <a:ext uri="{FF2B5EF4-FFF2-40B4-BE49-F238E27FC236}">
                  <a16:creationId xmlns:a16="http://schemas.microsoft.com/office/drawing/2014/main" id="{2D573CCB-C967-AA32-736C-F865DDD2F23C}"/>
                </a:ext>
              </a:extLst>
            </p:cNvPr>
            <p:cNvSpPr/>
            <p:nvPr/>
          </p:nvSpPr>
          <p:spPr>
            <a:xfrm>
              <a:off x="640284" y="5737490"/>
              <a:ext cx="11196500" cy="576072"/>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00" dirty="0">
                <a:latin typeface="Georgia" panose="02040502050405020303" pitchFamily="18" charset="0"/>
              </a:endParaRPr>
            </a:p>
          </p:txBody>
        </p:sp>
      </p:grpSp>
      <p:sp>
        <p:nvSpPr>
          <p:cNvPr id="4" name="Shape 41">
            <a:extLst>
              <a:ext uri="{FF2B5EF4-FFF2-40B4-BE49-F238E27FC236}">
                <a16:creationId xmlns:a16="http://schemas.microsoft.com/office/drawing/2014/main" id="{A413DAC9-D3C3-8F72-4096-F2A34FC665DE}"/>
              </a:ext>
            </a:extLst>
          </p:cNvPr>
          <p:cNvSpPr/>
          <p:nvPr/>
        </p:nvSpPr>
        <p:spPr>
          <a:xfrm>
            <a:off x="5409020" y="4066044"/>
            <a:ext cx="4478287" cy="407388"/>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9" name="Text 42">
            <a:extLst>
              <a:ext uri="{FF2B5EF4-FFF2-40B4-BE49-F238E27FC236}">
                <a16:creationId xmlns:a16="http://schemas.microsoft.com/office/drawing/2014/main" id="{61B5C0B2-32D7-0FFD-764A-F39B6BE6C3AA}"/>
              </a:ext>
            </a:extLst>
          </p:cNvPr>
          <p:cNvSpPr/>
          <p:nvPr/>
        </p:nvSpPr>
        <p:spPr>
          <a:xfrm>
            <a:off x="5486402" y="4142898"/>
            <a:ext cx="3769226" cy="233672"/>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Other infrastructure available</a:t>
            </a:r>
          </a:p>
        </p:txBody>
      </p:sp>
      <p:graphicFrame>
        <p:nvGraphicFramePr>
          <p:cNvPr id="10" name="Chart 9">
            <a:extLst>
              <a:ext uri="{FF2B5EF4-FFF2-40B4-BE49-F238E27FC236}">
                <a16:creationId xmlns:a16="http://schemas.microsoft.com/office/drawing/2014/main" id="{D5BCD11F-3599-6D41-E2F6-CDAECBA34CAB}"/>
              </a:ext>
            </a:extLst>
          </p:cNvPr>
          <p:cNvGraphicFramePr>
            <a:graphicFrameLocks/>
          </p:cNvGraphicFramePr>
          <p:nvPr>
            <p:extLst>
              <p:ext uri="{D42A27DB-BD31-4B8C-83A1-F6EECF244321}">
                <p14:modId xmlns:p14="http://schemas.microsoft.com/office/powerpoint/2010/main" val="2772765818"/>
              </p:ext>
            </p:extLst>
          </p:nvPr>
        </p:nvGraphicFramePr>
        <p:xfrm>
          <a:off x="691886" y="1016758"/>
          <a:ext cx="4572000" cy="1279169"/>
        </p:xfrm>
        <a:graphic>
          <a:graphicData uri="http://schemas.openxmlformats.org/drawingml/2006/chart">
            <c:chart xmlns:c="http://schemas.openxmlformats.org/drawingml/2006/chart" xmlns:r="http://schemas.openxmlformats.org/officeDocument/2006/relationships" r:id="rId3"/>
          </a:graphicData>
        </a:graphic>
      </p:graphicFrame>
      <p:pic>
        <p:nvPicPr>
          <p:cNvPr id="15" name="Picture 14">
            <a:extLst>
              <a:ext uri="{FF2B5EF4-FFF2-40B4-BE49-F238E27FC236}">
                <a16:creationId xmlns:a16="http://schemas.microsoft.com/office/drawing/2014/main" id="{DC45E9DF-23D7-BC87-9823-74F5EE7A3233}"/>
              </a:ext>
            </a:extLst>
          </p:cNvPr>
          <p:cNvPicPr>
            <a:picLocks noChangeAspect="1"/>
          </p:cNvPicPr>
          <p:nvPr/>
        </p:nvPicPr>
        <p:blipFill>
          <a:blip r:embed="rId4" cstate="print">
            <a:extLst>
              <a:ext uri="{28A0092B-C50C-407E-A947-70E740481C1C}">
                <a14:useLocalDpi xmlns:a14="http://schemas.microsoft.com/office/drawing/2010/main" val="0"/>
              </a:ext>
            </a:extLst>
          </a:blip>
          <a:srcRect l="2839" t="4793" r="3802" b="12571"/>
          <a:stretch>
            <a:fillRect/>
          </a:stretch>
        </p:blipFill>
        <p:spPr>
          <a:xfrm>
            <a:off x="10375204" y="199744"/>
            <a:ext cx="1522432" cy="1121536"/>
          </a:xfrm>
          <a:prstGeom prst="rect">
            <a:avLst/>
          </a:prstGeom>
        </p:spPr>
      </p:pic>
      <p:sp>
        <p:nvSpPr>
          <p:cNvPr id="8" name="TextBox 7">
            <a:extLst>
              <a:ext uri="{FF2B5EF4-FFF2-40B4-BE49-F238E27FC236}">
                <a16:creationId xmlns:a16="http://schemas.microsoft.com/office/drawing/2014/main" id="{53A4E90D-26F0-C29D-6FC0-9B84E650DB3B}"/>
              </a:ext>
            </a:extLst>
          </p:cNvPr>
          <p:cNvSpPr txBox="1"/>
          <p:nvPr/>
        </p:nvSpPr>
        <p:spPr>
          <a:xfrm>
            <a:off x="625235" y="5286345"/>
            <a:ext cx="4677855" cy="200055"/>
          </a:xfrm>
          <a:prstGeom prst="rect">
            <a:avLst/>
          </a:prstGeom>
          <a:noFill/>
        </p:spPr>
        <p:txBody>
          <a:bodyPr wrap="square" rtlCol="0">
            <a:spAutoFit/>
          </a:bodyPr>
          <a:lstStyle/>
          <a:p>
            <a:r>
              <a:rPr lang="en-IN" sz="700" i="1" dirty="0">
                <a:latin typeface="Georgia" panose="02040502050405020303" pitchFamily="18" charset="0"/>
              </a:rPr>
              <a:t>Source: As reported by district officials, Horticulture department, Government of Karnataka, as of March 2026</a:t>
            </a:r>
          </a:p>
        </p:txBody>
      </p:sp>
      <p:pic>
        <p:nvPicPr>
          <p:cNvPr id="20" name="Picture 19">
            <a:extLst>
              <a:ext uri="{FF2B5EF4-FFF2-40B4-BE49-F238E27FC236}">
                <a16:creationId xmlns:a16="http://schemas.microsoft.com/office/drawing/2014/main" id="{DD859A19-4A8F-DB02-8FC5-D3A1053F5996}"/>
              </a:ext>
            </a:extLst>
          </p:cNvPr>
          <p:cNvPicPr>
            <a:picLocks noChangeAspect="1"/>
          </p:cNvPicPr>
          <p:nvPr/>
        </p:nvPicPr>
        <p:blipFill>
          <a:blip r:embed="rId5"/>
          <a:stretch>
            <a:fillRect/>
          </a:stretch>
        </p:blipFill>
        <p:spPr>
          <a:xfrm>
            <a:off x="196693" y="6187662"/>
            <a:ext cx="11873092" cy="664769"/>
          </a:xfrm>
          <a:prstGeom prst="rect">
            <a:avLst/>
          </a:prstGeom>
        </p:spPr>
      </p:pic>
    </p:spTree>
    <p:extLst>
      <p:ext uri="{BB962C8B-B14F-4D97-AF65-F5344CB8AC3E}">
        <p14:creationId xmlns:p14="http://schemas.microsoft.com/office/powerpoint/2010/main" val="4365349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20D99-7644-2409-6ED3-1710998C2DCE}"/>
            </a:ext>
          </a:extLst>
        </p:cNvPr>
        <p:cNvGrpSpPr/>
        <p:nvPr/>
      </p:nvGrpSpPr>
      <p:grpSpPr>
        <a:xfrm>
          <a:off x="0" y="0"/>
          <a:ext cx="0" cy="0"/>
          <a:chOff x="0" y="0"/>
          <a:chExt cx="0" cy="0"/>
        </a:xfrm>
      </p:grpSpPr>
      <p:graphicFrame>
        <p:nvGraphicFramePr>
          <p:cNvPr id="14" name="Chart 13">
            <a:extLst>
              <a:ext uri="{FF2B5EF4-FFF2-40B4-BE49-F238E27FC236}">
                <a16:creationId xmlns:a16="http://schemas.microsoft.com/office/drawing/2014/main" id="{A9175909-79B5-B7AC-373D-8D71326064A2}"/>
              </a:ext>
            </a:extLst>
          </p:cNvPr>
          <p:cNvGraphicFramePr>
            <a:graphicFrameLocks/>
          </p:cNvGraphicFramePr>
          <p:nvPr>
            <p:extLst>
              <p:ext uri="{D42A27DB-BD31-4B8C-83A1-F6EECF244321}">
                <p14:modId xmlns:p14="http://schemas.microsoft.com/office/powerpoint/2010/main" val="3437046173"/>
              </p:ext>
            </p:extLst>
          </p:nvPr>
        </p:nvGraphicFramePr>
        <p:xfrm>
          <a:off x="659873" y="2113354"/>
          <a:ext cx="4572000" cy="1432827"/>
        </p:xfrm>
        <a:graphic>
          <a:graphicData uri="http://schemas.openxmlformats.org/drawingml/2006/chart">
            <c:chart xmlns:c="http://schemas.openxmlformats.org/drawingml/2006/chart" xmlns:r="http://schemas.openxmlformats.org/officeDocument/2006/relationships" r:id="rId2"/>
          </a:graphicData>
        </a:graphic>
      </p:graphicFrame>
      <p:sp>
        <p:nvSpPr>
          <p:cNvPr id="30" name="Text 63">
            <a:extLst>
              <a:ext uri="{FF2B5EF4-FFF2-40B4-BE49-F238E27FC236}">
                <a16:creationId xmlns:a16="http://schemas.microsoft.com/office/drawing/2014/main" id="{7386BA50-97AE-269F-7C49-17312F3EDE5F}"/>
              </a:ext>
            </a:extLst>
          </p:cNvPr>
          <p:cNvSpPr/>
          <p:nvPr/>
        </p:nvSpPr>
        <p:spPr>
          <a:xfrm>
            <a:off x="5575589" y="2774080"/>
            <a:ext cx="557650" cy="116845"/>
          </a:xfrm>
          <a:prstGeom prst="rect">
            <a:avLst/>
          </a:prstGeom>
          <a:noFill/>
          <a:ln/>
        </p:spPr>
        <p:txBody>
          <a:bodyPr wrap="square" lIns="25400" tIns="25400" rIns="25400" bIns="25400" rtlCol="0" anchor="t">
            <a:normAutofit fontScale="25000" lnSpcReduction="20000"/>
          </a:bodyPr>
          <a:lstStyle/>
          <a:p>
            <a:endParaRPr lang="en-US" dirty="0">
              <a:latin typeface="Georgia" panose="02040502050405020303" pitchFamily="18" charset="0"/>
            </a:endParaRPr>
          </a:p>
        </p:txBody>
      </p:sp>
      <p:grpSp>
        <p:nvGrpSpPr>
          <p:cNvPr id="38" name="Group 37">
            <a:extLst>
              <a:ext uri="{FF2B5EF4-FFF2-40B4-BE49-F238E27FC236}">
                <a16:creationId xmlns:a16="http://schemas.microsoft.com/office/drawing/2014/main" id="{43938BB1-4939-664E-7A0A-10BB4A05531A}"/>
              </a:ext>
            </a:extLst>
          </p:cNvPr>
          <p:cNvGrpSpPr/>
          <p:nvPr/>
        </p:nvGrpSpPr>
        <p:grpSpPr>
          <a:xfrm>
            <a:off x="5362569" y="1661201"/>
            <a:ext cx="1518294" cy="820767"/>
            <a:chOff x="9970175" y="6791328"/>
            <a:chExt cx="3653399" cy="2194560"/>
          </a:xfrm>
        </p:grpSpPr>
        <p:sp>
          <p:nvSpPr>
            <p:cNvPr id="39" name="Shape 61">
              <a:extLst>
                <a:ext uri="{FF2B5EF4-FFF2-40B4-BE49-F238E27FC236}">
                  <a16:creationId xmlns:a16="http://schemas.microsoft.com/office/drawing/2014/main" id="{35BDE15D-E5C6-DECE-3898-584C1E354E3C}"/>
                </a:ext>
              </a:extLst>
            </p:cNvPr>
            <p:cNvSpPr/>
            <p:nvPr/>
          </p:nvSpPr>
          <p:spPr>
            <a:xfrm>
              <a:off x="9970175" y="6791328"/>
              <a:ext cx="3644503"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2" name="Text 64">
              <a:extLst>
                <a:ext uri="{FF2B5EF4-FFF2-40B4-BE49-F238E27FC236}">
                  <a16:creationId xmlns:a16="http://schemas.microsoft.com/office/drawing/2014/main" id="{C39960CF-CF3D-D9D5-35A7-B1BC61B634FC}"/>
                </a:ext>
              </a:extLst>
            </p:cNvPr>
            <p:cNvSpPr/>
            <p:nvPr/>
          </p:nvSpPr>
          <p:spPr>
            <a:xfrm>
              <a:off x="10025634" y="6852621"/>
              <a:ext cx="3597940" cy="1635905"/>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8022 MT capacity</a:t>
              </a:r>
            </a:p>
            <a:p>
              <a:r>
                <a:rPr lang="en-US" sz="900" b="1" dirty="0">
                  <a:solidFill>
                    <a:srgbClr val="14342B"/>
                  </a:solidFill>
                  <a:latin typeface="Georgia" panose="02040502050405020303" pitchFamily="18" charset="0"/>
                  <a:ea typeface="Inter" pitchFamily="34" charset="-122"/>
                </a:rPr>
                <a:t>Cold storage units</a:t>
              </a:r>
            </a:p>
            <a:p>
              <a:r>
                <a:rPr lang="en-US" sz="700" b="1" i="1" dirty="0">
                  <a:solidFill>
                    <a:srgbClr val="14342B"/>
                  </a:solidFill>
                  <a:latin typeface="Georgia" panose="02040502050405020303" pitchFamily="18" charset="0"/>
                  <a:ea typeface="Inter" pitchFamily="34" charset="-122"/>
                </a:rPr>
                <a:t>Key crops: Banana, Mango</a:t>
              </a:r>
            </a:p>
          </p:txBody>
        </p:sp>
      </p:grpSp>
      <p:sp>
        <p:nvSpPr>
          <p:cNvPr id="45" name="Shape 61">
            <a:extLst>
              <a:ext uri="{FF2B5EF4-FFF2-40B4-BE49-F238E27FC236}">
                <a16:creationId xmlns:a16="http://schemas.microsoft.com/office/drawing/2014/main" id="{3F267DDA-33F7-6D69-2449-CBB679BE166D}"/>
              </a:ext>
            </a:extLst>
          </p:cNvPr>
          <p:cNvSpPr/>
          <p:nvPr/>
        </p:nvSpPr>
        <p:spPr>
          <a:xfrm>
            <a:off x="7019077" y="1661200"/>
            <a:ext cx="1514597" cy="820767"/>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99" name="Shape 61">
            <a:extLst>
              <a:ext uri="{FF2B5EF4-FFF2-40B4-BE49-F238E27FC236}">
                <a16:creationId xmlns:a16="http://schemas.microsoft.com/office/drawing/2014/main" id="{4A3263E1-7CAB-5A70-0A73-DFBD2A4430E2}"/>
              </a:ext>
            </a:extLst>
          </p:cNvPr>
          <p:cNvSpPr/>
          <p:nvPr/>
        </p:nvSpPr>
        <p:spPr>
          <a:xfrm>
            <a:off x="8675585" y="1661200"/>
            <a:ext cx="1571782" cy="820766"/>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94" name="Shape 61">
            <a:extLst>
              <a:ext uri="{FF2B5EF4-FFF2-40B4-BE49-F238E27FC236}">
                <a16:creationId xmlns:a16="http://schemas.microsoft.com/office/drawing/2014/main" id="{E02F0302-1E6C-0ED4-B848-95EDC84DF47E}"/>
              </a:ext>
            </a:extLst>
          </p:cNvPr>
          <p:cNvSpPr/>
          <p:nvPr/>
        </p:nvSpPr>
        <p:spPr>
          <a:xfrm>
            <a:off x="10332093" y="1661200"/>
            <a:ext cx="1646090" cy="820766"/>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212" name="Shape 41">
            <a:extLst>
              <a:ext uri="{FF2B5EF4-FFF2-40B4-BE49-F238E27FC236}">
                <a16:creationId xmlns:a16="http://schemas.microsoft.com/office/drawing/2014/main" id="{86CCE414-C906-651A-3E92-1128FB14C115}"/>
              </a:ext>
            </a:extLst>
          </p:cNvPr>
          <p:cNvSpPr/>
          <p:nvPr/>
        </p:nvSpPr>
        <p:spPr>
          <a:xfrm>
            <a:off x="5362569" y="1151209"/>
            <a:ext cx="4478287" cy="415602"/>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213" name="Text 42">
            <a:extLst>
              <a:ext uri="{FF2B5EF4-FFF2-40B4-BE49-F238E27FC236}">
                <a16:creationId xmlns:a16="http://schemas.microsoft.com/office/drawing/2014/main" id="{033F6C1E-C8BC-FA2E-E3FB-7AF8BB104902}"/>
              </a:ext>
            </a:extLst>
          </p:cNvPr>
          <p:cNvSpPr/>
          <p:nvPr/>
        </p:nvSpPr>
        <p:spPr>
          <a:xfrm>
            <a:off x="5486402" y="1229806"/>
            <a:ext cx="3769226" cy="238384"/>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Crop-specific ecosystem (seven key crops)</a:t>
            </a:r>
          </a:p>
        </p:txBody>
      </p:sp>
      <p:sp>
        <p:nvSpPr>
          <p:cNvPr id="219" name="Text 65">
            <a:extLst>
              <a:ext uri="{FF2B5EF4-FFF2-40B4-BE49-F238E27FC236}">
                <a16:creationId xmlns:a16="http://schemas.microsoft.com/office/drawing/2014/main" id="{194C714E-B66F-1375-E668-EC3CC5D91544}"/>
              </a:ext>
            </a:extLst>
          </p:cNvPr>
          <p:cNvSpPr/>
          <p:nvPr/>
        </p:nvSpPr>
        <p:spPr>
          <a:xfrm>
            <a:off x="5486402" y="2240716"/>
            <a:ext cx="1447800" cy="78753"/>
          </a:xfrm>
          <a:prstGeom prst="rect">
            <a:avLst/>
          </a:prstGeom>
          <a:noFill/>
          <a:ln/>
        </p:spPr>
        <p:txBody>
          <a:bodyPr wrap="square" lIns="25400" tIns="25400" rIns="25400" bIns="25400" rtlCol="0" anchor="t">
            <a:noAutofit/>
          </a:bodyPr>
          <a:lstStyle/>
          <a:p>
            <a:endParaRPr lang="en-US" sz="700" dirty="0">
              <a:solidFill>
                <a:srgbClr val="0B6E78"/>
              </a:solidFill>
              <a:latin typeface="Georgia" panose="02040502050405020303" pitchFamily="18" charset="0"/>
              <a:ea typeface="JetBrains Mono" pitchFamily="34" charset="-122"/>
              <a:cs typeface="JetBrains Mono" pitchFamily="34" charset="-120"/>
            </a:endParaRPr>
          </a:p>
        </p:txBody>
      </p:sp>
      <p:sp>
        <p:nvSpPr>
          <p:cNvPr id="2" name="Title 1">
            <a:extLst>
              <a:ext uri="{FF2B5EF4-FFF2-40B4-BE49-F238E27FC236}">
                <a16:creationId xmlns:a16="http://schemas.microsoft.com/office/drawing/2014/main" id="{1282FFB6-293B-06AB-21AE-03A6CC11251D}"/>
              </a:ext>
            </a:extLst>
          </p:cNvPr>
          <p:cNvSpPr>
            <a:spLocks noGrp="1"/>
          </p:cNvSpPr>
          <p:nvPr>
            <p:ph type="title"/>
          </p:nvPr>
        </p:nvSpPr>
        <p:spPr>
          <a:xfrm>
            <a:off x="640284" y="208002"/>
            <a:ext cx="10561116" cy="553998"/>
          </a:xfrm>
        </p:spPr>
        <p:txBody>
          <a:bodyPr/>
          <a:lstStyle/>
          <a:p>
            <a:r>
              <a:rPr lang="en-US" sz="2400" dirty="0">
                <a:solidFill>
                  <a:schemeClr val="bg1"/>
                </a:solidFill>
                <a:latin typeface="Georgia" panose="02040502050405020303" pitchFamily="18" charset="0"/>
              </a:rPr>
              <a:t>Northwest Karnataka multi-crop cluster</a:t>
            </a:r>
            <a:br>
              <a:rPr lang="en-US" sz="2400" dirty="0">
                <a:solidFill>
                  <a:schemeClr val="bg1"/>
                </a:solidFill>
                <a:latin typeface="Georgia" panose="02040502050405020303" pitchFamily="18" charset="0"/>
              </a:rPr>
            </a:br>
            <a:r>
              <a:rPr lang="en-US" sz="1200" i="1" dirty="0">
                <a:solidFill>
                  <a:schemeClr val="bg1"/>
                </a:solidFill>
                <a:latin typeface="Georgia" panose="02040502050405020303" pitchFamily="18" charset="0"/>
              </a:rPr>
              <a:t>(Dharwad, Haveri, Uttara Kannada)</a:t>
            </a:r>
            <a:endParaRPr lang="en-IN" sz="1200" i="1" dirty="0">
              <a:solidFill>
                <a:schemeClr val="bg1"/>
              </a:solidFill>
              <a:latin typeface="Georgia" panose="02040502050405020303" pitchFamily="18" charset="0"/>
            </a:endParaRPr>
          </a:p>
        </p:txBody>
      </p:sp>
      <p:sp>
        <p:nvSpPr>
          <p:cNvPr id="3" name="Slide Number Placeholder 2">
            <a:extLst>
              <a:ext uri="{FF2B5EF4-FFF2-40B4-BE49-F238E27FC236}">
                <a16:creationId xmlns:a16="http://schemas.microsoft.com/office/drawing/2014/main" id="{F69CC00F-2D22-0134-9EC5-CA29D94B1D3C}"/>
              </a:ext>
            </a:extLst>
          </p:cNvPr>
          <p:cNvSpPr>
            <a:spLocks noGrp="1"/>
          </p:cNvSpPr>
          <p:nvPr>
            <p:ph type="sldNum" sz="quarter" idx="7"/>
          </p:nvPr>
        </p:nvSpPr>
        <p:spPr>
          <a:xfrm>
            <a:off x="779630" y="6440648"/>
            <a:ext cx="383540" cy="115416"/>
          </a:xfrm>
        </p:spPr>
        <p:txBody>
          <a:bodyPr/>
          <a:lstStyle/>
          <a:p>
            <a:pPr marL="12700">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37</a:t>
            </a:fld>
            <a:endParaRPr dirty="0">
              <a:latin typeface="Georgia" panose="02040502050405020303" pitchFamily="18" charset="0"/>
            </a:endParaRPr>
          </a:p>
        </p:txBody>
      </p:sp>
      <p:graphicFrame>
        <p:nvGraphicFramePr>
          <p:cNvPr id="21" name="Table 20">
            <a:extLst>
              <a:ext uri="{FF2B5EF4-FFF2-40B4-BE49-F238E27FC236}">
                <a16:creationId xmlns:a16="http://schemas.microsoft.com/office/drawing/2014/main" id="{252DBBE1-BDCC-3B0C-AB4B-F0C98F61D1B4}"/>
              </a:ext>
            </a:extLst>
          </p:cNvPr>
          <p:cNvGraphicFramePr>
            <a:graphicFrameLocks noGrp="1"/>
          </p:cNvGraphicFramePr>
          <p:nvPr>
            <p:extLst>
              <p:ext uri="{D42A27DB-BD31-4B8C-83A1-F6EECF244321}">
                <p14:modId xmlns:p14="http://schemas.microsoft.com/office/powerpoint/2010/main" val="1924466681"/>
              </p:ext>
            </p:extLst>
          </p:nvPr>
        </p:nvGraphicFramePr>
        <p:xfrm>
          <a:off x="656800" y="4040523"/>
          <a:ext cx="4648103" cy="1441298"/>
        </p:xfrm>
        <a:graphic>
          <a:graphicData uri="http://schemas.openxmlformats.org/drawingml/2006/table">
            <a:tbl>
              <a:tblPr firstRow="1" bandRow="1">
                <a:tableStyleId>{21E4AEA4-8DFA-4A89-87EB-49C32662AFE0}</a:tableStyleId>
              </a:tblPr>
              <a:tblGrid>
                <a:gridCol w="4648103">
                  <a:extLst>
                    <a:ext uri="{9D8B030D-6E8A-4147-A177-3AD203B41FA5}">
                      <a16:colId xmlns:a16="http://schemas.microsoft.com/office/drawing/2014/main" val="3341958433"/>
                    </a:ext>
                  </a:extLst>
                </a:gridCol>
              </a:tblGrid>
              <a:tr h="205803">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dirty="0">
                          <a:latin typeface="Georgia" panose="02040502050405020303" pitchFamily="18" charset="0"/>
                        </a:rPr>
                        <a:t>Major reasons for crop-loss across districts</a:t>
                      </a:r>
                    </a:p>
                  </a:txBody>
                  <a:tcPr marL="67006" marR="67006" marT="33504" marB="33504">
                    <a:solidFill>
                      <a:srgbClr val="0B6E78"/>
                    </a:solidFill>
                  </a:tcPr>
                </a:tc>
                <a:extLst>
                  <a:ext uri="{0D108BD9-81ED-4DB2-BD59-A6C34878D82A}">
                    <a16:rowId xmlns:a16="http://schemas.microsoft.com/office/drawing/2014/main" val="2643714482"/>
                  </a:ext>
                </a:extLst>
              </a:tr>
              <a:tr h="1221890">
                <a:tc>
                  <a:txBody>
                    <a:bodyPr/>
                    <a:lstStyle/>
                    <a:p>
                      <a:pPr marL="0" marR="0" lvl="0" indent="0" algn="l"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dirty="0">
                          <a:effectLst/>
                          <a:latin typeface="Georgia" panose="02040502050405020303" pitchFamily="18" charset="0"/>
                        </a:rPr>
                        <a:t>Mango (Dharwad):</a:t>
                      </a:r>
                      <a:r>
                        <a:rPr lang="en-IN" sz="1100" dirty="0">
                          <a:latin typeface="Georgia" panose="02040502050405020303" pitchFamily="18" charset="0"/>
                        </a:rPr>
                        <a:t> Pest and disease, lack of farm-level storage, wholesale price crash due to simultaneous large output</a:t>
                      </a:r>
                    </a:p>
                    <a:p>
                      <a:pPr marL="0" marR="0" lvl="0" indent="0" algn="l"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dirty="0">
                          <a:effectLst/>
                          <a:latin typeface="Georgia" panose="02040502050405020303" pitchFamily="18" charset="0"/>
                        </a:rPr>
                        <a:t>Onion (Dharwad):</a:t>
                      </a:r>
                      <a:r>
                        <a:rPr lang="en-IN" sz="1100" dirty="0">
                          <a:latin typeface="Georgia" panose="02040502050405020303" pitchFamily="18" charset="0"/>
                        </a:rPr>
                        <a:t> Poor field-level grading, lack of cheap packaging material, price reduction and delays by wholesalers</a:t>
                      </a:r>
                      <a:br>
                        <a:rPr lang="en-IN" sz="1100" dirty="0">
                          <a:latin typeface="Georgia" panose="02040502050405020303" pitchFamily="18" charset="0"/>
                        </a:rPr>
                      </a:br>
                      <a:r>
                        <a:rPr lang="en-IN" sz="1100" b="1" dirty="0">
                          <a:effectLst/>
                          <a:latin typeface="Georgia" panose="02040502050405020303" pitchFamily="18" charset="0"/>
                        </a:rPr>
                        <a:t>Pineapple (Uttara Kannada):</a:t>
                      </a:r>
                      <a:r>
                        <a:rPr lang="en-IN" sz="1100" dirty="0">
                          <a:latin typeface="Georgia" panose="02040502050405020303" pitchFamily="18" charset="0"/>
                        </a:rPr>
                        <a:t> Late harvesting for distant markets, losses during transportation to distant market</a:t>
                      </a:r>
                      <a:endParaRPr lang="en-US" sz="1100" dirty="0">
                        <a:latin typeface="Georgia" panose="02040502050405020303" pitchFamily="18" charset="0"/>
                      </a:endParaRPr>
                    </a:p>
                  </a:txBody>
                  <a:tcPr marL="67006" marR="67006" marT="33504" marB="33504">
                    <a:solidFill>
                      <a:schemeClr val="accent5">
                        <a:lumMod val="20000"/>
                        <a:lumOff val="80000"/>
                      </a:schemeClr>
                    </a:solidFill>
                  </a:tcPr>
                </a:tc>
                <a:extLst>
                  <a:ext uri="{0D108BD9-81ED-4DB2-BD59-A6C34878D82A}">
                    <a16:rowId xmlns:a16="http://schemas.microsoft.com/office/drawing/2014/main" val="2831645102"/>
                  </a:ext>
                </a:extLst>
              </a:tr>
            </a:tbl>
          </a:graphicData>
        </a:graphic>
      </p:graphicFrame>
      <p:sp>
        <p:nvSpPr>
          <p:cNvPr id="7" name="TextBox 6">
            <a:extLst>
              <a:ext uri="{FF2B5EF4-FFF2-40B4-BE49-F238E27FC236}">
                <a16:creationId xmlns:a16="http://schemas.microsoft.com/office/drawing/2014/main" id="{1B6D8A58-3EE2-C3FB-7B39-ACD575CEA3D8}"/>
              </a:ext>
            </a:extLst>
          </p:cNvPr>
          <p:cNvSpPr txBox="1"/>
          <p:nvPr/>
        </p:nvSpPr>
        <p:spPr>
          <a:xfrm>
            <a:off x="2307815" y="3166722"/>
            <a:ext cx="3030896" cy="184666"/>
          </a:xfrm>
          <a:prstGeom prst="rect">
            <a:avLst/>
          </a:prstGeom>
          <a:noFill/>
        </p:spPr>
        <p:txBody>
          <a:bodyPr wrap="square" rtlCol="0">
            <a:spAutoFit/>
          </a:bodyPr>
          <a:lstStyle/>
          <a:p>
            <a:r>
              <a:rPr lang="en-IN" sz="600" i="1" dirty="0">
                <a:latin typeface="Georgia" panose="02040502050405020303" pitchFamily="18" charset="0"/>
              </a:rPr>
              <a:t>Sources: Horticulture crop statistics of Karnataka state at a glance – 2023-24</a:t>
            </a:r>
          </a:p>
        </p:txBody>
      </p:sp>
      <p:grpSp>
        <p:nvGrpSpPr>
          <p:cNvPr id="204" name="Group 203">
            <a:extLst>
              <a:ext uri="{FF2B5EF4-FFF2-40B4-BE49-F238E27FC236}">
                <a16:creationId xmlns:a16="http://schemas.microsoft.com/office/drawing/2014/main" id="{6223E995-3A5C-04BE-6494-DC528685D1D4}"/>
              </a:ext>
            </a:extLst>
          </p:cNvPr>
          <p:cNvGrpSpPr/>
          <p:nvPr/>
        </p:nvGrpSpPr>
        <p:grpSpPr>
          <a:xfrm>
            <a:off x="656800" y="3536355"/>
            <a:ext cx="4653243" cy="429265"/>
            <a:chOff x="689731" y="3276599"/>
            <a:chExt cx="4478287" cy="881562"/>
          </a:xfrm>
          <a:solidFill>
            <a:srgbClr val="4B4B4D"/>
          </a:solidFill>
        </p:grpSpPr>
        <p:sp>
          <p:nvSpPr>
            <p:cNvPr id="11" name="Shape 41">
              <a:extLst>
                <a:ext uri="{FF2B5EF4-FFF2-40B4-BE49-F238E27FC236}">
                  <a16:creationId xmlns:a16="http://schemas.microsoft.com/office/drawing/2014/main" id="{38F8A726-E75E-EFFF-FF5F-459F10C16A6F}"/>
                </a:ext>
              </a:extLst>
            </p:cNvPr>
            <p:cNvSpPr/>
            <p:nvPr/>
          </p:nvSpPr>
          <p:spPr>
            <a:xfrm>
              <a:off x="689731" y="3276601"/>
              <a:ext cx="4478287" cy="881560"/>
            </a:xfrm>
            <a:prstGeom prst="roundRect">
              <a:avLst>
                <a:gd name="adj" fmla="val 4644"/>
              </a:avLst>
            </a:prstGeom>
            <a:grpFill/>
            <a:ln/>
          </p:spPr>
          <p:txBody>
            <a:bodyPr/>
            <a:lstStyle/>
            <a:p>
              <a:pPr algn="r"/>
              <a:endParaRPr lang="en-US" sz="1100" dirty="0">
                <a:solidFill>
                  <a:schemeClr val="bg1"/>
                </a:solidFill>
                <a:latin typeface="Georgia" panose="02040502050405020303" pitchFamily="18" charset="0"/>
              </a:endParaRPr>
            </a:p>
          </p:txBody>
        </p:sp>
        <p:sp>
          <p:nvSpPr>
            <p:cNvPr id="12" name="Shape 44">
              <a:extLst>
                <a:ext uri="{FF2B5EF4-FFF2-40B4-BE49-F238E27FC236}">
                  <a16:creationId xmlns:a16="http://schemas.microsoft.com/office/drawing/2014/main" id="{49A17B93-8424-24BE-A7EA-BC64E405F115}"/>
                </a:ext>
              </a:extLst>
            </p:cNvPr>
            <p:cNvSpPr/>
            <p:nvPr/>
          </p:nvSpPr>
          <p:spPr>
            <a:xfrm>
              <a:off x="2885490" y="3340476"/>
              <a:ext cx="9525" cy="735330"/>
            </a:xfrm>
            <a:prstGeom prst="rect">
              <a:avLst/>
            </a:prstGeom>
            <a:grpFill/>
            <a:ln/>
          </p:spPr>
          <p:txBody>
            <a:bodyPr/>
            <a:lstStyle/>
            <a:p>
              <a:endParaRPr lang="en-IN" sz="1100">
                <a:solidFill>
                  <a:schemeClr val="bg1"/>
                </a:solidFill>
                <a:latin typeface="Georgia" panose="02040502050405020303" pitchFamily="18" charset="0"/>
              </a:endParaRPr>
            </a:p>
          </p:txBody>
        </p:sp>
        <p:sp>
          <p:nvSpPr>
            <p:cNvPr id="17" name="Text 43">
              <a:extLst>
                <a:ext uri="{FF2B5EF4-FFF2-40B4-BE49-F238E27FC236}">
                  <a16:creationId xmlns:a16="http://schemas.microsoft.com/office/drawing/2014/main" id="{DE6515E4-B9DF-A8F6-7B49-23C149CBFC93}"/>
                </a:ext>
              </a:extLst>
            </p:cNvPr>
            <p:cNvSpPr/>
            <p:nvPr/>
          </p:nvSpPr>
          <p:spPr>
            <a:xfrm>
              <a:off x="1163171" y="3708850"/>
              <a:ext cx="1115499" cy="391574"/>
            </a:xfrm>
            <a:prstGeom prst="rect">
              <a:avLst/>
            </a:prstGeom>
            <a:grpFill/>
            <a:ln/>
          </p:spPr>
          <p:txBody>
            <a:bodyPr wrap="square" lIns="25400" tIns="25400" rIns="25400" bIns="25400" rtlCol="0" anchor="t">
              <a:normAutofit fontScale="92500" lnSpcReduction="20000"/>
            </a:bodyPr>
            <a:lstStyle/>
            <a:p>
              <a:r>
                <a:rPr lang="en-US" sz="1200" b="1" dirty="0">
                  <a:solidFill>
                    <a:schemeClr val="bg1"/>
                  </a:solidFill>
                  <a:latin typeface="Georgia" panose="02040502050405020303" pitchFamily="18" charset="0"/>
                  <a:ea typeface="Fraunces" pitchFamily="34" charset="-122"/>
                  <a:cs typeface="Fraunces" pitchFamily="34" charset="-120"/>
                </a:rPr>
                <a:t>4,57,084</a:t>
              </a:r>
              <a:r>
                <a:rPr lang="en-US" sz="1100" b="1" dirty="0">
                  <a:solidFill>
                    <a:schemeClr val="bg1"/>
                  </a:solidFill>
                  <a:latin typeface="Georgia" panose="02040502050405020303" pitchFamily="18" charset="0"/>
                  <a:ea typeface="Fraunces" pitchFamily="34" charset="-122"/>
                  <a:cs typeface="Fraunces" pitchFamily="34" charset="-120"/>
                </a:rPr>
                <a:t> </a:t>
              </a:r>
              <a:r>
                <a:rPr lang="en-US" sz="1200" dirty="0">
                  <a:solidFill>
                    <a:schemeClr val="bg1"/>
                  </a:solidFill>
                  <a:latin typeface="Georgia" panose="02040502050405020303" pitchFamily="18" charset="0"/>
                  <a:ea typeface="Fraunces" pitchFamily="34" charset="-122"/>
                  <a:cs typeface="Fraunces" pitchFamily="34" charset="-120"/>
                </a:rPr>
                <a:t>MT</a:t>
              </a:r>
              <a:endParaRPr lang="en-US" sz="1200" dirty="0">
                <a:solidFill>
                  <a:schemeClr val="bg1"/>
                </a:solidFill>
                <a:latin typeface="Georgia" panose="02040502050405020303" pitchFamily="18" charset="0"/>
              </a:endParaRPr>
            </a:p>
          </p:txBody>
        </p:sp>
        <p:sp>
          <p:nvSpPr>
            <p:cNvPr id="19" name="Text 42">
              <a:extLst>
                <a:ext uri="{FF2B5EF4-FFF2-40B4-BE49-F238E27FC236}">
                  <a16:creationId xmlns:a16="http://schemas.microsoft.com/office/drawing/2014/main" id="{12C10A64-00E4-29F7-5891-D30F513B5E9B}"/>
                </a:ext>
              </a:extLst>
            </p:cNvPr>
            <p:cNvSpPr/>
            <p:nvPr/>
          </p:nvSpPr>
          <p:spPr>
            <a:xfrm>
              <a:off x="706488" y="3276599"/>
              <a:ext cx="2020722" cy="269807"/>
            </a:xfrm>
            <a:prstGeom prst="rect">
              <a:avLst/>
            </a:prstGeom>
            <a:grpFill/>
            <a:ln/>
          </p:spPr>
          <p:txBody>
            <a:bodyPr wrap="square" lIns="25400" tIns="25400" rIns="25400" bIns="25400" rtlCol="0" anchor="t">
              <a:noAutofit/>
            </a:bodyPr>
            <a:lstStyle/>
            <a:p>
              <a:pPr algn="ctr"/>
              <a:r>
                <a:rPr lang="en-US" sz="1100" b="1" dirty="0">
                  <a:solidFill>
                    <a:schemeClr val="bg1"/>
                  </a:solidFill>
                  <a:latin typeface="Georgia" panose="02040502050405020303" pitchFamily="18" charset="0"/>
                </a:rPr>
                <a:t>Crop-specific production</a:t>
              </a:r>
            </a:p>
          </p:txBody>
        </p:sp>
        <p:sp>
          <p:nvSpPr>
            <p:cNvPr id="22" name="Text 45">
              <a:extLst>
                <a:ext uri="{FF2B5EF4-FFF2-40B4-BE49-F238E27FC236}">
                  <a16:creationId xmlns:a16="http://schemas.microsoft.com/office/drawing/2014/main" id="{2A373405-6AD8-951F-2350-7ECD36B61A03}"/>
                </a:ext>
              </a:extLst>
            </p:cNvPr>
            <p:cNvSpPr/>
            <p:nvPr/>
          </p:nvSpPr>
          <p:spPr>
            <a:xfrm>
              <a:off x="3368581" y="3276601"/>
              <a:ext cx="1325871" cy="352970"/>
            </a:xfrm>
            <a:prstGeom prst="rect">
              <a:avLst/>
            </a:prstGeom>
            <a:grpFill/>
            <a:ln/>
          </p:spPr>
          <p:txBody>
            <a:bodyPr wrap="square" lIns="25400" tIns="25400" rIns="25400" bIns="25400" rtlCol="0" anchor="t">
              <a:noAutofit/>
            </a:bodyPr>
            <a:lstStyle/>
            <a:p>
              <a:pPr algn="r"/>
              <a:r>
                <a:rPr lang="en-US" sz="1100" b="1" dirty="0">
                  <a:solidFill>
                    <a:schemeClr val="bg1"/>
                  </a:solidFill>
                  <a:latin typeface="Georgia" panose="02040502050405020303" pitchFamily="18" charset="0"/>
                </a:rPr>
                <a:t>Total production</a:t>
              </a:r>
            </a:p>
          </p:txBody>
        </p:sp>
        <p:sp>
          <p:nvSpPr>
            <p:cNvPr id="25" name="Text 46">
              <a:extLst>
                <a:ext uri="{FF2B5EF4-FFF2-40B4-BE49-F238E27FC236}">
                  <a16:creationId xmlns:a16="http://schemas.microsoft.com/office/drawing/2014/main" id="{73F7B9F8-D44F-EE09-0BCB-CC1D70E0C759}"/>
                </a:ext>
              </a:extLst>
            </p:cNvPr>
            <p:cNvSpPr/>
            <p:nvPr/>
          </p:nvSpPr>
          <p:spPr>
            <a:xfrm>
              <a:off x="3305816" y="3656944"/>
              <a:ext cx="1306821" cy="362564"/>
            </a:xfrm>
            <a:prstGeom prst="rect">
              <a:avLst/>
            </a:prstGeom>
            <a:grpFill/>
            <a:ln/>
          </p:spPr>
          <p:txBody>
            <a:bodyPr wrap="square" lIns="25400" tIns="25400" rIns="25400" bIns="25400" rtlCol="0" anchor="t">
              <a:noAutofit/>
            </a:bodyPr>
            <a:lstStyle/>
            <a:p>
              <a:pPr algn="r"/>
              <a:r>
                <a:rPr lang="en-US" sz="1100" b="1" dirty="0">
                  <a:solidFill>
                    <a:schemeClr val="bg1"/>
                  </a:solidFill>
                  <a:latin typeface="Georgia" panose="02040502050405020303" pitchFamily="18" charset="0"/>
                  <a:ea typeface="Fraunces" pitchFamily="34" charset="-122"/>
                  <a:cs typeface="Fraunces" pitchFamily="34" charset="-120"/>
                </a:rPr>
                <a:t>5,94,433 </a:t>
              </a:r>
              <a:r>
                <a:rPr lang="en-US" sz="1100" dirty="0">
                  <a:solidFill>
                    <a:schemeClr val="bg1"/>
                  </a:solidFill>
                  <a:latin typeface="Georgia" panose="02040502050405020303" pitchFamily="18" charset="0"/>
                  <a:ea typeface="Fraunces" pitchFamily="34" charset="-122"/>
                  <a:cs typeface="Fraunces" pitchFamily="34" charset="-120"/>
                </a:rPr>
                <a:t>MT</a:t>
              </a:r>
              <a:endParaRPr lang="en-US" sz="1100" dirty="0">
                <a:solidFill>
                  <a:schemeClr val="bg1"/>
                </a:solidFill>
                <a:latin typeface="Georgia" panose="02040502050405020303" pitchFamily="18" charset="0"/>
              </a:endParaRPr>
            </a:p>
          </p:txBody>
        </p:sp>
      </p:grpSp>
      <p:sp>
        <p:nvSpPr>
          <p:cNvPr id="442" name="Rectangle 441">
            <a:extLst>
              <a:ext uri="{FF2B5EF4-FFF2-40B4-BE49-F238E27FC236}">
                <a16:creationId xmlns:a16="http://schemas.microsoft.com/office/drawing/2014/main" id="{9BD09175-3794-258B-D9A3-3F4E9DF0AA80}"/>
              </a:ext>
            </a:extLst>
          </p:cNvPr>
          <p:cNvSpPr/>
          <p:nvPr/>
        </p:nvSpPr>
        <p:spPr>
          <a:xfrm>
            <a:off x="670084" y="1178592"/>
            <a:ext cx="4626379" cy="2195714"/>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Georgia" panose="02040502050405020303" pitchFamily="18" charset="0"/>
            </a:endParaRPr>
          </a:p>
        </p:txBody>
      </p:sp>
      <p:sp>
        <p:nvSpPr>
          <p:cNvPr id="444" name="Text 64">
            <a:extLst>
              <a:ext uri="{FF2B5EF4-FFF2-40B4-BE49-F238E27FC236}">
                <a16:creationId xmlns:a16="http://schemas.microsoft.com/office/drawing/2014/main" id="{E06F5E5D-FC90-5206-F06B-4EB197F0C791}"/>
              </a:ext>
            </a:extLst>
          </p:cNvPr>
          <p:cNvSpPr/>
          <p:nvPr/>
        </p:nvSpPr>
        <p:spPr>
          <a:xfrm>
            <a:off x="7060489" y="1699611"/>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14 FPOs</a:t>
            </a:r>
          </a:p>
          <a:p>
            <a:r>
              <a:rPr lang="en-US" sz="900" b="1" dirty="0">
                <a:solidFill>
                  <a:srgbClr val="14342B"/>
                </a:solidFill>
                <a:latin typeface="Georgia" panose="02040502050405020303" pitchFamily="18" charset="0"/>
                <a:ea typeface="Inter" pitchFamily="34" charset="-122"/>
              </a:rPr>
              <a:t>WDD FPOs</a:t>
            </a:r>
          </a:p>
          <a:p>
            <a:r>
              <a:rPr lang="en-US" sz="600" b="1" dirty="0">
                <a:solidFill>
                  <a:srgbClr val="14342B"/>
                </a:solidFill>
                <a:latin typeface="Georgia" panose="02040502050405020303" pitchFamily="18" charset="0"/>
                <a:ea typeface="Inter" pitchFamily="34" charset="-122"/>
              </a:rPr>
              <a:t>₹ 7</a:t>
            </a:r>
            <a:r>
              <a:rPr lang="en-US" sz="600" b="1" dirty="0">
                <a:latin typeface="Georgia" panose="02040502050405020303" pitchFamily="18" charset="0"/>
                <a:ea typeface="Inter" pitchFamily="34" charset="-122"/>
              </a:rPr>
              <a:t> Cr total transactions in FY 23-24</a:t>
            </a:r>
          </a:p>
          <a:p>
            <a:r>
              <a:rPr lang="en-US" sz="700" b="1" i="1" dirty="0">
                <a:solidFill>
                  <a:srgbClr val="14342B"/>
                </a:solidFill>
                <a:latin typeface="Georgia" panose="02040502050405020303" pitchFamily="18" charset="0"/>
                <a:ea typeface="Inter" pitchFamily="34" charset="-122"/>
              </a:rPr>
              <a:t>Key crops: Banana</a:t>
            </a:r>
          </a:p>
        </p:txBody>
      </p:sp>
      <p:sp>
        <p:nvSpPr>
          <p:cNvPr id="445" name="Text 64">
            <a:extLst>
              <a:ext uri="{FF2B5EF4-FFF2-40B4-BE49-F238E27FC236}">
                <a16:creationId xmlns:a16="http://schemas.microsoft.com/office/drawing/2014/main" id="{183818A5-7FD2-CE66-1290-D08D6AB5D306}"/>
              </a:ext>
            </a:extLst>
          </p:cNvPr>
          <p:cNvSpPr/>
          <p:nvPr/>
        </p:nvSpPr>
        <p:spPr>
          <a:xfrm>
            <a:off x="8706151" y="1679671"/>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944 MT/yr capacity</a:t>
            </a:r>
          </a:p>
          <a:p>
            <a:r>
              <a:rPr lang="en-US" sz="900" b="1" dirty="0">
                <a:solidFill>
                  <a:srgbClr val="14342B"/>
                </a:solidFill>
                <a:latin typeface="Georgia" panose="02040502050405020303" pitchFamily="18" charset="0"/>
                <a:ea typeface="Inter" pitchFamily="34" charset="-122"/>
              </a:rPr>
              <a:t>Processing infrastructure</a:t>
            </a:r>
          </a:p>
          <a:p>
            <a:r>
              <a:rPr lang="en-US" sz="700" b="1" i="1" dirty="0">
                <a:solidFill>
                  <a:srgbClr val="14342B"/>
                </a:solidFill>
                <a:latin typeface="Georgia" panose="02040502050405020303" pitchFamily="18" charset="0"/>
                <a:ea typeface="Inter" pitchFamily="34" charset="-122"/>
              </a:rPr>
              <a:t>Key crops: Pineapple, Banana, Mango</a:t>
            </a:r>
          </a:p>
        </p:txBody>
      </p:sp>
      <p:sp>
        <p:nvSpPr>
          <p:cNvPr id="449" name="Text 64">
            <a:extLst>
              <a:ext uri="{FF2B5EF4-FFF2-40B4-BE49-F238E27FC236}">
                <a16:creationId xmlns:a16="http://schemas.microsoft.com/office/drawing/2014/main" id="{31F62825-2031-7AFF-D4D3-5894505664F9}"/>
              </a:ext>
            </a:extLst>
          </p:cNvPr>
          <p:cNvSpPr/>
          <p:nvPr/>
        </p:nvSpPr>
        <p:spPr>
          <a:xfrm>
            <a:off x="10385149" y="1677962"/>
            <a:ext cx="1661492"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103 MT</a:t>
            </a:r>
          </a:p>
          <a:p>
            <a:r>
              <a:rPr lang="en-US" sz="900" b="1" dirty="0">
                <a:solidFill>
                  <a:srgbClr val="14342B"/>
                </a:solidFill>
                <a:latin typeface="Georgia" panose="02040502050405020303" pitchFamily="18" charset="0"/>
                <a:ea typeface="Inter" pitchFamily="34" charset="-122"/>
              </a:rPr>
              <a:t>Horticulture Department FPOs</a:t>
            </a:r>
          </a:p>
          <a:p>
            <a:r>
              <a:rPr lang="en-US" sz="600" b="1" dirty="0">
                <a:latin typeface="Georgia" panose="02040502050405020303" pitchFamily="18" charset="0"/>
                <a:ea typeface="Inter" pitchFamily="34" charset="-122"/>
              </a:rPr>
              <a:t>₹ 31 lakhs transactions n FY 23-24</a:t>
            </a:r>
            <a:endParaRPr lang="en-US" sz="600" b="1" dirty="0">
              <a:solidFill>
                <a:srgbClr val="14342B"/>
              </a:solidFill>
              <a:latin typeface="Georgia" panose="02040502050405020303" pitchFamily="18" charset="0"/>
              <a:ea typeface="Inter" pitchFamily="34" charset="-122"/>
            </a:endParaRPr>
          </a:p>
          <a:p>
            <a:r>
              <a:rPr lang="en-US" sz="700" b="1" i="1" dirty="0">
                <a:solidFill>
                  <a:srgbClr val="14342B"/>
                </a:solidFill>
                <a:latin typeface="Georgia" panose="02040502050405020303" pitchFamily="18" charset="0"/>
                <a:ea typeface="Inter" pitchFamily="34" charset="-122"/>
              </a:rPr>
              <a:t>Key crops: Onion, Banana</a:t>
            </a:r>
          </a:p>
          <a:p>
            <a:endParaRPr lang="en-US" sz="900" b="1" dirty="0">
              <a:solidFill>
                <a:srgbClr val="14342B"/>
              </a:solidFill>
              <a:latin typeface="Georgia" panose="02040502050405020303" pitchFamily="18" charset="0"/>
              <a:ea typeface="Inter" pitchFamily="34" charset="-122"/>
            </a:endParaRPr>
          </a:p>
        </p:txBody>
      </p:sp>
      <p:grpSp>
        <p:nvGrpSpPr>
          <p:cNvPr id="464" name="Group 463">
            <a:extLst>
              <a:ext uri="{FF2B5EF4-FFF2-40B4-BE49-F238E27FC236}">
                <a16:creationId xmlns:a16="http://schemas.microsoft.com/office/drawing/2014/main" id="{FB49AA60-AEFD-9E33-2899-8200E31883FC}"/>
              </a:ext>
            </a:extLst>
          </p:cNvPr>
          <p:cNvGrpSpPr/>
          <p:nvPr/>
        </p:nvGrpSpPr>
        <p:grpSpPr>
          <a:xfrm>
            <a:off x="5410226" y="4177242"/>
            <a:ext cx="1514597" cy="1276151"/>
            <a:chOff x="10002347" y="7336157"/>
            <a:chExt cx="3644503" cy="3480966"/>
          </a:xfrm>
        </p:grpSpPr>
        <p:sp>
          <p:nvSpPr>
            <p:cNvPr id="470" name="Shape 61">
              <a:extLst>
                <a:ext uri="{FF2B5EF4-FFF2-40B4-BE49-F238E27FC236}">
                  <a16:creationId xmlns:a16="http://schemas.microsoft.com/office/drawing/2014/main" id="{D43DAE22-361B-B68B-6A75-3ECFC2126364}"/>
                </a:ext>
              </a:extLst>
            </p:cNvPr>
            <p:cNvSpPr/>
            <p:nvPr/>
          </p:nvSpPr>
          <p:spPr>
            <a:xfrm>
              <a:off x="10002347" y="8622563"/>
              <a:ext cx="3644503" cy="2194560"/>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71" name="Text 63">
              <a:extLst>
                <a:ext uri="{FF2B5EF4-FFF2-40B4-BE49-F238E27FC236}">
                  <a16:creationId xmlns:a16="http://schemas.microsoft.com/office/drawing/2014/main" id="{CCE28FCB-9011-D98C-C937-9559A079347E}"/>
                </a:ext>
              </a:extLst>
            </p:cNvPr>
            <p:cNvSpPr/>
            <p:nvPr/>
          </p:nvSpPr>
          <p:spPr>
            <a:xfrm>
              <a:off x="10482754" y="7336157"/>
              <a:ext cx="1341846" cy="312420"/>
            </a:xfrm>
            <a:prstGeom prst="rect">
              <a:avLst/>
            </a:prstGeom>
            <a:noFill/>
            <a:ln/>
          </p:spPr>
          <p:txBody>
            <a:bodyPr wrap="square" lIns="25400" tIns="25400" rIns="25400" bIns="25400" rtlCol="0" anchor="t">
              <a:normAutofit fontScale="25000" lnSpcReduction="20000"/>
            </a:bodyPr>
            <a:lstStyle/>
            <a:p>
              <a:endParaRPr lang="en-US" dirty="0">
                <a:latin typeface="Georgia" panose="02040502050405020303" pitchFamily="18" charset="0"/>
              </a:endParaRPr>
            </a:p>
          </p:txBody>
        </p:sp>
      </p:grpSp>
      <p:grpSp>
        <p:nvGrpSpPr>
          <p:cNvPr id="465" name="Group 464">
            <a:extLst>
              <a:ext uri="{FF2B5EF4-FFF2-40B4-BE49-F238E27FC236}">
                <a16:creationId xmlns:a16="http://schemas.microsoft.com/office/drawing/2014/main" id="{3BF28C7E-C8EF-81E9-A2A0-6DF9750B6B6F}"/>
              </a:ext>
            </a:extLst>
          </p:cNvPr>
          <p:cNvGrpSpPr/>
          <p:nvPr/>
        </p:nvGrpSpPr>
        <p:grpSpPr>
          <a:xfrm>
            <a:off x="5396858" y="3086360"/>
            <a:ext cx="1535720" cy="888611"/>
            <a:chOff x="9970175" y="6791328"/>
            <a:chExt cx="3695328" cy="2423870"/>
          </a:xfrm>
        </p:grpSpPr>
        <p:sp>
          <p:nvSpPr>
            <p:cNvPr id="468" name="Shape 61">
              <a:extLst>
                <a:ext uri="{FF2B5EF4-FFF2-40B4-BE49-F238E27FC236}">
                  <a16:creationId xmlns:a16="http://schemas.microsoft.com/office/drawing/2014/main" id="{CC3042E9-F388-9294-833D-65A36735D981}"/>
                </a:ext>
              </a:extLst>
            </p:cNvPr>
            <p:cNvSpPr/>
            <p:nvPr/>
          </p:nvSpPr>
          <p:spPr>
            <a:xfrm>
              <a:off x="9970175" y="6791328"/>
              <a:ext cx="3644503"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9" name="Text 64">
              <a:extLst>
                <a:ext uri="{FF2B5EF4-FFF2-40B4-BE49-F238E27FC236}">
                  <a16:creationId xmlns:a16="http://schemas.microsoft.com/office/drawing/2014/main" id="{0EC1B8B3-4598-5A08-F521-7D6B2ED9D44B}"/>
                </a:ext>
              </a:extLst>
            </p:cNvPr>
            <p:cNvSpPr/>
            <p:nvPr/>
          </p:nvSpPr>
          <p:spPr>
            <a:xfrm>
              <a:off x="10025634" y="6852622"/>
              <a:ext cx="3639869" cy="2362576"/>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1,37,131 MT capacity</a:t>
              </a:r>
            </a:p>
            <a:p>
              <a:r>
                <a:rPr lang="en-US" sz="900" b="1" dirty="0">
                  <a:solidFill>
                    <a:srgbClr val="14342B"/>
                  </a:solidFill>
                  <a:latin typeface="Georgia" panose="02040502050405020303" pitchFamily="18" charset="0"/>
                  <a:ea typeface="Inter" pitchFamily="34" charset="-122"/>
                </a:rPr>
                <a:t>Cold storage units</a:t>
              </a:r>
            </a:p>
            <a:p>
              <a:r>
                <a:rPr lang="en-US" sz="700" b="1" i="1" dirty="0">
                  <a:solidFill>
                    <a:srgbClr val="14342B"/>
                  </a:solidFill>
                  <a:latin typeface="Georgia" panose="02040502050405020303" pitchFamily="18" charset="0"/>
                  <a:ea typeface="Inter" pitchFamily="34" charset="-122"/>
                </a:rPr>
                <a:t>Key crops: Frozen &amp; dry fruits, Vegetables and fruits, Mango pulp </a:t>
              </a:r>
            </a:p>
            <a:p>
              <a:r>
                <a:rPr lang="en-US" sz="600" dirty="0">
                  <a:solidFill>
                    <a:srgbClr val="14342B"/>
                  </a:solidFill>
                  <a:latin typeface="Georgia" panose="02040502050405020303" pitchFamily="18" charset="0"/>
                  <a:ea typeface="Inter" pitchFamily="34" charset="-122"/>
                </a:rPr>
                <a:t>Upcoming units: Haveri -2000 MT</a:t>
              </a:r>
            </a:p>
          </p:txBody>
        </p:sp>
      </p:grpSp>
      <p:sp>
        <p:nvSpPr>
          <p:cNvPr id="466" name="Shape 61">
            <a:extLst>
              <a:ext uri="{FF2B5EF4-FFF2-40B4-BE49-F238E27FC236}">
                <a16:creationId xmlns:a16="http://schemas.microsoft.com/office/drawing/2014/main" id="{4F43CC76-3D6F-D549-D7C3-27F6ED58859E}"/>
              </a:ext>
            </a:extLst>
          </p:cNvPr>
          <p:cNvSpPr/>
          <p:nvPr/>
        </p:nvSpPr>
        <p:spPr>
          <a:xfrm>
            <a:off x="7053364" y="3086359"/>
            <a:ext cx="1514597"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67" name="Shape 61">
            <a:extLst>
              <a:ext uri="{FF2B5EF4-FFF2-40B4-BE49-F238E27FC236}">
                <a16:creationId xmlns:a16="http://schemas.microsoft.com/office/drawing/2014/main" id="{F87AD0DD-F019-85ED-330B-F7223C75737D}"/>
              </a:ext>
            </a:extLst>
          </p:cNvPr>
          <p:cNvSpPr/>
          <p:nvPr/>
        </p:nvSpPr>
        <p:spPr>
          <a:xfrm>
            <a:off x="7053457" y="4647678"/>
            <a:ext cx="1514597" cy="804543"/>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58" name="Shape 61">
            <a:extLst>
              <a:ext uri="{FF2B5EF4-FFF2-40B4-BE49-F238E27FC236}">
                <a16:creationId xmlns:a16="http://schemas.microsoft.com/office/drawing/2014/main" id="{238913F6-069B-B9C4-3CBD-864FF1104C27}"/>
              </a:ext>
            </a:extLst>
          </p:cNvPr>
          <p:cNvSpPr/>
          <p:nvPr/>
        </p:nvSpPr>
        <p:spPr>
          <a:xfrm>
            <a:off x="8760502" y="4647678"/>
            <a:ext cx="1611802"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59" name="Shape 61">
            <a:extLst>
              <a:ext uri="{FF2B5EF4-FFF2-40B4-BE49-F238E27FC236}">
                <a16:creationId xmlns:a16="http://schemas.microsoft.com/office/drawing/2014/main" id="{0051BC91-01BA-8B1E-F16C-3487C51BDAB6}"/>
              </a:ext>
            </a:extLst>
          </p:cNvPr>
          <p:cNvSpPr/>
          <p:nvPr/>
        </p:nvSpPr>
        <p:spPr>
          <a:xfrm>
            <a:off x="8709873" y="3086359"/>
            <a:ext cx="1537494" cy="804544"/>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0" name="Shape 61">
            <a:extLst>
              <a:ext uri="{FF2B5EF4-FFF2-40B4-BE49-F238E27FC236}">
                <a16:creationId xmlns:a16="http://schemas.microsoft.com/office/drawing/2014/main" id="{D5A8313B-4970-1141-4A12-A04F4CD61F01}"/>
              </a:ext>
            </a:extLst>
          </p:cNvPr>
          <p:cNvSpPr/>
          <p:nvPr/>
        </p:nvSpPr>
        <p:spPr>
          <a:xfrm>
            <a:off x="10366381" y="3086359"/>
            <a:ext cx="1611802"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grpSp>
        <p:nvGrpSpPr>
          <p:cNvPr id="461" name="Group 460">
            <a:extLst>
              <a:ext uri="{FF2B5EF4-FFF2-40B4-BE49-F238E27FC236}">
                <a16:creationId xmlns:a16="http://schemas.microsoft.com/office/drawing/2014/main" id="{24FA2EA0-0184-9598-B425-9B6145BE2B3D}"/>
              </a:ext>
            </a:extLst>
          </p:cNvPr>
          <p:cNvGrpSpPr/>
          <p:nvPr/>
        </p:nvGrpSpPr>
        <p:grpSpPr>
          <a:xfrm>
            <a:off x="8846775" y="4663672"/>
            <a:ext cx="3131407" cy="804544"/>
            <a:chOff x="6068207" y="8643943"/>
            <a:chExt cx="7080537" cy="2194560"/>
          </a:xfrm>
        </p:grpSpPr>
        <p:sp>
          <p:nvSpPr>
            <p:cNvPr id="462" name="Shape 61">
              <a:extLst>
                <a:ext uri="{FF2B5EF4-FFF2-40B4-BE49-F238E27FC236}">
                  <a16:creationId xmlns:a16="http://schemas.microsoft.com/office/drawing/2014/main" id="{EFFFCB0E-2A8A-7EE4-71A9-41D516005B89}"/>
                </a:ext>
              </a:extLst>
            </p:cNvPr>
            <p:cNvSpPr/>
            <p:nvPr/>
          </p:nvSpPr>
          <p:spPr>
            <a:xfrm>
              <a:off x="9757359" y="8643943"/>
              <a:ext cx="3391385"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3" name="Text 64">
              <a:extLst>
                <a:ext uri="{FF2B5EF4-FFF2-40B4-BE49-F238E27FC236}">
                  <a16:creationId xmlns:a16="http://schemas.microsoft.com/office/drawing/2014/main" id="{0248174A-5959-47C2-3BCF-9316F281D10D}"/>
                </a:ext>
              </a:extLst>
            </p:cNvPr>
            <p:cNvSpPr/>
            <p:nvPr/>
          </p:nvSpPr>
          <p:spPr>
            <a:xfrm>
              <a:off x="6068207" y="8813647"/>
              <a:ext cx="3370181" cy="312421"/>
            </a:xfrm>
            <a:prstGeom prst="rect">
              <a:avLst/>
            </a:prstGeom>
            <a:noFill/>
            <a:ln/>
          </p:spPr>
          <p:txBody>
            <a:bodyPr wrap="square" lIns="25400" tIns="25400" rIns="25400" bIns="25400" rtlCol="0" anchor="t">
              <a:noAutofit/>
            </a:bodyPr>
            <a:lstStyle/>
            <a:p>
              <a:r>
                <a:rPr lang="en-US" sz="900" b="1" dirty="0">
                  <a:latin typeface="Georgia" panose="02040502050405020303" pitchFamily="18" charset="0"/>
                </a:rPr>
                <a:t>Agricultural training centers</a:t>
              </a:r>
            </a:p>
            <a:p>
              <a:endParaRPr lang="en-US" sz="900" b="1" dirty="0">
                <a:latin typeface="Georgia" panose="02040502050405020303" pitchFamily="18" charset="0"/>
              </a:endParaRPr>
            </a:p>
            <a:p>
              <a:r>
                <a:rPr lang="en-US" sz="700" dirty="0">
                  <a:solidFill>
                    <a:srgbClr val="14342B"/>
                  </a:solidFill>
                  <a:latin typeface="Georgia" panose="02040502050405020303" pitchFamily="18" charset="0"/>
                  <a:ea typeface="Fraunces" pitchFamily="34" charset="-122"/>
                </a:rPr>
                <a:t>Dharwad, Haveri, Uttara Kannada</a:t>
              </a:r>
            </a:p>
            <a:p>
              <a:endParaRPr lang="en-US" sz="900" b="1" dirty="0">
                <a:latin typeface="Georgia" panose="02040502050405020303" pitchFamily="18" charset="0"/>
              </a:endParaRPr>
            </a:p>
          </p:txBody>
        </p:sp>
      </p:grpSp>
      <p:sp>
        <p:nvSpPr>
          <p:cNvPr id="455" name="Shape 41">
            <a:extLst>
              <a:ext uri="{FF2B5EF4-FFF2-40B4-BE49-F238E27FC236}">
                <a16:creationId xmlns:a16="http://schemas.microsoft.com/office/drawing/2014/main" id="{949EDA9F-24AA-2503-C8D0-395AF1F47170}"/>
              </a:ext>
            </a:extLst>
          </p:cNvPr>
          <p:cNvSpPr/>
          <p:nvPr/>
        </p:nvSpPr>
        <p:spPr>
          <a:xfrm>
            <a:off x="5396856" y="2586448"/>
            <a:ext cx="4478287" cy="407388"/>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452" name="Text 42">
            <a:extLst>
              <a:ext uri="{FF2B5EF4-FFF2-40B4-BE49-F238E27FC236}">
                <a16:creationId xmlns:a16="http://schemas.microsoft.com/office/drawing/2014/main" id="{E3AD894B-25F9-F382-B824-B757C7C0FAE7}"/>
              </a:ext>
            </a:extLst>
          </p:cNvPr>
          <p:cNvSpPr/>
          <p:nvPr/>
        </p:nvSpPr>
        <p:spPr>
          <a:xfrm>
            <a:off x="5520689" y="2663492"/>
            <a:ext cx="3769226" cy="233672"/>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Ecosystem for all fruits and vegetables</a:t>
            </a:r>
          </a:p>
        </p:txBody>
      </p:sp>
      <p:sp>
        <p:nvSpPr>
          <p:cNvPr id="453" name="Text 65">
            <a:extLst>
              <a:ext uri="{FF2B5EF4-FFF2-40B4-BE49-F238E27FC236}">
                <a16:creationId xmlns:a16="http://schemas.microsoft.com/office/drawing/2014/main" id="{BEE3A409-5CF8-93E5-A2FC-9200F60FE767}"/>
              </a:ext>
            </a:extLst>
          </p:cNvPr>
          <p:cNvSpPr/>
          <p:nvPr/>
        </p:nvSpPr>
        <p:spPr>
          <a:xfrm>
            <a:off x="5520689" y="3654421"/>
            <a:ext cx="1447800" cy="77197"/>
          </a:xfrm>
          <a:prstGeom prst="rect">
            <a:avLst/>
          </a:prstGeom>
          <a:noFill/>
          <a:ln/>
        </p:spPr>
        <p:txBody>
          <a:bodyPr wrap="square" lIns="25400" tIns="25400" rIns="25400" bIns="25400" rtlCol="0" anchor="t">
            <a:noAutofit/>
          </a:bodyPr>
          <a:lstStyle/>
          <a:p>
            <a:endParaRPr lang="en-US" sz="700" dirty="0">
              <a:solidFill>
                <a:srgbClr val="0B6E78"/>
              </a:solidFill>
              <a:latin typeface="Georgia" panose="02040502050405020303" pitchFamily="18" charset="0"/>
              <a:ea typeface="JetBrains Mono" pitchFamily="34" charset="-122"/>
              <a:cs typeface="JetBrains Mono" pitchFamily="34" charset="-120"/>
            </a:endParaRPr>
          </a:p>
        </p:txBody>
      </p:sp>
      <p:sp>
        <p:nvSpPr>
          <p:cNvPr id="472" name="Text 64">
            <a:extLst>
              <a:ext uri="{FF2B5EF4-FFF2-40B4-BE49-F238E27FC236}">
                <a16:creationId xmlns:a16="http://schemas.microsoft.com/office/drawing/2014/main" id="{CCB40921-6FDB-AF29-A663-53A069DFF0B6}"/>
              </a:ext>
            </a:extLst>
          </p:cNvPr>
          <p:cNvSpPr/>
          <p:nvPr/>
        </p:nvSpPr>
        <p:spPr>
          <a:xfrm>
            <a:off x="7095613" y="3136640"/>
            <a:ext cx="1495246" cy="846293"/>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48 FPOs</a:t>
            </a:r>
          </a:p>
          <a:p>
            <a:r>
              <a:rPr lang="en-US" sz="900" b="1" dirty="0">
                <a:solidFill>
                  <a:srgbClr val="14342B"/>
                </a:solidFill>
                <a:latin typeface="Georgia" panose="02040502050405020303" pitchFamily="18" charset="0"/>
                <a:ea typeface="Inter" pitchFamily="34" charset="-122"/>
              </a:rPr>
              <a:t>WDD FPOs</a:t>
            </a:r>
          </a:p>
          <a:p>
            <a:r>
              <a:rPr lang="en-US" sz="600" b="1" dirty="0">
                <a:solidFill>
                  <a:srgbClr val="14342B"/>
                </a:solidFill>
                <a:latin typeface="Georgia" panose="02040502050405020303" pitchFamily="18" charset="0"/>
                <a:ea typeface="Inter" pitchFamily="34" charset="-122"/>
              </a:rPr>
              <a:t>₹ 33</a:t>
            </a:r>
            <a:r>
              <a:rPr lang="en-US" sz="600" b="1" dirty="0">
                <a:latin typeface="Georgia" panose="02040502050405020303" pitchFamily="18" charset="0"/>
                <a:ea typeface="Inter" pitchFamily="34" charset="-122"/>
              </a:rPr>
              <a:t> Cr total transactions in FY 23-24</a:t>
            </a:r>
          </a:p>
          <a:p>
            <a:r>
              <a:rPr lang="en-US" sz="700" b="1" i="1" dirty="0">
                <a:solidFill>
                  <a:srgbClr val="14342B"/>
                </a:solidFill>
                <a:latin typeface="Georgia" panose="02040502050405020303" pitchFamily="18" charset="0"/>
                <a:ea typeface="Inter" pitchFamily="34" charset="-122"/>
              </a:rPr>
              <a:t>Key crops: Banana, Soyabean, Chilli, Vegetables</a:t>
            </a:r>
          </a:p>
          <a:p>
            <a:endParaRPr lang="en-US" sz="700" b="1" i="1" dirty="0">
              <a:solidFill>
                <a:srgbClr val="14342B"/>
              </a:solidFill>
              <a:latin typeface="Georgia" panose="02040502050405020303" pitchFamily="18" charset="0"/>
              <a:ea typeface="Inter" pitchFamily="34" charset="-122"/>
            </a:endParaRPr>
          </a:p>
        </p:txBody>
      </p:sp>
      <p:sp>
        <p:nvSpPr>
          <p:cNvPr id="473" name="Text 64">
            <a:extLst>
              <a:ext uri="{FF2B5EF4-FFF2-40B4-BE49-F238E27FC236}">
                <a16:creationId xmlns:a16="http://schemas.microsoft.com/office/drawing/2014/main" id="{73AB0EB8-8B17-C612-3528-9A9D8E5C3A3A}"/>
              </a:ext>
            </a:extLst>
          </p:cNvPr>
          <p:cNvSpPr/>
          <p:nvPr/>
        </p:nvSpPr>
        <p:spPr>
          <a:xfrm>
            <a:off x="8752121" y="3099678"/>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2160 MT/yr capacity</a:t>
            </a:r>
          </a:p>
          <a:p>
            <a:r>
              <a:rPr lang="en-US" sz="900" b="1" dirty="0">
                <a:solidFill>
                  <a:srgbClr val="14342B"/>
                </a:solidFill>
                <a:latin typeface="Georgia" panose="02040502050405020303" pitchFamily="18" charset="0"/>
                <a:ea typeface="Inter" pitchFamily="34" charset="-122"/>
              </a:rPr>
              <a:t>Processing infrastructure</a:t>
            </a:r>
          </a:p>
          <a:p>
            <a:r>
              <a:rPr lang="en-US" sz="700" b="1" i="1" dirty="0">
                <a:solidFill>
                  <a:srgbClr val="14342B"/>
                </a:solidFill>
                <a:latin typeface="Georgia" panose="02040502050405020303" pitchFamily="18" charset="0"/>
                <a:ea typeface="Inter" pitchFamily="34" charset="-122"/>
              </a:rPr>
              <a:t>Key crops: Banana, Okra, Guava, Mango, Pineapple, Papaya, Mixed fruits</a:t>
            </a:r>
          </a:p>
        </p:txBody>
      </p:sp>
      <p:sp>
        <p:nvSpPr>
          <p:cNvPr id="474" name="Text 64">
            <a:extLst>
              <a:ext uri="{FF2B5EF4-FFF2-40B4-BE49-F238E27FC236}">
                <a16:creationId xmlns:a16="http://schemas.microsoft.com/office/drawing/2014/main" id="{2D3EAEEC-330B-3D4F-3ACE-79E6ADA7F738}"/>
              </a:ext>
            </a:extLst>
          </p:cNvPr>
          <p:cNvSpPr/>
          <p:nvPr/>
        </p:nvSpPr>
        <p:spPr>
          <a:xfrm>
            <a:off x="10411087" y="3132280"/>
            <a:ext cx="1611802"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133 MT</a:t>
            </a:r>
          </a:p>
          <a:p>
            <a:r>
              <a:rPr lang="en-US" sz="900" b="1" dirty="0">
                <a:solidFill>
                  <a:srgbClr val="14342B"/>
                </a:solidFill>
                <a:latin typeface="Georgia" panose="02040502050405020303" pitchFamily="18" charset="0"/>
                <a:ea typeface="Inter" pitchFamily="34" charset="-122"/>
              </a:rPr>
              <a:t>Horticulture Department FPOs</a:t>
            </a:r>
          </a:p>
          <a:p>
            <a:r>
              <a:rPr lang="en-US" sz="600" b="1" dirty="0">
                <a:solidFill>
                  <a:srgbClr val="14342B"/>
                </a:solidFill>
                <a:latin typeface="Georgia" panose="02040502050405020303" pitchFamily="18" charset="0"/>
                <a:ea typeface="Inter" pitchFamily="34" charset="-122"/>
              </a:rPr>
              <a:t>₹33 lakhs  transactions in FY 23-24</a:t>
            </a:r>
          </a:p>
          <a:p>
            <a:r>
              <a:rPr lang="en-US" sz="700" b="1" i="1" dirty="0">
                <a:solidFill>
                  <a:srgbClr val="14342B"/>
                </a:solidFill>
                <a:latin typeface="Georgia" panose="02040502050405020303" pitchFamily="18" charset="0"/>
                <a:ea typeface="Inter" pitchFamily="34" charset="-122"/>
              </a:rPr>
              <a:t>Key crops: Onion, Banana</a:t>
            </a:r>
            <a:endParaRPr lang="en-US" sz="900" b="1" dirty="0">
              <a:solidFill>
                <a:srgbClr val="14342B"/>
              </a:solidFill>
              <a:latin typeface="Georgia" panose="02040502050405020303" pitchFamily="18" charset="0"/>
              <a:ea typeface="Inter" pitchFamily="34" charset="-122"/>
            </a:endParaRPr>
          </a:p>
        </p:txBody>
      </p:sp>
      <p:sp>
        <p:nvSpPr>
          <p:cNvPr id="475" name="Text 64">
            <a:extLst>
              <a:ext uri="{FF2B5EF4-FFF2-40B4-BE49-F238E27FC236}">
                <a16:creationId xmlns:a16="http://schemas.microsoft.com/office/drawing/2014/main" id="{AE5BBCF5-4FA0-F313-3FE9-592A184FD01F}"/>
              </a:ext>
            </a:extLst>
          </p:cNvPr>
          <p:cNvSpPr/>
          <p:nvPr/>
        </p:nvSpPr>
        <p:spPr>
          <a:xfrm>
            <a:off x="5451075" y="4731209"/>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2 centers</a:t>
            </a:r>
          </a:p>
          <a:p>
            <a:r>
              <a:rPr lang="en-US" sz="900" b="1" dirty="0">
                <a:solidFill>
                  <a:srgbClr val="14342B"/>
                </a:solidFill>
                <a:latin typeface="Georgia" panose="02040502050405020303" pitchFamily="18" charset="0"/>
                <a:ea typeface="Inter" pitchFamily="34" charset="-122"/>
              </a:rPr>
              <a:t>Seed production centers</a:t>
            </a:r>
          </a:p>
          <a:p>
            <a:r>
              <a:rPr lang="en-US" sz="600" b="1" dirty="0">
                <a:latin typeface="Georgia" panose="02040502050405020303" pitchFamily="18" charset="0"/>
                <a:ea typeface="Inter" pitchFamily="34" charset="-122"/>
              </a:rPr>
              <a:t>10 ha total</a:t>
            </a:r>
          </a:p>
        </p:txBody>
      </p:sp>
      <p:sp>
        <p:nvSpPr>
          <p:cNvPr id="476" name="Text 64">
            <a:extLst>
              <a:ext uri="{FF2B5EF4-FFF2-40B4-BE49-F238E27FC236}">
                <a16:creationId xmlns:a16="http://schemas.microsoft.com/office/drawing/2014/main" id="{79B79E18-E8A6-B592-B63D-832B10EA3559}"/>
              </a:ext>
            </a:extLst>
          </p:cNvPr>
          <p:cNvSpPr/>
          <p:nvPr/>
        </p:nvSpPr>
        <p:spPr>
          <a:xfrm>
            <a:off x="7104635" y="4723714"/>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41 farms</a:t>
            </a:r>
          </a:p>
          <a:p>
            <a:r>
              <a:rPr lang="en-US" sz="900" b="1" dirty="0">
                <a:solidFill>
                  <a:srgbClr val="14342B"/>
                </a:solidFill>
                <a:latin typeface="Georgia" panose="02040502050405020303" pitchFamily="18" charset="0"/>
                <a:ea typeface="Inter" pitchFamily="34" charset="-122"/>
              </a:rPr>
              <a:t>Horticulture farms &amp; nurseries</a:t>
            </a:r>
          </a:p>
          <a:p>
            <a:r>
              <a:rPr lang="en-US" sz="600" b="1" dirty="0">
                <a:latin typeface="Georgia" panose="02040502050405020303" pitchFamily="18" charset="0"/>
                <a:ea typeface="Inter" pitchFamily="34" charset="-122"/>
              </a:rPr>
              <a:t>449 acres</a:t>
            </a:r>
          </a:p>
        </p:txBody>
      </p:sp>
      <p:sp>
        <p:nvSpPr>
          <p:cNvPr id="477" name="Text 64">
            <a:extLst>
              <a:ext uri="{FF2B5EF4-FFF2-40B4-BE49-F238E27FC236}">
                <a16:creationId xmlns:a16="http://schemas.microsoft.com/office/drawing/2014/main" id="{F9AFF2F1-4402-1044-88D3-D4FB8E89C6C6}"/>
              </a:ext>
            </a:extLst>
          </p:cNvPr>
          <p:cNvSpPr/>
          <p:nvPr/>
        </p:nvSpPr>
        <p:spPr>
          <a:xfrm>
            <a:off x="10553513" y="4702920"/>
            <a:ext cx="724087"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9</a:t>
            </a:r>
          </a:p>
          <a:p>
            <a:r>
              <a:rPr lang="en-US" sz="900" b="1" dirty="0">
                <a:solidFill>
                  <a:srgbClr val="14342B"/>
                </a:solidFill>
                <a:latin typeface="Georgia" panose="02040502050405020303" pitchFamily="18" charset="0"/>
                <a:ea typeface="Inter" pitchFamily="34" charset="-122"/>
              </a:rPr>
              <a:t>SHGs</a:t>
            </a:r>
          </a:p>
        </p:txBody>
      </p:sp>
      <p:grpSp>
        <p:nvGrpSpPr>
          <p:cNvPr id="13" name="Group 12">
            <a:extLst>
              <a:ext uri="{FF2B5EF4-FFF2-40B4-BE49-F238E27FC236}">
                <a16:creationId xmlns:a16="http://schemas.microsoft.com/office/drawing/2014/main" id="{80B15010-CE8A-0702-F9AE-D48C1F5A44A0}"/>
              </a:ext>
            </a:extLst>
          </p:cNvPr>
          <p:cNvGrpSpPr/>
          <p:nvPr/>
        </p:nvGrpSpPr>
        <p:grpSpPr>
          <a:xfrm>
            <a:off x="607208" y="5562600"/>
            <a:ext cx="11229576" cy="630942"/>
            <a:chOff x="607208" y="5699680"/>
            <a:chExt cx="11229576" cy="630942"/>
          </a:xfrm>
        </p:grpSpPr>
        <p:sp>
          <p:nvSpPr>
            <p:cNvPr id="16" name="TextBox 15">
              <a:extLst>
                <a:ext uri="{FF2B5EF4-FFF2-40B4-BE49-F238E27FC236}">
                  <a16:creationId xmlns:a16="http://schemas.microsoft.com/office/drawing/2014/main" id="{158E4EA2-4016-CF99-2C81-374668C953D7}"/>
                </a:ext>
              </a:extLst>
            </p:cNvPr>
            <p:cNvSpPr txBox="1"/>
            <p:nvPr/>
          </p:nvSpPr>
          <p:spPr>
            <a:xfrm>
              <a:off x="607208" y="5699680"/>
              <a:ext cx="6098391" cy="630942"/>
            </a:xfrm>
            <a:prstGeom prst="rect">
              <a:avLst/>
            </a:prstGeom>
            <a:noFill/>
          </p:spPr>
          <p:txBody>
            <a:bodyPr wrap="square" rtlCol="0">
              <a:spAutoFit/>
            </a:bodyPr>
            <a:lstStyle/>
            <a:p>
              <a:r>
                <a:rPr lang="en-US" sz="800" i="1" dirty="0">
                  <a:latin typeface="Georgia" panose="02040502050405020303" pitchFamily="18" charset="0"/>
                </a:rPr>
                <a:t>Sources: As per the internal data shared by the following departments under Government of Karnataka, as of March 2026:</a:t>
              </a:r>
            </a:p>
            <a:p>
              <a:endParaRPr lang="en-US" sz="300" i="1" dirty="0">
                <a:latin typeface="Georgia" panose="02040502050405020303" pitchFamily="18" charset="0"/>
              </a:endParaRPr>
            </a:p>
            <a:p>
              <a:pPr marL="228600" indent="-228600">
                <a:buFont typeface="Arial" panose="020B0604020202020204" pitchFamily="34" charset="0"/>
                <a:buChar char="•"/>
              </a:pPr>
              <a:r>
                <a:rPr lang="en-IN" sz="800" i="1" dirty="0">
                  <a:latin typeface="Georgia" panose="02040502050405020303" pitchFamily="18" charset="0"/>
                </a:rPr>
                <a:t>KAPPEC – Processing infrastructure</a:t>
              </a:r>
            </a:p>
            <a:p>
              <a:pPr marL="228600" indent="-228600">
                <a:buFont typeface="Arial" panose="020B0604020202020204" pitchFamily="34" charset="0"/>
                <a:buChar char="•"/>
              </a:pPr>
              <a:r>
                <a:rPr lang="en-IN" sz="800" i="1" dirty="0">
                  <a:latin typeface="Georgia" panose="02040502050405020303" pitchFamily="18" charset="0"/>
                </a:rPr>
                <a:t>Directorate of horticulture – Cold storage infrastructure, Horticulture farms/nurseries, Horticulture department FPOs</a:t>
              </a:r>
            </a:p>
            <a:p>
              <a:pPr marL="228600" indent="-228600">
                <a:buFont typeface="Arial" panose="020B0604020202020204" pitchFamily="34" charset="0"/>
                <a:buChar char="•"/>
              </a:pPr>
              <a:r>
                <a:rPr lang="en-IN" sz="800" i="1" dirty="0">
                  <a:latin typeface="Georgia" panose="02040502050405020303" pitchFamily="18" charset="0"/>
                </a:rPr>
                <a:t>Watershed development department – WDD FPOs</a:t>
              </a:r>
            </a:p>
          </p:txBody>
        </p:sp>
        <p:sp>
          <p:nvSpPr>
            <p:cNvPr id="5" name="TextBox 4">
              <a:extLst>
                <a:ext uri="{FF2B5EF4-FFF2-40B4-BE49-F238E27FC236}">
                  <a16:creationId xmlns:a16="http://schemas.microsoft.com/office/drawing/2014/main" id="{D392F3BF-6154-60B6-F3B2-205B59EEEA2A}"/>
                </a:ext>
              </a:extLst>
            </p:cNvPr>
            <p:cNvSpPr txBox="1"/>
            <p:nvPr/>
          </p:nvSpPr>
          <p:spPr>
            <a:xfrm>
              <a:off x="6400800" y="5977539"/>
              <a:ext cx="4953000" cy="338554"/>
            </a:xfrm>
            <a:prstGeom prst="rect">
              <a:avLst/>
            </a:prstGeom>
            <a:noFill/>
          </p:spPr>
          <p:txBody>
            <a:bodyPr wrap="square" rtlCol="0">
              <a:spAutoFit/>
            </a:bodyPr>
            <a:lstStyle/>
            <a:p>
              <a:pPr marL="228600" indent="-228600">
                <a:buFont typeface="Arial" panose="020B0604020202020204" pitchFamily="34" charset="0"/>
                <a:buChar char="•"/>
              </a:pPr>
              <a:r>
                <a:rPr lang="en-IN" sz="800" i="1" dirty="0">
                  <a:latin typeface="Georgia" panose="02040502050405020303" pitchFamily="18" charset="0"/>
                </a:rPr>
                <a:t>Department of agriculture – Seed production </a:t>
              </a:r>
              <a:r>
                <a:rPr lang="en-IN" sz="800" i="1" dirty="0" err="1">
                  <a:latin typeface="Georgia" panose="02040502050405020303" pitchFamily="18" charset="0"/>
                </a:rPr>
                <a:t>centers</a:t>
              </a:r>
              <a:r>
                <a:rPr lang="en-IN" sz="800" i="1" dirty="0">
                  <a:latin typeface="Georgia" panose="02040502050405020303" pitchFamily="18" charset="0"/>
                </a:rPr>
                <a:t>, Agricultural training </a:t>
              </a:r>
              <a:r>
                <a:rPr lang="en-IN" sz="800" i="1" dirty="0" err="1">
                  <a:latin typeface="Georgia" panose="02040502050405020303" pitchFamily="18" charset="0"/>
                </a:rPr>
                <a:t>centers</a:t>
              </a:r>
              <a:endParaRPr lang="en-IN" sz="800" i="1" dirty="0">
                <a:latin typeface="Georgia" panose="02040502050405020303" pitchFamily="18" charset="0"/>
              </a:endParaRPr>
            </a:p>
            <a:p>
              <a:pPr marL="228600" indent="-228600">
                <a:buFont typeface="Arial" panose="020B0604020202020204" pitchFamily="34" charset="0"/>
                <a:buChar char="•"/>
              </a:pPr>
              <a:r>
                <a:rPr lang="en-IN" sz="800" i="1" dirty="0">
                  <a:latin typeface="Georgia" panose="02040502050405020303" pitchFamily="18" charset="0"/>
                </a:rPr>
                <a:t>KSRLPS - SHGs</a:t>
              </a:r>
            </a:p>
          </p:txBody>
        </p:sp>
        <p:sp>
          <p:nvSpPr>
            <p:cNvPr id="6" name="Rectangle 5">
              <a:extLst>
                <a:ext uri="{FF2B5EF4-FFF2-40B4-BE49-F238E27FC236}">
                  <a16:creationId xmlns:a16="http://schemas.microsoft.com/office/drawing/2014/main" id="{A1E5D1A9-0498-38E0-898C-90FC3F4B36C7}"/>
                </a:ext>
              </a:extLst>
            </p:cNvPr>
            <p:cNvSpPr/>
            <p:nvPr/>
          </p:nvSpPr>
          <p:spPr>
            <a:xfrm>
              <a:off x="640284" y="5737490"/>
              <a:ext cx="11196500" cy="576072"/>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00" dirty="0">
                <a:latin typeface="Georgia" panose="02040502050405020303" pitchFamily="18" charset="0"/>
              </a:endParaRPr>
            </a:p>
          </p:txBody>
        </p:sp>
      </p:grpSp>
      <p:sp>
        <p:nvSpPr>
          <p:cNvPr id="4" name="Shape 41">
            <a:extLst>
              <a:ext uri="{FF2B5EF4-FFF2-40B4-BE49-F238E27FC236}">
                <a16:creationId xmlns:a16="http://schemas.microsoft.com/office/drawing/2014/main" id="{FCA424D3-6C5C-53E6-49E4-4578189E7123}"/>
              </a:ext>
            </a:extLst>
          </p:cNvPr>
          <p:cNvSpPr/>
          <p:nvPr/>
        </p:nvSpPr>
        <p:spPr>
          <a:xfrm>
            <a:off x="5409020" y="4066044"/>
            <a:ext cx="4478287" cy="407388"/>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9" name="Text 42">
            <a:extLst>
              <a:ext uri="{FF2B5EF4-FFF2-40B4-BE49-F238E27FC236}">
                <a16:creationId xmlns:a16="http://schemas.microsoft.com/office/drawing/2014/main" id="{FA12948A-13FC-F5DF-F349-3C3DFB62A3FA}"/>
              </a:ext>
            </a:extLst>
          </p:cNvPr>
          <p:cNvSpPr/>
          <p:nvPr/>
        </p:nvSpPr>
        <p:spPr>
          <a:xfrm>
            <a:off x="5486402" y="4142898"/>
            <a:ext cx="3769226" cy="233672"/>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Other infrastructure available</a:t>
            </a:r>
          </a:p>
        </p:txBody>
      </p:sp>
      <p:graphicFrame>
        <p:nvGraphicFramePr>
          <p:cNvPr id="10" name="Chart 9">
            <a:extLst>
              <a:ext uri="{FF2B5EF4-FFF2-40B4-BE49-F238E27FC236}">
                <a16:creationId xmlns:a16="http://schemas.microsoft.com/office/drawing/2014/main" id="{C4D98C1A-948B-350F-2C8C-0DC9A9743C27}"/>
              </a:ext>
            </a:extLst>
          </p:cNvPr>
          <p:cNvGraphicFramePr>
            <a:graphicFrameLocks/>
          </p:cNvGraphicFramePr>
          <p:nvPr>
            <p:extLst>
              <p:ext uri="{D42A27DB-BD31-4B8C-83A1-F6EECF244321}">
                <p14:modId xmlns:p14="http://schemas.microsoft.com/office/powerpoint/2010/main" val="715297205"/>
              </p:ext>
            </p:extLst>
          </p:nvPr>
        </p:nvGraphicFramePr>
        <p:xfrm>
          <a:off x="659873" y="1046097"/>
          <a:ext cx="4572000" cy="1357046"/>
        </p:xfrm>
        <a:graphic>
          <a:graphicData uri="http://schemas.openxmlformats.org/drawingml/2006/chart">
            <c:chart xmlns:c="http://schemas.openxmlformats.org/drawingml/2006/chart" xmlns:r="http://schemas.openxmlformats.org/officeDocument/2006/relationships" r:id="rId3"/>
          </a:graphicData>
        </a:graphic>
      </p:graphicFrame>
      <p:pic>
        <p:nvPicPr>
          <p:cNvPr id="15" name="Picture 14">
            <a:extLst>
              <a:ext uri="{FF2B5EF4-FFF2-40B4-BE49-F238E27FC236}">
                <a16:creationId xmlns:a16="http://schemas.microsoft.com/office/drawing/2014/main" id="{C8220144-1E47-FF04-024A-91734A28A836}"/>
              </a:ext>
            </a:extLst>
          </p:cNvPr>
          <p:cNvPicPr>
            <a:picLocks noChangeAspect="1"/>
          </p:cNvPicPr>
          <p:nvPr/>
        </p:nvPicPr>
        <p:blipFill>
          <a:blip r:embed="rId4" cstate="print">
            <a:extLst>
              <a:ext uri="{28A0092B-C50C-407E-A947-70E740481C1C}">
                <a14:useLocalDpi xmlns:a14="http://schemas.microsoft.com/office/drawing/2010/main" val="0"/>
              </a:ext>
            </a:extLst>
          </a:blip>
          <a:srcRect l="3304" t="4534" r="3955" b="9497"/>
          <a:stretch>
            <a:fillRect/>
          </a:stretch>
        </p:blipFill>
        <p:spPr>
          <a:xfrm>
            <a:off x="10820400" y="173835"/>
            <a:ext cx="1182431" cy="1122207"/>
          </a:xfrm>
          <a:prstGeom prst="rect">
            <a:avLst/>
          </a:prstGeom>
        </p:spPr>
      </p:pic>
      <p:sp>
        <p:nvSpPr>
          <p:cNvPr id="8" name="TextBox 7">
            <a:extLst>
              <a:ext uri="{FF2B5EF4-FFF2-40B4-BE49-F238E27FC236}">
                <a16:creationId xmlns:a16="http://schemas.microsoft.com/office/drawing/2014/main" id="{9F66D6F4-7C0E-4A38-D37C-5B08C9AE6982}"/>
              </a:ext>
            </a:extLst>
          </p:cNvPr>
          <p:cNvSpPr txBox="1"/>
          <p:nvPr/>
        </p:nvSpPr>
        <p:spPr>
          <a:xfrm>
            <a:off x="625235" y="5257800"/>
            <a:ext cx="4677855" cy="200055"/>
          </a:xfrm>
          <a:prstGeom prst="rect">
            <a:avLst/>
          </a:prstGeom>
          <a:noFill/>
        </p:spPr>
        <p:txBody>
          <a:bodyPr wrap="square" rtlCol="0">
            <a:spAutoFit/>
          </a:bodyPr>
          <a:lstStyle/>
          <a:p>
            <a:r>
              <a:rPr lang="en-IN" sz="700" i="1" dirty="0">
                <a:latin typeface="Georgia" panose="02040502050405020303" pitchFamily="18" charset="0"/>
              </a:rPr>
              <a:t>Source: As reported by district officials, Horticulture department, Government of Karnataka, as of March 2026</a:t>
            </a:r>
          </a:p>
        </p:txBody>
      </p:sp>
      <p:pic>
        <p:nvPicPr>
          <p:cNvPr id="20" name="Picture 19">
            <a:extLst>
              <a:ext uri="{FF2B5EF4-FFF2-40B4-BE49-F238E27FC236}">
                <a16:creationId xmlns:a16="http://schemas.microsoft.com/office/drawing/2014/main" id="{1D9FEDDD-FAB7-3ECE-92EE-A0616F2B9A42}"/>
              </a:ext>
            </a:extLst>
          </p:cNvPr>
          <p:cNvPicPr>
            <a:picLocks noChangeAspect="1"/>
          </p:cNvPicPr>
          <p:nvPr/>
        </p:nvPicPr>
        <p:blipFill>
          <a:blip r:embed="rId5"/>
          <a:stretch>
            <a:fillRect/>
          </a:stretch>
        </p:blipFill>
        <p:spPr>
          <a:xfrm>
            <a:off x="521617" y="6193542"/>
            <a:ext cx="11196500" cy="626887"/>
          </a:xfrm>
          <a:prstGeom prst="rect">
            <a:avLst/>
          </a:prstGeom>
        </p:spPr>
      </p:pic>
    </p:spTree>
    <p:extLst>
      <p:ext uri="{BB962C8B-B14F-4D97-AF65-F5344CB8AC3E}">
        <p14:creationId xmlns:p14="http://schemas.microsoft.com/office/powerpoint/2010/main" val="1174525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CB539-6F11-59A1-8038-4806BFC09FF7}"/>
            </a:ext>
          </a:extLst>
        </p:cNvPr>
        <p:cNvGrpSpPr/>
        <p:nvPr/>
      </p:nvGrpSpPr>
      <p:grpSpPr>
        <a:xfrm>
          <a:off x="0" y="0"/>
          <a:ext cx="0" cy="0"/>
          <a:chOff x="0" y="0"/>
          <a:chExt cx="0" cy="0"/>
        </a:xfrm>
      </p:grpSpPr>
      <p:graphicFrame>
        <p:nvGraphicFramePr>
          <p:cNvPr id="18" name="Chart 17">
            <a:extLst>
              <a:ext uri="{FF2B5EF4-FFF2-40B4-BE49-F238E27FC236}">
                <a16:creationId xmlns:a16="http://schemas.microsoft.com/office/drawing/2014/main" id="{85A8B3F2-CB27-77C9-D954-43D0938CB3BF}"/>
              </a:ext>
            </a:extLst>
          </p:cNvPr>
          <p:cNvGraphicFramePr>
            <a:graphicFrameLocks/>
          </p:cNvGraphicFramePr>
          <p:nvPr>
            <p:extLst>
              <p:ext uri="{D42A27DB-BD31-4B8C-83A1-F6EECF244321}">
                <p14:modId xmlns:p14="http://schemas.microsoft.com/office/powerpoint/2010/main" val="2086173317"/>
              </p:ext>
            </p:extLst>
          </p:nvPr>
        </p:nvGraphicFramePr>
        <p:xfrm>
          <a:off x="621786" y="1935734"/>
          <a:ext cx="4572000" cy="1510550"/>
        </p:xfrm>
        <a:graphic>
          <a:graphicData uri="http://schemas.openxmlformats.org/drawingml/2006/chart">
            <c:chart xmlns:c="http://schemas.openxmlformats.org/drawingml/2006/chart" xmlns:r="http://schemas.openxmlformats.org/officeDocument/2006/relationships" r:id="rId3"/>
          </a:graphicData>
        </a:graphic>
      </p:graphicFrame>
      <p:sp>
        <p:nvSpPr>
          <p:cNvPr id="30" name="Text 63">
            <a:extLst>
              <a:ext uri="{FF2B5EF4-FFF2-40B4-BE49-F238E27FC236}">
                <a16:creationId xmlns:a16="http://schemas.microsoft.com/office/drawing/2014/main" id="{FF52BEB8-C9F9-7BAB-BBF1-45F423B3BE7C}"/>
              </a:ext>
            </a:extLst>
          </p:cNvPr>
          <p:cNvSpPr/>
          <p:nvPr/>
        </p:nvSpPr>
        <p:spPr>
          <a:xfrm>
            <a:off x="5575589" y="2774080"/>
            <a:ext cx="557650" cy="116845"/>
          </a:xfrm>
          <a:prstGeom prst="rect">
            <a:avLst/>
          </a:prstGeom>
          <a:noFill/>
          <a:ln/>
        </p:spPr>
        <p:txBody>
          <a:bodyPr wrap="square" lIns="25400" tIns="25400" rIns="25400" bIns="25400" rtlCol="0" anchor="t">
            <a:normAutofit fontScale="25000" lnSpcReduction="20000"/>
          </a:bodyPr>
          <a:lstStyle/>
          <a:p>
            <a:endParaRPr lang="en-US" dirty="0">
              <a:latin typeface="Georgia" panose="02040502050405020303" pitchFamily="18" charset="0"/>
            </a:endParaRPr>
          </a:p>
        </p:txBody>
      </p:sp>
      <p:grpSp>
        <p:nvGrpSpPr>
          <p:cNvPr id="38" name="Group 37">
            <a:extLst>
              <a:ext uri="{FF2B5EF4-FFF2-40B4-BE49-F238E27FC236}">
                <a16:creationId xmlns:a16="http://schemas.microsoft.com/office/drawing/2014/main" id="{43D718CC-199D-EA9B-04B2-B537AB803DF9}"/>
              </a:ext>
            </a:extLst>
          </p:cNvPr>
          <p:cNvGrpSpPr/>
          <p:nvPr/>
        </p:nvGrpSpPr>
        <p:grpSpPr>
          <a:xfrm>
            <a:off x="5362569" y="1661201"/>
            <a:ext cx="1518294" cy="820767"/>
            <a:chOff x="9970175" y="6791328"/>
            <a:chExt cx="3653399" cy="2194560"/>
          </a:xfrm>
        </p:grpSpPr>
        <p:sp>
          <p:nvSpPr>
            <p:cNvPr id="39" name="Shape 61">
              <a:extLst>
                <a:ext uri="{FF2B5EF4-FFF2-40B4-BE49-F238E27FC236}">
                  <a16:creationId xmlns:a16="http://schemas.microsoft.com/office/drawing/2014/main" id="{91C92D52-C78C-76BA-AB29-8FD21E72B498}"/>
                </a:ext>
              </a:extLst>
            </p:cNvPr>
            <p:cNvSpPr/>
            <p:nvPr/>
          </p:nvSpPr>
          <p:spPr>
            <a:xfrm>
              <a:off x="9970175" y="6791328"/>
              <a:ext cx="3644503"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2" name="Text 64">
              <a:extLst>
                <a:ext uri="{FF2B5EF4-FFF2-40B4-BE49-F238E27FC236}">
                  <a16:creationId xmlns:a16="http://schemas.microsoft.com/office/drawing/2014/main" id="{56EAFF02-3642-7E90-474D-FB629BDCEECF}"/>
                </a:ext>
              </a:extLst>
            </p:cNvPr>
            <p:cNvSpPr/>
            <p:nvPr/>
          </p:nvSpPr>
          <p:spPr>
            <a:xfrm>
              <a:off x="10025634" y="6852621"/>
              <a:ext cx="3597940" cy="1635905"/>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4917 MT capacity</a:t>
              </a:r>
            </a:p>
            <a:p>
              <a:r>
                <a:rPr lang="en-US" sz="900" b="1" dirty="0">
                  <a:solidFill>
                    <a:srgbClr val="14342B"/>
                  </a:solidFill>
                  <a:latin typeface="Georgia" panose="02040502050405020303" pitchFamily="18" charset="0"/>
                  <a:ea typeface="Inter" pitchFamily="34" charset="-122"/>
                </a:rPr>
                <a:t>Cold storage units</a:t>
              </a:r>
            </a:p>
            <a:p>
              <a:r>
                <a:rPr lang="en-US" sz="700" b="1" i="1" dirty="0">
                  <a:solidFill>
                    <a:srgbClr val="14342B"/>
                  </a:solidFill>
                  <a:latin typeface="Georgia" panose="02040502050405020303" pitchFamily="18" charset="0"/>
                  <a:ea typeface="Inter" pitchFamily="34" charset="-122"/>
                </a:rPr>
                <a:t>Key crops: Pineapple, Banana, Mango</a:t>
              </a:r>
            </a:p>
          </p:txBody>
        </p:sp>
      </p:grpSp>
      <p:sp>
        <p:nvSpPr>
          <p:cNvPr id="45" name="Shape 61">
            <a:extLst>
              <a:ext uri="{FF2B5EF4-FFF2-40B4-BE49-F238E27FC236}">
                <a16:creationId xmlns:a16="http://schemas.microsoft.com/office/drawing/2014/main" id="{88C33674-0A65-A93A-6F75-59C8BE438AF7}"/>
              </a:ext>
            </a:extLst>
          </p:cNvPr>
          <p:cNvSpPr/>
          <p:nvPr/>
        </p:nvSpPr>
        <p:spPr>
          <a:xfrm>
            <a:off x="7019077" y="1661200"/>
            <a:ext cx="1514597" cy="820767"/>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99" name="Shape 61">
            <a:extLst>
              <a:ext uri="{FF2B5EF4-FFF2-40B4-BE49-F238E27FC236}">
                <a16:creationId xmlns:a16="http://schemas.microsoft.com/office/drawing/2014/main" id="{AE892D0B-CE89-6040-4DC2-AEF6CE6DDEE0}"/>
              </a:ext>
            </a:extLst>
          </p:cNvPr>
          <p:cNvSpPr/>
          <p:nvPr/>
        </p:nvSpPr>
        <p:spPr>
          <a:xfrm>
            <a:off x="8675585" y="1661200"/>
            <a:ext cx="1514597" cy="820766"/>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94" name="Shape 61">
            <a:extLst>
              <a:ext uri="{FF2B5EF4-FFF2-40B4-BE49-F238E27FC236}">
                <a16:creationId xmlns:a16="http://schemas.microsoft.com/office/drawing/2014/main" id="{0EDF2B2C-896B-16FB-BBF0-44963F2049CD}"/>
              </a:ext>
            </a:extLst>
          </p:cNvPr>
          <p:cNvSpPr/>
          <p:nvPr/>
        </p:nvSpPr>
        <p:spPr>
          <a:xfrm>
            <a:off x="10332093" y="1661200"/>
            <a:ext cx="1783707" cy="820766"/>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212" name="Shape 41">
            <a:extLst>
              <a:ext uri="{FF2B5EF4-FFF2-40B4-BE49-F238E27FC236}">
                <a16:creationId xmlns:a16="http://schemas.microsoft.com/office/drawing/2014/main" id="{B50A1F1F-1590-8F69-A88A-925E877BB30C}"/>
              </a:ext>
            </a:extLst>
          </p:cNvPr>
          <p:cNvSpPr/>
          <p:nvPr/>
        </p:nvSpPr>
        <p:spPr>
          <a:xfrm>
            <a:off x="5362569" y="1151209"/>
            <a:ext cx="4478287" cy="415602"/>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213" name="Text 42">
            <a:extLst>
              <a:ext uri="{FF2B5EF4-FFF2-40B4-BE49-F238E27FC236}">
                <a16:creationId xmlns:a16="http://schemas.microsoft.com/office/drawing/2014/main" id="{578A7F78-9146-1889-A142-9E5DB093D15A}"/>
              </a:ext>
            </a:extLst>
          </p:cNvPr>
          <p:cNvSpPr/>
          <p:nvPr/>
        </p:nvSpPr>
        <p:spPr>
          <a:xfrm>
            <a:off x="5486402" y="1229806"/>
            <a:ext cx="3769226" cy="238384"/>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Crop-specific ecosystem (seven key crops)</a:t>
            </a:r>
          </a:p>
        </p:txBody>
      </p:sp>
      <p:sp>
        <p:nvSpPr>
          <p:cNvPr id="219" name="Text 65">
            <a:extLst>
              <a:ext uri="{FF2B5EF4-FFF2-40B4-BE49-F238E27FC236}">
                <a16:creationId xmlns:a16="http://schemas.microsoft.com/office/drawing/2014/main" id="{9CDAF6ED-18F8-AF4D-75D4-33A7CCB28749}"/>
              </a:ext>
            </a:extLst>
          </p:cNvPr>
          <p:cNvSpPr/>
          <p:nvPr/>
        </p:nvSpPr>
        <p:spPr>
          <a:xfrm>
            <a:off x="5486402" y="2240716"/>
            <a:ext cx="1447800" cy="78753"/>
          </a:xfrm>
          <a:prstGeom prst="rect">
            <a:avLst/>
          </a:prstGeom>
          <a:noFill/>
          <a:ln/>
        </p:spPr>
        <p:txBody>
          <a:bodyPr wrap="square" lIns="25400" tIns="25400" rIns="25400" bIns="25400" rtlCol="0" anchor="t">
            <a:noAutofit/>
          </a:bodyPr>
          <a:lstStyle/>
          <a:p>
            <a:endParaRPr lang="en-US" sz="700" dirty="0">
              <a:solidFill>
                <a:srgbClr val="0B6E78"/>
              </a:solidFill>
              <a:latin typeface="Georgia" panose="02040502050405020303" pitchFamily="18" charset="0"/>
              <a:ea typeface="JetBrains Mono" pitchFamily="34" charset="-122"/>
              <a:cs typeface="JetBrains Mono" pitchFamily="34" charset="-120"/>
            </a:endParaRPr>
          </a:p>
        </p:txBody>
      </p:sp>
      <p:sp>
        <p:nvSpPr>
          <p:cNvPr id="2" name="Title 1">
            <a:extLst>
              <a:ext uri="{FF2B5EF4-FFF2-40B4-BE49-F238E27FC236}">
                <a16:creationId xmlns:a16="http://schemas.microsoft.com/office/drawing/2014/main" id="{8AC37CB5-8DD6-CD2A-244E-CF013F75C829}"/>
              </a:ext>
            </a:extLst>
          </p:cNvPr>
          <p:cNvSpPr>
            <a:spLocks noGrp="1"/>
          </p:cNvSpPr>
          <p:nvPr>
            <p:ph type="title"/>
          </p:nvPr>
        </p:nvSpPr>
        <p:spPr>
          <a:xfrm>
            <a:off x="640284" y="208002"/>
            <a:ext cx="10561116" cy="553998"/>
          </a:xfrm>
        </p:spPr>
        <p:txBody>
          <a:bodyPr/>
          <a:lstStyle/>
          <a:p>
            <a:r>
              <a:rPr lang="en-US" sz="2400" dirty="0">
                <a:solidFill>
                  <a:schemeClr val="bg1"/>
                </a:solidFill>
                <a:latin typeface="Georgia" panose="02040502050405020303" pitchFamily="18" charset="0"/>
              </a:rPr>
              <a:t>Western Ghats Banana-Pineapple cluster</a:t>
            </a:r>
            <a:br>
              <a:rPr lang="en-US" sz="2400" dirty="0">
                <a:solidFill>
                  <a:schemeClr val="bg1"/>
                </a:solidFill>
                <a:latin typeface="Georgia" panose="02040502050405020303" pitchFamily="18" charset="0"/>
              </a:rPr>
            </a:br>
            <a:r>
              <a:rPr lang="en-US" sz="1200" i="1" dirty="0">
                <a:solidFill>
                  <a:schemeClr val="bg1"/>
                </a:solidFill>
                <a:latin typeface="Georgia" panose="02040502050405020303" pitchFamily="18" charset="0"/>
              </a:rPr>
              <a:t>(Shivamogga, </a:t>
            </a:r>
            <a:r>
              <a:rPr lang="en-US" sz="1200" i="1" dirty="0" err="1">
                <a:solidFill>
                  <a:schemeClr val="bg1"/>
                </a:solidFill>
                <a:latin typeface="Georgia" panose="02040502050405020303" pitchFamily="18" charset="0"/>
              </a:rPr>
              <a:t>Chikkamagaluru</a:t>
            </a:r>
            <a:r>
              <a:rPr lang="en-US" sz="1200" i="1" dirty="0">
                <a:solidFill>
                  <a:schemeClr val="bg1"/>
                </a:solidFill>
                <a:latin typeface="Georgia" panose="02040502050405020303" pitchFamily="18" charset="0"/>
              </a:rPr>
              <a:t>, Kodagu, Dakshina Kannada, Udupi)</a:t>
            </a:r>
            <a:endParaRPr lang="en-IN" sz="1200" i="1" dirty="0">
              <a:solidFill>
                <a:schemeClr val="bg1"/>
              </a:solidFill>
              <a:latin typeface="Georgia" panose="02040502050405020303" pitchFamily="18" charset="0"/>
            </a:endParaRPr>
          </a:p>
        </p:txBody>
      </p:sp>
      <p:sp>
        <p:nvSpPr>
          <p:cNvPr id="3" name="Slide Number Placeholder 2">
            <a:extLst>
              <a:ext uri="{FF2B5EF4-FFF2-40B4-BE49-F238E27FC236}">
                <a16:creationId xmlns:a16="http://schemas.microsoft.com/office/drawing/2014/main" id="{5CEB60BF-26C2-F723-859D-F4C36BC40A3F}"/>
              </a:ext>
            </a:extLst>
          </p:cNvPr>
          <p:cNvSpPr>
            <a:spLocks noGrp="1"/>
          </p:cNvSpPr>
          <p:nvPr>
            <p:ph type="sldNum" sz="quarter" idx="7"/>
          </p:nvPr>
        </p:nvSpPr>
        <p:spPr>
          <a:xfrm>
            <a:off x="779630" y="6440648"/>
            <a:ext cx="383540" cy="115416"/>
          </a:xfrm>
        </p:spPr>
        <p:txBody>
          <a:bodyPr/>
          <a:lstStyle/>
          <a:p>
            <a:pPr marL="12700">
              <a:spcBef>
                <a:spcPts val="60"/>
              </a:spcBef>
            </a:pPr>
            <a:r>
              <a:rPr lang="en-IN" dirty="0">
                <a:latin typeface="Georgia" panose="02040502050405020303" pitchFamily="18" charset="0"/>
              </a:rPr>
              <a:t>Page</a:t>
            </a:r>
            <a:r>
              <a:rPr lang="en-IN" spc="-55" dirty="0">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38</a:t>
            </a:fld>
            <a:endParaRPr dirty="0">
              <a:latin typeface="Georgia" panose="02040502050405020303" pitchFamily="18" charset="0"/>
            </a:endParaRPr>
          </a:p>
        </p:txBody>
      </p:sp>
      <p:graphicFrame>
        <p:nvGraphicFramePr>
          <p:cNvPr id="21" name="Table 20">
            <a:extLst>
              <a:ext uri="{FF2B5EF4-FFF2-40B4-BE49-F238E27FC236}">
                <a16:creationId xmlns:a16="http://schemas.microsoft.com/office/drawing/2014/main" id="{D655E874-F041-26D1-E0BA-FC5FB6863F84}"/>
              </a:ext>
            </a:extLst>
          </p:cNvPr>
          <p:cNvGraphicFramePr>
            <a:graphicFrameLocks noGrp="1"/>
          </p:cNvGraphicFramePr>
          <p:nvPr>
            <p:extLst>
              <p:ext uri="{D42A27DB-BD31-4B8C-83A1-F6EECF244321}">
                <p14:modId xmlns:p14="http://schemas.microsoft.com/office/powerpoint/2010/main" val="2614275045"/>
              </p:ext>
            </p:extLst>
          </p:nvPr>
        </p:nvGraphicFramePr>
        <p:xfrm>
          <a:off x="656800" y="3976166"/>
          <a:ext cx="4648103" cy="1498205"/>
        </p:xfrm>
        <a:graphic>
          <a:graphicData uri="http://schemas.openxmlformats.org/drawingml/2006/table">
            <a:tbl>
              <a:tblPr firstRow="1" bandRow="1">
                <a:tableStyleId>{21E4AEA4-8DFA-4A89-87EB-49C32662AFE0}</a:tableStyleId>
              </a:tblPr>
              <a:tblGrid>
                <a:gridCol w="4648103">
                  <a:extLst>
                    <a:ext uri="{9D8B030D-6E8A-4147-A177-3AD203B41FA5}">
                      <a16:colId xmlns:a16="http://schemas.microsoft.com/office/drawing/2014/main" val="3341958433"/>
                    </a:ext>
                  </a:extLst>
                </a:gridCol>
              </a:tblGrid>
              <a:tr h="205247">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dirty="0">
                          <a:latin typeface="Georgia" panose="02040502050405020303" pitchFamily="18" charset="0"/>
                        </a:rPr>
                        <a:t>Major reasons for crop-loss across districts</a:t>
                      </a:r>
                    </a:p>
                  </a:txBody>
                  <a:tcPr marL="67006" marR="67006" marT="33504" marB="33504">
                    <a:solidFill>
                      <a:srgbClr val="0B6E78"/>
                    </a:solidFill>
                  </a:tcPr>
                </a:tc>
                <a:extLst>
                  <a:ext uri="{0D108BD9-81ED-4DB2-BD59-A6C34878D82A}">
                    <a16:rowId xmlns:a16="http://schemas.microsoft.com/office/drawing/2014/main" val="2643714482"/>
                  </a:ext>
                </a:extLst>
              </a:tr>
              <a:tr h="1278797">
                <a:tc>
                  <a:txBody>
                    <a:bodyPr/>
                    <a:lstStyle/>
                    <a:p>
                      <a:pPr marL="0" marR="0" lvl="0" indent="0" algn="l"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dirty="0">
                          <a:effectLst/>
                          <a:latin typeface="Georgia" panose="02040502050405020303" pitchFamily="18" charset="0"/>
                        </a:rPr>
                        <a:t>Banana (Shivamogga, </a:t>
                      </a:r>
                      <a:r>
                        <a:rPr lang="en-IN" sz="1100" b="1" dirty="0" err="1">
                          <a:effectLst/>
                          <a:latin typeface="Georgia" panose="02040502050405020303" pitchFamily="18" charset="0"/>
                        </a:rPr>
                        <a:t>Chikkamagaluru</a:t>
                      </a:r>
                      <a:r>
                        <a:rPr lang="en-IN" sz="1100" b="1" dirty="0">
                          <a:effectLst/>
                          <a:latin typeface="Georgia" panose="02040502050405020303" pitchFamily="18" charset="0"/>
                        </a:rPr>
                        <a:t>):</a:t>
                      </a:r>
                      <a:r>
                        <a:rPr lang="en-IN" sz="1100" dirty="0">
                          <a:latin typeface="Georgia" panose="02040502050405020303" pitchFamily="18" charset="0"/>
                        </a:rPr>
                        <a:t> Pest and disease incidence, wild animal damage, natural calamities, lack of skilled labour, high storage and transportation losses</a:t>
                      </a:r>
                      <a:br>
                        <a:rPr lang="en-IN" sz="1100" dirty="0">
                          <a:latin typeface="Georgia" panose="02040502050405020303" pitchFamily="18" charset="0"/>
                        </a:rPr>
                      </a:br>
                      <a:r>
                        <a:rPr lang="en-IN" sz="1100" b="1" dirty="0">
                          <a:effectLst/>
                          <a:latin typeface="Georgia" panose="02040502050405020303" pitchFamily="18" charset="0"/>
                        </a:rPr>
                        <a:t>Pineapple (Udupi):</a:t>
                      </a:r>
                      <a:r>
                        <a:rPr lang="en-IN" sz="1100" dirty="0">
                          <a:latin typeface="Georgia" panose="02040502050405020303" pitchFamily="18" charset="0"/>
                        </a:rPr>
                        <a:t> Pest and disease, natural calamities, delayed harvesting for distant markets, variety not suitable for processing causing total loss during gluts</a:t>
                      </a:r>
                      <a:endParaRPr lang="en-US" sz="1100" dirty="0">
                        <a:latin typeface="Georgia" panose="02040502050405020303" pitchFamily="18" charset="0"/>
                      </a:endParaRPr>
                    </a:p>
                  </a:txBody>
                  <a:tcPr marL="67006" marR="67006" marT="33504" marB="33504">
                    <a:solidFill>
                      <a:schemeClr val="accent5">
                        <a:lumMod val="20000"/>
                        <a:lumOff val="80000"/>
                      </a:schemeClr>
                    </a:solidFill>
                  </a:tcPr>
                </a:tc>
                <a:extLst>
                  <a:ext uri="{0D108BD9-81ED-4DB2-BD59-A6C34878D82A}">
                    <a16:rowId xmlns:a16="http://schemas.microsoft.com/office/drawing/2014/main" val="2831645102"/>
                  </a:ext>
                </a:extLst>
              </a:tr>
            </a:tbl>
          </a:graphicData>
        </a:graphic>
      </p:graphicFrame>
      <p:sp>
        <p:nvSpPr>
          <p:cNvPr id="7" name="TextBox 6">
            <a:extLst>
              <a:ext uri="{FF2B5EF4-FFF2-40B4-BE49-F238E27FC236}">
                <a16:creationId xmlns:a16="http://schemas.microsoft.com/office/drawing/2014/main" id="{9123ADFD-2757-2072-E3F0-D6070DA5988B}"/>
              </a:ext>
            </a:extLst>
          </p:cNvPr>
          <p:cNvSpPr txBox="1"/>
          <p:nvPr/>
        </p:nvSpPr>
        <p:spPr>
          <a:xfrm>
            <a:off x="2362200" y="3153558"/>
            <a:ext cx="2984460" cy="184666"/>
          </a:xfrm>
          <a:prstGeom prst="rect">
            <a:avLst/>
          </a:prstGeom>
          <a:noFill/>
        </p:spPr>
        <p:txBody>
          <a:bodyPr wrap="square" rtlCol="0">
            <a:spAutoFit/>
          </a:bodyPr>
          <a:lstStyle/>
          <a:p>
            <a:r>
              <a:rPr lang="en-IN" sz="600" i="1" dirty="0">
                <a:latin typeface="Georgia" panose="02040502050405020303" pitchFamily="18" charset="0"/>
              </a:rPr>
              <a:t>Sources: Horticulture crop statistics of Karnataka state at a glance – 2023-24</a:t>
            </a:r>
          </a:p>
        </p:txBody>
      </p:sp>
      <p:grpSp>
        <p:nvGrpSpPr>
          <p:cNvPr id="204" name="Group 203">
            <a:extLst>
              <a:ext uri="{FF2B5EF4-FFF2-40B4-BE49-F238E27FC236}">
                <a16:creationId xmlns:a16="http://schemas.microsoft.com/office/drawing/2014/main" id="{1826FED6-0BBA-051F-4B53-C1357497B2C0}"/>
              </a:ext>
            </a:extLst>
          </p:cNvPr>
          <p:cNvGrpSpPr/>
          <p:nvPr/>
        </p:nvGrpSpPr>
        <p:grpSpPr>
          <a:xfrm>
            <a:off x="656800" y="3429000"/>
            <a:ext cx="4653243" cy="429265"/>
            <a:chOff x="689731" y="3276599"/>
            <a:chExt cx="4478287" cy="881562"/>
          </a:xfrm>
          <a:solidFill>
            <a:srgbClr val="4B4B4D"/>
          </a:solidFill>
        </p:grpSpPr>
        <p:sp>
          <p:nvSpPr>
            <p:cNvPr id="11" name="Shape 41">
              <a:extLst>
                <a:ext uri="{FF2B5EF4-FFF2-40B4-BE49-F238E27FC236}">
                  <a16:creationId xmlns:a16="http://schemas.microsoft.com/office/drawing/2014/main" id="{F30F0DD7-EA54-D509-8290-C985E4610CA5}"/>
                </a:ext>
              </a:extLst>
            </p:cNvPr>
            <p:cNvSpPr/>
            <p:nvPr/>
          </p:nvSpPr>
          <p:spPr>
            <a:xfrm>
              <a:off x="689731" y="3276601"/>
              <a:ext cx="4478287" cy="881560"/>
            </a:xfrm>
            <a:prstGeom prst="roundRect">
              <a:avLst>
                <a:gd name="adj" fmla="val 4644"/>
              </a:avLst>
            </a:prstGeom>
            <a:grpFill/>
            <a:ln/>
          </p:spPr>
          <p:txBody>
            <a:bodyPr/>
            <a:lstStyle/>
            <a:p>
              <a:pPr algn="r"/>
              <a:endParaRPr lang="en-US" sz="1100" dirty="0">
                <a:solidFill>
                  <a:schemeClr val="bg1"/>
                </a:solidFill>
                <a:latin typeface="Georgia" panose="02040502050405020303" pitchFamily="18" charset="0"/>
              </a:endParaRPr>
            </a:p>
          </p:txBody>
        </p:sp>
        <p:sp>
          <p:nvSpPr>
            <p:cNvPr id="12" name="Shape 44">
              <a:extLst>
                <a:ext uri="{FF2B5EF4-FFF2-40B4-BE49-F238E27FC236}">
                  <a16:creationId xmlns:a16="http://schemas.microsoft.com/office/drawing/2014/main" id="{A522A23A-FD9D-861B-283D-43E10C3D226C}"/>
                </a:ext>
              </a:extLst>
            </p:cNvPr>
            <p:cNvSpPr/>
            <p:nvPr/>
          </p:nvSpPr>
          <p:spPr>
            <a:xfrm>
              <a:off x="2885490" y="3340476"/>
              <a:ext cx="9525" cy="735330"/>
            </a:xfrm>
            <a:prstGeom prst="rect">
              <a:avLst/>
            </a:prstGeom>
            <a:grpFill/>
            <a:ln/>
          </p:spPr>
          <p:txBody>
            <a:bodyPr/>
            <a:lstStyle/>
            <a:p>
              <a:endParaRPr lang="en-IN" sz="1100">
                <a:solidFill>
                  <a:schemeClr val="bg1"/>
                </a:solidFill>
                <a:latin typeface="Georgia" panose="02040502050405020303" pitchFamily="18" charset="0"/>
              </a:endParaRPr>
            </a:p>
          </p:txBody>
        </p:sp>
        <p:sp>
          <p:nvSpPr>
            <p:cNvPr id="17" name="Text 43">
              <a:extLst>
                <a:ext uri="{FF2B5EF4-FFF2-40B4-BE49-F238E27FC236}">
                  <a16:creationId xmlns:a16="http://schemas.microsoft.com/office/drawing/2014/main" id="{7C33905E-4ABD-A147-2BCB-986E9A4DC0B7}"/>
                </a:ext>
              </a:extLst>
            </p:cNvPr>
            <p:cNvSpPr/>
            <p:nvPr/>
          </p:nvSpPr>
          <p:spPr>
            <a:xfrm>
              <a:off x="1163171" y="3708850"/>
              <a:ext cx="1115499" cy="391574"/>
            </a:xfrm>
            <a:prstGeom prst="rect">
              <a:avLst/>
            </a:prstGeom>
            <a:grpFill/>
            <a:ln/>
          </p:spPr>
          <p:txBody>
            <a:bodyPr wrap="square" lIns="25400" tIns="25400" rIns="25400" bIns="25400" rtlCol="0" anchor="t">
              <a:normAutofit fontScale="92500" lnSpcReduction="20000"/>
            </a:bodyPr>
            <a:lstStyle/>
            <a:p>
              <a:r>
                <a:rPr lang="en-US" sz="1200" b="1" dirty="0">
                  <a:solidFill>
                    <a:schemeClr val="bg1"/>
                  </a:solidFill>
                  <a:latin typeface="Georgia" panose="02040502050405020303" pitchFamily="18" charset="0"/>
                  <a:ea typeface="Fraunces" pitchFamily="34" charset="-122"/>
                  <a:cs typeface="Fraunces" pitchFamily="34" charset="-120"/>
                </a:rPr>
                <a:t>3,85,995 </a:t>
              </a:r>
              <a:r>
                <a:rPr lang="en-US" sz="1200" dirty="0">
                  <a:solidFill>
                    <a:schemeClr val="bg1"/>
                  </a:solidFill>
                  <a:latin typeface="Georgia" panose="02040502050405020303" pitchFamily="18" charset="0"/>
                  <a:ea typeface="Fraunces" pitchFamily="34" charset="-122"/>
                  <a:cs typeface="Fraunces" pitchFamily="34" charset="-120"/>
                </a:rPr>
                <a:t>MT</a:t>
              </a:r>
              <a:endParaRPr lang="en-US" sz="1200" dirty="0">
                <a:solidFill>
                  <a:schemeClr val="bg1"/>
                </a:solidFill>
                <a:latin typeface="Georgia" panose="02040502050405020303" pitchFamily="18" charset="0"/>
              </a:endParaRPr>
            </a:p>
          </p:txBody>
        </p:sp>
        <p:sp>
          <p:nvSpPr>
            <p:cNvPr id="19" name="Text 42">
              <a:extLst>
                <a:ext uri="{FF2B5EF4-FFF2-40B4-BE49-F238E27FC236}">
                  <a16:creationId xmlns:a16="http://schemas.microsoft.com/office/drawing/2014/main" id="{8E9553E0-C069-E8BE-EB5C-B7D1195496D5}"/>
                </a:ext>
              </a:extLst>
            </p:cNvPr>
            <p:cNvSpPr/>
            <p:nvPr/>
          </p:nvSpPr>
          <p:spPr>
            <a:xfrm>
              <a:off x="706488" y="3276599"/>
              <a:ext cx="2020722" cy="269807"/>
            </a:xfrm>
            <a:prstGeom prst="rect">
              <a:avLst/>
            </a:prstGeom>
            <a:grpFill/>
            <a:ln/>
          </p:spPr>
          <p:txBody>
            <a:bodyPr wrap="square" lIns="25400" tIns="25400" rIns="25400" bIns="25400" rtlCol="0" anchor="t">
              <a:noAutofit/>
            </a:bodyPr>
            <a:lstStyle/>
            <a:p>
              <a:pPr algn="ctr"/>
              <a:r>
                <a:rPr lang="en-US" sz="1100" b="1" dirty="0">
                  <a:solidFill>
                    <a:schemeClr val="bg1"/>
                  </a:solidFill>
                  <a:latin typeface="Georgia" panose="02040502050405020303" pitchFamily="18" charset="0"/>
                </a:rPr>
                <a:t>Crop-specific production</a:t>
              </a:r>
            </a:p>
          </p:txBody>
        </p:sp>
        <p:sp>
          <p:nvSpPr>
            <p:cNvPr id="22" name="Text 45">
              <a:extLst>
                <a:ext uri="{FF2B5EF4-FFF2-40B4-BE49-F238E27FC236}">
                  <a16:creationId xmlns:a16="http://schemas.microsoft.com/office/drawing/2014/main" id="{37E5C1BE-5EF7-A711-5F54-B156DEB09FB6}"/>
                </a:ext>
              </a:extLst>
            </p:cNvPr>
            <p:cNvSpPr/>
            <p:nvPr/>
          </p:nvSpPr>
          <p:spPr>
            <a:xfrm>
              <a:off x="3368581" y="3276601"/>
              <a:ext cx="1325871" cy="352970"/>
            </a:xfrm>
            <a:prstGeom prst="rect">
              <a:avLst/>
            </a:prstGeom>
            <a:grpFill/>
            <a:ln/>
          </p:spPr>
          <p:txBody>
            <a:bodyPr wrap="square" lIns="25400" tIns="25400" rIns="25400" bIns="25400" rtlCol="0" anchor="t">
              <a:noAutofit/>
            </a:bodyPr>
            <a:lstStyle/>
            <a:p>
              <a:pPr algn="r"/>
              <a:r>
                <a:rPr lang="en-US" sz="1100" b="1" dirty="0">
                  <a:solidFill>
                    <a:schemeClr val="bg1"/>
                  </a:solidFill>
                  <a:latin typeface="Georgia" panose="02040502050405020303" pitchFamily="18" charset="0"/>
                </a:rPr>
                <a:t>Total production</a:t>
              </a:r>
            </a:p>
          </p:txBody>
        </p:sp>
        <p:sp>
          <p:nvSpPr>
            <p:cNvPr id="25" name="Text 46">
              <a:extLst>
                <a:ext uri="{FF2B5EF4-FFF2-40B4-BE49-F238E27FC236}">
                  <a16:creationId xmlns:a16="http://schemas.microsoft.com/office/drawing/2014/main" id="{46F0B234-0AF5-3319-94E3-E8CEC846981D}"/>
                </a:ext>
              </a:extLst>
            </p:cNvPr>
            <p:cNvSpPr/>
            <p:nvPr/>
          </p:nvSpPr>
          <p:spPr>
            <a:xfrm>
              <a:off x="3305816" y="3656944"/>
              <a:ext cx="1306821" cy="362564"/>
            </a:xfrm>
            <a:prstGeom prst="rect">
              <a:avLst/>
            </a:prstGeom>
            <a:grpFill/>
            <a:ln/>
          </p:spPr>
          <p:txBody>
            <a:bodyPr wrap="square" lIns="25400" tIns="25400" rIns="25400" bIns="25400" rtlCol="0" anchor="t">
              <a:noAutofit/>
            </a:bodyPr>
            <a:lstStyle/>
            <a:p>
              <a:pPr algn="r"/>
              <a:r>
                <a:rPr lang="en-US" sz="1100" b="1" dirty="0">
                  <a:solidFill>
                    <a:schemeClr val="bg1"/>
                  </a:solidFill>
                  <a:latin typeface="Georgia" panose="02040502050405020303" pitchFamily="18" charset="0"/>
                  <a:ea typeface="Fraunces" pitchFamily="34" charset="-122"/>
                  <a:cs typeface="Fraunces" pitchFamily="34" charset="-120"/>
                </a:rPr>
                <a:t>5,69,568 </a:t>
              </a:r>
              <a:r>
                <a:rPr lang="en-US" sz="1100" dirty="0">
                  <a:solidFill>
                    <a:schemeClr val="bg1"/>
                  </a:solidFill>
                  <a:latin typeface="Georgia" panose="02040502050405020303" pitchFamily="18" charset="0"/>
                  <a:ea typeface="Fraunces" pitchFamily="34" charset="-122"/>
                  <a:cs typeface="Fraunces" pitchFamily="34" charset="-120"/>
                </a:rPr>
                <a:t>MT</a:t>
              </a:r>
              <a:endParaRPr lang="en-US" sz="1100" dirty="0">
                <a:solidFill>
                  <a:schemeClr val="bg1"/>
                </a:solidFill>
                <a:latin typeface="Georgia" panose="02040502050405020303" pitchFamily="18" charset="0"/>
              </a:endParaRPr>
            </a:p>
          </p:txBody>
        </p:sp>
      </p:grpSp>
      <p:sp>
        <p:nvSpPr>
          <p:cNvPr id="442" name="Rectangle 441">
            <a:extLst>
              <a:ext uri="{FF2B5EF4-FFF2-40B4-BE49-F238E27FC236}">
                <a16:creationId xmlns:a16="http://schemas.microsoft.com/office/drawing/2014/main" id="{A99C7567-A0D5-0854-0D43-82E993C6FF5B}"/>
              </a:ext>
            </a:extLst>
          </p:cNvPr>
          <p:cNvSpPr/>
          <p:nvPr/>
        </p:nvSpPr>
        <p:spPr>
          <a:xfrm>
            <a:off x="670084" y="1178592"/>
            <a:ext cx="4626379" cy="2174208"/>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Georgia" panose="02040502050405020303" pitchFamily="18" charset="0"/>
            </a:endParaRPr>
          </a:p>
        </p:txBody>
      </p:sp>
      <p:sp>
        <p:nvSpPr>
          <p:cNvPr id="444" name="Text 64">
            <a:extLst>
              <a:ext uri="{FF2B5EF4-FFF2-40B4-BE49-F238E27FC236}">
                <a16:creationId xmlns:a16="http://schemas.microsoft.com/office/drawing/2014/main" id="{B06F8D80-4676-79F9-8B7B-66DC32AC7299}"/>
              </a:ext>
            </a:extLst>
          </p:cNvPr>
          <p:cNvSpPr/>
          <p:nvPr/>
        </p:nvSpPr>
        <p:spPr>
          <a:xfrm>
            <a:off x="7060489" y="1699611"/>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16 FPOs</a:t>
            </a:r>
          </a:p>
          <a:p>
            <a:r>
              <a:rPr lang="en-US" sz="900" b="1" dirty="0">
                <a:solidFill>
                  <a:srgbClr val="14342B"/>
                </a:solidFill>
                <a:latin typeface="Georgia" panose="02040502050405020303" pitchFamily="18" charset="0"/>
                <a:ea typeface="Inter" pitchFamily="34" charset="-122"/>
              </a:rPr>
              <a:t>WDD FPOs</a:t>
            </a:r>
          </a:p>
          <a:p>
            <a:r>
              <a:rPr lang="en-US" sz="600" b="1" dirty="0">
                <a:solidFill>
                  <a:srgbClr val="14342B"/>
                </a:solidFill>
                <a:latin typeface="Georgia" panose="02040502050405020303" pitchFamily="18" charset="0"/>
                <a:ea typeface="Inter" pitchFamily="34" charset="-122"/>
              </a:rPr>
              <a:t>₹ 19</a:t>
            </a:r>
            <a:r>
              <a:rPr lang="en-US" sz="600" b="1" dirty="0">
                <a:latin typeface="Georgia" panose="02040502050405020303" pitchFamily="18" charset="0"/>
                <a:ea typeface="Inter" pitchFamily="34" charset="-122"/>
              </a:rPr>
              <a:t> Cr total transactions in FY 23-24</a:t>
            </a:r>
          </a:p>
          <a:p>
            <a:r>
              <a:rPr lang="en-US" sz="700" b="1" i="1" dirty="0">
                <a:solidFill>
                  <a:srgbClr val="14342B"/>
                </a:solidFill>
                <a:latin typeface="Georgia" panose="02040502050405020303" pitchFamily="18" charset="0"/>
                <a:ea typeface="Inter" pitchFamily="34" charset="-122"/>
              </a:rPr>
              <a:t>Key crops: Banana, Pineapple, Tomato</a:t>
            </a:r>
          </a:p>
        </p:txBody>
      </p:sp>
      <p:sp>
        <p:nvSpPr>
          <p:cNvPr id="445" name="Text 64">
            <a:extLst>
              <a:ext uri="{FF2B5EF4-FFF2-40B4-BE49-F238E27FC236}">
                <a16:creationId xmlns:a16="http://schemas.microsoft.com/office/drawing/2014/main" id="{972C37C9-6B82-A269-40D5-F69B5F507B30}"/>
              </a:ext>
            </a:extLst>
          </p:cNvPr>
          <p:cNvSpPr/>
          <p:nvPr/>
        </p:nvSpPr>
        <p:spPr>
          <a:xfrm>
            <a:off x="8706151" y="1679671"/>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1073 MT/yr capacity</a:t>
            </a:r>
          </a:p>
          <a:p>
            <a:r>
              <a:rPr lang="en-US" sz="900" b="1" dirty="0">
                <a:solidFill>
                  <a:srgbClr val="14342B"/>
                </a:solidFill>
                <a:latin typeface="Georgia" panose="02040502050405020303" pitchFamily="18" charset="0"/>
                <a:ea typeface="Inter" pitchFamily="34" charset="-122"/>
              </a:rPr>
              <a:t>Processing infrastructure</a:t>
            </a:r>
          </a:p>
          <a:p>
            <a:r>
              <a:rPr lang="en-US" sz="700" b="1" i="1" dirty="0">
                <a:solidFill>
                  <a:srgbClr val="14342B"/>
                </a:solidFill>
                <a:latin typeface="Georgia" panose="02040502050405020303" pitchFamily="18" charset="0"/>
                <a:ea typeface="Inter" pitchFamily="34" charset="-122"/>
              </a:rPr>
              <a:t>Key crops: Pineapple, Banana, Mango</a:t>
            </a:r>
          </a:p>
        </p:txBody>
      </p:sp>
      <p:sp>
        <p:nvSpPr>
          <p:cNvPr id="449" name="Text 64">
            <a:extLst>
              <a:ext uri="{FF2B5EF4-FFF2-40B4-BE49-F238E27FC236}">
                <a16:creationId xmlns:a16="http://schemas.microsoft.com/office/drawing/2014/main" id="{96E43A50-65A5-CB6A-659C-7F721D8447A9}"/>
              </a:ext>
            </a:extLst>
          </p:cNvPr>
          <p:cNvSpPr/>
          <p:nvPr/>
        </p:nvSpPr>
        <p:spPr>
          <a:xfrm>
            <a:off x="10385149" y="1677962"/>
            <a:ext cx="1730651"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144 MT</a:t>
            </a:r>
          </a:p>
          <a:p>
            <a:r>
              <a:rPr lang="en-US" sz="900" b="1" dirty="0">
                <a:solidFill>
                  <a:srgbClr val="14342B"/>
                </a:solidFill>
                <a:latin typeface="Georgia" panose="02040502050405020303" pitchFamily="18" charset="0"/>
                <a:ea typeface="Inter" pitchFamily="34" charset="-122"/>
              </a:rPr>
              <a:t>Horticulture Department FPOs</a:t>
            </a:r>
          </a:p>
          <a:p>
            <a:r>
              <a:rPr lang="en-US" sz="600" b="1" dirty="0">
                <a:latin typeface="Georgia" panose="02040502050405020303" pitchFamily="18" charset="0"/>
                <a:ea typeface="Inter" pitchFamily="34" charset="-122"/>
              </a:rPr>
              <a:t>₹ 3.74 crores transactions in FY 23-24</a:t>
            </a:r>
            <a:endParaRPr lang="en-US" sz="600" b="1" dirty="0">
              <a:solidFill>
                <a:srgbClr val="14342B"/>
              </a:solidFill>
              <a:latin typeface="Georgia" panose="02040502050405020303" pitchFamily="18" charset="0"/>
              <a:ea typeface="Inter" pitchFamily="34" charset="-122"/>
            </a:endParaRPr>
          </a:p>
          <a:p>
            <a:r>
              <a:rPr lang="en-US" sz="700" b="1" i="1" dirty="0">
                <a:solidFill>
                  <a:srgbClr val="14342B"/>
                </a:solidFill>
                <a:latin typeface="Georgia" panose="02040502050405020303" pitchFamily="18" charset="0"/>
                <a:ea typeface="Inter" pitchFamily="34" charset="-122"/>
              </a:rPr>
              <a:t>Key crops: Pomegranate, Pineapple</a:t>
            </a:r>
          </a:p>
          <a:p>
            <a:endParaRPr lang="en-US" sz="900" b="1" dirty="0">
              <a:solidFill>
                <a:srgbClr val="14342B"/>
              </a:solidFill>
              <a:latin typeface="Georgia" panose="02040502050405020303" pitchFamily="18" charset="0"/>
              <a:ea typeface="Inter" pitchFamily="34" charset="-122"/>
            </a:endParaRPr>
          </a:p>
        </p:txBody>
      </p:sp>
      <p:grpSp>
        <p:nvGrpSpPr>
          <p:cNvPr id="464" name="Group 463">
            <a:extLst>
              <a:ext uri="{FF2B5EF4-FFF2-40B4-BE49-F238E27FC236}">
                <a16:creationId xmlns:a16="http://schemas.microsoft.com/office/drawing/2014/main" id="{0ECFBF13-2634-3E23-AC3E-9A1A5A71140B}"/>
              </a:ext>
            </a:extLst>
          </p:cNvPr>
          <p:cNvGrpSpPr/>
          <p:nvPr/>
        </p:nvGrpSpPr>
        <p:grpSpPr>
          <a:xfrm>
            <a:off x="5410226" y="4177242"/>
            <a:ext cx="1514597" cy="1276151"/>
            <a:chOff x="10002347" y="7336157"/>
            <a:chExt cx="3644503" cy="3480966"/>
          </a:xfrm>
        </p:grpSpPr>
        <p:sp>
          <p:nvSpPr>
            <p:cNvPr id="470" name="Shape 61">
              <a:extLst>
                <a:ext uri="{FF2B5EF4-FFF2-40B4-BE49-F238E27FC236}">
                  <a16:creationId xmlns:a16="http://schemas.microsoft.com/office/drawing/2014/main" id="{6BE6D58A-4E79-2326-E133-8CC51F3E81E5}"/>
                </a:ext>
              </a:extLst>
            </p:cNvPr>
            <p:cNvSpPr/>
            <p:nvPr/>
          </p:nvSpPr>
          <p:spPr>
            <a:xfrm>
              <a:off x="10002347" y="8622563"/>
              <a:ext cx="3644503" cy="2194560"/>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71" name="Text 63">
              <a:extLst>
                <a:ext uri="{FF2B5EF4-FFF2-40B4-BE49-F238E27FC236}">
                  <a16:creationId xmlns:a16="http://schemas.microsoft.com/office/drawing/2014/main" id="{99D52F3A-CF05-96B0-3D35-494E61564E23}"/>
                </a:ext>
              </a:extLst>
            </p:cNvPr>
            <p:cNvSpPr/>
            <p:nvPr/>
          </p:nvSpPr>
          <p:spPr>
            <a:xfrm>
              <a:off x="10482754" y="7336157"/>
              <a:ext cx="1341846" cy="312420"/>
            </a:xfrm>
            <a:prstGeom prst="rect">
              <a:avLst/>
            </a:prstGeom>
            <a:noFill/>
            <a:ln/>
          </p:spPr>
          <p:txBody>
            <a:bodyPr wrap="square" lIns="25400" tIns="25400" rIns="25400" bIns="25400" rtlCol="0" anchor="t">
              <a:normAutofit fontScale="25000" lnSpcReduction="20000"/>
            </a:bodyPr>
            <a:lstStyle/>
            <a:p>
              <a:endParaRPr lang="en-US" dirty="0">
                <a:latin typeface="Georgia" panose="02040502050405020303" pitchFamily="18" charset="0"/>
              </a:endParaRPr>
            </a:p>
          </p:txBody>
        </p:sp>
      </p:grpSp>
      <p:grpSp>
        <p:nvGrpSpPr>
          <p:cNvPr id="465" name="Group 464">
            <a:extLst>
              <a:ext uri="{FF2B5EF4-FFF2-40B4-BE49-F238E27FC236}">
                <a16:creationId xmlns:a16="http://schemas.microsoft.com/office/drawing/2014/main" id="{1C4FC71A-7AF7-71F0-A420-0BC83D86466C}"/>
              </a:ext>
            </a:extLst>
          </p:cNvPr>
          <p:cNvGrpSpPr/>
          <p:nvPr/>
        </p:nvGrpSpPr>
        <p:grpSpPr>
          <a:xfrm>
            <a:off x="5396858" y="3086360"/>
            <a:ext cx="1535720" cy="888611"/>
            <a:chOff x="9970175" y="6791328"/>
            <a:chExt cx="3695328" cy="2423870"/>
          </a:xfrm>
        </p:grpSpPr>
        <p:sp>
          <p:nvSpPr>
            <p:cNvPr id="468" name="Shape 61">
              <a:extLst>
                <a:ext uri="{FF2B5EF4-FFF2-40B4-BE49-F238E27FC236}">
                  <a16:creationId xmlns:a16="http://schemas.microsoft.com/office/drawing/2014/main" id="{811370AC-D213-8238-D9B7-8F503DBDB48D}"/>
                </a:ext>
              </a:extLst>
            </p:cNvPr>
            <p:cNvSpPr/>
            <p:nvPr/>
          </p:nvSpPr>
          <p:spPr>
            <a:xfrm>
              <a:off x="9970175" y="6791328"/>
              <a:ext cx="3644503"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9" name="Text 64">
              <a:extLst>
                <a:ext uri="{FF2B5EF4-FFF2-40B4-BE49-F238E27FC236}">
                  <a16:creationId xmlns:a16="http://schemas.microsoft.com/office/drawing/2014/main" id="{F7304D59-53CA-E92C-EE67-6C8929086284}"/>
                </a:ext>
              </a:extLst>
            </p:cNvPr>
            <p:cNvSpPr/>
            <p:nvPr/>
          </p:nvSpPr>
          <p:spPr>
            <a:xfrm>
              <a:off x="10025634" y="6852622"/>
              <a:ext cx="3639869" cy="2362576"/>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12,230 MT capacity</a:t>
              </a:r>
            </a:p>
            <a:p>
              <a:r>
                <a:rPr lang="en-US" sz="900" b="1" dirty="0">
                  <a:solidFill>
                    <a:srgbClr val="14342B"/>
                  </a:solidFill>
                  <a:latin typeface="Georgia" panose="02040502050405020303" pitchFamily="18" charset="0"/>
                  <a:ea typeface="Inter" pitchFamily="34" charset="-122"/>
                </a:rPr>
                <a:t>Cold storage units</a:t>
              </a:r>
            </a:p>
            <a:p>
              <a:r>
                <a:rPr lang="en-US" sz="700" b="1" i="1" dirty="0">
                  <a:solidFill>
                    <a:srgbClr val="14342B"/>
                  </a:solidFill>
                  <a:latin typeface="Georgia" panose="02040502050405020303" pitchFamily="18" charset="0"/>
                  <a:ea typeface="Inter" pitchFamily="34" charset="-122"/>
                </a:rPr>
                <a:t>Key crops: Banana, Jackfruit, Mango, Pineapple</a:t>
              </a:r>
            </a:p>
            <a:p>
              <a:r>
                <a:rPr lang="en-US" sz="600" dirty="0">
                  <a:solidFill>
                    <a:srgbClr val="14342B"/>
                  </a:solidFill>
                  <a:latin typeface="Georgia" panose="02040502050405020303" pitchFamily="18" charset="0"/>
                  <a:ea typeface="Inter" pitchFamily="34" charset="-122"/>
                </a:rPr>
                <a:t>Upcoming units: Shivamogga -4000 MT</a:t>
              </a:r>
            </a:p>
          </p:txBody>
        </p:sp>
      </p:grpSp>
      <p:sp>
        <p:nvSpPr>
          <p:cNvPr id="466" name="Shape 61">
            <a:extLst>
              <a:ext uri="{FF2B5EF4-FFF2-40B4-BE49-F238E27FC236}">
                <a16:creationId xmlns:a16="http://schemas.microsoft.com/office/drawing/2014/main" id="{820CFC55-CAD4-2054-FDF5-CF89F6B85CB9}"/>
              </a:ext>
            </a:extLst>
          </p:cNvPr>
          <p:cNvSpPr/>
          <p:nvPr/>
        </p:nvSpPr>
        <p:spPr>
          <a:xfrm>
            <a:off x="7053364" y="3086359"/>
            <a:ext cx="1514597"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67" name="Shape 61">
            <a:extLst>
              <a:ext uri="{FF2B5EF4-FFF2-40B4-BE49-F238E27FC236}">
                <a16:creationId xmlns:a16="http://schemas.microsoft.com/office/drawing/2014/main" id="{1DF7BA8D-124B-B68A-4F21-A94F89BED410}"/>
              </a:ext>
            </a:extLst>
          </p:cNvPr>
          <p:cNvSpPr/>
          <p:nvPr/>
        </p:nvSpPr>
        <p:spPr>
          <a:xfrm>
            <a:off x="7053457" y="4647678"/>
            <a:ext cx="1514597" cy="804543"/>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58" name="Shape 61">
            <a:extLst>
              <a:ext uri="{FF2B5EF4-FFF2-40B4-BE49-F238E27FC236}">
                <a16:creationId xmlns:a16="http://schemas.microsoft.com/office/drawing/2014/main" id="{C67F0D11-DE39-CB81-8428-4BCA5F84C748}"/>
              </a:ext>
            </a:extLst>
          </p:cNvPr>
          <p:cNvSpPr/>
          <p:nvPr/>
        </p:nvSpPr>
        <p:spPr>
          <a:xfrm>
            <a:off x="8760502" y="4647678"/>
            <a:ext cx="1514597"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sp>
        <p:nvSpPr>
          <p:cNvPr id="459" name="Shape 61">
            <a:extLst>
              <a:ext uri="{FF2B5EF4-FFF2-40B4-BE49-F238E27FC236}">
                <a16:creationId xmlns:a16="http://schemas.microsoft.com/office/drawing/2014/main" id="{3C2FE7CC-3887-B14C-FB89-142F55208335}"/>
              </a:ext>
            </a:extLst>
          </p:cNvPr>
          <p:cNvSpPr/>
          <p:nvPr/>
        </p:nvSpPr>
        <p:spPr>
          <a:xfrm>
            <a:off x="8709873" y="3086359"/>
            <a:ext cx="1514597" cy="804544"/>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0" name="Shape 61">
            <a:extLst>
              <a:ext uri="{FF2B5EF4-FFF2-40B4-BE49-F238E27FC236}">
                <a16:creationId xmlns:a16="http://schemas.microsoft.com/office/drawing/2014/main" id="{674DD306-32C2-8BFD-8C49-1105E50A6CA8}"/>
              </a:ext>
            </a:extLst>
          </p:cNvPr>
          <p:cNvSpPr/>
          <p:nvPr/>
        </p:nvSpPr>
        <p:spPr>
          <a:xfrm>
            <a:off x="10366381" y="3086359"/>
            <a:ext cx="1730651" cy="804544"/>
          </a:xfrm>
          <a:prstGeom prst="roundRect">
            <a:avLst>
              <a:gd name="adj" fmla="val 2604"/>
            </a:avLst>
          </a:prstGeom>
          <a:solidFill>
            <a:srgbClr val="FFFFFF"/>
          </a:solidFill>
          <a:ln w="7620">
            <a:solidFill>
              <a:srgbClr val="D9D3C3"/>
            </a:solidFill>
            <a:prstDash val="solid"/>
          </a:ln>
        </p:spPr>
        <p:txBody>
          <a:bodyPr/>
          <a:lstStyle/>
          <a:p>
            <a:endParaRPr lang="en-IN" dirty="0">
              <a:latin typeface="Georgia" panose="02040502050405020303" pitchFamily="18" charset="0"/>
            </a:endParaRPr>
          </a:p>
        </p:txBody>
      </p:sp>
      <p:grpSp>
        <p:nvGrpSpPr>
          <p:cNvPr id="461" name="Group 460">
            <a:extLst>
              <a:ext uri="{FF2B5EF4-FFF2-40B4-BE49-F238E27FC236}">
                <a16:creationId xmlns:a16="http://schemas.microsoft.com/office/drawing/2014/main" id="{7FC9C1A7-7F4B-A3B9-7FEA-F0470DAD1CA9}"/>
              </a:ext>
            </a:extLst>
          </p:cNvPr>
          <p:cNvGrpSpPr/>
          <p:nvPr/>
        </p:nvGrpSpPr>
        <p:grpSpPr>
          <a:xfrm>
            <a:off x="8846776" y="4663672"/>
            <a:ext cx="3047750" cy="804544"/>
            <a:chOff x="6068207" y="8643943"/>
            <a:chExt cx="7333658" cy="2194560"/>
          </a:xfrm>
        </p:grpSpPr>
        <p:sp>
          <p:nvSpPr>
            <p:cNvPr id="462" name="Shape 61">
              <a:extLst>
                <a:ext uri="{FF2B5EF4-FFF2-40B4-BE49-F238E27FC236}">
                  <a16:creationId xmlns:a16="http://schemas.microsoft.com/office/drawing/2014/main" id="{E99D04B6-CF9B-A16B-59B2-5CDE27B88C49}"/>
                </a:ext>
              </a:extLst>
            </p:cNvPr>
            <p:cNvSpPr/>
            <p:nvPr/>
          </p:nvSpPr>
          <p:spPr>
            <a:xfrm>
              <a:off x="9757361" y="8643943"/>
              <a:ext cx="3644504" cy="2194560"/>
            </a:xfrm>
            <a:prstGeom prst="roundRect">
              <a:avLst>
                <a:gd name="adj" fmla="val 2604"/>
              </a:avLst>
            </a:prstGeom>
            <a:solidFill>
              <a:srgbClr val="FFFFFF"/>
            </a:solidFill>
            <a:ln w="7620">
              <a:solidFill>
                <a:srgbClr val="D9D3C3"/>
              </a:solidFill>
              <a:prstDash val="solid"/>
            </a:ln>
          </p:spPr>
          <p:txBody>
            <a:bodyPr/>
            <a:lstStyle/>
            <a:p>
              <a:endParaRPr lang="en-IN">
                <a:latin typeface="Georgia" panose="02040502050405020303" pitchFamily="18" charset="0"/>
              </a:endParaRPr>
            </a:p>
          </p:txBody>
        </p:sp>
        <p:sp>
          <p:nvSpPr>
            <p:cNvPr id="463" name="Text 64">
              <a:extLst>
                <a:ext uri="{FF2B5EF4-FFF2-40B4-BE49-F238E27FC236}">
                  <a16:creationId xmlns:a16="http://schemas.microsoft.com/office/drawing/2014/main" id="{8D2B35E3-C4D0-03CA-72DC-2EED9FF081CD}"/>
                </a:ext>
              </a:extLst>
            </p:cNvPr>
            <p:cNvSpPr/>
            <p:nvPr/>
          </p:nvSpPr>
          <p:spPr>
            <a:xfrm>
              <a:off x="6068207" y="8813647"/>
              <a:ext cx="3370181" cy="312421"/>
            </a:xfrm>
            <a:prstGeom prst="rect">
              <a:avLst/>
            </a:prstGeom>
            <a:noFill/>
            <a:ln/>
          </p:spPr>
          <p:txBody>
            <a:bodyPr wrap="square" lIns="25400" tIns="25400" rIns="25400" bIns="25400" rtlCol="0" anchor="t">
              <a:noAutofit/>
            </a:bodyPr>
            <a:lstStyle/>
            <a:p>
              <a:r>
                <a:rPr lang="en-US" sz="900" b="1" dirty="0">
                  <a:latin typeface="Georgia" panose="02040502050405020303" pitchFamily="18" charset="0"/>
                </a:rPr>
                <a:t>Agricultural training centers</a:t>
              </a:r>
            </a:p>
            <a:p>
              <a:endParaRPr lang="en-US" sz="900" b="1" dirty="0">
                <a:latin typeface="Georgia" panose="02040502050405020303" pitchFamily="18" charset="0"/>
              </a:endParaRPr>
            </a:p>
            <a:p>
              <a:r>
                <a:rPr lang="en-US" sz="700" dirty="0">
                  <a:solidFill>
                    <a:srgbClr val="14342B"/>
                  </a:solidFill>
                  <a:latin typeface="Georgia" panose="02040502050405020303" pitchFamily="18" charset="0"/>
                  <a:ea typeface="Fraunces" pitchFamily="34" charset="-122"/>
                </a:rPr>
                <a:t>Shivamogga, </a:t>
              </a:r>
              <a:r>
                <a:rPr lang="en-US" sz="700" dirty="0" err="1">
                  <a:solidFill>
                    <a:srgbClr val="14342B"/>
                  </a:solidFill>
                  <a:latin typeface="Georgia" panose="02040502050405020303" pitchFamily="18" charset="0"/>
                  <a:ea typeface="Fraunces" pitchFamily="34" charset="-122"/>
                </a:rPr>
                <a:t>Chikkamagaluru</a:t>
              </a:r>
              <a:r>
                <a:rPr lang="en-US" sz="700" dirty="0">
                  <a:solidFill>
                    <a:srgbClr val="14342B"/>
                  </a:solidFill>
                  <a:latin typeface="Georgia" panose="02040502050405020303" pitchFamily="18" charset="0"/>
                  <a:ea typeface="Fraunces" pitchFamily="34" charset="-122"/>
                </a:rPr>
                <a:t>, Dakshina Kannda, Kodagu</a:t>
              </a:r>
            </a:p>
            <a:p>
              <a:endParaRPr lang="en-US" sz="900" b="1" dirty="0">
                <a:latin typeface="Georgia" panose="02040502050405020303" pitchFamily="18" charset="0"/>
              </a:endParaRPr>
            </a:p>
          </p:txBody>
        </p:sp>
      </p:grpSp>
      <p:sp>
        <p:nvSpPr>
          <p:cNvPr id="455" name="Shape 41">
            <a:extLst>
              <a:ext uri="{FF2B5EF4-FFF2-40B4-BE49-F238E27FC236}">
                <a16:creationId xmlns:a16="http://schemas.microsoft.com/office/drawing/2014/main" id="{776517D2-900C-FD39-9380-9F95610B2F41}"/>
              </a:ext>
            </a:extLst>
          </p:cNvPr>
          <p:cNvSpPr/>
          <p:nvPr/>
        </p:nvSpPr>
        <p:spPr>
          <a:xfrm>
            <a:off x="5396856" y="2586448"/>
            <a:ext cx="4478287" cy="407388"/>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452" name="Text 42">
            <a:extLst>
              <a:ext uri="{FF2B5EF4-FFF2-40B4-BE49-F238E27FC236}">
                <a16:creationId xmlns:a16="http://schemas.microsoft.com/office/drawing/2014/main" id="{5511AFD7-D723-8045-51A8-BCE41EB0A13E}"/>
              </a:ext>
            </a:extLst>
          </p:cNvPr>
          <p:cNvSpPr/>
          <p:nvPr/>
        </p:nvSpPr>
        <p:spPr>
          <a:xfrm>
            <a:off x="5520689" y="2663492"/>
            <a:ext cx="3769226" cy="233672"/>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Ecosystem for all fruits and vegetables</a:t>
            </a:r>
          </a:p>
        </p:txBody>
      </p:sp>
      <p:sp>
        <p:nvSpPr>
          <p:cNvPr id="453" name="Text 65">
            <a:extLst>
              <a:ext uri="{FF2B5EF4-FFF2-40B4-BE49-F238E27FC236}">
                <a16:creationId xmlns:a16="http://schemas.microsoft.com/office/drawing/2014/main" id="{47C79263-8481-31C6-08C4-04AA62FC76C6}"/>
              </a:ext>
            </a:extLst>
          </p:cNvPr>
          <p:cNvSpPr/>
          <p:nvPr/>
        </p:nvSpPr>
        <p:spPr>
          <a:xfrm>
            <a:off x="5520689" y="3654421"/>
            <a:ext cx="1447800" cy="77197"/>
          </a:xfrm>
          <a:prstGeom prst="rect">
            <a:avLst/>
          </a:prstGeom>
          <a:noFill/>
          <a:ln/>
        </p:spPr>
        <p:txBody>
          <a:bodyPr wrap="square" lIns="25400" tIns="25400" rIns="25400" bIns="25400" rtlCol="0" anchor="t">
            <a:noAutofit/>
          </a:bodyPr>
          <a:lstStyle/>
          <a:p>
            <a:endParaRPr lang="en-US" sz="700" dirty="0">
              <a:solidFill>
                <a:srgbClr val="0B6E78"/>
              </a:solidFill>
              <a:latin typeface="Georgia" panose="02040502050405020303" pitchFamily="18" charset="0"/>
              <a:ea typeface="JetBrains Mono" pitchFamily="34" charset="-122"/>
              <a:cs typeface="JetBrains Mono" pitchFamily="34" charset="-120"/>
            </a:endParaRPr>
          </a:p>
        </p:txBody>
      </p:sp>
      <p:sp>
        <p:nvSpPr>
          <p:cNvPr id="472" name="Text 64">
            <a:extLst>
              <a:ext uri="{FF2B5EF4-FFF2-40B4-BE49-F238E27FC236}">
                <a16:creationId xmlns:a16="http://schemas.microsoft.com/office/drawing/2014/main" id="{4546B175-88F1-C653-90BB-D64F7FCBB79E}"/>
              </a:ext>
            </a:extLst>
          </p:cNvPr>
          <p:cNvSpPr/>
          <p:nvPr/>
        </p:nvSpPr>
        <p:spPr>
          <a:xfrm>
            <a:off x="7095613" y="3136640"/>
            <a:ext cx="1495246" cy="846293"/>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25 FPOs</a:t>
            </a:r>
          </a:p>
          <a:p>
            <a:r>
              <a:rPr lang="en-US" sz="900" b="1" dirty="0">
                <a:solidFill>
                  <a:srgbClr val="14342B"/>
                </a:solidFill>
                <a:latin typeface="Georgia" panose="02040502050405020303" pitchFamily="18" charset="0"/>
                <a:ea typeface="Inter" pitchFamily="34" charset="-122"/>
              </a:rPr>
              <a:t>WDD FPOs</a:t>
            </a:r>
          </a:p>
          <a:p>
            <a:r>
              <a:rPr lang="en-US" sz="600" b="1" dirty="0">
                <a:solidFill>
                  <a:srgbClr val="14342B"/>
                </a:solidFill>
                <a:latin typeface="Georgia" panose="02040502050405020303" pitchFamily="18" charset="0"/>
                <a:ea typeface="Inter" pitchFamily="34" charset="-122"/>
              </a:rPr>
              <a:t>₹ 22 </a:t>
            </a:r>
            <a:r>
              <a:rPr lang="en-US" sz="600" b="1" dirty="0">
                <a:latin typeface="Georgia" panose="02040502050405020303" pitchFamily="18" charset="0"/>
                <a:ea typeface="Inter" pitchFamily="34" charset="-122"/>
              </a:rPr>
              <a:t>Cr total transactions in FY 23-24</a:t>
            </a:r>
          </a:p>
          <a:p>
            <a:r>
              <a:rPr lang="en-US" sz="700" b="1" i="1" dirty="0">
                <a:solidFill>
                  <a:srgbClr val="14342B"/>
                </a:solidFill>
                <a:latin typeface="Georgia" panose="02040502050405020303" pitchFamily="18" charset="0"/>
                <a:ea typeface="Inter" pitchFamily="34" charset="-122"/>
              </a:rPr>
              <a:t>Key crops: Banana, Pineapple, Tomato, Vegetables</a:t>
            </a:r>
          </a:p>
          <a:p>
            <a:endParaRPr lang="en-US" sz="700" b="1" i="1" dirty="0">
              <a:solidFill>
                <a:srgbClr val="14342B"/>
              </a:solidFill>
              <a:latin typeface="Georgia" panose="02040502050405020303" pitchFamily="18" charset="0"/>
              <a:ea typeface="Inter" pitchFamily="34" charset="-122"/>
            </a:endParaRPr>
          </a:p>
        </p:txBody>
      </p:sp>
      <p:sp>
        <p:nvSpPr>
          <p:cNvPr id="473" name="Text 64">
            <a:extLst>
              <a:ext uri="{FF2B5EF4-FFF2-40B4-BE49-F238E27FC236}">
                <a16:creationId xmlns:a16="http://schemas.microsoft.com/office/drawing/2014/main" id="{EDF1C828-18E1-4279-07B5-620ECA053AA5}"/>
              </a:ext>
            </a:extLst>
          </p:cNvPr>
          <p:cNvSpPr/>
          <p:nvPr/>
        </p:nvSpPr>
        <p:spPr>
          <a:xfrm>
            <a:off x="8752121" y="3099678"/>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1200  MT/yr capacity</a:t>
            </a:r>
          </a:p>
          <a:p>
            <a:r>
              <a:rPr lang="en-US" sz="900" b="1" dirty="0">
                <a:solidFill>
                  <a:srgbClr val="14342B"/>
                </a:solidFill>
                <a:latin typeface="Georgia" panose="02040502050405020303" pitchFamily="18" charset="0"/>
                <a:ea typeface="Inter" pitchFamily="34" charset="-122"/>
              </a:rPr>
              <a:t>Processing infrastructure</a:t>
            </a:r>
          </a:p>
          <a:p>
            <a:r>
              <a:rPr lang="en-US" sz="700" b="1" i="1" dirty="0">
                <a:solidFill>
                  <a:srgbClr val="14342B"/>
                </a:solidFill>
                <a:latin typeface="Georgia" panose="02040502050405020303" pitchFamily="18" charset="0"/>
                <a:ea typeface="Inter" pitchFamily="34" charset="-122"/>
              </a:rPr>
              <a:t>Key crops: Banana, Jackfruit, Mango, Pineapple</a:t>
            </a:r>
          </a:p>
        </p:txBody>
      </p:sp>
      <p:sp>
        <p:nvSpPr>
          <p:cNvPr id="474" name="Text 64">
            <a:extLst>
              <a:ext uri="{FF2B5EF4-FFF2-40B4-BE49-F238E27FC236}">
                <a16:creationId xmlns:a16="http://schemas.microsoft.com/office/drawing/2014/main" id="{4117FC24-815D-FC67-A986-F0CD7C437B5C}"/>
              </a:ext>
            </a:extLst>
          </p:cNvPr>
          <p:cNvSpPr/>
          <p:nvPr/>
        </p:nvSpPr>
        <p:spPr>
          <a:xfrm>
            <a:off x="10411087" y="3048000"/>
            <a:ext cx="1730651"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227 MT</a:t>
            </a:r>
          </a:p>
          <a:p>
            <a:r>
              <a:rPr lang="en-US" sz="900" b="1" dirty="0">
                <a:solidFill>
                  <a:srgbClr val="14342B"/>
                </a:solidFill>
                <a:latin typeface="Georgia" panose="02040502050405020303" pitchFamily="18" charset="0"/>
                <a:ea typeface="Inter" pitchFamily="34" charset="-122"/>
              </a:rPr>
              <a:t>Horticulture Department FPOs</a:t>
            </a:r>
          </a:p>
          <a:p>
            <a:r>
              <a:rPr lang="en-US" sz="600" b="1" dirty="0">
                <a:solidFill>
                  <a:srgbClr val="14342B"/>
                </a:solidFill>
                <a:latin typeface="Georgia" panose="02040502050405020303" pitchFamily="18" charset="0"/>
                <a:ea typeface="Inter" pitchFamily="34" charset="-122"/>
              </a:rPr>
              <a:t>₹6.07 crores transactions in FY 23-24</a:t>
            </a:r>
          </a:p>
          <a:p>
            <a:r>
              <a:rPr lang="en-US" sz="700" b="1" i="1" dirty="0">
                <a:solidFill>
                  <a:srgbClr val="14342B"/>
                </a:solidFill>
                <a:latin typeface="Georgia" panose="02040502050405020303" pitchFamily="18" charset="0"/>
                <a:ea typeface="Inter" pitchFamily="34" charset="-122"/>
              </a:rPr>
              <a:t>Key crops: Pineapple, Rose onion, Pomegranate, Jackfruit</a:t>
            </a:r>
            <a:endParaRPr lang="en-US" sz="900" b="1" dirty="0">
              <a:solidFill>
                <a:srgbClr val="14342B"/>
              </a:solidFill>
              <a:latin typeface="Georgia" panose="02040502050405020303" pitchFamily="18" charset="0"/>
              <a:ea typeface="Inter" pitchFamily="34" charset="-122"/>
            </a:endParaRPr>
          </a:p>
        </p:txBody>
      </p:sp>
      <p:sp>
        <p:nvSpPr>
          <p:cNvPr id="475" name="Text 64">
            <a:extLst>
              <a:ext uri="{FF2B5EF4-FFF2-40B4-BE49-F238E27FC236}">
                <a16:creationId xmlns:a16="http://schemas.microsoft.com/office/drawing/2014/main" id="{13872E88-2D3C-D5BE-CD77-F3E7ADC7BD1C}"/>
              </a:ext>
            </a:extLst>
          </p:cNvPr>
          <p:cNvSpPr/>
          <p:nvPr/>
        </p:nvSpPr>
        <p:spPr>
          <a:xfrm>
            <a:off x="5451075" y="4731209"/>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7 centers</a:t>
            </a:r>
          </a:p>
          <a:p>
            <a:r>
              <a:rPr lang="en-US" sz="900" b="1" dirty="0">
                <a:solidFill>
                  <a:srgbClr val="14342B"/>
                </a:solidFill>
                <a:latin typeface="Georgia" panose="02040502050405020303" pitchFamily="18" charset="0"/>
                <a:ea typeface="Inter" pitchFamily="34" charset="-122"/>
              </a:rPr>
              <a:t>Seed production centers</a:t>
            </a:r>
          </a:p>
          <a:p>
            <a:r>
              <a:rPr lang="en-US" sz="600" b="1" dirty="0">
                <a:latin typeface="Georgia" panose="02040502050405020303" pitchFamily="18" charset="0"/>
                <a:ea typeface="Inter" pitchFamily="34" charset="-122"/>
              </a:rPr>
              <a:t>86 ha total</a:t>
            </a:r>
          </a:p>
        </p:txBody>
      </p:sp>
      <p:sp>
        <p:nvSpPr>
          <p:cNvPr id="476" name="Text 64">
            <a:extLst>
              <a:ext uri="{FF2B5EF4-FFF2-40B4-BE49-F238E27FC236}">
                <a16:creationId xmlns:a16="http://schemas.microsoft.com/office/drawing/2014/main" id="{8F7E4343-C0EE-1DCE-4C0B-B865696F5610}"/>
              </a:ext>
            </a:extLst>
          </p:cNvPr>
          <p:cNvSpPr/>
          <p:nvPr/>
        </p:nvSpPr>
        <p:spPr>
          <a:xfrm>
            <a:off x="7104635" y="4723714"/>
            <a:ext cx="1495246"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56 farms</a:t>
            </a:r>
          </a:p>
          <a:p>
            <a:r>
              <a:rPr lang="en-US" sz="900" b="1" dirty="0">
                <a:solidFill>
                  <a:srgbClr val="14342B"/>
                </a:solidFill>
                <a:latin typeface="Georgia" panose="02040502050405020303" pitchFamily="18" charset="0"/>
                <a:ea typeface="Inter" pitchFamily="34" charset="-122"/>
              </a:rPr>
              <a:t>Horticulture farms &amp; nurseries</a:t>
            </a:r>
          </a:p>
          <a:p>
            <a:r>
              <a:rPr lang="en-US" sz="600" b="1" dirty="0">
                <a:latin typeface="Georgia" panose="02040502050405020303" pitchFamily="18" charset="0"/>
                <a:ea typeface="Inter" pitchFamily="34" charset="-122"/>
              </a:rPr>
              <a:t>1732 acres</a:t>
            </a:r>
          </a:p>
        </p:txBody>
      </p:sp>
      <p:sp>
        <p:nvSpPr>
          <p:cNvPr id="477" name="Text 64">
            <a:extLst>
              <a:ext uri="{FF2B5EF4-FFF2-40B4-BE49-F238E27FC236}">
                <a16:creationId xmlns:a16="http://schemas.microsoft.com/office/drawing/2014/main" id="{9B62C494-876F-513A-4700-A09B1E21E50C}"/>
              </a:ext>
            </a:extLst>
          </p:cNvPr>
          <p:cNvSpPr/>
          <p:nvPr/>
        </p:nvSpPr>
        <p:spPr>
          <a:xfrm>
            <a:off x="10450220" y="4702920"/>
            <a:ext cx="724087" cy="631940"/>
          </a:xfrm>
          <a:prstGeom prst="rect">
            <a:avLst/>
          </a:prstGeom>
          <a:noFill/>
          <a:ln/>
        </p:spPr>
        <p:txBody>
          <a:bodyPr wrap="square" lIns="25400" tIns="25400" rIns="25400" bIns="25400" rtlCol="0" anchor="t">
            <a:noAutofit/>
          </a:bodyPr>
          <a:lstStyle/>
          <a:p>
            <a:r>
              <a:rPr lang="en-US" sz="1000" b="1" dirty="0">
                <a:solidFill>
                  <a:srgbClr val="0B6E78"/>
                </a:solidFill>
                <a:latin typeface="Georgia" panose="02040502050405020303" pitchFamily="18" charset="0"/>
                <a:ea typeface="Inter" pitchFamily="34" charset="-122"/>
              </a:rPr>
              <a:t>29</a:t>
            </a:r>
          </a:p>
          <a:p>
            <a:r>
              <a:rPr lang="en-US" sz="900" b="1" dirty="0">
                <a:solidFill>
                  <a:srgbClr val="14342B"/>
                </a:solidFill>
                <a:latin typeface="Georgia" panose="02040502050405020303" pitchFamily="18" charset="0"/>
                <a:ea typeface="Inter" pitchFamily="34" charset="-122"/>
              </a:rPr>
              <a:t>SHGs</a:t>
            </a:r>
          </a:p>
        </p:txBody>
      </p:sp>
      <p:grpSp>
        <p:nvGrpSpPr>
          <p:cNvPr id="10" name="Group 9">
            <a:extLst>
              <a:ext uri="{FF2B5EF4-FFF2-40B4-BE49-F238E27FC236}">
                <a16:creationId xmlns:a16="http://schemas.microsoft.com/office/drawing/2014/main" id="{027898C0-D8D6-3DB7-4C82-DD1EF315E540}"/>
              </a:ext>
            </a:extLst>
          </p:cNvPr>
          <p:cNvGrpSpPr/>
          <p:nvPr/>
        </p:nvGrpSpPr>
        <p:grpSpPr>
          <a:xfrm>
            <a:off x="607208" y="5562600"/>
            <a:ext cx="11229576" cy="630942"/>
            <a:chOff x="607208" y="5699680"/>
            <a:chExt cx="11229576" cy="630942"/>
          </a:xfrm>
        </p:grpSpPr>
        <p:sp>
          <p:nvSpPr>
            <p:cNvPr id="16" name="TextBox 15">
              <a:extLst>
                <a:ext uri="{FF2B5EF4-FFF2-40B4-BE49-F238E27FC236}">
                  <a16:creationId xmlns:a16="http://schemas.microsoft.com/office/drawing/2014/main" id="{F3E305A3-44C4-E3FE-E566-3C13CF8DB29E}"/>
                </a:ext>
              </a:extLst>
            </p:cNvPr>
            <p:cNvSpPr txBox="1"/>
            <p:nvPr/>
          </p:nvSpPr>
          <p:spPr>
            <a:xfrm>
              <a:off x="607208" y="5699680"/>
              <a:ext cx="6269957" cy="630942"/>
            </a:xfrm>
            <a:prstGeom prst="rect">
              <a:avLst/>
            </a:prstGeom>
            <a:noFill/>
          </p:spPr>
          <p:txBody>
            <a:bodyPr wrap="square" rtlCol="0">
              <a:spAutoFit/>
            </a:bodyPr>
            <a:lstStyle/>
            <a:p>
              <a:r>
                <a:rPr lang="en-US" sz="800" i="1" dirty="0">
                  <a:latin typeface="Georgia" panose="02040502050405020303" pitchFamily="18" charset="0"/>
                </a:rPr>
                <a:t>Sources: As per the internal data shared by the following departments under Government of Karnataka, as of March 2026:</a:t>
              </a:r>
            </a:p>
            <a:p>
              <a:endParaRPr lang="en-US" sz="300" i="1" dirty="0">
                <a:latin typeface="Georgia" panose="02040502050405020303" pitchFamily="18" charset="0"/>
              </a:endParaRPr>
            </a:p>
            <a:p>
              <a:pPr marL="228600" indent="-228600">
                <a:buFont typeface="Arial" panose="020B0604020202020204" pitchFamily="34" charset="0"/>
                <a:buChar char="•"/>
              </a:pPr>
              <a:r>
                <a:rPr lang="en-IN" sz="800" i="1" dirty="0">
                  <a:latin typeface="Georgia" panose="02040502050405020303" pitchFamily="18" charset="0"/>
                </a:rPr>
                <a:t>KAPPEC – Processing infrastructure</a:t>
              </a:r>
            </a:p>
            <a:p>
              <a:pPr marL="228600" indent="-228600">
                <a:buFont typeface="Arial" panose="020B0604020202020204" pitchFamily="34" charset="0"/>
                <a:buChar char="•"/>
              </a:pPr>
              <a:r>
                <a:rPr lang="en-IN" sz="800" i="1" dirty="0">
                  <a:latin typeface="Georgia" panose="02040502050405020303" pitchFamily="18" charset="0"/>
                </a:rPr>
                <a:t>Directorate of horticulture – Cold storage infrastructure, Horticulture farms/nurseries, Horticulture department FPOs</a:t>
              </a:r>
            </a:p>
            <a:p>
              <a:pPr marL="228600" indent="-228600">
                <a:buFont typeface="Arial" panose="020B0604020202020204" pitchFamily="34" charset="0"/>
                <a:buChar char="•"/>
              </a:pPr>
              <a:r>
                <a:rPr lang="en-IN" sz="800" i="1" dirty="0">
                  <a:latin typeface="Georgia" panose="02040502050405020303" pitchFamily="18" charset="0"/>
                </a:rPr>
                <a:t>Watershed development department – WDD FPOs</a:t>
              </a:r>
            </a:p>
          </p:txBody>
        </p:sp>
        <p:sp>
          <p:nvSpPr>
            <p:cNvPr id="5" name="TextBox 4">
              <a:extLst>
                <a:ext uri="{FF2B5EF4-FFF2-40B4-BE49-F238E27FC236}">
                  <a16:creationId xmlns:a16="http://schemas.microsoft.com/office/drawing/2014/main" id="{926EDCFD-A532-094B-2B8C-F155AB4253A2}"/>
                </a:ext>
              </a:extLst>
            </p:cNvPr>
            <p:cNvSpPr txBox="1"/>
            <p:nvPr/>
          </p:nvSpPr>
          <p:spPr>
            <a:xfrm>
              <a:off x="6400800" y="5977539"/>
              <a:ext cx="4953000" cy="338554"/>
            </a:xfrm>
            <a:prstGeom prst="rect">
              <a:avLst/>
            </a:prstGeom>
            <a:noFill/>
          </p:spPr>
          <p:txBody>
            <a:bodyPr wrap="square" rtlCol="0">
              <a:spAutoFit/>
            </a:bodyPr>
            <a:lstStyle/>
            <a:p>
              <a:pPr marL="228600" indent="-228600">
                <a:buFont typeface="Arial" panose="020B0604020202020204" pitchFamily="34" charset="0"/>
                <a:buChar char="•"/>
              </a:pPr>
              <a:r>
                <a:rPr lang="en-IN" sz="800" i="1" dirty="0">
                  <a:latin typeface="Georgia" panose="02040502050405020303" pitchFamily="18" charset="0"/>
                </a:rPr>
                <a:t>Department of agriculture – Seed production </a:t>
              </a:r>
              <a:r>
                <a:rPr lang="en-IN" sz="800" i="1" dirty="0" err="1">
                  <a:latin typeface="Georgia" panose="02040502050405020303" pitchFamily="18" charset="0"/>
                </a:rPr>
                <a:t>centers</a:t>
              </a:r>
              <a:r>
                <a:rPr lang="en-IN" sz="800" i="1" dirty="0">
                  <a:latin typeface="Georgia" panose="02040502050405020303" pitchFamily="18" charset="0"/>
                </a:rPr>
                <a:t>, Agricultural training </a:t>
              </a:r>
              <a:r>
                <a:rPr lang="en-IN" sz="800" i="1" dirty="0" err="1">
                  <a:latin typeface="Georgia" panose="02040502050405020303" pitchFamily="18" charset="0"/>
                </a:rPr>
                <a:t>centers</a:t>
              </a:r>
              <a:endParaRPr lang="en-IN" sz="800" i="1" dirty="0">
                <a:latin typeface="Georgia" panose="02040502050405020303" pitchFamily="18" charset="0"/>
              </a:endParaRPr>
            </a:p>
            <a:p>
              <a:pPr marL="228600" indent="-228600">
                <a:buFont typeface="Arial" panose="020B0604020202020204" pitchFamily="34" charset="0"/>
                <a:buChar char="•"/>
              </a:pPr>
              <a:r>
                <a:rPr lang="en-IN" sz="800" i="1" dirty="0">
                  <a:latin typeface="Georgia" panose="02040502050405020303" pitchFamily="18" charset="0"/>
                </a:rPr>
                <a:t>KSRLPS - SHGs</a:t>
              </a:r>
            </a:p>
          </p:txBody>
        </p:sp>
        <p:sp>
          <p:nvSpPr>
            <p:cNvPr id="6" name="Rectangle 5">
              <a:extLst>
                <a:ext uri="{FF2B5EF4-FFF2-40B4-BE49-F238E27FC236}">
                  <a16:creationId xmlns:a16="http://schemas.microsoft.com/office/drawing/2014/main" id="{A6FA7EFB-16B3-16DF-4E26-CC8797A8CDF6}"/>
                </a:ext>
              </a:extLst>
            </p:cNvPr>
            <p:cNvSpPr/>
            <p:nvPr/>
          </p:nvSpPr>
          <p:spPr>
            <a:xfrm>
              <a:off x="640284" y="5737490"/>
              <a:ext cx="11196500" cy="576072"/>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900" dirty="0">
                <a:latin typeface="Georgia" panose="02040502050405020303" pitchFamily="18" charset="0"/>
              </a:endParaRPr>
            </a:p>
          </p:txBody>
        </p:sp>
      </p:grpSp>
      <p:sp>
        <p:nvSpPr>
          <p:cNvPr id="4" name="Shape 41">
            <a:extLst>
              <a:ext uri="{FF2B5EF4-FFF2-40B4-BE49-F238E27FC236}">
                <a16:creationId xmlns:a16="http://schemas.microsoft.com/office/drawing/2014/main" id="{B9C1A375-86F8-1A17-5CBA-DDFB90E4DA23}"/>
              </a:ext>
            </a:extLst>
          </p:cNvPr>
          <p:cNvSpPr/>
          <p:nvPr/>
        </p:nvSpPr>
        <p:spPr>
          <a:xfrm>
            <a:off x="5409020" y="4066044"/>
            <a:ext cx="4478287" cy="407388"/>
          </a:xfrm>
          <a:prstGeom prst="roundRect">
            <a:avLst>
              <a:gd name="adj" fmla="val 4644"/>
            </a:avLst>
          </a:prstGeom>
          <a:solidFill>
            <a:srgbClr val="0B6E78"/>
          </a:solidFill>
          <a:ln/>
        </p:spPr>
        <p:txBody>
          <a:bodyPr/>
          <a:lstStyle/>
          <a:p>
            <a:pPr algn="r"/>
            <a:endParaRPr lang="en-US" dirty="0">
              <a:latin typeface="Georgia" panose="02040502050405020303" pitchFamily="18" charset="0"/>
            </a:endParaRPr>
          </a:p>
        </p:txBody>
      </p:sp>
      <p:sp>
        <p:nvSpPr>
          <p:cNvPr id="9" name="Text 42">
            <a:extLst>
              <a:ext uri="{FF2B5EF4-FFF2-40B4-BE49-F238E27FC236}">
                <a16:creationId xmlns:a16="http://schemas.microsoft.com/office/drawing/2014/main" id="{C7BB6E08-048F-5077-5C20-B33D9928C169}"/>
              </a:ext>
            </a:extLst>
          </p:cNvPr>
          <p:cNvSpPr/>
          <p:nvPr/>
        </p:nvSpPr>
        <p:spPr>
          <a:xfrm>
            <a:off x="5486402" y="4142898"/>
            <a:ext cx="3769226" cy="233672"/>
          </a:xfrm>
          <a:prstGeom prst="rect">
            <a:avLst/>
          </a:prstGeom>
          <a:noFill/>
          <a:ln/>
        </p:spPr>
        <p:txBody>
          <a:bodyPr wrap="square" lIns="25400" tIns="25400" rIns="25400" bIns="25400" rtlCol="0" anchor="t">
            <a:noAutofit/>
          </a:bodyPr>
          <a:lstStyle/>
          <a:p>
            <a:r>
              <a:rPr lang="en-US" sz="1000" b="1" dirty="0">
                <a:solidFill>
                  <a:schemeClr val="bg1"/>
                </a:solidFill>
                <a:latin typeface="Georgia" panose="02040502050405020303" pitchFamily="18" charset="0"/>
              </a:rPr>
              <a:t>Other infrastructure available</a:t>
            </a:r>
          </a:p>
        </p:txBody>
      </p:sp>
      <p:graphicFrame>
        <p:nvGraphicFramePr>
          <p:cNvPr id="15" name="Chart 14">
            <a:extLst>
              <a:ext uri="{FF2B5EF4-FFF2-40B4-BE49-F238E27FC236}">
                <a16:creationId xmlns:a16="http://schemas.microsoft.com/office/drawing/2014/main" id="{B3966111-7CE5-B6E5-7D92-6F8E94BCAE9C}"/>
              </a:ext>
            </a:extLst>
          </p:cNvPr>
          <p:cNvGraphicFramePr>
            <a:graphicFrameLocks/>
          </p:cNvGraphicFramePr>
          <p:nvPr>
            <p:extLst>
              <p:ext uri="{D42A27DB-BD31-4B8C-83A1-F6EECF244321}">
                <p14:modId xmlns:p14="http://schemas.microsoft.com/office/powerpoint/2010/main" val="218614380"/>
              </p:ext>
            </p:extLst>
          </p:nvPr>
        </p:nvGraphicFramePr>
        <p:xfrm>
          <a:off x="628857" y="1230264"/>
          <a:ext cx="4572000" cy="1089205"/>
        </p:xfrm>
        <a:graphic>
          <a:graphicData uri="http://schemas.openxmlformats.org/drawingml/2006/chart">
            <c:chart xmlns:c="http://schemas.openxmlformats.org/drawingml/2006/chart" xmlns:r="http://schemas.openxmlformats.org/officeDocument/2006/relationships" r:id="rId4"/>
          </a:graphicData>
        </a:graphic>
      </p:graphicFrame>
      <p:pic>
        <p:nvPicPr>
          <p:cNvPr id="8" name="Picture 7">
            <a:extLst>
              <a:ext uri="{FF2B5EF4-FFF2-40B4-BE49-F238E27FC236}">
                <a16:creationId xmlns:a16="http://schemas.microsoft.com/office/drawing/2014/main" id="{B66B4B7C-A1F3-B9EE-BAF7-07B097524F91}"/>
              </a:ext>
            </a:extLst>
          </p:cNvPr>
          <p:cNvPicPr>
            <a:picLocks noChangeAspect="1"/>
          </p:cNvPicPr>
          <p:nvPr/>
        </p:nvPicPr>
        <p:blipFill>
          <a:blip r:embed="rId5" cstate="print">
            <a:extLst>
              <a:ext uri="{28A0092B-C50C-407E-A947-70E740481C1C}">
                <a14:useLocalDpi xmlns:a14="http://schemas.microsoft.com/office/drawing/2010/main" val="0"/>
              </a:ext>
            </a:extLst>
          </a:blip>
          <a:srcRect l="9279" t="4046" r="10349" b="10001"/>
          <a:stretch>
            <a:fillRect/>
          </a:stretch>
        </p:blipFill>
        <p:spPr>
          <a:xfrm>
            <a:off x="10871668" y="177088"/>
            <a:ext cx="989667" cy="1200079"/>
          </a:xfrm>
          <a:prstGeom prst="rect">
            <a:avLst/>
          </a:prstGeom>
        </p:spPr>
      </p:pic>
      <p:sp>
        <p:nvSpPr>
          <p:cNvPr id="13" name="TextBox 12">
            <a:extLst>
              <a:ext uri="{FF2B5EF4-FFF2-40B4-BE49-F238E27FC236}">
                <a16:creationId xmlns:a16="http://schemas.microsoft.com/office/drawing/2014/main" id="{6504751A-A04B-72E6-CCCC-ADBC43806311}"/>
              </a:ext>
            </a:extLst>
          </p:cNvPr>
          <p:cNvSpPr txBox="1"/>
          <p:nvPr/>
        </p:nvSpPr>
        <p:spPr>
          <a:xfrm>
            <a:off x="625235" y="5257800"/>
            <a:ext cx="4677855" cy="200055"/>
          </a:xfrm>
          <a:prstGeom prst="rect">
            <a:avLst/>
          </a:prstGeom>
          <a:noFill/>
        </p:spPr>
        <p:txBody>
          <a:bodyPr wrap="square" rtlCol="0">
            <a:spAutoFit/>
          </a:bodyPr>
          <a:lstStyle/>
          <a:p>
            <a:r>
              <a:rPr lang="en-IN" sz="700" i="1" dirty="0">
                <a:latin typeface="Georgia" panose="02040502050405020303" pitchFamily="18" charset="0"/>
              </a:rPr>
              <a:t>Source: As reported by district officials, Horticulture department, Government of Karnataka, as of March 2026</a:t>
            </a:r>
          </a:p>
        </p:txBody>
      </p:sp>
      <p:pic>
        <p:nvPicPr>
          <p:cNvPr id="20" name="Picture 19">
            <a:extLst>
              <a:ext uri="{FF2B5EF4-FFF2-40B4-BE49-F238E27FC236}">
                <a16:creationId xmlns:a16="http://schemas.microsoft.com/office/drawing/2014/main" id="{D9207507-7A92-F8F9-7280-5E635A1008EE}"/>
              </a:ext>
            </a:extLst>
          </p:cNvPr>
          <p:cNvPicPr>
            <a:picLocks noChangeAspect="1"/>
          </p:cNvPicPr>
          <p:nvPr/>
        </p:nvPicPr>
        <p:blipFill>
          <a:blip r:embed="rId6"/>
          <a:stretch>
            <a:fillRect/>
          </a:stretch>
        </p:blipFill>
        <p:spPr>
          <a:xfrm>
            <a:off x="563895" y="6229563"/>
            <a:ext cx="11138687" cy="623651"/>
          </a:xfrm>
          <a:prstGeom prst="rect">
            <a:avLst/>
          </a:prstGeom>
        </p:spPr>
      </p:pic>
    </p:spTree>
    <p:extLst>
      <p:ext uri="{BB962C8B-B14F-4D97-AF65-F5344CB8AC3E}">
        <p14:creationId xmlns:p14="http://schemas.microsoft.com/office/powerpoint/2010/main" val="36526580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89E2F-EB8A-43CD-3FC0-545A4D6B447A}"/>
              </a:ext>
            </a:extLst>
          </p:cNvPr>
          <p:cNvSpPr>
            <a:spLocks noGrp="1"/>
          </p:cNvSpPr>
          <p:nvPr>
            <p:ph type="title"/>
          </p:nvPr>
        </p:nvSpPr>
        <p:spPr>
          <a:xfrm>
            <a:off x="609600" y="381000"/>
            <a:ext cx="10561116" cy="369332"/>
          </a:xfrm>
        </p:spPr>
        <p:txBody>
          <a:bodyPr/>
          <a:lstStyle/>
          <a:p>
            <a:pPr marL="0" indent="0">
              <a:buNone/>
            </a:pPr>
            <a:r>
              <a:rPr lang="en-US" sz="2400" dirty="0">
                <a:solidFill>
                  <a:srgbClr val="FFFFFF"/>
                </a:solidFill>
                <a:latin typeface="Georgia" panose="02040502050405020303" pitchFamily="18" charset="0"/>
                <a:ea typeface="Arial" pitchFamily="34" charset="-122"/>
                <a:cs typeface="Arial" pitchFamily="34" charset="-120"/>
              </a:rPr>
              <a:t>Cluster Methodology Note</a:t>
            </a:r>
            <a:endParaRPr lang="en-US" sz="2400" dirty="0">
              <a:latin typeface="Georgia" panose="02040502050405020303" pitchFamily="18" charset="0"/>
            </a:endParaRPr>
          </a:p>
        </p:txBody>
      </p:sp>
      <p:sp>
        <p:nvSpPr>
          <p:cNvPr id="7" name="TextBox 6">
            <a:extLst>
              <a:ext uri="{FF2B5EF4-FFF2-40B4-BE49-F238E27FC236}">
                <a16:creationId xmlns:a16="http://schemas.microsoft.com/office/drawing/2014/main" id="{E92993E6-4D7E-C4B6-E5E4-2D191E05684F}"/>
              </a:ext>
            </a:extLst>
          </p:cNvPr>
          <p:cNvSpPr txBox="1"/>
          <p:nvPr/>
        </p:nvSpPr>
        <p:spPr>
          <a:xfrm>
            <a:off x="567798" y="905944"/>
            <a:ext cx="10820400" cy="954107"/>
          </a:xfrm>
          <a:prstGeom prst="rect">
            <a:avLst/>
          </a:prstGeom>
          <a:noFill/>
          <a:ln>
            <a:solidFill>
              <a:srgbClr val="AE4543"/>
            </a:solidFill>
          </a:ln>
        </p:spPr>
        <p:txBody>
          <a:bodyPr wrap="square">
            <a:spAutoFit/>
          </a:bodyPr>
          <a:lstStyle/>
          <a:p>
            <a:r>
              <a:rPr lang="en-US" sz="1400" dirty="0">
                <a:solidFill>
                  <a:srgbClr val="000000"/>
                </a:solidFill>
                <a:latin typeface="Georgia" panose="02040502050405020303" pitchFamily="18" charset="0"/>
                <a:ea typeface="Arial" pitchFamily="34" charset="-122"/>
                <a:cs typeface="Arial" pitchFamily="34" charset="-120"/>
              </a:rPr>
              <a:t>District-level production data and infrastructure records collected from multiple Karnataka government departments were </a:t>
            </a:r>
            <a:r>
              <a:rPr lang="en-US" sz="1400" dirty="0" err="1">
                <a:solidFill>
                  <a:srgbClr val="000000"/>
                </a:solidFill>
                <a:latin typeface="Georgia" panose="02040502050405020303" pitchFamily="18" charset="0"/>
                <a:ea typeface="Arial" pitchFamily="34" charset="-122"/>
                <a:cs typeface="Arial" pitchFamily="34" charset="-120"/>
              </a:rPr>
              <a:t>analysed</a:t>
            </a:r>
            <a:r>
              <a:rPr lang="en-US" sz="1400" dirty="0">
                <a:solidFill>
                  <a:srgbClr val="000000"/>
                </a:solidFill>
                <a:latin typeface="Georgia" panose="02040502050405020303" pitchFamily="18" charset="0"/>
                <a:ea typeface="Arial" pitchFamily="34" charset="-122"/>
                <a:cs typeface="Arial" pitchFamily="34" charset="-120"/>
              </a:rPr>
              <a:t> across all 31 districts to identify where crop specialization and processing capacity gaps coincide. Using a Location Quotient (LQ) approach to measure each district's relative crop concentration against the state average, and applying geographic contiguity as a binding constraint, the 31 districts were grouped into 7 clusters. Each cluster has a distinct crop identity confirmed by its LQ profile.</a:t>
            </a:r>
            <a:endParaRPr lang="en-US" sz="1400" dirty="0">
              <a:latin typeface="Georgia" panose="02040502050405020303" pitchFamily="18" charset="0"/>
            </a:endParaRPr>
          </a:p>
        </p:txBody>
      </p:sp>
      <p:grpSp>
        <p:nvGrpSpPr>
          <p:cNvPr id="34" name="Group 33">
            <a:extLst>
              <a:ext uri="{FF2B5EF4-FFF2-40B4-BE49-F238E27FC236}">
                <a16:creationId xmlns:a16="http://schemas.microsoft.com/office/drawing/2014/main" id="{8FD9FB6B-CAA3-1DF9-AB59-A35CFFDC6334}"/>
              </a:ext>
            </a:extLst>
          </p:cNvPr>
          <p:cNvGrpSpPr/>
          <p:nvPr/>
        </p:nvGrpSpPr>
        <p:grpSpPr>
          <a:xfrm>
            <a:off x="611204" y="1990646"/>
            <a:ext cx="10789525" cy="3794429"/>
            <a:chOff x="611204" y="2149171"/>
            <a:chExt cx="10789525" cy="3794429"/>
          </a:xfrm>
        </p:grpSpPr>
        <p:sp>
          <p:nvSpPr>
            <p:cNvPr id="10" name="Shape 11">
              <a:extLst>
                <a:ext uri="{FF2B5EF4-FFF2-40B4-BE49-F238E27FC236}">
                  <a16:creationId xmlns:a16="http://schemas.microsoft.com/office/drawing/2014/main" id="{BFDF7A76-6072-0452-F28E-7BE1EAEAA97E}"/>
                </a:ext>
              </a:extLst>
            </p:cNvPr>
            <p:cNvSpPr/>
            <p:nvPr/>
          </p:nvSpPr>
          <p:spPr>
            <a:xfrm>
              <a:off x="611204" y="2149171"/>
              <a:ext cx="10776994" cy="237744"/>
            </a:xfrm>
            <a:prstGeom prst="rect">
              <a:avLst/>
            </a:prstGeom>
            <a:solidFill>
              <a:srgbClr val="0B6E78"/>
            </a:solidFill>
            <a:ln w="12700">
              <a:solidFill>
                <a:srgbClr val="0E6655"/>
              </a:solidFill>
              <a:prstDash val="solid"/>
            </a:ln>
          </p:spPr>
          <p:txBody>
            <a:bodyPr/>
            <a:lstStyle/>
            <a:p>
              <a:endParaRPr lang="en-IN" dirty="0">
                <a:latin typeface="Georgia" panose="02040502050405020303" pitchFamily="18" charset="0"/>
              </a:endParaRPr>
            </a:p>
          </p:txBody>
        </p:sp>
        <p:sp>
          <p:nvSpPr>
            <p:cNvPr id="11" name="Text 12">
              <a:extLst>
                <a:ext uri="{FF2B5EF4-FFF2-40B4-BE49-F238E27FC236}">
                  <a16:creationId xmlns:a16="http://schemas.microsoft.com/office/drawing/2014/main" id="{75C14D30-8E14-7DDA-F609-1F8783F4A5CC}"/>
                </a:ext>
              </a:extLst>
            </p:cNvPr>
            <p:cNvSpPr/>
            <p:nvPr/>
          </p:nvSpPr>
          <p:spPr>
            <a:xfrm>
              <a:off x="686392" y="2167459"/>
              <a:ext cx="10651680" cy="201168"/>
            </a:xfrm>
            <a:prstGeom prst="rect">
              <a:avLst/>
            </a:prstGeom>
            <a:noFill/>
            <a:ln/>
          </p:spPr>
          <p:txBody>
            <a:bodyPr wrap="square" lIns="0" tIns="0" rIns="0" bIns="0" rtlCol="0" anchor="ctr"/>
            <a:lstStyle/>
            <a:p>
              <a:pPr marL="0" indent="0">
                <a:buNone/>
              </a:pPr>
              <a:r>
                <a:rPr lang="en-US" sz="1400" b="1" dirty="0">
                  <a:solidFill>
                    <a:srgbClr val="FFFFFF"/>
                  </a:solidFill>
                  <a:latin typeface="Georgia" panose="02040502050405020303" pitchFamily="18" charset="0"/>
                  <a:ea typeface="Arial" pitchFamily="34" charset="-122"/>
                  <a:cs typeface="Arial" pitchFamily="34" charset="-120"/>
                </a:rPr>
                <a:t>METHODOLOGICAL FRAMEWORK - THREE CRITERIA APPLIED IN SEQUENCE</a:t>
              </a:r>
              <a:endParaRPr lang="en-US" sz="1400" dirty="0">
                <a:latin typeface="Georgia" panose="02040502050405020303" pitchFamily="18" charset="0"/>
              </a:endParaRPr>
            </a:p>
          </p:txBody>
        </p:sp>
        <p:grpSp>
          <p:nvGrpSpPr>
            <p:cNvPr id="30" name="Group 29">
              <a:extLst>
                <a:ext uri="{FF2B5EF4-FFF2-40B4-BE49-F238E27FC236}">
                  <a16:creationId xmlns:a16="http://schemas.microsoft.com/office/drawing/2014/main" id="{866A3592-01D3-BE57-88E2-1C719A09BD15}"/>
                </a:ext>
              </a:extLst>
            </p:cNvPr>
            <p:cNvGrpSpPr/>
            <p:nvPr/>
          </p:nvGrpSpPr>
          <p:grpSpPr>
            <a:xfrm>
              <a:off x="611204" y="2423491"/>
              <a:ext cx="10776994" cy="1081709"/>
              <a:chOff x="611204" y="2423491"/>
              <a:chExt cx="10776994" cy="1371600"/>
            </a:xfrm>
          </p:grpSpPr>
          <p:sp>
            <p:nvSpPr>
              <p:cNvPr id="12" name="Shape 13">
                <a:extLst>
                  <a:ext uri="{FF2B5EF4-FFF2-40B4-BE49-F238E27FC236}">
                    <a16:creationId xmlns:a16="http://schemas.microsoft.com/office/drawing/2014/main" id="{14F71B67-93B7-1CEA-900F-445AA9F53030}"/>
                  </a:ext>
                </a:extLst>
              </p:cNvPr>
              <p:cNvSpPr/>
              <p:nvPr/>
            </p:nvSpPr>
            <p:spPr>
              <a:xfrm>
                <a:off x="611204" y="2423491"/>
                <a:ext cx="10776994" cy="1371600"/>
              </a:xfrm>
              <a:prstGeom prst="rect">
                <a:avLst/>
              </a:prstGeom>
              <a:solidFill>
                <a:srgbClr val="F4F6F7"/>
              </a:solidFill>
              <a:ln w="6350">
                <a:solidFill>
                  <a:srgbClr val="D5D8DC"/>
                </a:solidFill>
                <a:prstDash val="solid"/>
              </a:ln>
            </p:spPr>
            <p:txBody>
              <a:bodyPr/>
              <a:lstStyle/>
              <a:p>
                <a:endParaRPr lang="en-IN">
                  <a:latin typeface="Georgia" panose="02040502050405020303" pitchFamily="18" charset="0"/>
                </a:endParaRPr>
              </a:p>
            </p:txBody>
          </p:sp>
          <p:sp>
            <p:nvSpPr>
              <p:cNvPr id="13" name="Shape 14">
                <a:extLst>
                  <a:ext uri="{FF2B5EF4-FFF2-40B4-BE49-F238E27FC236}">
                    <a16:creationId xmlns:a16="http://schemas.microsoft.com/office/drawing/2014/main" id="{804D6E0F-377F-881E-48F3-26DE8D1FB0FC}"/>
                  </a:ext>
                </a:extLst>
              </p:cNvPr>
              <p:cNvSpPr/>
              <p:nvPr/>
            </p:nvSpPr>
            <p:spPr>
              <a:xfrm>
                <a:off x="611204" y="2423491"/>
                <a:ext cx="563912" cy="1371600"/>
              </a:xfrm>
              <a:prstGeom prst="rect">
                <a:avLst/>
              </a:prstGeom>
              <a:solidFill>
                <a:srgbClr val="0B6E78"/>
              </a:solidFill>
              <a:ln w="12700">
                <a:solidFill>
                  <a:srgbClr val="1B3A6B"/>
                </a:solidFill>
                <a:prstDash val="solid"/>
              </a:ln>
            </p:spPr>
            <p:txBody>
              <a:bodyPr/>
              <a:lstStyle/>
              <a:p>
                <a:endParaRPr lang="en-IN">
                  <a:latin typeface="Georgia" panose="02040502050405020303" pitchFamily="18" charset="0"/>
                </a:endParaRPr>
              </a:p>
            </p:txBody>
          </p:sp>
          <p:sp>
            <p:nvSpPr>
              <p:cNvPr id="14" name="Text 15">
                <a:extLst>
                  <a:ext uri="{FF2B5EF4-FFF2-40B4-BE49-F238E27FC236}">
                    <a16:creationId xmlns:a16="http://schemas.microsoft.com/office/drawing/2014/main" id="{57CFB9F3-FE2C-A83B-E098-8F2DFE580FF4}"/>
                  </a:ext>
                </a:extLst>
              </p:cNvPr>
              <p:cNvSpPr/>
              <p:nvPr/>
            </p:nvSpPr>
            <p:spPr>
              <a:xfrm>
                <a:off x="611204" y="2880691"/>
                <a:ext cx="563912"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anose="02040502050405020303" pitchFamily="18" charset="0"/>
                    <a:ea typeface="Arial" pitchFamily="34" charset="-122"/>
                    <a:cs typeface="Arial" pitchFamily="34" charset="-120"/>
                  </a:rPr>
                  <a:t>01</a:t>
                </a:r>
                <a:endParaRPr lang="en-US" sz="1100" dirty="0">
                  <a:latin typeface="Georgia" panose="02040502050405020303" pitchFamily="18" charset="0"/>
                </a:endParaRPr>
              </a:p>
            </p:txBody>
          </p:sp>
          <p:sp>
            <p:nvSpPr>
              <p:cNvPr id="15" name="Text 16">
                <a:extLst>
                  <a:ext uri="{FF2B5EF4-FFF2-40B4-BE49-F238E27FC236}">
                    <a16:creationId xmlns:a16="http://schemas.microsoft.com/office/drawing/2014/main" id="{043DAA74-3BAB-D537-E51C-76DB91E3BFB5}"/>
                  </a:ext>
                </a:extLst>
              </p:cNvPr>
              <p:cNvSpPr/>
              <p:nvPr/>
            </p:nvSpPr>
            <p:spPr>
              <a:xfrm>
                <a:off x="1237773" y="2460067"/>
                <a:ext cx="10025111" cy="219456"/>
              </a:xfrm>
              <a:prstGeom prst="rect">
                <a:avLst/>
              </a:prstGeom>
              <a:noFill/>
              <a:ln/>
            </p:spPr>
            <p:txBody>
              <a:bodyPr wrap="square" lIns="0" tIns="50800" rIns="50800" bIns="0" rtlCol="0" anchor="t"/>
              <a:lstStyle/>
              <a:p>
                <a:pPr marL="0" indent="0">
                  <a:buNone/>
                </a:pPr>
                <a:r>
                  <a:rPr lang="en-US" sz="1200" b="1" dirty="0">
                    <a:solidFill>
                      <a:srgbClr val="0B6E78"/>
                    </a:solidFill>
                    <a:latin typeface="Georgia" panose="02040502050405020303" pitchFamily="18" charset="0"/>
                    <a:ea typeface="Arial" pitchFamily="34" charset="-122"/>
                    <a:cs typeface="Arial" pitchFamily="34" charset="-120"/>
                  </a:rPr>
                  <a:t>Geographic Contiguity (Hard Constraint)</a:t>
                </a:r>
              </a:p>
              <a:p>
                <a:pPr marL="0" indent="0">
                  <a:buNone/>
                </a:pPr>
                <a:endParaRPr lang="en-US" sz="1200" b="1" dirty="0">
                  <a:solidFill>
                    <a:srgbClr val="0B6E78"/>
                  </a:solidFill>
                  <a:latin typeface="Georgia" panose="02040502050405020303" pitchFamily="18" charset="0"/>
                  <a:cs typeface="Arial" pitchFamily="34" charset="-120"/>
                </a:endParaRPr>
              </a:p>
              <a:p>
                <a:pPr marL="0" indent="0">
                  <a:buNone/>
                </a:pPr>
                <a:endParaRPr lang="en-US" sz="1200" dirty="0">
                  <a:solidFill>
                    <a:srgbClr val="0B6E78"/>
                  </a:solidFill>
                  <a:latin typeface="Georgia" panose="02040502050405020303" pitchFamily="18" charset="0"/>
                </a:endParaRPr>
              </a:p>
            </p:txBody>
          </p:sp>
          <p:sp>
            <p:nvSpPr>
              <p:cNvPr id="16" name="Text 17">
                <a:extLst>
                  <a:ext uri="{FF2B5EF4-FFF2-40B4-BE49-F238E27FC236}">
                    <a16:creationId xmlns:a16="http://schemas.microsoft.com/office/drawing/2014/main" id="{E5EACEEB-3853-AB29-8A9A-33D9AC3FC382}"/>
                  </a:ext>
                </a:extLst>
              </p:cNvPr>
              <p:cNvSpPr/>
              <p:nvPr/>
            </p:nvSpPr>
            <p:spPr>
              <a:xfrm>
                <a:off x="1237773" y="2734387"/>
                <a:ext cx="10025111" cy="1060704"/>
              </a:xfrm>
              <a:prstGeom prst="rect">
                <a:avLst/>
              </a:prstGeom>
              <a:noFill/>
              <a:ln/>
            </p:spPr>
            <p:txBody>
              <a:bodyPr wrap="square" lIns="0" tIns="50800" rIns="50800" bIns="25400" rtlCol="0" anchor="t"/>
              <a:lstStyle/>
              <a:p>
                <a:pPr marL="0" indent="0">
                  <a:buNone/>
                </a:pPr>
                <a:r>
                  <a:rPr lang="en-US" sz="1200" dirty="0">
                    <a:solidFill>
                      <a:srgbClr val="222222"/>
                    </a:solidFill>
                    <a:latin typeface="Georgia" panose="02040502050405020303" pitchFamily="18" charset="0"/>
                    <a:ea typeface="Arial" pitchFamily="34" charset="-122"/>
                    <a:cs typeface="Arial" pitchFamily="34" charset="-120"/>
                  </a:rPr>
                  <a:t>Applied first, before any crop or infrastructure analysis. Every district in a cluster must share a physical border with at least one other district in that cluster. Non-contiguous groupings were not considered regardless of crop similarity. This constraint reflects the way agro-climatic zones vary across Karnataka - the Deccan plateau, the Hyderabad-Karnataka belt, and the Western Ghats produce distinct production zones that broadly respect district boundaries.</a:t>
                </a:r>
                <a:endParaRPr lang="en-US" sz="1200" dirty="0">
                  <a:latin typeface="Georgia" panose="02040502050405020303" pitchFamily="18" charset="0"/>
                </a:endParaRPr>
              </a:p>
            </p:txBody>
          </p:sp>
        </p:grpSp>
        <p:grpSp>
          <p:nvGrpSpPr>
            <p:cNvPr id="32" name="Group 31">
              <a:extLst>
                <a:ext uri="{FF2B5EF4-FFF2-40B4-BE49-F238E27FC236}">
                  <a16:creationId xmlns:a16="http://schemas.microsoft.com/office/drawing/2014/main" id="{C08FA175-D954-6FC8-731F-00E08A8951FD}"/>
                </a:ext>
              </a:extLst>
            </p:cNvPr>
            <p:cNvGrpSpPr/>
            <p:nvPr/>
          </p:nvGrpSpPr>
          <p:grpSpPr>
            <a:xfrm>
              <a:off x="611204" y="3557992"/>
              <a:ext cx="10776994" cy="1371600"/>
              <a:chOff x="611204" y="3849955"/>
              <a:chExt cx="10776994" cy="1371600"/>
            </a:xfrm>
          </p:grpSpPr>
          <p:sp>
            <p:nvSpPr>
              <p:cNvPr id="17" name="Shape 18">
                <a:extLst>
                  <a:ext uri="{FF2B5EF4-FFF2-40B4-BE49-F238E27FC236}">
                    <a16:creationId xmlns:a16="http://schemas.microsoft.com/office/drawing/2014/main" id="{5EF79856-F1DB-B734-DF6F-07C836D436BC}"/>
                  </a:ext>
                </a:extLst>
              </p:cNvPr>
              <p:cNvSpPr/>
              <p:nvPr/>
            </p:nvSpPr>
            <p:spPr>
              <a:xfrm>
                <a:off x="611204" y="3849955"/>
                <a:ext cx="10776994" cy="1371600"/>
              </a:xfrm>
              <a:prstGeom prst="rect">
                <a:avLst/>
              </a:prstGeom>
              <a:solidFill>
                <a:srgbClr val="F4F6F7"/>
              </a:solidFill>
              <a:ln w="6350">
                <a:solidFill>
                  <a:srgbClr val="D5D8DC"/>
                </a:solidFill>
                <a:prstDash val="solid"/>
              </a:ln>
            </p:spPr>
            <p:txBody>
              <a:bodyPr/>
              <a:lstStyle/>
              <a:p>
                <a:endParaRPr lang="en-IN">
                  <a:latin typeface="Georgia" panose="02040502050405020303" pitchFamily="18" charset="0"/>
                </a:endParaRPr>
              </a:p>
            </p:txBody>
          </p:sp>
          <p:sp>
            <p:nvSpPr>
              <p:cNvPr id="18" name="Shape 19">
                <a:extLst>
                  <a:ext uri="{FF2B5EF4-FFF2-40B4-BE49-F238E27FC236}">
                    <a16:creationId xmlns:a16="http://schemas.microsoft.com/office/drawing/2014/main" id="{0D35D2D2-7F01-7B26-592E-5FC6DDF749BB}"/>
                  </a:ext>
                </a:extLst>
              </p:cNvPr>
              <p:cNvSpPr/>
              <p:nvPr/>
            </p:nvSpPr>
            <p:spPr>
              <a:xfrm>
                <a:off x="611204" y="3849955"/>
                <a:ext cx="563912" cy="1371600"/>
              </a:xfrm>
              <a:prstGeom prst="rect">
                <a:avLst/>
              </a:prstGeom>
              <a:solidFill>
                <a:srgbClr val="0B6E78"/>
              </a:solidFill>
              <a:ln w="12700">
                <a:solidFill>
                  <a:srgbClr val="1B3A6B"/>
                </a:solidFill>
                <a:prstDash val="solid"/>
              </a:ln>
            </p:spPr>
            <p:txBody>
              <a:bodyPr/>
              <a:lstStyle/>
              <a:p>
                <a:endParaRPr lang="en-IN">
                  <a:latin typeface="Georgia" panose="02040502050405020303" pitchFamily="18" charset="0"/>
                </a:endParaRPr>
              </a:p>
            </p:txBody>
          </p:sp>
          <p:sp>
            <p:nvSpPr>
              <p:cNvPr id="19" name="Text 20">
                <a:extLst>
                  <a:ext uri="{FF2B5EF4-FFF2-40B4-BE49-F238E27FC236}">
                    <a16:creationId xmlns:a16="http://schemas.microsoft.com/office/drawing/2014/main" id="{C6EC775D-16DF-5DB8-3247-D0EFA63C5FF9}"/>
                  </a:ext>
                </a:extLst>
              </p:cNvPr>
              <p:cNvSpPr/>
              <p:nvPr/>
            </p:nvSpPr>
            <p:spPr>
              <a:xfrm>
                <a:off x="611204" y="4307155"/>
                <a:ext cx="563912"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anose="02040502050405020303" pitchFamily="18" charset="0"/>
                    <a:ea typeface="Arial" pitchFamily="34" charset="-122"/>
                    <a:cs typeface="Arial" pitchFamily="34" charset="-120"/>
                  </a:rPr>
                  <a:t>02</a:t>
                </a:r>
                <a:endParaRPr lang="en-US" sz="1100" dirty="0">
                  <a:latin typeface="Georgia" panose="02040502050405020303" pitchFamily="18" charset="0"/>
                </a:endParaRPr>
              </a:p>
            </p:txBody>
          </p:sp>
          <p:sp>
            <p:nvSpPr>
              <p:cNvPr id="20" name="Text 21">
                <a:extLst>
                  <a:ext uri="{FF2B5EF4-FFF2-40B4-BE49-F238E27FC236}">
                    <a16:creationId xmlns:a16="http://schemas.microsoft.com/office/drawing/2014/main" id="{3E402CA5-EA39-7F5C-21FF-2DDF43673F88}"/>
                  </a:ext>
                </a:extLst>
              </p:cNvPr>
              <p:cNvSpPr/>
              <p:nvPr/>
            </p:nvSpPr>
            <p:spPr>
              <a:xfrm>
                <a:off x="1237773" y="3886531"/>
                <a:ext cx="10025111" cy="219456"/>
              </a:xfrm>
              <a:prstGeom prst="rect">
                <a:avLst/>
              </a:prstGeom>
              <a:noFill/>
              <a:ln/>
            </p:spPr>
            <p:txBody>
              <a:bodyPr wrap="square" lIns="0" tIns="50800" rIns="50800" bIns="0" rtlCol="0" anchor="t"/>
              <a:lstStyle/>
              <a:p>
                <a:pPr marL="0" indent="0">
                  <a:buNone/>
                </a:pPr>
                <a:r>
                  <a:rPr lang="en-US" sz="1200" b="1" dirty="0">
                    <a:solidFill>
                      <a:srgbClr val="0B6E78"/>
                    </a:solidFill>
                    <a:latin typeface="Georgia" panose="02040502050405020303" pitchFamily="18" charset="0"/>
                    <a:ea typeface="Arial" pitchFamily="34" charset="-122"/>
                    <a:cs typeface="Arial" pitchFamily="34" charset="-120"/>
                  </a:rPr>
                  <a:t>Crop Specialisation: Location Quotient (LQ)</a:t>
                </a:r>
                <a:endParaRPr lang="en-US" sz="1200" dirty="0">
                  <a:solidFill>
                    <a:srgbClr val="0B6E78"/>
                  </a:solidFill>
                  <a:latin typeface="Georgia" panose="02040502050405020303" pitchFamily="18" charset="0"/>
                </a:endParaRPr>
              </a:p>
            </p:txBody>
          </p:sp>
          <p:sp>
            <p:nvSpPr>
              <p:cNvPr id="21" name="Text 22">
                <a:extLst>
                  <a:ext uri="{FF2B5EF4-FFF2-40B4-BE49-F238E27FC236}">
                    <a16:creationId xmlns:a16="http://schemas.microsoft.com/office/drawing/2014/main" id="{915C4287-285F-8D1D-8951-ABAA40BF55EE}"/>
                  </a:ext>
                </a:extLst>
              </p:cNvPr>
              <p:cNvSpPr/>
              <p:nvPr/>
            </p:nvSpPr>
            <p:spPr>
              <a:xfrm>
                <a:off x="1237773" y="4105987"/>
                <a:ext cx="10025111" cy="1060704"/>
              </a:xfrm>
              <a:prstGeom prst="rect">
                <a:avLst/>
              </a:prstGeom>
              <a:noFill/>
              <a:ln/>
            </p:spPr>
            <p:txBody>
              <a:bodyPr wrap="square" lIns="0" tIns="50800" rIns="50800" bIns="25400" rtlCol="0" anchor="t"/>
              <a:lstStyle/>
              <a:p>
                <a:pPr marL="0" indent="0">
                  <a:buNone/>
                </a:pPr>
                <a:r>
                  <a:rPr lang="en-US" sz="1200" dirty="0">
                    <a:solidFill>
                      <a:srgbClr val="222222"/>
                    </a:solidFill>
                    <a:latin typeface="Georgia" panose="02040502050405020303" pitchFamily="18" charset="0"/>
                    <a:ea typeface="Arial" pitchFamily="34" charset="-122"/>
                    <a:cs typeface="Arial" pitchFamily="34" charset="-120"/>
                  </a:rPr>
                  <a:t>LQ(i,c) = [Production of crop c in district i ÷ Total 7-crop production in district i] ÷ [State production of crop c ÷ Total state 7-crop production]</a:t>
                </a:r>
                <a:endParaRPr lang="en-US" sz="1200" dirty="0">
                  <a:latin typeface="Georgia" panose="02040502050405020303" pitchFamily="18" charset="0"/>
                </a:endParaRPr>
              </a:p>
              <a:p>
                <a:pPr marL="0" indent="0">
                  <a:buNone/>
                </a:pPr>
                <a:endParaRPr lang="en-US" sz="400" dirty="0">
                  <a:latin typeface="Georgia" panose="02040502050405020303" pitchFamily="18" charset="0"/>
                </a:endParaRPr>
              </a:p>
              <a:p>
                <a:pPr marL="0" indent="0">
                  <a:buNone/>
                </a:pPr>
                <a:r>
                  <a:rPr lang="en-US" sz="1200" dirty="0">
                    <a:solidFill>
                      <a:srgbClr val="222222"/>
                    </a:solidFill>
                    <a:latin typeface="Georgia" panose="02040502050405020303" pitchFamily="18" charset="0"/>
                    <a:ea typeface="Arial" pitchFamily="34" charset="-122"/>
                    <a:cs typeface="Arial" pitchFamily="34" charset="-120"/>
                  </a:rPr>
                  <a:t>LQ &gt; 1.0 = relative specialisation. LQ ≥ 1.5 = meaningful specialisation (threshold used here). LQ ≥ 2.0 = strong specialisation. Districts with similar LQ profiles were grouped together within the contiguity constraint.</a:t>
                </a:r>
                <a:endParaRPr lang="en-US" sz="1200" dirty="0">
                  <a:latin typeface="Georgia" panose="02040502050405020303" pitchFamily="18" charset="0"/>
                </a:endParaRPr>
              </a:p>
              <a:p>
                <a:pPr marL="0" indent="0">
                  <a:buNone/>
                </a:pPr>
                <a:endParaRPr lang="en-US" sz="400" dirty="0">
                  <a:latin typeface="Georgia" panose="02040502050405020303" pitchFamily="18" charset="0"/>
                </a:endParaRPr>
              </a:p>
              <a:p>
                <a:pPr marL="0" indent="0">
                  <a:buNone/>
                </a:pPr>
                <a:r>
                  <a:rPr lang="en-US" sz="1200" dirty="0">
                    <a:solidFill>
                      <a:srgbClr val="222222"/>
                    </a:solidFill>
                    <a:latin typeface="Georgia" panose="02040502050405020303" pitchFamily="18" charset="0"/>
                    <a:ea typeface="Arial" pitchFamily="34" charset="-122"/>
                    <a:cs typeface="Arial" pitchFamily="34" charset="-120"/>
                  </a:rPr>
                  <a:t>Methodological basis: Florence (1939), Isard (Methods of Regional Analysis, MIT Press, 1960). Used equivalently in India's PM-FME One District One Product framework (MoFPI, 2020), NITI Aayog Aspirational Districts Programme, and FAO Territorial Approaches to Food Security (2021).</a:t>
                </a:r>
                <a:endParaRPr lang="en-US" sz="1200" dirty="0">
                  <a:latin typeface="Georgia" panose="02040502050405020303" pitchFamily="18" charset="0"/>
                </a:endParaRPr>
              </a:p>
            </p:txBody>
          </p:sp>
        </p:grpSp>
        <p:grpSp>
          <p:nvGrpSpPr>
            <p:cNvPr id="33" name="Group 32">
              <a:extLst>
                <a:ext uri="{FF2B5EF4-FFF2-40B4-BE49-F238E27FC236}">
                  <a16:creationId xmlns:a16="http://schemas.microsoft.com/office/drawing/2014/main" id="{7F4DBE28-3591-1BC0-3D63-D79EDA9012F8}"/>
                </a:ext>
              </a:extLst>
            </p:cNvPr>
            <p:cNvGrpSpPr/>
            <p:nvPr/>
          </p:nvGrpSpPr>
          <p:grpSpPr>
            <a:xfrm>
              <a:off x="623735" y="4982384"/>
              <a:ext cx="10776994" cy="961216"/>
              <a:chOff x="611204" y="5276419"/>
              <a:chExt cx="10776994" cy="1381821"/>
            </a:xfrm>
          </p:grpSpPr>
          <p:sp>
            <p:nvSpPr>
              <p:cNvPr id="22" name="Shape 23">
                <a:extLst>
                  <a:ext uri="{FF2B5EF4-FFF2-40B4-BE49-F238E27FC236}">
                    <a16:creationId xmlns:a16="http://schemas.microsoft.com/office/drawing/2014/main" id="{06164443-B957-A89B-3097-8C9EEAD806DF}"/>
                  </a:ext>
                </a:extLst>
              </p:cNvPr>
              <p:cNvSpPr/>
              <p:nvPr/>
            </p:nvSpPr>
            <p:spPr>
              <a:xfrm>
                <a:off x="611204" y="5276419"/>
                <a:ext cx="10776994" cy="1371600"/>
              </a:xfrm>
              <a:prstGeom prst="rect">
                <a:avLst/>
              </a:prstGeom>
              <a:solidFill>
                <a:srgbClr val="F4F6F7"/>
              </a:solidFill>
              <a:ln w="6350">
                <a:solidFill>
                  <a:srgbClr val="D5D8DC"/>
                </a:solidFill>
                <a:prstDash val="solid"/>
              </a:ln>
            </p:spPr>
            <p:txBody>
              <a:bodyPr/>
              <a:lstStyle/>
              <a:p>
                <a:endParaRPr lang="en-IN">
                  <a:latin typeface="Georgia" panose="02040502050405020303" pitchFamily="18" charset="0"/>
                </a:endParaRPr>
              </a:p>
            </p:txBody>
          </p:sp>
          <p:sp>
            <p:nvSpPr>
              <p:cNvPr id="23" name="Shape 24">
                <a:extLst>
                  <a:ext uri="{FF2B5EF4-FFF2-40B4-BE49-F238E27FC236}">
                    <a16:creationId xmlns:a16="http://schemas.microsoft.com/office/drawing/2014/main" id="{C6EAF855-10EE-F01B-D4F6-3E8E8978D050}"/>
                  </a:ext>
                </a:extLst>
              </p:cNvPr>
              <p:cNvSpPr/>
              <p:nvPr/>
            </p:nvSpPr>
            <p:spPr>
              <a:xfrm>
                <a:off x="611204" y="5276419"/>
                <a:ext cx="563912" cy="1371600"/>
              </a:xfrm>
              <a:prstGeom prst="rect">
                <a:avLst/>
              </a:prstGeom>
              <a:solidFill>
                <a:srgbClr val="0B6E78"/>
              </a:solidFill>
              <a:ln w="12700">
                <a:solidFill>
                  <a:srgbClr val="1B3A6B"/>
                </a:solidFill>
                <a:prstDash val="solid"/>
              </a:ln>
            </p:spPr>
            <p:txBody>
              <a:bodyPr/>
              <a:lstStyle/>
              <a:p>
                <a:endParaRPr lang="en-IN">
                  <a:latin typeface="Georgia" panose="02040502050405020303" pitchFamily="18" charset="0"/>
                </a:endParaRPr>
              </a:p>
            </p:txBody>
          </p:sp>
          <p:sp>
            <p:nvSpPr>
              <p:cNvPr id="24" name="Text 25">
                <a:extLst>
                  <a:ext uri="{FF2B5EF4-FFF2-40B4-BE49-F238E27FC236}">
                    <a16:creationId xmlns:a16="http://schemas.microsoft.com/office/drawing/2014/main" id="{81D93DC1-0E34-3314-AAC1-2FAC6269294B}"/>
                  </a:ext>
                </a:extLst>
              </p:cNvPr>
              <p:cNvSpPr/>
              <p:nvPr/>
            </p:nvSpPr>
            <p:spPr>
              <a:xfrm>
                <a:off x="611204" y="5733619"/>
                <a:ext cx="563912"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anose="02040502050405020303" pitchFamily="18" charset="0"/>
                    <a:ea typeface="Arial" pitchFamily="34" charset="-122"/>
                    <a:cs typeface="Arial" pitchFamily="34" charset="-120"/>
                  </a:rPr>
                  <a:t>03</a:t>
                </a:r>
                <a:endParaRPr lang="en-US" sz="1100" dirty="0">
                  <a:latin typeface="Georgia" panose="02040502050405020303" pitchFamily="18" charset="0"/>
                </a:endParaRPr>
              </a:p>
            </p:txBody>
          </p:sp>
          <p:sp>
            <p:nvSpPr>
              <p:cNvPr id="25" name="Text 26">
                <a:extLst>
                  <a:ext uri="{FF2B5EF4-FFF2-40B4-BE49-F238E27FC236}">
                    <a16:creationId xmlns:a16="http://schemas.microsoft.com/office/drawing/2014/main" id="{D93CDB8F-A6AB-B57A-9103-2BD9E740086A}"/>
                  </a:ext>
                </a:extLst>
              </p:cNvPr>
              <p:cNvSpPr/>
              <p:nvPr/>
            </p:nvSpPr>
            <p:spPr>
              <a:xfrm>
                <a:off x="1237773" y="5312995"/>
                <a:ext cx="10025111" cy="219456"/>
              </a:xfrm>
              <a:prstGeom prst="rect">
                <a:avLst/>
              </a:prstGeom>
              <a:noFill/>
              <a:ln/>
            </p:spPr>
            <p:txBody>
              <a:bodyPr wrap="square" lIns="0" tIns="50800" rIns="50800" bIns="0" rtlCol="0" anchor="t"/>
              <a:lstStyle/>
              <a:p>
                <a:pPr marL="0" indent="0">
                  <a:buNone/>
                </a:pPr>
                <a:r>
                  <a:rPr lang="en-US" sz="1200" b="1" dirty="0">
                    <a:solidFill>
                      <a:srgbClr val="0B6E78"/>
                    </a:solidFill>
                    <a:latin typeface="Georgia" panose="02040502050405020303" pitchFamily="18" charset="0"/>
                    <a:ea typeface="Arial" pitchFamily="34" charset="-122"/>
                    <a:cs typeface="Arial" pitchFamily="34" charset="-120"/>
                  </a:rPr>
                  <a:t>Produce Flow and Market Orientation (Tiebreaker)</a:t>
                </a:r>
                <a:endParaRPr lang="en-US" sz="1200" dirty="0">
                  <a:solidFill>
                    <a:srgbClr val="0B6E78"/>
                  </a:solidFill>
                  <a:latin typeface="Georgia" panose="02040502050405020303" pitchFamily="18" charset="0"/>
                </a:endParaRPr>
              </a:p>
            </p:txBody>
          </p:sp>
          <p:sp>
            <p:nvSpPr>
              <p:cNvPr id="26" name="Text 27">
                <a:extLst>
                  <a:ext uri="{FF2B5EF4-FFF2-40B4-BE49-F238E27FC236}">
                    <a16:creationId xmlns:a16="http://schemas.microsoft.com/office/drawing/2014/main" id="{AFF2986A-50A8-EBF4-834B-04F502584E8A}"/>
                  </a:ext>
                </a:extLst>
              </p:cNvPr>
              <p:cNvSpPr/>
              <p:nvPr/>
            </p:nvSpPr>
            <p:spPr>
              <a:xfrm>
                <a:off x="1237773" y="5597536"/>
                <a:ext cx="10025111" cy="1060704"/>
              </a:xfrm>
              <a:prstGeom prst="rect">
                <a:avLst/>
              </a:prstGeom>
              <a:noFill/>
              <a:ln/>
            </p:spPr>
            <p:txBody>
              <a:bodyPr wrap="square" lIns="0" tIns="50800" rIns="50800" bIns="25400" rtlCol="0" anchor="t"/>
              <a:lstStyle/>
              <a:p>
                <a:pPr marL="0" indent="0">
                  <a:buNone/>
                </a:pPr>
                <a:r>
                  <a:rPr lang="en-US" sz="1200" dirty="0">
                    <a:solidFill>
                      <a:srgbClr val="222222"/>
                    </a:solidFill>
                    <a:latin typeface="Georgia" panose="02040502050405020303" pitchFamily="18" charset="0"/>
                    <a:ea typeface="Arial" pitchFamily="34" charset="-122"/>
                    <a:cs typeface="Arial" pitchFamily="34" charset="-120"/>
                  </a:rPr>
                  <a:t>Where a district sat at the boundary of two plausible clusters, assignment was determined by the direction of natural produce flow - toward the nearest processing hub, cold chain facility, or APMC market. For example, Tumakuru's tomato and mango produce flows toward Bengaluru-area processors (C5), not toward the Chitradurga-Ballari belt (C2), even though its pomegranate LQ (2.72) could suggest a C2 affinity.</a:t>
                </a:r>
                <a:endParaRPr lang="en-US" sz="1200" dirty="0">
                  <a:latin typeface="Georgia" panose="02040502050405020303" pitchFamily="18" charset="0"/>
                </a:endParaRPr>
              </a:p>
            </p:txBody>
          </p:sp>
        </p:grpSp>
      </p:grpSp>
      <p:grpSp>
        <p:nvGrpSpPr>
          <p:cNvPr id="27" name="Group 26">
            <a:extLst>
              <a:ext uri="{FF2B5EF4-FFF2-40B4-BE49-F238E27FC236}">
                <a16:creationId xmlns:a16="http://schemas.microsoft.com/office/drawing/2014/main" id="{2A9F2F0E-3C80-4FCC-E053-6ECEE7FAB045}"/>
              </a:ext>
            </a:extLst>
          </p:cNvPr>
          <p:cNvGrpSpPr/>
          <p:nvPr/>
        </p:nvGrpSpPr>
        <p:grpSpPr>
          <a:xfrm>
            <a:off x="623736" y="5830349"/>
            <a:ext cx="10776994" cy="265651"/>
            <a:chOff x="4069080" y="5532120"/>
            <a:chExt cx="7863840" cy="347472"/>
          </a:xfrm>
        </p:grpSpPr>
        <p:sp>
          <p:nvSpPr>
            <p:cNvPr id="28" name="Shape 28">
              <a:extLst>
                <a:ext uri="{FF2B5EF4-FFF2-40B4-BE49-F238E27FC236}">
                  <a16:creationId xmlns:a16="http://schemas.microsoft.com/office/drawing/2014/main" id="{FB7B119F-F8F4-97E2-0669-8B6BF4BD3ED7}"/>
                </a:ext>
              </a:extLst>
            </p:cNvPr>
            <p:cNvSpPr/>
            <p:nvPr/>
          </p:nvSpPr>
          <p:spPr>
            <a:xfrm>
              <a:off x="4069080" y="5532120"/>
              <a:ext cx="7863840" cy="347472"/>
            </a:xfrm>
            <a:prstGeom prst="rect">
              <a:avLst/>
            </a:prstGeom>
            <a:solidFill>
              <a:srgbClr val="0E6655"/>
            </a:solidFill>
            <a:ln w="12700">
              <a:solidFill>
                <a:srgbClr val="0E6655"/>
              </a:solidFill>
              <a:prstDash val="solid"/>
            </a:ln>
          </p:spPr>
          <p:txBody>
            <a:bodyPr/>
            <a:lstStyle/>
            <a:p>
              <a:endParaRPr lang="en-IN">
                <a:latin typeface="Georgia" panose="02040502050405020303" pitchFamily="18" charset="0"/>
              </a:endParaRPr>
            </a:p>
          </p:txBody>
        </p:sp>
        <p:sp>
          <p:nvSpPr>
            <p:cNvPr id="29" name="Text 29">
              <a:extLst>
                <a:ext uri="{FF2B5EF4-FFF2-40B4-BE49-F238E27FC236}">
                  <a16:creationId xmlns:a16="http://schemas.microsoft.com/office/drawing/2014/main" id="{004E381C-2166-1F63-1B6C-56389CD60EA6}"/>
                </a:ext>
              </a:extLst>
            </p:cNvPr>
            <p:cNvSpPr/>
            <p:nvPr/>
          </p:nvSpPr>
          <p:spPr>
            <a:xfrm>
              <a:off x="4160520" y="5550409"/>
              <a:ext cx="7680960" cy="292608"/>
            </a:xfrm>
            <a:prstGeom prst="rect">
              <a:avLst/>
            </a:prstGeom>
            <a:noFill/>
            <a:ln/>
          </p:spPr>
          <p:txBody>
            <a:bodyPr wrap="square" lIns="0" tIns="0" rIns="0" bIns="0" rtlCol="0" anchor="ctr"/>
            <a:lstStyle/>
            <a:p>
              <a:pPr marL="0" indent="0">
                <a:buNone/>
              </a:pPr>
              <a:r>
                <a:rPr lang="en-US" sz="1000" b="1" dirty="0">
                  <a:solidFill>
                    <a:srgbClr val="FFFFFF"/>
                  </a:solidFill>
                  <a:latin typeface="Georgia" panose="02040502050405020303" pitchFamily="18" charset="0"/>
                  <a:ea typeface="Arial" pitchFamily="34" charset="-122"/>
                  <a:cs typeface="Arial" pitchFamily="34" charset="-120"/>
                </a:rPr>
                <a:t>VALIDATION: </a:t>
              </a:r>
              <a:r>
                <a:rPr lang="en-US" sz="1000" dirty="0">
                  <a:solidFill>
                    <a:srgbClr val="FFFFFF"/>
                  </a:solidFill>
                  <a:latin typeface="Georgia" panose="02040502050405020303" pitchFamily="18" charset="0"/>
                  <a:ea typeface="Arial" pitchFamily="34" charset="-122"/>
                  <a:cs typeface="Arial" pitchFamily="34" charset="-120"/>
                </a:rPr>
                <a:t>All 7 clusters have cluster-level LQ ≥ 1.5 for their primary crop. All 31 districts assigned with no overlaps. Every cluster is geographically contiguous.</a:t>
              </a:r>
              <a:endParaRPr lang="en-US" sz="1000" dirty="0">
                <a:latin typeface="Georgia" panose="02040502050405020303" pitchFamily="18" charset="0"/>
              </a:endParaRPr>
            </a:p>
          </p:txBody>
        </p:sp>
      </p:grpSp>
      <p:sp>
        <p:nvSpPr>
          <p:cNvPr id="3" name="Slide Number Placeholder 2">
            <a:extLst>
              <a:ext uri="{FF2B5EF4-FFF2-40B4-BE49-F238E27FC236}">
                <a16:creationId xmlns:a16="http://schemas.microsoft.com/office/drawing/2014/main" id="{F4DF4917-C3E8-36BB-1790-D21DB3E55CBA}"/>
              </a:ext>
            </a:extLst>
          </p:cNvPr>
          <p:cNvSpPr>
            <a:spLocks noGrp="1"/>
          </p:cNvSpPr>
          <p:nvPr>
            <p:ph type="sldNum" sz="quarter" idx="7"/>
          </p:nvPr>
        </p:nvSpPr>
        <p:spPr>
          <a:xfrm>
            <a:off x="779630" y="6477000"/>
            <a:ext cx="383540" cy="115416"/>
          </a:xfrm>
        </p:spPr>
        <p:txBody>
          <a:bodyPr/>
          <a:lstStyle/>
          <a:p>
            <a:pPr marL="12700">
              <a:spcBef>
                <a:spcPts val="60"/>
              </a:spcBef>
            </a:pPr>
            <a:r>
              <a:rPr lang="en-IN" dirty="0">
                <a:latin typeface="Georgia" panose="02040502050405020303" pitchFamily="18" charset="0"/>
              </a:rPr>
              <a:t>Page</a:t>
            </a:r>
            <a:r>
              <a:rPr lang="en-IN" spc="-55" dirty="0">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39</a:t>
            </a:fld>
            <a:endParaRPr dirty="0">
              <a:latin typeface="Georgia" panose="02040502050405020303" pitchFamily="18" charset="0"/>
            </a:endParaRPr>
          </a:p>
        </p:txBody>
      </p:sp>
      <p:pic>
        <p:nvPicPr>
          <p:cNvPr id="5" name="Picture 4">
            <a:extLst>
              <a:ext uri="{FF2B5EF4-FFF2-40B4-BE49-F238E27FC236}">
                <a16:creationId xmlns:a16="http://schemas.microsoft.com/office/drawing/2014/main" id="{9929068A-3B15-0A0B-D5D4-449327A69499}"/>
              </a:ext>
            </a:extLst>
          </p:cNvPr>
          <p:cNvPicPr>
            <a:picLocks noChangeAspect="1"/>
          </p:cNvPicPr>
          <p:nvPr/>
        </p:nvPicPr>
        <p:blipFill>
          <a:blip r:embed="rId2"/>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40234705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9A121-F1A3-B3E1-38D0-72D6F5D63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E06EBE-4846-C2A9-0607-433906A2DC13}"/>
              </a:ext>
            </a:extLst>
          </p:cNvPr>
          <p:cNvSpPr>
            <a:spLocks noGrp="1"/>
          </p:cNvSpPr>
          <p:nvPr>
            <p:ph type="title"/>
          </p:nvPr>
        </p:nvSpPr>
        <p:spPr>
          <a:xfrm>
            <a:off x="609600" y="381000"/>
            <a:ext cx="10561116" cy="369332"/>
          </a:xfrm>
        </p:spPr>
        <p:txBody>
          <a:bodyPr/>
          <a:lstStyle/>
          <a:p>
            <a:pPr marL="0" indent="0">
              <a:buNone/>
            </a:pPr>
            <a:r>
              <a:rPr lang="en-US" sz="2400" dirty="0">
                <a:solidFill>
                  <a:srgbClr val="FFFFFF"/>
                </a:solidFill>
                <a:latin typeface="Georgia" panose="02040502050405020303" pitchFamily="18" charset="0"/>
                <a:ea typeface="Arial" pitchFamily="34" charset="-122"/>
                <a:cs typeface="Arial" pitchFamily="34" charset="-120"/>
              </a:rPr>
              <a:t>Cluster Formation: Step-by-Step</a:t>
            </a:r>
            <a:endParaRPr lang="en-US" sz="2400" dirty="0">
              <a:latin typeface="Georgia" panose="02040502050405020303" pitchFamily="18" charset="0"/>
            </a:endParaRPr>
          </a:p>
        </p:txBody>
      </p:sp>
      <p:grpSp>
        <p:nvGrpSpPr>
          <p:cNvPr id="3" name="Group 2">
            <a:extLst>
              <a:ext uri="{FF2B5EF4-FFF2-40B4-BE49-F238E27FC236}">
                <a16:creationId xmlns:a16="http://schemas.microsoft.com/office/drawing/2014/main" id="{D4827AD3-5DF9-D161-A573-50EF28A92F6B}"/>
              </a:ext>
            </a:extLst>
          </p:cNvPr>
          <p:cNvGrpSpPr/>
          <p:nvPr/>
        </p:nvGrpSpPr>
        <p:grpSpPr>
          <a:xfrm>
            <a:off x="381000" y="914400"/>
            <a:ext cx="11506200" cy="5089636"/>
            <a:chOff x="182880" y="713232"/>
            <a:chExt cx="11704320" cy="5431536"/>
          </a:xfrm>
        </p:grpSpPr>
        <p:sp>
          <p:nvSpPr>
            <p:cNvPr id="4" name="Shape 5">
              <a:extLst>
                <a:ext uri="{FF2B5EF4-FFF2-40B4-BE49-F238E27FC236}">
                  <a16:creationId xmlns:a16="http://schemas.microsoft.com/office/drawing/2014/main" id="{75E824A5-9F62-C866-3194-6C98C22F6101}"/>
                </a:ext>
              </a:extLst>
            </p:cNvPr>
            <p:cNvSpPr/>
            <p:nvPr/>
          </p:nvSpPr>
          <p:spPr>
            <a:xfrm>
              <a:off x="182880" y="713232"/>
              <a:ext cx="5760720" cy="1316736"/>
            </a:xfrm>
            <a:prstGeom prst="rect">
              <a:avLst/>
            </a:prstGeom>
            <a:solidFill>
              <a:srgbClr val="EBF5FB"/>
            </a:solidFill>
            <a:ln w="6350">
              <a:solidFill>
                <a:srgbClr val="D5D8DC"/>
              </a:solidFill>
              <a:prstDash val="solid"/>
            </a:ln>
          </p:spPr>
          <p:txBody>
            <a:bodyPr/>
            <a:lstStyle/>
            <a:p>
              <a:endParaRPr lang="en-IN">
                <a:latin typeface="Georgia" panose="02040502050405020303" pitchFamily="18" charset="0"/>
              </a:endParaRPr>
            </a:p>
          </p:txBody>
        </p:sp>
        <p:sp>
          <p:nvSpPr>
            <p:cNvPr id="5" name="Shape 6">
              <a:extLst>
                <a:ext uri="{FF2B5EF4-FFF2-40B4-BE49-F238E27FC236}">
                  <a16:creationId xmlns:a16="http://schemas.microsoft.com/office/drawing/2014/main" id="{3A94C03B-34C8-DED9-E99C-985C8B0D7B8A}"/>
                </a:ext>
              </a:extLst>
            </p:cNvPr>
            <p:cNvSpPr/>
            <p:nvPr/>
          </p:nvSpPr>
          <p:spPr>
            <a:xfrm>
              <a:off x="182880" y="713232"/>
              <a:ext cx="365760" cy="1316736"/>
            </a:xfrm>
            <a:prstGeom prst="rect">
              <a:avLst/>
            </a:prstGeom>
            <a:solidFill>
              <a:srgbClr val="0B6E78"/>
            </a:solidFill>
            <a:ln w="12700">
              <a:solidFill>
                <a:srgbClr val="1B3A6B"/>
              </a:solidFill>
              <a:prstDash val="solid"/>
            </a:ln>
          </p:spPr>
          <p:txBody>
            <a:bodyPr/>
            <a:lstStyle/>
            <a:p>
              <a:endParaRPr lang="en-IN">
                <a:latin typeface="Georgia" panose="02040502050405020303" pitchFamily="18" charset="0"/>
              </a:endParaRPr>
            </a:p>
          </p:txBody>
        </p:sp>
        <p:sp>
          <p:nvSpPr>
            <p:cNvPr id="6" name="Text 7">
              <a:extLst>
                <a:ext uri="{FF2B5EF4-FFF2-40B4-BE49-F238E27FC236}">
                  <a16:creationId xmlns:a16="http://schemas.microsoft.com/office/drawing/2014/main" id="{88751458-FC3A-05A2-4386-C8E0A31711DD}"/>
                </a:ext>
              </a:extLst>
            </p:cNvPr>
            <p:cNvSpPr/>
            <p:nvPr/>
          </p:nvSpPr>
          <p:spPr>
            <a:xfrm>
              <a:off x="192024" y="1216152"/>
              <a:ext cx="347472"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anose="02040502050405020303" pitchFamily="18" charset="0"/>
                  <a:ea typeface="Arial" pitchFamily="34" charset="-122"/>
                  <a:cs typeface="Arial" pitchFamily="34" charset="-120"/>
                </a:rPr>
                <a:t>C1</a:t>
              </a:r>
              <a:endParaRPr lang="en-US" sz="900" dirty="0">
                <a:latin typeface="Georgia" panose="02040502050405020303" pitchFamily="18" charset="0"/>
              </a:endParaRPr>
            </a:p>
          </p:txBody>
        </p:sp>
        <p:sp>
          <p:nvSpPr>
            <p:cNvPr id="8" name="Text 8">
              <a:extLst>
                <a:ext uri="{FF2B5EF4-FFF2-40B4-BE49-F238E27FC236}">
                  <a16:creationId xmlns:a16="http://schemas.microsoft.com/office/drawing/2014/main" id="{2ACB3A87-148C-CBB7-0DC4-129BC46B9C27}"/>
                </a:ext>
              </a:extLst>
            </p:cNvPr>
            <p:cNvSpPr/>
            <p:nvPr/>
          </p:nvSpPr>
          <p:spPr>
            <a:xfrm>
              <a:off x="594360" y="749808"/>
              <a:ext cx="5303520" cy="201168"/>
            </a:xfrm>
            <a:prstGeom prst="rect">
              <a:avLst/>
            </a:prstGeom>
            <a:noFill/>
            <a:ln/>
          </p:spPr>
          <p:txBody>
            <a:bodyPr wrap="square" lIns="0" tIns="38100" rIns="38100" bIns="0" rtlCol="0" anchor="t"/>
            <a:lstStyle/>
            <a:p>
              <a:pPr marL="0" indent="0">
                <a:buNone/>
              </a:pPr>
              <a:r>
                <a:rPr lang="en-US" sz="900" b="1" dirty="0">
                  <a:solidFill>
                    <a:srgbClr val="1B3A6B"/>
                  </a:solidFill>
                  <a:latin typeface="Georgia" panose="02040502050405020303" pitchFamily="18" charset="0"/>
                  <a:ea typeface="Arial" pitchFamily="34" charset="-122"/>
                  <a:cs typeface="Arial" pitchFamily="34" charset="-120"/>
                </a:rPr>
                <a:t>North Karnataka Onion-Grape-Raisin-Pomegranate Belt</a:t>
              </a:r>
              <a:endParaRPr lang="en-US" sz="900" dirty="0">
                <a:latin typeface="Georgia" panose="02040502050405020303" pitchFamily="18" charset="0"/>
              </a:endParaRPr>
            </a:p>
          </p:txBody>
        </p:sp>
        <p:sp>
          <p:nvSpPr>
            <p:cNvPr id="9" name="Text 9">
              <a:extLst>
                <a:ext uri="{FF2B5EF4-FFF2-40B4-BE49-F238E27FC236}">
                  <a16:creationId xmlns:a16="http://schemas.microsoft.com/office/drawing/2014/main" id="{86A1F7EE-E137-C60B-64A3-C17BE1D1C260}"/>
                </a:ext>
              </a:extLst>
            </p:cNvPr>
            <p:cNvSpPr/>
            <p:nvPr/>
          </p:nvSpPr>
          <p:spPr>
            <a:xfrm>
              <a:off x="594360" y="960120"/>
              <a:ext cx="5303520" cy="146304"/>
            </a:xfrm>
            <a:prstGeom prst="rect">
              <a:avLst/>
            </a:prstGeom>
            <a:noFill/>
            <a:ln/>
          </p:spPr>
          <p:txBody>
            <a:bodyPr wrap="square" lIns="0" tIns="38100" rIns="38100" bIns="0" rtlCol="0" anchor="t"/>
            <a:lstStyle/>
            <a:p>
              <a:pPr marL="0" indent="0">
                <a:buNone/>
              </a:pPr>
              <a:r>
                <a:rPr lang="en-US" sz="900" b="1" dirty="0">
                  <a:solidFill>
                    <a:srgbClr val="0E6655"/>
                  </a:solidFill>
                  <a:latin typeface="Georgia" panose="02040502050405020303" pitchFamily="18" charset="0"/>
                  <a:ea typeface="Arial" pitchFamily="34" charset="-122"/>
                  <a:cs typeface="Arial" pitchFamily="34" charset="-120"/>
                </a:rPr>
                <a:t>Anchor: </a:t>
              </a:r>
              <a:r>
                <a:rPr lang="en-US" sz="900" dirty="0">
                  <a:solidFill>
                    <a:srgbClr val="0E6655"/>
                  </a:solidFill>
                  <a:latin typeface="Georgia" panose="02040502050405020303" pitchFamily="18" charset="0"/>
                  <a:ea typeface="Arial" pitchFamily="34" charset="-122"/>
                  <a:cs typeface="Arial" pitchFamily="34" charset="-120"/>
                </a:rPr>
                <a:t>Vijayapura</a:t>
              </a:r>
              <a:endParaRPr lang="en-US" sz="900" dirty="0">
                <a:latin typeface="Georgia" panose="02040502050405020303" pitchFamily="18" charset="0"/>
              </a:endParaRPr>
            </a:p>
          </p:txBody>
        </p:sp>
        <p:sp>
          <p:nvSpPr>
            <p:cNvPr id="31" name="Text 10">
              <a:extLst>
                <a:ext uri="{FF2B5EF4-FFF2-40B4-BE49-F238E27FC236}">
                  <a16:creationId xmlns:a16="http://schemas.microsoft.com/office/drawing/2014/main" id="{F8A70F16-970C-B00F-9A3F-6370123A9EAF}"/>
                </a:ext>
              </a:extLst>
            </p:cNvPr>
            <p:cNvSpPr/>
            <p:nvPr/>
          </p:nvSpPr>
          <p:spPr>
            <a:xfrm>
              <a:off x="594360" y="1115568"/>
              <a:ext cx="5303520" cy="868680"/>
            </a:xfrm>
            <a:prstGeom prst="rect">
              <a:avLst/>
            </a:prstGeom>
            <a:noFill/>
            <a:ln/>
          </p:spPr>
          <p:txBody>
            <a:bodyPr wrap="square" lIns="0" tIns="38100" rIns="38100" bIns="25400" rtlCol="0" anchor="t"/>
            <a:lstStyle/>
            <a:p>
              <a:pPr marL="0" indent="0">
                <a:buNone/>
              </a:pPr>
              <a:r>
                <a:rPr lang="en-US" sz="900" dirty="0">
                  <a:solidFill>
                    <a:srgbClr val="111111"/>
                  </a:solidFill>
                  <a:latin typeface="Georgia" panose="02040502050405020303" pitchFamily="18" charset="0"/>
                  <a:ea typeface="Arial" pitchFamily="34" charset="-122"/>
                  <a:cs typeface="Arial" pitchFamily="34" charset="-120"/>
                </a:rPr>
                <a:t>Vijayapura anchors C1 with a grape LQ of 3.88 (8,68,590 MT - largest single-district grape production in the state) and onion LQ of 1.60 (8,80,943 MT). Bagalkote drew in on onion LQ 2.56 and grape LQ 0.92, with direct border adjacency to Vijayapura. Gadag joined on onion LQ 2.81, bordering both Vijayapura and Bagalkote. Belagavi was included because of its grape LQ 2.60 (1,37,381 MT), directly linking to the raisin processing value chain.</a:t>
              </a:r>
              <a:endParaRPr lang="en-US" sz="900" dirty="0">
                <a:latin typeface="Georgia" panose="02040502050405020303" pitchFamily="18" charset="0"/>
              </a:endParaRPr>
            </a:p>
          </p:txBody>
        </p:sp>
        <p:sp>
          <p:nvSpPr>
            <p:cNvPr id="35" name="Shape 11">
              <a:extLst>
                <a:ext uri="{FF2B5EF4-FFF2-40B4-BE49-F238E27FC236}">
                  <a16:creationId xmlns:a16="http://schemas.microsoft.com/office/drawing/2014/main" id="{9CCF1A9F-230F-37F6-6BCA-2DBBF472A9E7}"/>
                </a:ext>
              </a:extLst>
            </p:cNvPr>
            <p:cNvSpPr/>
            <p:nvPr/>
          </p:nvSpPr>
          <p:spPr>
            <a:xfrm>
              <a:off x="6126480" y="713232"/>
              <a:ext cx="5760720" cy="1316736"/>
            </a:xfrm>
            <a:prstGeom prst="rect">
              <a:avLst/>
            </a:prstGeom>
            <a:solidFill>
              <a:srgbClr val="D5F5E3"/>
            </a:solidFill>
            <a:ln w="6350">
              <a:solidFill>
                <a:srgbClr val="D5D8DC"/>
              </a:solidFill>
              <a:prstDash val="solid"/>
            </a:ln>
          </p:spPr>
          <p:txBody>
            <a:bodyPr/>
            <a:lstStyle/>
            <a:p>
              <a:endParaRPr lang="en-IN">
                <a:latin typeface="Georgia" panose="02040502050405020303" pitchFamily="18" charset="0"/>
              </a:endParaRPr>
            </a:p>
          </p:txBody>
        </p:sp>
        <p:sp>
          <p:nvSpPr>
            <p:cNvPr id="36" name="Shape 12">
              <a:extLst>
                <a:ext uri="{FF2B5EF4-FFF2-40B4-BE49-F238E27FC236}">
                  <a16:creationId xmlns:a16="http://schemas.microsoft.com/office/drawing/2014/main" id="{DE11A0F6-387A-4060-EBC4-B17906D31083}"/>
                </a:ext>
              </a:extLst>
            </p:cNvPr>
            <p:cNvSpPr/>
            <p:nvPr/>
          </p:nvSpPr>
          <p:spPr>
            <a:xfrm>
              <a:off x="6126480" y="713232"/>
              <a:ext cx="365760" cy="1316736"/>
            </a:xfrm>
            <a:prstGeom prst="rect">
              <a:avLst/>
            </a:prstGeom>
            <a:solidFill>
              <a:srgbClr val="0B6E78"/>
            </a:solidFill>
            <a:ln w="12700">
              <a:solidFill>
                <a:srgbClr val="1B3A6B"/>
              </a:solidFill>
              <a:prstDash val="solid"/>
            </a:ln>
          </p:spPr>
          <p:txBody>
            <a:bodyPr/>
            <a:lstStyle/>
            <a:p>
              <a:endParaRPr lang="en-IN">
                <a:latin typeface="Georgia" panose="02040502050405020303" pitchFamily="18" charset="0"/>
              </a:endParaRPr>
            </a:p>
          </p:txBody>
        </p:sp>
        <p:sp>
          <p:nvSpPr>
            <p:cNvPr id="37" name="Text 13">
              <a:extLst>
                <a:ext uri="{FF2B5EF4-FFF2-40B4-BE49-F238E27FC236}">
                  <a16:creationId xmlns:a16="http://schemas.microsoft.com/office/drawing/2014/main" id="{3661AAB2-33B6-7FFF-6722-FF46BF446A87}"/>
                </a:ext>
              </a:extLst>
            </p:cNvPr>
            <p:cNvSpPr/>
            <p:nvPr/>
          </p:nvSpPr>
          <p:spPr>
            <a:xfrm>
              <a:off x="6135624" y="1216152"/>
              <a:ext cx="347472"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anose="02040502050405020303" pitchFamily="18" charset="0"/>
                  <a:ea typeface="Arial" pitchFamily="34" charset="-122"/>
                  <a:cs typeface="Arial" pitchFamily="34" charset="-120"/>
                </a:rPr>
                <a:t>C2</a:t>
              </a:r>
              <a:endParaRPr lang="en-US" sz="900" dirty="0">
                <a:latin typeface="Georgia" panose="02040502050405020303" pitchFamily="18" charset="0"/>
              </a:endParaRPr>
            </a:p>
          </p:txBody>
        </p:sp>
        <p:sp>
          <p:nvSpPr>
            <p:cNvPr id="38" name="Text 14">
              <a:extLst>
                <a:ext uri="{FF2B5EF4-FFF2-40B4-BE49-F238E27FC236}">
                  <a16:creationId xmlns:a16="http://schemas.microsoft.com/office/drawing/2014/main" id="{DD2316D3-0DB3-17BE-CE3B-08A1CAB530D5}"/>
                </a:ext>
              </a:extLst>
            </p:cNvPr>
            <p:cNvSpPr/>
            <p:nvPr/>
          </p:nvSpPr>
          <p:spPr>
            <a:xfrm>
              <a:off x="6537960" y="749808"/>
              <a:ext cx="5303520" cy="201168"/>
            </a:xfrm>
            <a:prstGeom prst="rect">
              <a:avLst/>
            </a:prstGeom>
            <a:noFill/>
            <a:ln/>
          </p:spPr>
          <p:txBody>
            <a:bodyPr wrap="square" lIns="0" tIns="38100" rIns="38100" bIns="0" rtlCol="0" anchor="t"/>
            <a:lstStyle/>
            <a:p>
              <a:pPr marL="0" indent="0">
                <a:buNone/>
              </a:pPr>
              <a:r>
                <a:rPr lang="en-US" sz="900" b="1" dirty="0">
                  <a:solidFill>
                    <a:srgbClr val="1B3A6B"/>
                  </a:solidFill>
                  <a:latin typeface="Georgia" panose="02040502050405020303" pitchFamily="18" charset="0"/>
                  <a:ea typeface="Arial" pitchFamily="34" charset="-122"/>
                  <a:cs typeface="Arial" pitchFamily="34" charset="-120"/>
                </a:rPr>
                <a:t>Central Karnataka Onion-Pomegranate Belt</a:t>
              </a:r>
              <a:endParaRPr lang="en-US" sz="900" dirty="0">
                <a:latin typeface="Georgia" panose="02040502050405020303" pitchFamily="18" charset="0"/>
              </a:endParaRPr>
            </a:p>
          </p:txBody>
        </p:sp>
        <p:sp>
          <p:nvSpPr>
            <p:cNvPr id="39" name="Text 15">
              <a:extLst>
                <a:ext uri="{FF2B5EF4-FFF2-40B4-BE49-F238E27FC236}">
                  <a16:creationId xmlns:a16="http://schemas.microsoft.com/office/drawing/2014/main" id="{F6C5B3C0-C3D5-7675-0A76-4B30D2A0EAA1}"/>
                </a:ext>
              </a:extLst>
            </p:cNvPr>
            <p:cNvSpPr/>
            <p:nvPr/>
          </p:nvSpPr>
          <p:spPr>
            <a:xfrm>
              <a:off x="6537960" y="960120"/>
              <a:ext cx="5303520" cy="146304"/>
            </a:xfrm>
            <a:prstGeom prst="rect">
              <a:avLst/>
            </a:prstGeom>
            <a:noFill/>
            <a:ln/>
          </p:spPr>
          <p:txBody>
            <a:bodyPr wrap="square" lIns="0" tIns="38100" rIns="38100" bIns="0" rtlCol="0" anchor="t"/>
            <a:lstStyle/>
            <a:p>
              <a:pPr marL="0" indent="0">
                <a:buNone/>
              </a:pPr>
              <a:r>
                <a:rPr lang="en-US" sz="900" b="1" dirty="0">
                  <a:solidFill>
                    <a:srgbClr val="0E6655"/>
                  </a:solidFill>
                  <a:latin typeface="Georgia" panose="02040502050405020303" pitchFamily="18" charset="0"/>
                  <a:ea typeface="Arial" pitchFamily="34" charset="-122"/>
                  <a:cs typeface="Arial" pitchFamily="34" charset="-120"/>
                </a:rPr>
                <a:t>Anchor: </a:t>
              </a:r>
              <a:r>
                <a:rPr lang="en-US" sz="900" dirty="0">
                  <a:solidFill>
                    <a:srgbClr val="0E6655"/>
                  </a:solidFill>
                  <a:latin typeface="Georgia" panose="02040502050405020303" pitchFamily="18" charset="0"/>
                  <a:ea typeface="Arial" pitchFamily="34" charset="-122"/>
                  <a:cs typeface="Arial" pitchFamily="34" charset="-120"/>
                </a:rPr>
                <a:t>Vijayanagara / Ballari / Chitradurga</a:t>
              </a:r>
              <a:endParaRPr lang="en-US" sz="900" dirty="0">
                <a:latin typeface="Georgia" panose="02040502050405020303" pitchFamily="18" charset="0"/>
              </a:endParaRPr>
            </a:p>
          </p:txBody>
        </p:sp>
        <p:sp>
          <p:nvSpPr>
            <p:cNvPr id="40" name="Text 16">
              <a:extLst>
                <a:ext uri="{FF2B5EF4-FFF2-40B4-BE49-F238E27FC236}">
                  <a16:creationId xmlns:a16="http://schemas.microsoft.com/office/drawing/2014/main" id="{BDA24DBD-0F29-8BAA-1009-AC038CD95F15}"/>
                </a:ext>
              </a:extLst>
            </p:cNvPr>
            <p:cNvSpPr/>
            <p:nvPr/>
          </p:nvSpPr>
          <p:spPr>
            <a:xfrm>
              <a:off x="6537960" y="1115568"/>
              <a:ext cx="5303520" cy="868680"/>
            </a:xfrm>
            <a:prstGeom prst="rect">
              <a:avLst/>
            </a:prstGeom>
            <a:noFill/>
            <a:ln/>
          </p:spPr>
          <p:txBody>
            <a:bodyPr wrap="square" lIns="0" tIns="38100" rIns="38100" bIns="25400" rtlCol="0" anchor="t"/>
            <a:lstStyle/>
            <a:p>
              <a:pPr marL="0" indent="0">
                <a:buNone/>
              </a:pPr>
              <a:r>
                <a:rPr lang="en-US" sz="900" dirty="0">
                  <a:solidFill>
                    <a:srgbClr val="111111"/>
                  </a:solidFill>
                  <a:latin typeface="Georgia" panose="02040502050405020303" pitchFamily="18" charset="0"/>
                  <a:ea typeface="Arial" pitchFamily="34" charset="-122"/>
                  <a:cs typeface="Arial" pitchFamily="34" charset="-120"/>
                </a:rPr>
                <a:t>Formed around the contiguous block of Chitradurga (pom. LQ 2.20, onion LQ 2.12), Koppal (pom. LQ 1.81, onion LQ 1.86), and Vijayanagara (pom. LQ 6.15, onion LQ 1.79). Ballari joined on its pomegranate LQ (7.16) and border with Vijayanagara. Davanagere was pulled in on onion LQ 1.37 and pomegranate LQ 1.51, bordering Chitradurga and Ballari.</a:t>
              </a:r>
              <a:endParaRPr lang="en-US" sz="900" dirty="0">
                <a:latin typeface="Georgia" panose="02040502050405020303" pitchFamily="18" charset="0"/>
              </a:endParaRPr>
            </a:p>
          </p:txBody>
        </p:sp>
        <p:sp>
          <p:nvSpPr>
            <p:cNvPr id="41" name="Shape 17">
              <a:extLst>
                <a:ext uri="{FF2B5EF4-FFF2-40B4-BE49-F238E27FC236}">
                  <a16:creationId xmlns:a16="http://schemas.microsoft.com/office/drawing/2014/main" id="{E5175DD2-D92E-B31A-A6AB-5CE33D00F5E8}"/>
                </a:ext>
              </a:extLst>
            </p:cNvPr>
            <p:cNvSpPr/>
            <p:nvPr/>
          </p:nvSpPr>
          <p:spPr>
            <a:xfrm>
              <a:off x="182880" y="2084832"/>
              <a:ext cx="5760720" cy="1316736"/>
            </a:xfrm>
            <a:prstGeom prst="rect">
              <a:avLst/>
            </a:prstGeom>
            <a:solidFill>
              <a:srgbClr val="FDEBD0"/>
            </a:solidFill>
            <a:ln w="6350">
              <a:solidFill>
                <a:srgbClr val="D5D8DC"/>
              </a:solidFill>
              <a:prstDash val="solid"/>
            </a:ln>
          </p:spPr>
          <p:txBody>
            <a:bodyPr/>
            <a:lstStyle/>
            <a:p>
              <a:endParaRPr lang="en-IN">
                <a:latin typeface="Georgia" panose="02040502050405020303" pitchFamily="18" charset="0"/>
              </a:endParaRPr>
            </a:p>
          </p:txBody>
        </p:sp>
        <p:sp>
          <p:nvSpPr>
            <p:cNvPr id="42" name="Shape 18">
              <a:extLst>
                <a:ext uri="{FF2B5EF4-FFF2-40B4-BE49-F238E27FC236}">
                  <a16:creationId xmlns:a16="http://schemas.microsoft.com/office/drawing/2014/main" id="{6BA0EF35-1540-DA12-5389-6A938B49BE4C}"/>
                </a:ext>
              </a:extLst>
            </p:cNvPr>
            <p:cNvSpPr/>
            <p:nvPr/>
          </p:nvSpPr>
          <p:spPr>
            <a:xfrm>
              <a:off x="182880" y="2084832"/>
              <a:ext cx="365760" cy="1316736"/>
            </a:xfrm>
            <a:prstGeom prst="rect">
              <a:avLst/>
            </a:prstGeom>
            <a:solidFill>
              <a:srgbClr val="0B6E78"/>
            </a:solidFill>
            <a:ln w="12700">
              <a:solidFill>
                <a:srgbClr val="1B3A6B"/>
              </a:solidFill>
              <a:prstDash val="solid"/>
            </a:ln>
          </p:spPr>
          <p:txBody>
            <a:bodyPr/>
            <a:lstStyle/>
            <a:p>
              <a:endParaRPr lang="en-IN">
                <a:latin typeface="Georgia" panose="02040502050405020303" pitchFamily="18" charset="0"/>
              </a:endParaRPr>
            </a:p>
          </p:txBody>
        </p:sp>
        <p:sp>
          <p:nvSpPr>
            <p:cNvPr id="43" name="Text 19">
              <a:extLst>
                <a:ext uri="{FF2B5EF4-FFF2-40B4-BE49-F238E27FC236}">
                  <a16:creationId xmlns:a16="http://schemas.microsoft.com/office/drawing/2014/main" id="{E768AF39-B255-67E2-C9B8-B0EE3C36EE39}"/>
                </a:ext>
              </a:extLst>
            </p:cNvPr>
            <p:cNvSpPr/>
            <p:nvPr/>
          </p:nvSpPr>
          <p:spPr>
            <a:xfrm>
              <a:off x="192024" y="2587752"/>
              <a:ext cx="347472"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anose="02040502050405020303" pitchFamily="18" charset="0"/>
                  <a:ea typeface="Arial" pitchFamily="34" charset="-122"/>
                  <a:cs typeface="Arial" pitchFamily="34" charset="-120"/>
                </a:rPr>
                <a:t>C3</a:t>
              </a:r>
              <a:endParaRPr lang="en-US" sz="900" dirty="0">
                <a:latin typeface="Georgia" panose="02040502050405020303" pitchFamily="18" charset="0"/>
              </a:endParaRPr>
            </a:p>
          </p:txBody>
        </p:sp>
        <p:sp>
          <p:nvSpPr>
            <p:cNvPr id="44" name="Text 20">
              <a:extLst>
                <a:ext uri="{FF2B5EF4-FFF2-40B4-BE49-F238E27FC236}">
                  <a16:creationId xmlns:a16="http://schemas.microsoft.com/office/drawing/2014/main" id="{AF12EFAA-42BD-D070-9816-32658C8ED6E3}"/>
                </a:ext>
              </a:extLst>
            </p:cNvPr>
            <p:cNvSpPr/>
            <p:nvPr/>
          </p:nvSpPr>
          <p:spPr>
            <a:xfrm>
              <a:off x="594360" y="2121408"/>
              <a:ext cx="5303520" cy="201168"/>
            </a:xfrm>
            <a:prstGeom prst="rect">
              <a:avLst/>
            </a:prstGeom>
            <a:noFill/>
            <a:ln/>
          </p:spPr>
          <p:txBody>
            <a:bodyPr wrap="square" lIns="0" tIns="38100" rIns="38100" bIns="0" rtlCol="0" anchor="t"/>
            <a:lstStyle/>
            <a:p>
              <a:pPr marL="0" indent="0">
                <a:buNone/>
              </a:pPr>
              <a:r>
                <a:rPr lang="en-US" sz="900" b="1" dirty="0">
                  <a:solidFill>
                    <a:srgbClr val="1B3A6B"/>
                  </a:solidFill>
                  <a:latin typeface="Georgia" panose="02040502050405020303" pitchFamily="18" charset="0"/>
                  <a:ea typeface="Arial" pitchFamily="34" charset="-122"/>
                  <a:cs typeface="Arial" pitchFamily="34" charset="-120"/>
                </a:rPr>
                <a:t>Kalyana Karnataka Onion-Tomato Zone</a:t>
              </a:r>
              <a:endParaRPr lang="en-US" sz="900" dirty="0">
                <a:latin typeface="Georgia" panose="02040502050405020303" pitchFamily="18" charset="0"/>
              </a:endParaRPr>
            </a:p>
          </p:txBody>
        </p:sp>
        <p:sp>
          <p:nvSpPr>
            <p:cNvPr id="45" name="Text 21">
              <a:extLst>
                <a:ext uri="{FF2B5EF4-FFF2-40B4-BE49-F238E27FC236}">
                  <a16:creationId xmlns:a16="http://schemas.microsoft.com/office/drawing/2014/main" id="{7F733BE0-FD27-A915-34DE-0C62CCA85AE0}"/>
                </a:ext>
              </a:extLst>
            </p:cNvPr>
            <p:cNvSpPr/>
            <p:nvPr/>
          </p:nvSpPr>
          <p:spPr>
            <a:xfrm>
              <a:off x="594360" y="2331720"/>
              <a:ext cx="5303520" cy="146304"/>
            </a:xfrm>
            <a:prstGeom prst="rect">
              <a:avLst/>
            </a:prstGeom>
            <a:noFill/>
            <a:ln/>
          </p:spPr>
          <p:txBody>
            <a:bodyPr wrap="square" lIns="0" tIns="38100" rIns="38100" bIns="0" rtlCol="0" anchor="t"/>
            <a:lstStyle/>
            <a:p>
              <a:pPr marL="0" indent="0">
                <a:buNone/>
              </a:pPr>
              <a:r>
                <a:rPr lang="en-US" sz="900" b="1" dirty="0">
                  <a:solidFill>
                    <a:srgbClr val="0E6655"/>
                  </a:solidFill>
                  <a:latin typeface="Georgia" panose="02040502050405020303" pitchFamily="18" charset="0"/>
                  <a:ea typeface="Arial" pitchFamily="34" charset="-122"/>
                  <a:cs typeface="Arial" pitchFamily="34" charset="-120"/>
                </a:rPr>
                <a:t>Anchor: </a:t>
              </a:r>
              <a:r>
                <a:rPr lang="en-US" sz="900" dirty="0">
                  <a:solidFill>
                    <a:srgbClr val="0E6655"/>
                  </a:solidFill>
                  <a:latin typeface="Georgia" panose="02040502050405020303" pitchFamily="18" charset="0"/>
                  <a:ea typeface="Arial" pitchFamily="34" charset="-122"/>
                  <a:cs typeface="Arial" pitchFamily="34" charset="-120"/>
                </a:rPr>
                <a:t>Raichur</a:t>
              </a:r>
              <a:endParaRPr lang="en-US" sz="900" dirty="0">
                <a:latin typeface="Georgia" panose="02040502050405020303" pitchFamily="18" charset="0"/>
              </a:endParaRPr>
            </a:p>
          </p:txBody>
        </p:sp>
        <p:sp>
          <p:nvSpPr>
            <p:cNvPr id="46" name="Text 22">
              <a:extLst>
                <a:ext uri="{FF2B5EF4-FFF2-40B4-BE49-F238E27FC236}">
                  <a16:creationId xmlns:a16="http://schemas.microsoft.com/office/drawing/2014/main" id="{EBD939FC-4902-0AAC-6937-C597A35017BF}"/>
                </a:ext>
              </a:extLst>
            </p:cNvPr>
            <p:cNvSpPr/>
            <p:nvPr/>
          </p:nvSpPr>
          <p:spPr>
            <a:xfrm>
              <a:off x="594360" y="2487168"/>
              <a:ext cx="5303520" cy="868680"/>
            </a:xfrm>
            <a:prstGeom prst="rect">
              <a:avLst/>
            </a:prstGeom>
            <a:noFill/>
            <a:ln/>
          </p:spPr>
          <p:txBody>
            <a:bodyPr wrap="square" lIns="0" tIns="38100" rIns="38100" bIns="25400" rtlCol="0" anchor="t"/>
            <a:lstStyle/>
            <a:p>
              <a:pPr marL="0" indent="0">
                <a:buNone/>
              </a:pPr>
              <a:r>
                <a:rPr lang="en-US" sz="900" dirty="0">
                  <a:solidFill>
                    <a:srgbClr val="111111"/>
                  </a:solidFill>
                  <a:latin typeface="Georgia" panose="02040502050405020303" pitchFamily="18" charset="0"/>
                  <a:ea typeface="Arial" pitchFamily="34" charset="-122"/>
                  <a:cs typeface="Arial" pitchFamily="34" charset="-120"/>
                </a:rPr>
                <a:t>Raichur (pom. LQ 10.87), Yadgir, Kalaburagi, and Bidar are all part of the Kalyana Karnataka special development region -  contiguous, with shared administrative and geographic character. Combined tomato (1.24 lakh MT, LQ 1.41) and onion (1.23 lakh MT, LQ 1.19) define the cluster. The pomegranate concentration in Raichur and Yadgir is a secondary specialisation.</a:t>
              </a:r>
              <a:endParaRPr lang="en-US" sz="900" dirty="0">
                <a:latin typeface="Georgia" panose="02040502050405020303" pitchFamily="18" charset="0"/>
              </a:endParaRPr>
            </a:p>
          </p:txBody>
        </p:sp>
        <p:sp>
          <p:nvSpPr>
            <p:cNvPr id="47" name="Shape 23">
              <a:extLst>
                <a:ext uri="{FF2B5EF4-FFF2-40B4-BE49-F238E27FC236}">
                  <a16:creationId xmlns:a16="http://schemas.microsoft.com/office/drawing/2014/main" id="{6161E1A2-0B92-B664-2BE8-92B2468683F1}"/>
                </a:ext>
              </a:extLst>
            </p:cNvPr>
            <p:cNvSpPr/>
            <p:nvPr/>
          </p:nvSpPr>
          <p:spPr>
            <a:xfrm>
              <a:off x="6126480" y="2084832"/>
              <a:ext cx="5760720" cy="1316736"/>
            </a:xfrm>
            <a:prstGeom prst="rect">
              <a:avLst/>
            </a:prstGeom>
            <a:solidFill>
              <a:srgbClr val="F5EEF8"/>
            </a:solidFill>
            <a:ln w="6350">
              <a:solidFill>
                <a:srgbClr val="D5D8DC"/>
              </a:solidFill>
              <a:prstDash val="solid"/>
            </a:ln>
          </p:spPr>
          <p:txBody>
            <a:bodyPr/>
            <a:lstStyle/>
            <a:p>
              <a:endParaRPr lang="en-IN">
                <a:latin typeface="Georgia" panose="02040502050405020303" pitchFamily="18" charset="0"/>
              </a:endParaRPr>
            </a:p>
          </p:txBody>
        </p:sp>
        <p:sp>
          <p:nvSpPr>
            <p:cNvPr id="48" name="Shape 24">
              <a:extLst>
                <a:ext uri="{FF2B5EF4-FFF2-40B4-BE49-F238E27FC236}">
                  <a16:creationId xmlns:a16="http://schemas.microsoft.com/office/drawing/2014/main" id="{98E69B00-1CE3-F103-DD0F-57C5A6D8E42D}"/>
                </a:ext>
              </a:extLst>
            </p:cNvPr>
            <p:cNvSpPr/>
            <p:nvPr/>
          </p:nvSpPr>
          <p:spPr>
            <a:xfrm>
              <a:off x="6126480" y="2084832"/>
              <a:ext cx="365760" cy="1316736"/>
            </a:xfrm>
            <a:prstGeom prst="rect">
              <a:avLst/>
            </a:prstGeom>
            <a:solidFill>
              <a:srgbClr val="0B6E78"/>
            </a:solidFill>
            <a:ln w="12700">
              <a:solidFill>
                <a:srgbClr val="1B3A6B"/>
              </a:solidFill>
              <a:prstDash val="solid"/>
            </a:ln>
          </p:spPr>
          <p:txBody>
            <a:bodyPr/>
            <a:lstStyle/>
            <a:p>
              <a:endParaRPr lang="en-IN">
                <a:latin typeface="Georgia" panose="02040502050405020303" pitchFamily="18" charset="0"/>
              </a:endParaRPr>
            </a:p>
          </p:txBody>
        </p:sp>
        <p:sp>
          <p:nvSpPr>
            <p:cNvPr id="49" name="Text 25">
              <a:extLst>
                <a:ext uri="{FF2B5EF4-FFF2-40B4-BE49-F238E27FC236}">
                  <a16:creationId xmlns:a16="http://schemas.microsoft.com/office/drawing/2014/main" id="{E5962400-0671-2A81-1A66-3BB34D46E102}"/>
                </a:ext>
              </a:extLst>
            </p:cNvPr>
            <p:cNvSpPr/>
            <p:nvPr/>
          </p:nvSpPr>
          <p:spPr>
            <a:xfrm>
              <a:off x="6135624" y="2587752"/>
              <a:ext cx="347472"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anose="02040502050405020303" pitchFamily="18" charset="0"/>
                  <a:ea typeface="Arial" pitchFamily="34" charset="-122"/>
                  <a:cs typeface="Arial" pitchFamily="34" charset="-120"/>
                </a:rPr>
                <a:t>C4</a:t>
              </a:r>
              <a:endParaRPr lang="en-US" sz="900" dirty="0">
                <a:latin typeface="Georgia" panose="02040502050405020303" pitchFamily="18" charset="0"/>
              </a:endParaRPr>
            </a:p>
          </p:txBody>
        </p:sp>
        <p:sp>
          <p:nvSpPr>
            <p:cNvPr id="50" name="Text 26">
              <a:extLst>
                <a:ext uri="{FF2B5EF4-FFF2-40B4-BE49-F238E27FC236}">
                  <a16:creationId xmlns:a16="http://schemas.microsoft.com/office/drawing/2014/main" id="{56ADA9E7-0473-5955-0227-00B28879135E}"/>
                </a:ext>
              </a:extLst>
            </p:cNvPr>
            <p:cNvSpPr/>
            <p:nvPr/>
          </p:nvSpPr>
          <p:spPr>
            <a:xfrm>
              <a:off x="6537960" y="2121408"/>
              <a:ext cx="5303520" cy="201168"/>
            </a:xfrm>
            <a:prstGeom prst="rect">
              <a:avLst/>
            </a:prstGeom>
            <a:noFill/>
            <a:ln/>
          </p:spPr>
          <p:txBody>
            <a:bodyPr wrap="square" lIns="0" tIns="38100" rIns="38100" bIns="0" rtlCol="0" anchor="t"/>
            <a:lstStyle/>
            <a:p>
              <a:pPr marL="0" indent="0">
                <a:buNone/>
              </a:pPr>
              <a:r>
                <a:rPr lang="en-US" sz="900" b="1" dirty="0">
                  <a:solidFill>
                    <a:srgbClr val="1B3A6B"/>
                  </a:solidFill>
                  <a:latin typeface="Georgia" panose="02040502050405020303" pitchFamily="18" charset="0"/>
                  <a:ea typeface="Arial" pitchFamily="34" charset="-122"/>
                  <a:cs typeface="Arial" pitchFamily="34" charset="-120"/>
                </a:rPr>
                <a:t>South Karnataka Banana-Tomato-Mango Hub</a:t>
              </a:r>
              <a:endParaRPr lang="en-US" sz="900" dirty="0">
                <a:latin typeface="Georgia" panose="02040502050405020303" pitchFamily="18" charset="0"/>
              </a:endParaRPr>
            </a:p>
          </p:txBody>
        </p:sp>
        <p:sp>
          <p:nvSpPr>
            <p:cNvPr id="51" name="Text 27">
              <a:extLst>
                <a:ext uri="{FF2B5EF4-FFF2-40B4-BE49-F238E27FC236}">
                  <a16:creationId xmlns:a16="http://schemas.microsoft.com/office/drawing/2014/main" id="{79A8B87B-12F9-1E29-380D-99E66E14B2D5}"/>
                </a:ext>
              </a:extLst>
            </p:cNvPr>
            <p:cNvSpPr/>
            <p:nvPr/>
          </p:nvSpPr>
          <p:spPr>
            <a:xfrm>
              <a:off x="6537960" y="2331720"/>
              <a:ext cx="5303520" cy="146304"/>
            </a:xfrm>
            <a:prstGeom prst="rect">
              <a:avLst/>
            </a:prstGeom>
            <a:noFill/>
            <a:ln/>
          </p:spPr>
          <p:txBody>
            <a:bodyPr wrap="square" lIns="0" tIns="38100" rIns="38100" bIns="0" rtlCol="0" anchor="t"/>
            <a:lstStyle/>
            <a:p>
              <a:pPr marL="0" indent="0">
                <a:buNone/>
              </a:pPr>
              <a:r>
                <a:rPr lang="en-US" sz="900" b="1" dirty="0">
                  <a:solidFill>
                    <a:srgbClr val="0E6655"/>
                  </a:solidFill>
                  <a:latin typeface="Georgia" panose="02040502050405020303" pitchFamily="18" charset="0"/>
                  <a:ea typeface="Arial" pitchFamily="34" charset="-122"/>
                  <a:cs typeface="Arial" pitchFamily="34" charset="-120"/>
                </a:rPr>
                <a:t>Anchor: </a:t>
              </a:r>
              <a:r>
                <a:rPr lang="en-US" sz="900" dirty="0">
                  <a:solidFill>
                    <a:srgbClr val="0E6655"/>
                  </a:solidFill>
                  <a:latin typeface="Georgia" panose="02040502050405020303" pitchFamily="18" charset="0"/>
                  <a:ea typeface="Arial" pitchFamily="34" charset="-122"/>
                  <a:cs typeface="Arial" pitchFamily="34" charset="-120"/>
                </a:rPr>
                <a:t>Mysuru / Chamarajanagara</a:t>
              </a:r>
              <a:endParaRPr lang="en-US" sz="900" dirty="0">
                <a:latin typeface="Georgia" panose="02040502050405020303" pitchFamily="18" charset="0"/>
              </a:endParaRPr>
            </a:p>
          </p:txBody>
        </p:sp>
        <p:sp>
          <p:nvSpPr>
            <p:cNvPr id="52" name="Text 28">
              <a:extLst>
                <a:ext uri="{FF2B5EF4-FFF2-40B4-BE49-F238E27FC236}">
                  <a16:creationId xmlns:a16="http://schemas.microsoft.com/office/drawing/2014/main" id="{E9D86E68-D4BD-F457-B3BE-135CEC1ABAAD}"/>
                </a:ext>
              </a:extLst>
            </p:cNvPr>
            <p:cNvSpPr/>
            <p:nvPr/>
          </p:nvSpPr>
          <p:spPr>
            <a:xfrm>
              <a:off x="6537960" y="2487168"/>
              <a:ext cx="5303520" cy="868680"/>
            </a:xfrm>
            <a:prstGeom prst="rect">
              <a:avLst/>
            </a:prstGeom>
            <a:noFill/>
            <a:ln/>
          </p:spPr>
          <p:txBody>
            <a:bodyPr wrap="square" lIns="0" tIns="38100" rIns="38100" bIns="25400" rtlCol="0" anchor="t"/>
            <a:lstStyle/>
            <a:p>
              <a:pPr marL="0" indent="0">
                <a:buNone/>
              </a:pPr>
              <a:r>
                <a:rPr lang="en-US" sz="900" dirty="0">
                  <a:solidFill>
                    <a:srgbClr val="111111"/>
                  </a:solidFill>
                  <a:latin typeface="Georgia" panose="02040502050405020303" pitchFamily="18" charset="0"/>
                  <a:ea typeface="Arial" pitchFamily="34" charset="-122"/>
                  <a:cs typeface="Arial" pitchFamily="34" charset="-120"/>
                </a:rPr>
                <a:t>Mysuru (banana LQ 4.27, 4,28,942 MT) and Chamarajanagara (banana LQ 4.32, 2,96,817 MT) are the production anchors. Mandya joined for tomato LQ 2.68 (1,35,730 MT) and border with both. Ramanagara was included for its near-total mango specialisation (LQ 6.67, 2,52,060 MT) and border with Mandya. Hassan joined on banana LQ 3.71 and tomato LQ 1.25, contiguous with Mandya and Mysuru.</a:t>
              </a:r>
              <a:endParaRPr lang="en-US" sz="900" dirty="0">
                <a:latin typeface="Georgia" panose="02040502050405020303" pitchFamily="18" charset="0"/>
              </a:endParaRPr>
            </a:p>
          </p:txBody>
        </p:sp>
        <p:sp>
          <p:nvSpPr>
            <p:cNvPr id="53" name="Shape 29">
              <a:extLst>
                <a:ext uri="{FF2B5EF4-FFF2-40B4-BE49-F238E27FC236}">
                  <a16:creationId xmlns:a16="http://schemas.microsoft.com/office/drawing/2014/main" id="{ECB7A7FF-81C8-E3D7-CEEC-7D841DB0DDE3}"/>
                </a:ext>
              </a:extLst>
            </p:cNvPr>
            <p:cNvSpPr/>
            <p:nvPr/>
          </p:nvSpPr>
          <p:spPr>
            <a:xfrm>
              <a:off x="182880" y="3456432"/>
              <a:ext cx="5760720" cy="1316736"/>
            </a:xfrm>
            <a:prstGeom prst="rect">
              <a:avLst/>
            </a:prstGeom>
            <a:solidFill>
              <a:srgbClr val="FFFDE7"/>
            </a:solidFill>
            <a:ln w="6350">
              <a:solidFill>
                <a:srgbClr val="D5D8DC"/>
              </a:solidFill>
              <a:prstDash val="solid"/>
            </a:ln>
          </p:spPr>
          <p:txBody>
            <a:bodyPr/>
            <a:lstStyle/>
            <a:p>
              <a:endParaRPr lang="en-IN">
                <a:latin typeface="Georgia" panose="02040502050405020303" pitchFamily="18" charset="0"/>
              </a:endParaRPr>
            </a:p>
          </p:txBody>
        </p:sp>
        <p:sp>
          <p:nvSpPr>
            <p:cNvPr id="54" name="Shape 30">
              <a:extLst>
                <a:ext uri="{FF2B5EF4-FFF2-40B4-BE49-F238E27FC236}">
                  <a16:creationId xmlns:a16="http://schemas.microsoft.com/office/drawing/2014/main" id="{C91A7E98-ED69-2B8B-7B30-DC9D9AC64F33}"/>
                </a:ext>
              </a:extLst>
            </p:cNvPr>
            <p:cNvSpPr/>
            <p:nvPr/>
          </p:nvSpPr>
          <p:spPr>
            <a:xfrm>
              <a:off x="182880" y="3456432"/>
              <a:ext cx="365760" cy="1316736"/>
            </a:xfrm>
            <a:prstGeom prst="rect">
              <a:avLst/>
            </a:prstGeom>
            <a:solidFill>
              <a:srgbClr val="0B6E78"/>
            </a:solidFill>
            <a:ln w="12700">
              <a:solidFill>
                <a:srgbClr val="1B3A6B"/>
              </a:solidFill>
              <a:prstDash val="solid"/>
            </a:ln>
          </p:spPr>
          <p:txBody>
            <a:bodyPr/>
            <a:lstStyle/>
            <a:p>
              <a:endParaRPr lang="en-IN">
                <a:latin typeface="Georgia" panose="02040502050405020303" pitchFamily="18" charset="0"/>
              </a:endParaRPr>
            </a:p>
          </p:txBody>
        </p:sp>
        <p:sp>
          <p:nvSpPr>
            <p:cNvPr id="55" name="Text 31">
              <a:extLst>
                <a:ext uri="{FF2B5EF4-FFF2-40B4-BE49-F238E27FC236}">
                  <a16:creationId xmlns:a16="http://schemas.microsoft.com/office/drawing/2014/main" id="{33FBAFDF-F2CF-5CBA-B18F-F1146E236E6D}"/>
                </a:ext>
              </a:extLst>
            </p:cNvPr>
            <p:cNvSpPr/>
            <p:nvPr/>
          </p:nvSpPr>
          <p:spPr>
            <a:xfrm>
              <a:off x="192024" y="3959352"/>
              <a:ext cx="347472"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anose="02040502050405020303" pitchFamily="18" charset="0"/>
                  <a:ea typeface="Arial" pitchFamily="34" charset="-122"/>
                  <a:cs typeface="Arial" pitchFamily="34" charset="-120"/>
                </a:rPr>
                <a:t>C5</a:t>
              </a:r>
              <a:endParaRPr lang="en-US" sz="900" dirty="0">
                <a:latin typeface="Georgia" panose="02040502050405020303" pitchFamily="18" charset="0"/>
              </a:endParaRPr>
            </a:p>
          </p:txBody>
        </p:sp>
        <p:sp>
          <p:nvSpPr>
            <p:cNvPr id="56" name="Text 32">
              <a:extLst>
                <a:ext uri="{FF2B5EF4-FFF2-40B4-BE49-F238E27FC236}">
                  <a16:creationId xmlns:a16="http://schemas.microsoft.com/office/drawing/2014/main" id="{964412C1-E655-12CC-502D-7135682DA223}"/>
                </a:ext>
              </a:extLst>
            </p:cNvPr>
            <p:cNvSpPr/>
            <p:nvPr/>
          </p:nvSpPr>
          <p:spPr>
            <a:xfrm>
              <a:off x="594360" y="3493008"/>
              <a:ext cx="5303520" cy="201168"/>
            </a:xfrm>
            <a:prstGeom prst="rect">
              <a:avLst/>
            </a:prstGeom>
            <a:noFill/>
            <a:ln/>
          </p:spPr>
          <p:txBody>
            <a:bodyPr wrap="square" lIns="0" tIns="38100" rIns="38100" bIns="0" rtlCol="0" anchor="t"/>
            <a:lstStyle/>
            <a:p>
              <a:pPr marL="0" indent="0">
                <a:buNone/>
              </a:pPr>
              <a:r>
                <a:rPr lang="en-US" sz="900" b="1" dirty="0">
                  <a:solidFill>
                    <a:srgbClr val="1B3A6B"/>
                  </a:solidFill>
                  <a:latin typeface="Georgia" panose="02040502050405020303" pitchFamily="18" charset="0"/>
                  <a:ea typeface="Arial" pitchFamily="34" charset="-122"/>
                  <a:cs typeface="Arial" pitchFamily="34" charset="-120"/>
                </a:rPr>
                <a:t>East Karnataka Tomato-Mango Processing Belt</a:t>
              </a:r>
              <a:endParaRPr lang="en-US" sz="900" dirty="0">
                <a:latin typeface="Georgia" panose="02040502050405020303" pitchFamily="18" charset="0"/>
              </a:endParaRPr>
            </a:p>
          </p:txBody>
        </p:sp>
        <p:sp>
          <p:nvSpPr>
            <p:cNvPr id="57" name="Text 33">
              <a:extLst>
                <a:ext uri="{FF2B5EF4-FFF2-40B4-BE49-F238E27FC236}">
                  <a16:creationId xmlns:a16="http://schemas.microsoft.com/office/drawing/2014/main" id="{024F132F-5C6E-58DA-91A0-40A48847166C}"/>
                </a:ext>
              </a:extLst>
            </p:cNvPr>
            <p:cNvSpPr/>
            <p:nvPr/>
          </p:nvSpPr>
          <p:spPr>
            <a:xfrm>
              <a:off x="594360" y="3703320"/>
              <a:ext cx="5303520" cy="146304"/>
            </a:xfrm>
            <a:prstGeom prst="rect">
              <a:avLst/>
            </a:prstGeom>
            <a:noFill/>
            <a:ln/>
          </p:spPr>
          <p:txBody>
            <a:bodyPr wrap="square" lIns="0" tIns="38100" rIns="38100" bIns="0" rtlCol="0" anchor="t"/>
            <a:lstStyle/>
            <a:p>
              <a:pPr marL="0" indent="0">
                <a:buNone/>
              </a:pPr>
              <a:r>
                <a:rPr lang="en-US" sz="900" b="1" dirty="0">
                  <a:solidFill>
                    <a:srgbClr val="0E6655"/>
                  </a:solidFill>
                  <a:latin typeface="Georgia" panose="02040502050405020303" pitchFamily="18" charset="0"/>
                  <a:ea typeface="Arial" pitchFamily="34" charset="-122"/>
                  <a:cs typeface="Arial" pitchFamily="34" charset="-120"/>
                </a:rPr>
                <a:t>Anchor: </a:t>
              </a:r>
              <a:r>
                <a:rPr lang="en-US" sz="900" dirty="0">
                  <a:solidFill>
                    <a:srgbClr val="0E6655"/>
                  </a:solidFill>
                  <a:latin typeface="Georgia" panose="02040502050405020303" pitchFamily="18" charset="0"/>
                  <a:ea typeface="Arial" pitchFamily="34" charset="-122"/>
                  <a:cs typeface="Arial" pitchFamily="34" charset="-120"/>
                </a:rPr>
                <a:t>Kolar / Chikkaballapura</a:t>
              </a:r>
              <a:endParaRPr lang="en-US" sz="900" dirty="0">
                <a:latin typeface="Georgia" panose="02040502050405020303" pitchFamily="18" charset="0"/>
              </a:endParaRPr>
            </a:p>
          </p:txBody>
        </p:sp>
        <p:sp>
          <p:nvSpPr>
            <p:cNvPr id="58" name="Text 34">
              <a:extLst>
                <a:ext uri="{FF2B5EF4-FFF2-40B4-BE49-F238E27FC236}">
                  <a16:creationId xmlns:a16="http://schemas.microsoft.com/office/drawing/2014/main" id="{50F9C6D4-2E78-CEEE-281A-DDA688173E72}"/>
                </a:ext>
              </a:extLst>
            </p:cNvPr>
            <p:cNvSpPr/>
            <p:nvPr/>
          </p:nvSpPr>
          <p:spPr>
            <a:xfrm>
              <a:off x="594360" y="3858768"/>
              <a:ext cx="5303520" cy="868680"/>
            </a:xfrm>
            <a:prstGeom prst="rect">
              <a:avLst/>
            </a:prstGeom>
            <a:noFill/>
            <a:ln/>
          </p:spPr>
          <p:txBody>
            <a:bodyPr wrap="square" lIns="0" tIns="38100" rIns="38100" bIns="25400" rtlCol="0" anchor="t"/>
            <a:lstStyle/>
            <a:p>
              <a:pPr marL="0" indent="0">
                <a:buNone/>
              </a:pPr>
              <a:r>
                <a:rPr lang="en-US" sz="900" dirty="0">
                  <a:solidFill>
                    <a:srgbClr val="111111"/>
                  </a:solidFill>
                  <a:latin typeface="Georgia" panose="02040502050405020303" pitchFamily="18" charset="0"/>
                  <a:ea typeface="Arial" pitchFamily="34" charset="-122"/>
                  <a:cs typeface="Arial" pitchFamily="34" charset="-120"/>
                </a:rPr>
                <a:t>Kolar (tomato LQ 2.36, mango LQ 2.54) and Chikkaballapura (tomato LQ 2.33) form the production core. Bengaluru Urban was included as the largest processing and consumption hub in the state. Bengaluru Rural (grape LQ 2.01, mango LQ 2.92) links outer production zones to this hub. Tumakuru joined on tomato LQ 2.03 and mango LQ 1.98; the India Food Park (Tumakuru) processes F&amp;V for the same market as the Kolar-Bengaluru belt.</a:t>
              </a:r>
              <a:endParaRPr lang="en-US" sz="900" dirty="0">
                <a:latin typeface="Georgia" panose="02040502050405020303" pitchFamily="18" charset="0"/>
              </a:endParaRPr>
            </a:p>
          </p:txBody>
        </p:sp>
        <p:sp>
          <p:nvSpPr>
            <p:cNvPr id="59" name="Shape 35">
              <a:extLst>
                <a:ext uri="{FF2B5EF4-FFF2-40B4-BE49-F238E27FC236}">
                  <a16:creationId xmlns:a16="http://schemas.microsoft.com/office/drawing/2014/main" id="{5C8C0487-4516-7709-6FFB-A5DED7765204}"/>
                </a:ext>
              </a:extLst>
            </p:cNvPr>
            <p:cNvSpPr/>
            <p:nvPr/>
          </p:nvSpPr>
          <p:spPr>
            <a:xfrm>
              <a:off x="6126480" y="3456432"/>
              <a:ext cx="5760720" cy="1316736"/>
            </a:xfrm>
            <a:prstGeom prst="rect">
              <a:avLst/>
            </a:prstGeom>
            <a:solidFill>
              <a:srgbClr val="D6EAF8"/>
            </a:solidFill>
            <a:ln w="6350">
              <a:solidFill>
                <a:srgbClr val="D5D8DC"/>
              </a:solidFill>
              <a:prstDash val="solid"/>
            </a:ln>
          </p:spPr>
          <p:txBody>
            <a:bodyPr/>
            <a:lstStyle/>
            <a:p>
              <a:endParaRPr lang="en-IN">
                <a:latin typeface="Georgia" panose="02040502050405020303" pitchFamily="18" charset="0"/>
              </a:endParaRPr>
            </a:p>
          </p:txBody>
        </p:sp>
        <p:sp>
          <p:nvSpPr>
            <p:cNvPr id="60" name="Shape 36">
              <a:extLst>
                <a:ext uri="{FF2B5EF4-FFF2-40B4-BE49-F238E27FC236}">
                  <a16:creationId xmlns:a16="http://schemas.microsoft.com/office/drawing/2014/main" id="{1DE24F4D-D590-3F51-86A5-8E0B744602A9}"/>
                </a:ext>
              </a:extLst>
            </p:cNvPr>
            <p:cNvSpPr/>
            <p:nvPr/>
          </p:nvSpPr>
          <p:spPr>
            <a:xfrm>
              <a:off x="6126480" y="3456432"/>
              <a:ext cx="365760" cy="1316736"/>
            </a:xfrm>
            <a:prstGeom prst="rect">
              <a:avLst/>
            </a:prstGeom>
            <a:solidFill>
              <a:srgbClr val="0B6E78"/>
            </a:solidFill>
            <a:ln w="12700">
              <a:solidFill>
                <a:srgbClr val="1B3A6B"/>
              </a:solidFill>
              <a:prstDash val="solid"/>
            </a:ln>
          </p:spPr>
          <p:txBody>
            <a:bodyPr/>
            <a:lstStyle/>
            <a:p>
              <a:endParaRPr lang="en-IN">
                <a:latin typeface="Georgia" panose="02040502050405020303" pitchFamily="18" charset="0"/>
              </a:endParaRPr>
            </a:p>
          </p:txBody>
        </p:sp>
        <p:sp>
          <p:nvSpPr>
            <p:cNvPr id="61" name="Text 37">
              <a:extLst>
                <a:ext uri="{FF2B5EF4-FFF2-40B4-BE49-F238E27FC236}">
                  <a16:creationId xmlns:a16="http://schemas.microsoft.com/office/drawing/2014/main" id="{796EF146-C806-9384-4AB5-45657FFF1364}"/>
                </a:ext>
              </a:extLst>
            </p:cNvPr>
            <p:cNvSpPr/>
            <p:nvPr/>
          </p:nvSpPr>
          <p:spPr>
            <a:xfrm>
              <a:off x="6135624" y="3959352"/>
              <a:ext cx="347472"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anose="02040502050405020303" pitchFamily="18" charset="0"/>
                  <a:ea typeface="Arial" pitchFamily="34" charset="-122"/>
                  <a:cs typeface="Arial" pitchFamily="34" charset="-120"/>
                </a:rPr>
                <a:t>C6</a:t>
              </a:r>
              <a:endParaRPr lang="en-US" sz="900" dirty="0">
                <a:latin typeface="Georgia" panose="02040502050405020303" pitchFamily="18" charset="0"/>
              </a:endParaRPr>
            </a:p>
          </p:txBody>
        </p:sp>
        <p:sp>
          <p:nvSpPr>
            <p:cNvPr id="62" name="Text 38">
              <a:extLst>
                <a:ext uri="{FF2B5EF4-FFF2-40B4-BE49-F238E27FC236}">
                  <a16:creationId xmlns:a16="http://schemas.microsoft.com/office/drawing/2014/main" id="{1FF455C6-33A7-B092-49C5-919311BA2A18}"/>
                </a:ext>
              </a:extLst>
            </p:cNvPr>
            <p:cNvSpPr/>
            <p:nvPr/>
          </p:nvSpPr>
          <p:spPr>
            <a:xfrm>
              <a:off x="6537960" y="3493008"/>
              <a:ext cx="5303520" cy="201168"/>
            </a:xfrm>
            <a:prstGeom prst="rect">
              <a:avLst/>
            </a:prstGeom>
            <a:noFill/>
            <a:ln/>
          </p:spPr>
          <p:txBody>
            <a:bodyPr wrap="square" lIns="0" tIns="38100" rIns="38100" bIns="0" rtlCol="0" anchor="t"/>
            <a:lstStyle/>
            <a:p>
              <a:pPr marL="0" indent="0">
                <a:buNone/>
              </a:pPr>
              <a:r>
                <a:rPr lang="en-US" sz="900" b="1" dirty="0">
                  <a:solidFill>
                    <a:srgbClr val="1B3A6B"/>
                  </a:solidFill>
                  <a:latin typeface="Georgia" panose="02040502050405020303" pitchFamily="18" charset="0"/>
                  <a:ea typeface="Arial" pitchFamily="34" charset="-122"/>
                  <a:cs typeface="Arial" pitchFamily="34" charset="-120"/>
                </a:rPr>
                <a:t>Northwest Karnataka Multi-Crop Zone</a:t>
              </a:r>
              <a:endParaRPr lang="en-US" sz="900" dirty="0">
                <a:latin typeface="Georgia" panose="02040502050405020303" pitchFamily="18" charset="0"/>
              </a:endParaRPr>
            </a:p>
          </p:txBody>
        </p:sp>
        <p:sp>
          <p:nvSpPr>
            <p:cNvPr id="63" name="Text 39">
              <a:extLst>
                <a:ext uri="{FF2B5EF4-FFF2-40B4-BE49-F238E27FC236}">
                  <a16:creationId xmlns:a16="http://schemas.microsoft.com/office/drawing/2014/main" id="{4D002140-435D-AA40-7E9E-77A96558EB81}"/>
                </a:ext>
              </a:extLst>
            </p:cNvPr>
            <p:cNvSpPr/>
            <p:nvPr/>
          </p:nvSpPr>
          <p:spPr>
            <a:xfrm>
              <a:off x="6537960" y="3703320"/>
              <a:ext cx="5303520" cy="146304"/>
            </a:xfrm>
            <a:prstGeom prst="rect">
              <a:avLst/>
            </a:prstGeom>
            <a:noFill/>
            <a:ln/>
          </p:spPr>
          <p:txBody>
            <a:bodyPr wrap="square" lIns="0" tIns="38100" rIns="38100" bIns="0" rtlCol="0" anchor="t"/>
            <a:lstStyle/>
            <a:p>
              <a:pPr marL="0" indent="0">
                <a:buNone/>
              </a:pPr>
              <a:r>
                <a:rPr lang="en-US" sz="900" b="1" dirty="0">
                  <a:solidFill>
                    <a:srgbClr val="0E6655"/>
                  </a:solidFill>
                  <a:latin typeface="Georgia" panose="02040502050405020303" pitchFamily="18" charset="0"/>
                  <a:ea typeface="Arial" pitchFamily="34" charset="-122"/>
                  <a:cs typeface="Arial" pitchFamily="34" charset="-120"/>
                </a:rPr>
                <a:t>Anchor: </a:t>
              </a:r>
              <a:r>
                <a:rPr lang="en-US" sz="900" dirty="0">
                  <a:solidFill>
                    <a:srgbClr val="0E6655"/>
                  </a:solidFill>
                  <a:latin typeface="Georgia" panose="02040502050405020303" pitchFamily="18" charset="0"/>
                  <a:ea typeface="Arial" pitchFamily="34" charset="-122"/>
                  <a:cs typeface="Arial" pitchFamily="34" charset="-120"/>
                </a:rPr>
                <a:t>Dharwad</a:t>
              </a:r>
              <a:endParaRPr lang="en-US" sz="900" dirty="0">
                <a:latin typeface="Georgia" panose="02040502050405020303" pitchFamily="18" charset="0"/>
              </a:endParaRPr>
            </a:p>
          </p:txBody>
        </p:sp>
        <p:sp>
          <p:nvSpPr>
            <p:cNvPr id="64" name="Text 40">
              <a:extLst>
                <a:ext uri="{FF2B5EF4-FFF2-40B4-BE49-F238E27FC236}">
                  <a16:creationId xmlns:a16="http://schemas.microsoft.com/office/drawing/2014/main" id="{AD6424DF-0C30-A367-6A61-A50877CC0D30}"/>
                </a:ext>
              </a:extLst>
            </p:cNvPr>
            <p:cNvSpPr/>
            <p:nvPr/>
          </p:nvSpPr>
          <p:spPr>
            <a:xfrm>
              <a:off x="6537960" y="3858768"/>
              <a:ext cx="5303520" cy="868680"/>
            </a:xfrm>
            <a:prstGeom prst="rect">
              <a:avLst/>
            </a:prstGeom>
            <a:noFill/>
            <a:ln/>
          </p:spPr>
          <p:txBody>
            <a:bodyPr wrap="square" lIns="0" tIns="38100" rIns="38100" bIns="25400" rtlCol="0" anchor="t"/>
            <a:lstStyle/>
            <a:p>
              <a:pPr marL="0" indent="0">
                <a:buNone/>
              </a:pPr>
              <a:r>
                <a:rPr lang="en-US" sz="900" dirty="0">
                  <a:solidFill>
                    <a:srgbClr val="111111"/>
                  </a:solidFill>
                  <a:latin typeface="Georgia" panose="02040502050405020303" pitchFamily="18" charset="0"/>
                  <a:ea typeface="Arial" pitchFamily="34" charset="-122"/>
                  <a:cs typeface="Arial" pitchFamily="34" charset="-120"/>
                </a:rPr>
                <a:t>Dharwad anchors C6 with mango LQ 3.52 (1,07,136 MT) and existing food processing infrastructure at UAS Dharwad. Haveri joined on mango LQ 2.44 (60,396 MT) and tomato LQ 1.51, directly bordering Dharwad. Uttara Kannada was included on mango LQ 2.27 and its coastal port access at Karwar, giving the cluster a marine export route for processed products.</a:t>
              </a:r>
              <a:endParaRPr lang="en-US" sz="900" dirty="0">
                <a:latin typeface="Georgia" panose="02040502050405020303" pitchFamily="18" charset="0"/>
              </a:endParaRPr>
            </a:p>
          </p:txBody>
        </p:sp>
        <p:sp>
          <p:nvSpPr>
            <p:cNvPr id="65" name="Shape 41">
              <a:extLst>
                <a:ext uri="{FF2B5EF4-FFF2-40B4-BE49-F238E27FC236}">
                  <a16:creationId xmlns:a16="http://schemas.microsoft.com/office/drawing/2014/main" id="{3FA2CF25-7A21-78E6-1145-1C264F5E43D8}"/>
                </a:ext>
              </a:extLst>
            </p:cNvPr>
            <p:cNvSpPr/>
            <p:nvPr/>
          </p:nvSpPr>
          <p:spPr>
            <a:xfrm>
              <a:off x="182880" y="4828032"/>
              <a:ext cx="5760720" cy="1316736"/>
            </a:xfrm>
            <a:prstGeom prst="rect">
              <a:avLst/>
            </a:prstGeom>
            <a:solidFill>
              <a:srgbClr val="FADBD8"/>
            </a:solidFill>
            <a:ln w="6350">
              <a:solidFill>
                <a:srgbClr val="D5D8DC"/>
              </a:solidFill>
              <a:prstDash val="solid"/>
            </a:ln>
          </p:spPr>
          <p:txBody>
            <a:bodyPr/>
            <a:lstStyle/>
            <a:p>
              <a:endParaRPr lang="en-IN">
                <a:latin typeface="Georgia" panose="02040502050405020303" pitchFamily="18" charset="0"/>
              </a:endParaRPr>
            </a:p>
          </p:txBody>
        </p:sp>
        <p:sp>
          <p:nvSpPr>
            <p:cNvPr id="66" name="Shape 42">
              <a:extLst>
                <a:ext uri="{FF2B5EF4-FFF2-40B4-BE49-F238E27FC236}">
                  <a16:creationId xmlns:a16="http://schemas.microsoft.com/office/drawing/2014/main" id="{F7889B73-04EA-6F35-CEF6-E9226002DD17}"/>
                </a:ext>
              </a:extLst>
            </p:cNvPr>
            <p:cNvSpPr/>
            <p:nvPr/>
          </p:nvSpPr>
          <p:spPr>
            <a:xfrm>
              <a:off x="182880" y="4828032"/>
              <a:ext cx="365760" cy="1316736"/>
            </a:xfrm>
            <a:prstGeom prst="rect">
              <a:avLst/>
            </a:prstGeom>
            <a:solidFill>
              <a:srgbClr val="0B6E78"/>
            </a:solidFill>
            <a:ln w="12700">
              <a:solidFill>
                <a:srgbClr val="1B3A6B"/>
              </a:solidFill>
              <a:prstDash val="solid"/>
            </a:ln>
          </p:spPr>
          <p:txBody>
            <a:bodyPr/>
            <a:lstStyle/>
            <a:p>
              <a:endParaRPr lang="en-IN">
                <a:latin typeface="Georgia" panose="02040502050405020303" pitchFamily="18" charset="0"/>
              </a:endParaRPr>
            </a:p>
          </p:txBody>
        </p:sp>
        <p:sp>
          <p:nvSpPr>
            <p:cNvPr id="67" name="Text 43">
              <a:extLst>
                <a:ext uri="{FF2B5EF4-FFF2-40B4-BE49-F238E27FC236}">
                  <a16:creationId xmlns:a16="http://schemas.microsoft.com/office/drawing/2014/main" id="{6B79642C-7009-790F-818B-BC0CF9BD9916}"/>
                </a:ext>
              </a:extLst>
            </p:cNvPr>
            <p:cNvSpPr/>
            <p:nvPr/>
          </p:nvSpPr>
          <p:spPr>
            <a:xfrm>
              <a:off x="192024" y="5330952"/>
              <a:ext cx="347472"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anose="02040502050405020303" pitchFamily="18" charset="0"/>
                  <a:ea typeface="Arial" pitchFamily="34" charset="-122"/>
                  <a:cs typeface="Arial" pitchFamily="34" charset="-120"/>
                </a:rPr>
                <a:t>C7</a:t>
              </a:r>
              <a:endParaRPr lang="en-US" sz="900" dirty="0">
                <a:latin typeface="Georgia" panose="02040502050405020303" pitchFamily="18" charset="0"/>
              </a:endParaRPr>
            </a:p>
          </p:txBody>
        </p:sp>
        <p:sp>
          <p:nvSpPr>
            <p:cNvPr id="68" name="Text 44">
              <a:extLst>
                <a:ext uri="{FF2B5EF4-FFF2-40B4-BE49-F238E27FC236}">
                  <a16:creationId xmlns:a16="http://schemas.microsoft.com/office/drawing/2014/main" id="{64E5E1C5-39EB-DD1C-E83B-C581D9488B5F}"/>
                </a:ext>
              </a:extLst>
            </p:cNvPr>
            <p:cNvSpPr/>
            <p:nvPr/>
          </p:nvSpPr>
          <p:spPr>
            <a:xfrm>
              <a:off x="594360" y="4864608"/>
              <a:ext cx="5303520" cy="201168"/>
            </a:xfrm>
            <a:prstGeom prst="rect">
              <a:avLst/>
            </a:prstGeom>
            <a:noFill/>
            <a:ln/>
          </p:spPr>
          <p:txBody>
            <a:bodyPr wrap="square" lIns="0" tIns="38100" rIns="38100" bIns="0" rtlCol="0" anchor="t"/>
            <a:lstStyle/>
            <a:p>
              <a:pPr marL="0" indent="0">
                <a:buNone/>
              </a:pPr>
              <a:r>
                <a:rPr lang="en-US" sz="900" b="1" dirty="0">
                  <a:solidFill>
                    <a:srgbClr val="1B3A6B"/>
                  </a:solidFill>
                  <a:latin typeface="Georgia" panose="02040502050405020303" pitchFamily="18" charset="0"/>
                  <a:ea typeface="Arial" pitchFamily="34" charset="-122"/>
                  <a:cs typeface="Arial" pitchFamily="34" charset="-120"/>
                </a:rPr>
                <a:t>Western Ghats Banana-Pineapple Corridor</a:t>
              </a:r>
              <a:endParaRPr lang="en-US" sz="900" dirty="0">
                <a:latin typeface="Georgia" panose="02040502050405020303" pitchFamily="18" charset="0"/>
              </a:endParaRPr>
            </a:p>
          </p:txBody>
        </p:sp>
        <p:sp>
          <p:nvSpPr>
            <p:cNvPr id="69" name="Text 45">
              <a:extLst>
                <a:ext uri="{FF2B5EF4-FFF2-40B4-BE49-F238E27FC236}">
                  <a16:creationId xmlns:a16="http://schemas.microsoft.com/office/drawing/2014/main" id="{A23F745B-FBEE-FC8B-CE07-5D445BEC5E49}"/>
                </a:ext>
              </a:extLst>
            </p:cNvPr>
            <p:cNvSpPr/>
            <p:nvPr/>
          </p:nvSpPr>
          <p:spPr>
            <a:xfrm>
              <a:off x="594360" y="5035580"/>
              <a:ext cx="5303520" cy="146304"/>
            </a:xfrm>
            <a:prstGeom prst="rect">
              <a:avLst/>
            </a:prstGeom>
            <a:noFill/>
            <a:ln/>
          </p:spPr>
          <p:txBody>
            <a:bodyPr wrap="square" lIns="0" tIns="38100" rIns="38100" bIns="0" rtlCol="0" anchor="t"/>
            <a:lstStyle/>
            <a:p>
              <a:pPr marL="0" indent="0">
                <a:buNone/>
              </a:pPr>
              <a:r>
                <a:rPr lang="en-US" sz="900" b="1" dirty="0">
                  <a:solidFill>
                    <a:srgbClr val="0E6655"/>
                  </a:solidFill>
                  <a:latin typeface="Georgia" panose="02040502050405020303" pitchFamily="18" charset="0"/>
                  <a:ea typeface="Arial" pitchFamily="34" charset="-122"/>
                  <a:cs typeface="Arial" pitchFamily="34" charset="-120"/>
                </a:rPr>
                <a:t>Anchor: </a:t>
              </a:r>
              <a:r>
                <a:rPr lang="en-US" sz="900" dirty="0">
                  <a:solidFill>
                    <a:srgbClr val="0E6655"/>
                  </a:solidFill>
                  <a:latin typeface="Georgia" panose="02040502050405020303" pitchFamily="18" charset="0"/>
                  <a:ea typeface="Arial" pitchFamily="34" charset="-122"/>
                  <a:cs typeface="Arial" pitchFamily="34" charset="-120"/>
                </a:rPr>
                <a:t>Shivamogga</a:t>
              </a:r>
              <a:endParaRPr lang="en-US" sz="900" dirty="0">
                <a:latin typeface="Georgia" panose="02040502050405020303" pitchFamily="18" charset="0"/>
              </a:endParaRPr>
            </a:p>
          </p:txBody>
        </p:sp>
        <p:sp>
          <p:nvSpPr>
            <p:cNvPr id="70" name="Text 46">
              <a:extLst>
                <a:ext uri="{FF2B5EF4-FFF2-40B4-BE49-F238E27FC236}">
                  <a16:creationId xmlns:a16="http://schemas.microsoft.com/office/drawing/2014/main" id="{22BDD98F-6BFE-4305-431C-9128AE3BF757}"/>
                </a:ext>
              </a:extLst>
            </p:cNvPr>
            <p:cNvSpPr/>
            <p:nvPr/>
          </p:nvSpPr>
          <p:spPr>
            <a:xfrm>
              <a:off x="594360" y="5198217"/>
              <a:ext cx="5303520" cy="868680"/>
            </a:xfrm>
            <a:prstGeom prst="rect">
              <a:avLst/>
            </a:prstGeom>
            <a:noFill/>
            <a:ln/>
          </p:spPr>
          <p:txBody>
            <a:bodyPr wrap="square" lIns="0" tIns="38100" rIns="38100" bIns="25400" rtlCol="0" anchor="t"/>
            <a:lstStyle/>
            <a:p>
              <a:pPr marL="0" indent="0">
                <a:buNone/>
              </a:pPr>
              <a:r>
                <a:rPr lang="en-US" sz="900" dirty="0">
                  <a:solidFill>
                    <a:srgbClr val="111111"/>
                  </a:solidFill>
                  <a:latin typeface="Georgia" panose="02040502050405020303" pitchFamily="18" charset="0"/>
                  <a:ea typeface="Arial" pitchFamily="34" charset="-122"/>
                  <a:cs typeface="Arial" pitchFamily="34" charset="-120"/>
                </a:rPr>
                <a:t>Shivamogga anchors C7 with pineapple LQ 47.75 (55,960 MT - nearly all of the state's pineapple) and banana LQ 3.57 (75,921 MT). Udupi (pineapple LQ 60.76) and Dakshina Kannada (pineapple LQ 8.54, banana LQ 6.92) were added for their pineapple and banana specialisation. Kodagu (banana LQ 7.35) and Chikkamagaluru complete the corridor - Chikkamagaluru's assignment is discussed in the border district slide despite its onion LQ of 2.16, because it is ecologically and geographically part of the Western Ghats zone.</a:t>
              </a:r>
              <a:endParaRPr lang="en-US" sz="900" dirty="0">
                <a:latin typeface="Georgia" panose="02040502050405020303" pitchFamily="18" charset="0"/>
              </a:endParaRPr>
            </a:p>
          </p:txBody>
        </p:sp>
      </p:grpSp>
      <p:sp>
        <p:nvSpPr>
          <p:cNvPr id="7" name="Slide Number Placeholder 2">
            <a:extLst>
              <a:ext uri="{FF2B5EF4-FFF2-40B4-BE49-F238E27FC236}">
                <a16:creationId xmlns:a16="http://schemas.microsoft.com/office/drawing/2014/main" id="{92AE62B9-E966-24FB-28DC-C2847EAF4FFB}"/>
              </a:ext>
            </a:extLst>
          </p:cNvPr>
          <p:cNvSpPr>
            <a:spLocks noGrp="1"/>
          </p:cNvSpPr>
          <p:nvPr>
            <p:ph type="sldNum" sz="quarter" idx="7"/>
          </p:nvPr>
        </p:nvSpPr>
        <p:spPr>
          <a:xfrm>
            <a:off x="779630" y="6440648"/>
            <a:ext cx="383540" cy="115416"/>
          </a:xfrm>
        </p:spPr>
        <p:txBody>
          <a:bodyPr/>
          <a:lstStyle/>
          <a:p>
            <a:pPr marL="12700">
              <a:spcBef>
                <a:spcPts val="60"/>
              </a:spcBef>
            </a:pPr>
            <a:r>
              <a:rPr lang="en-IN" dirty="0">
                <a:latin typeface="Georgia" panose="02040502050405020303" pitchFamily="18" charset="0"/>
              </a:rPr>
              <a:t>Page</a:t>
            </a:r>
            <a:r>
              <a:rPr lang="en-IN" spc="-55" dirty="0">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40</a:t>
            </a:fld>
            <a:endParaRPr dirty="0">
              <a:latin typeface="Georgia" panose="02040502050405020303" pitchFamily="18" charset="0"/>
            </a:endParaRPr>
          </a:p>
        </p:txBody>
      </p:sp>
      <p:pic>
        <p:nvPicPr>
          <p:cNvPr id="10" name="Picture 9">
            <a:extLst>
              <a:ext uri="{FF2B5EF4-FFF2-40B4-BE49-F238E27FC236}">
                <a16:creationId xmlns:a16="http://schemas.microsoft.com/office/drawing/2014/main" id="{B420962F-AA08-74B7-BD66-1271CC1598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23452"/>
            <a:ext cx="12192000" cy="987920"/>
          </a:xfrm>
          <a:prstGeom prst="rect">
            <a:avLst/>
          </a:prstGeom>
        </p:spPr>
      </p:pic>
    </p:spTree>
    <p:extLst>
      <p:ext uri="{BB962C8B-B14F-4D97-AF65-F5344CB8AC3E}">
        <p14:creationId xmlns:p14="http://schemas.microsoft.com/office/powerpoint/2010/main" val="30666604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008A0-1317-EAC5-E100-AD24B8128F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E6E00-6929-CF9A-C268-B473FDE755C5}"/>
              </a:ext>
            </a:extLst>
          </p:cNvPr>
          <p:cNvSpPr>
            <a:spLocks noGrp="1"/>
          </p:cNvSpPr>
          <p:nvPr>
            <p:ph type="title"/>
          </p:nvPr>
        </p:nvSpPr>
        <p:spPr>
          <a:xfrm>
            <a:off x="609600" y="381000"/>
            <a:ext cx="10561116" cy="369332"/>
          </a:xfrm>
        </p:spPr>
        <p:txBody>
          <a:bodyPr/>
          <a:lstStyle/>
          <a:p>
            <a:pPr marL="0" indent="0">
              <a:buNone/>
            </a:pPr>
            <a:r>
              <a:rPr lang="en-US" sz="2400" dirty="0">
                <a:solidFill>
                  <a:srgbClr val="FFFFFF"/>
                </a:solidFill>
                <a:latin typeface="Georgia" panose="02040502050405020303" pitchFamily="18" charset="0"/>
                <a:ea typeface="Arial" pitchFamily="34" charset="-122"/>
                <a:cs typeface="Arial" pitchFamily="34" charset="-120"/>
              </a:rPr>
              <a:t>Border District Rationale</a:t>
            </a:r>
            <a:endParaRPr lang="en-US" sz="2400" dirty="0">
              <a:latin typeface="Georgia" panose="02040502050405020303" pitchFamily="18" charset="0"/>
            </a:endParaRPr>
          </a:p>
        </p:txBody>
      </p:sp>
      <p:graphicFrame>
        <p:nvGraphicFramePr>
          <p:cNvPr id="3" name="Table 0">
            <a:extLst>
              <a:ext uri="{FF2B5EF4-FFF2-40B4-BE49-F238E27FC236}">
                <a16:creationId xmlns:a16="http://schemas.microsoft.com/office/drawing/2014/main" id="{51EECDA6-D8EB-70B2-1BA3-B2E33E3561B3}"/>
              </a:ext>
            </a:extLst>
          </p:cNvPr>
          <p:cNvGraphicFramePr>
            <a:graphicFrameLocks noGrp="1"/>
          </p:cNvGraphicFramePr>
          <p:nvPr>
            <p:extLst>
              <p:ext uri="{D42A27DB-BD31-4B8C-83A1-F6EECF244321}">
                <p14:modId xmlns:p14="http://schemas.microsoft.com/office/powerpoint/2010/main" val="3908366778"/>
              </p:ext>
            </p:extLst>
          </p:nvPr>
        </p:nvGraphicFramePr>
        <p:xfrm>
          <a:off x="383541" y="914400"/>
          <a:ext cx="11387169" cy="4960339"/>
        </p:xfrm>
        <a:graphic>
          <a:graphicData uri="http://schemas.openxmlformats.org/drawingml/2006/table">
            <a:tbl>
              <a:tblPr/>
              <a:tblGrid>
                <a:gridCol w="1216659">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422366">
                  <a:extLst>
                    <a:ext uri="{9D8B030D-6E8A-4147-A177-3AD203B41FA5}">
                      <a16:colId xmlns:a16="http://schemas.microsoft.com/office/drawing/2014/main" val="20003"/>
                    </a:ext>
                  </a:extLst>
                </a:gridCol>
                <a:gridCol w="6995544">
                  <a:extLst>
                    <a:ext uri="{9D8B030D-6E8A-4147-A177-3AD203B41FA5}">
                      <a16:colId xmlns:a16="http://schemas.microsoft.com/office/drawing/2014/main" val="20004"/>
                    </a:ext>
                  </a:extLst>
                </a:gridCol>
              </a:tblGrid>
              <a:tr h="609669">
                <a:tc>
                  <a:txBody>
                    <a:bodyPr/>
                    <a:lstStyle/>
                    <a:p>
                      <a:pPr marL="0" indent="0" algn="ctr">
                        <a:buNone/>
                      </a:pPr>
                      <a:r>
                        <a:rPr lang="en-US" sz="900" b="1" dirty="0">
                          <a:solidFill>
                            <a:srgbClr val="FFFFFF"/>
                          </a:solidFill>
                          <a:latin typeface="Georgia" panose="02040502050405020303" pitchFamily="18" charset="0"/>
                          <a:ea typeface="Arial" pitchFamily="34" charset="-122"/>
                          <a:cs typeface="Arial" pitchFamily="34" charset="-120"/>
                        </a:rPr>
                        <a:t>District</a:t>
                      </a:r>
                      <a:endParaRPr lang="en-US" sz="900" b="1" dirty="0">
                        <a:latin typeface="Georgia" panose="02040502050405020303" pitchFamily="18" charset="0"/>
                        <a:ea typeface="Arial" charset="0"/>
                        <a:cs typeface="Arial" charset="0"/>
                      </a:endParaRPr>
                    </a:p>
                  </a:txBody>
                  <a:tcPr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0B6E78"/>
                    </a:solidFill>
                  </a:tcPr>
                </a:tc>
                <a:tc>
                  <a:txBody>
                    <a:bodyPr/>
                    <a:lstStyle/>
                    <a:p>
                      <a:pPr marL="0" indent="0" algn="ctr">
                        <a:buNone/>
                      </a:pPr>
                      <a:r>
                        <a:rPr lang="en-US" sz="900" b="1" dirty="0">
                          <a:solidFill>
                            <a:srgbClr val="FFFFFF"/>
                          </a:solidFill>
                          <a:latin typeface="Georgia" panose="02040502050405020303" pitchFamily="18" charset="0"/>
                          <a:ea typeface="Arial" pitchFamily="34" charset="-122"/>
                          <a:cs typeface="Arial" pitchFamily="34" charset="-120"/>
                        </a:rPr>
                        <a:t>Assigned</a:t>
                      </a:r>
                      <a:endParaRPr lang="en-US" sz="900" b="1" dirty="0">
                        <a:latin typeface="Georgia" panose="02040502050405020303" pitchFamily="18" charset="0"/>
                        <a:ea typeface="Arial" charset="0"/>
                        <a:cs typeface="Arial" charset="0"/>
                      </a:endParaRPr>
                    </a:p>
                  </a:txBody>
                  <a:tcPr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0B6E78"/>
                    </a:solidFill>
                  </a:tcPr>
                </a:tc>
                <a:tc>
                  <a:txBody>
                    <a:bodyPr/>
                    <a:lstStyle/>
                    <a:p>
                      <a:pPr marL="0" indent="0" algn="ctr">
                        <a:buNone/>
                      </a:pPr>
                      <a:r>
                        <a:rPr lang="en-US" sz="900" b="1" dirty="0">
                          <a:solidFill>
                            <a:srgbClr val="FFFFFF"/>
                          </a:solidFill>
                          <a:latin typeface="Georgia" panose="02040502050405020303" pitchFamily="18" charset="0"/>
                          <a:ea typeface="Arial" pitchFamily="34" charset="-122"/>
                          <a:cs typeface="Arial" pitchFamily="34" charset="-120"/>
                        </a:rPr>
                        <a:t>Alternative</a:t>
                      </a:r>
                      <a:endParaRPr lang="en-US" sz="900" b="1" dirty="0">
                        <a:latin typeface="Georgia" panose="02040502050405020303" pitchFamily="18" charset="0"/>
                        <a:ea typeface="Arial" charset="0"/>
                        <a:cs typeface="Arial" charset="0"/>
                      </a:endParaRPr>
                    </a:p>
                    <a:p>
                      <a:pPr marL="0" indent="0" algn="ctr">
                        <a:buNone/>
                      </a:pPr>
                      <a:r>
                        <a:rPr lang="en-US" sz="900" b="1" dirty="0">
                          <a:solidFill>
                            <a:srgbClr val="FFFFFF"/>
                          </a:solidFill>
                          <a:latin typeface="Georgia" panose="02040502050405020303" pitchFamily="18" charset="0"/>
                          <a:ea typeface="Arial" pitchFamily="34" charset="-122"/>
                          <a:cs typeface="Arial" pitchFamily="34" charset="-120"/>
                        </a:rPr>
                        <a:t>considered</a:t>
                      </a:r>
                      <a:endParaRPr lang="en-US" sz="900" b="1" dirty="0">
                        <a:latin typeface="Georgia" panose="02040502050405020303" pitchFamily="18" charset="0"/>
                        <a:ea typeface="Arial" charset="0"/>
                        <a:cs typeface="Arial" charset="0"/>
                      </a:endParaRPr>
                    </a:p>
                  </a:txBody>
                  <a:tcPr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0B6E78"/>
                    </a:solidFill>
                  </a:tcPr>
                </a:tc>
                <a:tc>
                  <a:txBody>
                    <a:bodyPr/>
                    <a:lstStyle/>
                    <a:p>
                      <a:pPr marL="0" indent="0" algn="ctr">
                        <a:buNone/>
                      </a:pPr>
                      <a:r>
                        <a:rPr lang="en-US" sz="900" b="1" dirty="0">
                          <a:solidFill>
                            <a:srgbClr val="FFFFFF"/>
                          </a:solidFill>
                          <a:latin typeface="Georgia" panose="02040502050405020303" pitchFamily="18" charset="0"/>
                          <a:ea typeface="Arial" pitchFamily="34" charset="-122"/>
                          <a:cs typeface="Arial" pitchFamily="34" charset="-120"/>
                        </a:rPr>
                        <a:t>Key LQ values</a:t>
                      </a:r>
                      <a:endParaRPr lang="en-US" sz="900" b="1" dirty="0">
                        <a:latin typeface="Georgia" panose="02040502050405020303" pitchFamily="18" charset="0"/>
                        <a:ea typeface="Arial" charset="0"/>
                        <a:cs typeface="Arial" charset="0"/>
                      </a:endParaRPr>
                    </a:p>
                  </a:txBody>
                  <a:tcPr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0B6E78"/>
                    </a:solidFill>
                  </a:tcPr>
                </a:tc>
                <a:tc>
                  <a:txBody>
                    <a:bodyPr/>
                    <a:lstStyle/>
                    <a:p>
                      <a:pPr marL="0" indent="0" algn="ctr">
                        <a:buNone/>
                      </a:pPr>
                      <a:r>
                        <a:rPr lang="en-US" sz="900" b="1" dirty="0">
                          <a:solidFill>
                            <a:srgbClr val="FFFFFF"/>
                          </a:solidFill>
                          <a:latin typeface="Georgia" panose="02040502050405020303" pitchFamily="18" charset="0"/>
                          <a:ea typeface="Arial" pitchFamily="34" charset="-122"/>
                          <a:cs typeface="Arial" pitchFamily="34" charset="-120"/>
                        </a:rPr>
                        <a:t>Rationale for assignment</a:t>
                      </a:r>
                      <a:endParaRPr lang="en-US" sz="900" b="1" dirty="0">
                        <a:latin typeface="Georgia" panose="02040502050405020303" pitchFamily="18" charset="0"/>
                        <a:ea typeface="Arial" charset="0"/>
                        <a:cs typeface="Arial" charset="0"/>
                      </a:endParaRPr>
                    </a:p>
                  </a:txBody>
                  <a:tcPr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0B6E78"/>
                    </a:solidFill>
                  </a:tcPr>
                </a:tc>
                <a:extLst>
                  <a:ext uri="{0D108BD9-81ED-4DB2-BD59-A6C34878D82A}">
                    <a16:rowId xmlns:a16="http://schemas.microsoft.com/office/drawing/2014/main" val="10000"/>
                  </a:ext>
                </a:extLst>
              </a:tr>
              <a:tr h="467798">
                <a:tc>
                  <a:txBody>
                    <a:bodyPr/>
                    <a:lstStyle/>
                    <a:p>
                      <a:pPr marL="0" indent="0">
                        <a:buNone/>
                      </a:pPr>
                      <a:r>
                        <a:rPr lang="en-US" sz="900" b="1" dirty="0">
                          <a:solidFill>
                            <a:srgbClr val="111111"/>
                          </a:solidFill>
                          <a:latin typeface="Georgia" panose="02040502050405020303" pitchFamily="18" charset="0"/>
                          <a:ea typeface="Arial" pitchFamily="34" charset="-122"/>
                          <a:cs typeface="Arial" pitchFamily="34" charset="-120"/>
                        </a:rPr>
                        <a:t>Mysuru</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E6655"/>
                          </a:solidFill>
                          <a:latin typeface="Georgia" panose="02040502050405020303" pitchFamily="18" charset="0"/>
                          <a:ea typeface="Arial" pitchFamily="34" charset="-122"/>
                          <a:cs typeface="Arial" pitchFamily="34" charset="-120"/>
                        </a:rPr>
                        <a:t>C4</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lgn="ctr">
                        <a:buNone/>
                      </a:pPr>
                      <a:r>
                        <a:rPr lang="en-US" sz="900" dirty="0">
                          <a:solidFill>
                            <a:schemeClr val="tx1"/>
                          </a:solidFill>
                          <a:latin typeface="Georgia" panose="02040502050405020303" pitchFamily="18" charset="0"/>
                          <a:ea typeface="Arial" pitchFamily="34" charset="-122"/>
                          <a:cs typeface="Arial" pitchFamily="34" charset="-120"/>
                        </a:rPr>
                        <a:t>C5</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900" i="1" dirty="0">
                          <a:solidFill>
                            <a:schemeClr val="tx1"/>
                          </a:solidFill>
                          <a:latin typeface="Georgia" panose="02040502050405020303" pitchFamily="18" charset="0"/>
                          <a:ea typeface="Arial" pitchFamily="34" charset="-122"/>
                          <a:cs typeface="Arial" pitchFamily="34" charset="-120"/>
                        </a:rPr>
                        <a:t>Banana 4.27 | Tomato 1.54</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900" dirty="0">
                          <a:solidFill>
                            <a:schemeClr val="tx1"/>
                          </a:solidFill>
                          <a:latin typeface="Georgia" panose="02040502050405020303" pitchFamily="18" charset="0"/>
                          <a:ea typeface="Arial" pitchFamily="34" charset="-122"/>
                          <a:cs typeface="Arial" pitchFamily="34" charset="-120"/>
                        </a:rPr>
                        <a:t>Mysuru produces 4,28,942 MT banana against 3,07,208 MT tomato (LQ 1.54). Banana LQ is nearly 3× the tomato LQ. C5 has a banana LQ of only 0.25 - almost no banana character. Same Old Mysore administrative belt as Mandya and Chamarajanagara.</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7798">
                <a:tc>
                  <a:txBody>
                    <a:bodyPr/>
                    <a:lstStyle/>
                    <a:p>
                      <a:pPr marL="0" indent="0">
                        <a:buNone/>
                      </a:pPr>
                      <a:r>
                        <a:rPr lang="en-US" sz="900" b="1" dirty="0">
                          <a:solidFill>
                            <a:srgbClr val="111111"/>
                          </a:solidFill>
                          <a:latin typeface="Georgia" panose="02040502050405020303" pitchFamily="18" charset="0"/>
                          <a:ea typeface="Arial" pitchFamily="34" charset="-122"/>
                          <a:cs typeface="Arial" pitchFamily="34" charset="-120"/>
                        </a:rPr>
                        <a:t>Ramanagara</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b="1" dirty="0">
                          <a:solidFill>
                            <a:srgbClr val="0E6655"/>
                          </a:solidFill>
                          <a:latin typeface="Georgia" panose="02040502050405020303" pitchFamily="18" charset="0"/>
                          <a:ea typeface="Arial" pitchFamily="34" charset="-122"/>
                          <a:cs typeface="Arial" pitchFamily="34" charset="-120"/>
                        </a:rPr>
                        <a:t>C4</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dirty="0">
                          <a:solidFill>
                            <a:schemeClr val="tx1"/>
                          </a:solidFill>
                          <a:latin typeface="Georgia" panose="02040502050405020303" pitchFamily="18" charset="0"/>
                          <a:ea typeface="Arial" pitchFamily="34" charset="-122"/>
                          <a:cs typeface="Arial" pitchFamily="34" charset="-120"/>
                        </a:rPr>
                        <a:t>C5</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900" i="1" dirty="0">
                          <a:solidFill>
                            <a:schemeClr val="tx1"/>
                          </a:solidFill>
                          <a:latin typeface="Georgia" panose="02040502050405020303" pitchFamily="18" charset="0"/>
                          <a:ea typeface="Arial" pitchFamily="34" charset="-122"/>
                          <a:cs typeface="Arial" pitchFamily="34" charset="-120"/>
                        </a:rPr>
                        <a:t>Mango 6.67 | Tomato 0.04</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900" dirty="0">
                          <a:solidFill>
                            <a:schemeClr val="tx1"/>
                          </a:solidFill>
                          <a:latin typeface="Georgia" panose="02040502050405020303" pitchFamily="18" charset="0"/>
                          <a:ea typeface="Arial" pitchFamily="34" charset="-122"/>
                          <a:cs typeface="Arial" pitchFamily="34" charset="-120"/>
                        </a:rPr>
                        <a:t>Mango (2,52,060 MT) accounts for 98.3% of 7-crop production; mango LQ 6.67. C5 also has mango LQ 2.10, but Ramanagara shares a border with Mandya (C4), not Kolar or Chikkaballapura. Old Mysore administrative linkage.</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467798">
                <a:tc>
                  <a:txBody>
                    <a:bodyPr/>
                    <a:lstStyle/>
                    <a:p>
                      <a:pPr marL="0" indent="0">
                        <a:buNone/>
                      </a:pPr>
                      <a:r>
                        <a:rPr lang="en-US" sz="900" b="1" dirty="0">
                          <a:solidFill>
                            <a:srgbClr val="111111"/>
                          </a:solidFill>
                          <a:latin typeface="Georgia" panose="02040502050405020303" pitchFamily="18" charset="0"/>
                          <a:ea typeface="Arial" pitchFamily="34" charset="-122"/>
                          <a:cs typeface="Arial" pitchFamily="34" charset="-120"/>
                        </a:rPr>
                        <a:t>Hassan</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E6655"/>
                          </a:solidFill>
                          <a:latin typeface="Georgia" panose="02040502050405020303" pitchFamily="18" charset="0"/>
                          <a:ea typeface="Arial" pitchFamily="34" charset="-122"/>
                          <a:cs typeface="Arial" pitchFamily="34" charset="-120"/>
                        </a:rPr>
                        <a:t>C4</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lgn="ctr">
                        <a:buNone/>
                      </a:pPr>
                      <a:r>
                        <a:rPr lang="en-US" sz="900" dirty="0">
                          <a:solidFill>
                            <a:schemeClr val="tx1"/>
                          </a:solidFill>
                          <a:latin typeface="Georgia" panose="02040502050405020303" pitchFamily="18" charset="0"/>
                          <a:ea typeface="Arial" pitchFamily="34" charset="-122"/>
                          <a:cs typeface="Arial" pitchFamily="34" charset="-120"/>
                        </a:rPr>
                        <a:t>C7</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900" i="1" dirty="0">
                          <a:solidFill>
                            <a:schemeClr val="tx1"/>
                          </a:solidFill>
                          <a:latin typeface="Georgia" panose="02040502050405020303" pitchFamily="18" charset="0"/>
                          <a:ea typeface="Arial" pitchFamily="34" charset="-122"/>
                          <a:cs typeface="Arial" pitchFamily="34" charset="-120"/>
                        </a:rPr>
                        <a:t>Banana 3.71 | Tomato 1.25 | Pineapple 0.00</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900" dirty="0">
                          <a:solidFill>
                            <a:schemeClr val="tx1"/>
                          </a:solidFill>
                          <a:latin typeface="Georgia" panose="02040502050405020303" pitchFamily="18" charset="0"/>
                          <a:ea typeface="Arial" pitchFamily="34" charset="-122"/>
                          <a:cs typeface="Arial" pitchFamily="34" charset="-120"/>
                        </a:rPr>
                        <a:t>No pineapple at all. Banana LQ 3.71 aligns with C4. Borders Mandya and Mysuru. Placing it in C7 would geographically fragment C4 and create a non-contiguous Western Ghats cluster.</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7798">
                <a:tc>
                  <a:txBody>
                    <a:bodyPr/>
                    <a:lstStyle/>
                    <a:p>
                      <a:pPr marL="0" indent="0">
                        <a:buNone/>
                      </a:pPr>
                      <a:r>
                        <a:rPr lang="en-US" sz="900" b="1" dirty="0">
                          <a:solidFill>
                            <a:srgbClr val="111111"/>
                          </a:solidFill>
                          <a:latin typeface="Georgia" panose="02040502050405020303" pitchFamily="18" charset="0"/>
                          <a:ea typeface="Arial" pitchFamily="34" charset="-122"/>
                          <a:cs typeface="Arial" pitchFamily="34" charset="-120"/>
                        </a:rPr>
                        <a:t>Tumakuru</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b="1" dirty="0">
                          <a:solidFill>
                            <a:srgbClr val="0E6655"/>
                          </a:solidFill>
                          <a:latin typeface="Georgia" panose="02040502050405020303" pitchFamily="18" charset="0"/>
                          <a:ea typeface="Arial" pitchFamily="34" charset="-122"/>
                          <a:cs typeface="Arial" pitchFamily="34" charset="-120"/>
                        </a:rPr>
                        <a:t>C5</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dirty="0">
                          <a:solidFill>
                            <a:schemeClr val="tx1"/>
                          </a:solidFill>
                          <a:latin typeface="Georgia" panose="02040502050405020303" pitchFamily="18" charset="0"/>
                          <a:ea typeface="Arial" pitchFamily="34" charset="-122"/>
                          <a:cs typeface="Arial" pitchFamily="34" charset="-120"/>
                        </a:rPr>
                        <a:t>C2</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900" i="1" dirty="0">
                          <a:solidFill>
                            <a:schemeClr val="tx1"/>
                          </a:solidFill>
                          <a:latin typeface="Georgia" panose="02040502050405020303" pitchFamily="18" charset="0"/>
                          <a:ea typeface="Arial" pitchFamily="34" charset="-122"/>
                          <a:cs typeface="Arial" pitchFamily="34" charset="-120"/>
                        </a:rPr>
                        <a:t>Tomato 2.03 | Mango 1.98 | Pomegranate 2.72</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900" dirty="0">
                          <a:solidFill>
                            <a:schemeClr val="tx1"/>
                          </a:solidFill>
                          <a:latin typeface="Georgia" panose="02040502050405020303" pitchFamily="18" charset="0"/>
                          <a:ea typeface="Arial" pitchFamily="34" charset="-122"/>
                          <a:cs typeface="Arial" pitchFamily="34" charset="-120"/>
                        </a:rPr>
                        <a:t>Pomegranate LQ 2.72 might suggest C2, but tomato (2,18,022 MT, LQ 2.03) and mango (1,19,604 MT, LQ 1.98) dominate. Tumakuru sits on NH-48; produce flows toward Bengaluru processors, not toward the Chitradurga-Ballari belt.</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r h="467798">
                <a:tc>
                  <a:txBody>
                    <a:bodyPr/>
                    <a:lstStyle/>
                    <a:p>
                      <a:pPr marL="0" indent="0">
                        <a:buNone/>
                      </a:pPr>
                      <a:r>
                        <a:rPr lang="en-US" sz="900" b="1" dirty="0">
                          <a:solidFill>
                            <a:srgbClr val="111111"/>
                          </a:solidFill>
                          <a:latin typeface="Georgia" panose="02040502050405020303" pitchFamily="18" charset="0"/>
                          <a:ea typeface="Arial" pitchFamily="34" charset="-122"/>
                          <a:cs typeface="Arial" pitchFamily="34" charset="-120"/>
                        </a:rPr>
                        <a:t>Belagavi</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E6655"/>
                          </a:solidFill>
                          <a:latin typeface="Georgia" panose="02040502050405020303" pitchFamily="18" charset="0"/>
                          <a:ea typeface="Arial" pitchFamily="34" charset="-122"/>
                          <a:cs typeface="Arial" pitchFamily="34" charset="-120"/>
                        </a:rPr>
                        <a:t>C1</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lgn="ctr">
                        <a:buNone/>
                      </a:pPr>
                      <a:r>
                        <a:rPr lang="en-US" sz="900" dirty="0">
                          <a:solidFill>
                            <a:schemeClr val="tx1"/>
                          </a:solidFill>
                          <a:latin typeface="Georgia" panose="02040502050405020303" pitchFamily="18" charset="0"/>
                          <a:ea typeface="Arial" pitchFamily="34" charset="-122"/>
                          <a:cs typeface="Arial" pitchFamily="34" charset="-120"/>
                        </a:rPr>
                        <a:t>C6</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900" i="1" dirty="0">
                          <a:solidFill>
                            <a:schemeClr val="tx1"/>
                          </a:solidFill>
                          <a:latin typeface="Georgia" panose="02040502050405020303" pitchFamily="18" charset="0"/>
                          <a:ea typeface="Arial" pitchFamily="34" charset="-122"/>
                          <a:cs typeface="Arial" pitchFamily="34" charset="-120"/>
                        </a:rPr>
                        <a:t>Grape 2.60 | Tomato 1.01</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900" dirty="0">
                          <a:solidFill>
                            <a:schemeClr val="tx1"/>
                          </a:solidFill>
                          <a:latin typeface="Georgia" panose="02040502050405020303" pitchFamily="18" charset="0"/>
                          <a:ea typeface="Arial" pitchFamily="34" charset="-122"/>
                          <a:cs typeface="Arial" pitchFamily="34" charset="-120"/>
                        </a:rPr>
                        <a:t>Grape LQ 2.60 (1,37,381 MT) aligns with C1's grape-onion-raisin identity. C6 has zero grape production. Raisin processing rationale that defines C1 applies directly to Belagavi's grape belt.</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7798">
                <a:tc>
                  <a:txBody>
                    <a:bodyPr/>
                    <a:lstStyle/>
                    <a:p>
                      <a:pPr marL="0" indent="0">
                        <a:buNone/>
                      </a:pPr>
                      <a:r>
                        <a:rPr lang="en-US" sz="900" b="1" dirty="0">
                          <a:solidFill>
                            <a:srgbClr val="111111"/>
                          </a:solidFill>
                          <a:latin typeface="Georgia" panose="02040502050405020303" pitchFamily="18" charset="0"/>
                          <a:ea typeface="Arial" pitchFamily="34" charset="-122"/>
                          <a:cs typeface="Arial" pitchFamily="34" charset="-120"/>
                        </a:rPr>
                        <a:t>Davanagere</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b="1" dirty="0">
                          <a:solidFill>
                            <a:srgbClr val="0E6655"/>
                          </a:solidFill>
                          <a:latin typeface="Georgia" panose="02040502050405020303" pitchFamily="18" charset="0"/>
                          <a:ea typeface="Arial" pitchFamily="34" charset="-122"/>
                          <a:cs typeface="Arial" pitchFamily="34" charset="-120"/>
                        </a:rPr>
                        <a:t>C2</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dirty="0">
                          <a:solidFill>
                            <a:schemeClr val="tx1"/>
                          </a:solidFill>
                          <a:latin typeface="Georgia" panose="02040502050405020303" pitchFamily="18" charset="0"/>
                          <a:ea typeface="Arial" pitchFamily="34" charset="-122"/>
                          <a:cs typeface="Arial" pitchFamily="34" charset="-120"/>
                        </a:rPr>
                        <a:t>C6</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900" i="1" dirty="0">
                          <a:solidFill>
                            <a:schemeClr val="tx1"/>
                          </a:solidFill>
                          <a:latin typeface="Georgia" panose="02040502050405020303" pitchFamily="18" charset="0"/>
                          <a:ea typeface="Arial" pitchFamily="34" charset="-122"/>
                          <a:cs typeface="Arial" pitchFamily="34" charset="-120"/>
                        </a:rPr>
                        <a:t>Pomegranate 1.51 | Onion 1.37 | Mango 0.57</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900" dirty="0">
                          <a:solidFill>
                            <a:schemeClr val="tx1"/>
                          </a:solidFill>
                          <a:latin typeface="Georgia" panose="02040502050405020303" pitchFamily="18" charset="0"/>
                          <a:ea typeface="Arial" pitchFamily="34" charset="-122"/>
                          <a:cs typeface="Arial" pitchFamily="34" charset="-120"/>
                        </a:rPr>
                        <a:t>Pomegranate LQ 1.51 and onion LQ 1.37 match C2 character. Mango LQ 0.57 (well below 1.0) gives no pull toward C6. More accessible to Ballari and Chitradurga markets than to Dharwad-Hubballi.</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6"/>
                  </a:ext>
                </a:extLst>
              </a:tr>
              <a:tr h="467798">
                <a:tc>
                  <a:txBody>
                    <a:bodyPr/>
                    <a:lstStyle/>
                    <a:p>
                      <a:pPr marL="0" indent="0">
                        <a:buNone/>
                      </a:pPr>
                      <a:r>
                        <a:rPr lang="en-US" sz="900" b="1" dirty="0">
                          <a:solidFill>
                            <a:srgbClr val="111111"/>
                          </a:solidFill>
                          <a:latin typeface="Georgia" panose="02040502050405020303" pitchFamily="18" charset="0"/>
                          <a:ea typeface="Arial" pitchFamily="34" charset="-122"/>
                          <a:cs typeface="Arial" pitchFamily="34" charset="-120"/>
                        </a:rPr>
                        <a:t>Haveri</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E6655"/>
                          </a:solidFill>
                          <a:latin typeface="Georgia" panose="02040502050405020303" pitchFamily="18" charset="0"/>
                          <a:ea typeface="Arial" pitchFamily="34" charset="-122"/>
                          <a:cs typeface="Arial" pitchFamily="34" charset="-120"/>
                        </a:rPr>
                        <a:t>C6</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lgn="ctr">
                        <a:buNone/>
                      </a:pPr>
                      <a:r>
                        <a:rPr lang="en-US" sz="900" dirty="0">
                          <a:solidFill>
                            <a:schemeClr val="tx1"/>
                          </a:solidFill>
                          <a:latin typeface="Georgia" panose="02040502050405020303" pitchFamily="18" charset="0"/>
                          <a:ea typeface="Arial" pitchFamily="34" charset="-122"/>
                          <a:cs typeface="Arial" pitchFamily="34" charset="-120"/>
                        </a:rPr>
                        <a:t>C1</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900" i="1" dirty="0">
                          <a:solidFill>
                            <a:schemeClr val="tx1"/>
                          </a:solidFill>
                          <a:latin typeface="Georgia" panose="02040502050405020303" pitchFamily="18" charset="0"/>
                          <a:ea typeface="Arial" pitchFamily="34" charset="-122"/>
                          <a:cs typeface="Arial" pitchFamily="34" charset="-120"/>
                        </a:rPr>
                        <a:t>Mango 2.44 | Tomato 1.51 | Grape 0.00</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900" dirty="0">
                          <a:solidFill>
                            <a:schemeClr val="tx1"/>
                          </a:solidFill>
                          <a:latin typeface="Georgia" panose="02040502050405020303" pitchFamily="18" charset="0"/>
                          <a:ea typeface="Arial" pitchFamily="34" charset="-122"/>
                          <a:cs typeface="Arial" pitchFamily="34" charset="-120"/>
                        </a:rPr>
                        <a:t>Grows no grape; onion LQ only 0.25. Highest LQ is mango (2.44), followed by tomato (1.51) and banana (1.28) - none are C1 crops. Dharwad Division administrative linkage and direct connection to Dharwad city.</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7798">
                <a:tc>
                  <a:txBody>
                    <a:bodyPr/>
                    <a:lstStyle/>
                    <a:p>
                      <a:pPr marL="0" indent="0">
                        <a:buNone/>
                      </a:pPr>
                      <a:r>
                        <a:rPr lang="en-US" sz="900" b="1" dirty="0">
                          <a:solidFill>
                            <a:srgbClr val="111111"/>
                          </a:solidFill>
                          <a:latin typeface="Georgia" panose="02040502050405020303" pitchFamily="18" charset="0"/>
                          <a:ea typeface="Arial" pitchFamily="34" charset="-122"/>
                          <a:cs typeface="Arial" pitchFamily="34" charset="-120"/>
                        </a:rPr>
                        <a:t>Uttara Kannada</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b="1" dirty="0">
                          <a:solidFill>
                            <a:srgbClr val="0E6655"/>
                          </a:solidFill>
                          <a:latin typeface="Georgia" panose="02040502050405020303" pitchFamily="18" charset="0"/>
                          <a:ea typeface="Arial" pitchFamily="34" charset="-122"/>
                          <a:cs typeface="Arial" pitchFamily="34" charset="-120"/>
                        </a:rPr>
                        <a:t>C6</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lgn="ctr">
                        <a:buNone/>
                      </a:pPr>
                      <a:r>
                        <a:rPr lang="en-US" sz="900" dirty="0">
                          <a:solidFill>
                            <a:schemeClr val="tx1"/>
                          </a:solidFill>
                          <a:latin typeface="Georgia" panose="02040502050405020303" pitchFamily="18" charset="0"/>
                          <a:ea typeface="Arial" pitchFamily="34" charset="-122"/>
                          <a:cs typeface="Arial" pitchFamily="34" charset="-120"/>
                        </a:rPr>
                        <a:t>C7</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900" i="1" dirty="0">
                          <a:solidFill>
                            <a:schemeClr val="tx1"/>
                          </a:solidFill>
                          <a:latin typeface="Georgia" panose="02040502050405020303" pitchFamily="18" charset="0"/>
                          <a:ea typeface="Arial" pitchFamily="34" charset="-122"/>
                          <a:cs typeface="Arial" pitchFamily="34" charset="-120"/>
                        </a:rPr>
                        <a:t>Pineapple 14.17 | Banana 4.26 | Mango 2.27</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900" dirty="0">
                          <a:solidFill>
                            <a:schemeClr val="tx1"/>
                          </a:solidFill>
                          <a:latin typeface="Georgia" panose="02040502050405020303" pitchFamily="18" charset="0"/>
                          <a:ea typeface="Arial" pitchFamily="34" charset="-122"/>
                          <a:cs typeface="Arial" pitchFamily="34" charset="-120"/>
                        </a:rPr>
                        <a:t>Does not border any C7 district - borders Dharwad and Haveri (C6). Pineapple volume is only 8,350 MT against Shivamogga's 55,960 MT; too small to anchor C7. Karwar port gives C6 its coastal export route.</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8"/>
                  </a:ext>
                </a:extLst>
              </a:tr>
              <a:tr h="479025">
                <a:tc>
                  <a:txBody>
                    <a:bodyPr/>
                    <a:lstStyle/>
                    <a:p>
                      <a:pPr marL="0" indent="0">
                        <a:buNone/>
                      </a:pPr>
                      <a:r>
                        <a:rPr lang="en-US" sz="900" b="1" dirty="0">
                          <a:solidFill>
                            <a:srgbClr val="111111"/>
                          </a:solidFill>
                          <a:latin typeface="Georgia" panose="02040502050405020303" pitchFamily="18" charset="0"/>
                          <a:ea typeface="Arial" pitchFamily="34" charset="-122"/>
                          <a:cs typeface="Arial" pitchFamily="34" charset="-120"/>
                        </a:rPr>
                        <a:t>Chikkamagaluru</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E6655"/>
                          </a:solidFill>
                          <a:latin typeface="Georgia" panose="02040502050405020303" pitchFamily="18" charset="0"/>
                          <a:ea typeface="Arial" pitchFamily="34" charset="-122"/>
                          <a:cs typeface="Arial" pitchFamily="34" charset="-120"/>
                        </a:rPr>
                        <a:t>C7</a:t>
                      </a:r>
                      <a:endParaRPr lang="en-US" sz="900" dirty="0">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lgn="ctr">
                        <a:buNone/>
                      </a:pPr>
                      <a:r>
                        <a:rPr lang="en-US" sz="900" dirty="0">
                          <a:solidFill>
                            <a:schemeClr val="tx1"/>
                          </a:solidFill>
                          <a:latin typeface="Georgia" panose="02040502050405020303" pitchFamily="18" charset="0"/>
                          <a:ea typeface="Arial" pitchFamily="34" charset="-122"/>
                          <a:cs typeface="Arial" pitchFamily="34" charset="-120"/>
                        </a:rPr>
                        <a:t>C2</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900" i="1" dirty="0">
                          <a:solidFill>
                            <a:schemeClr val="tx1"/>
                          </a:solidFill>
                          <a:latin typeface="Georgia" panose="02040502050405020303" pitchFamily="18" charset="0"/>
                          <a:ea typeface="Arial" pitchFamily="34" charset="-122"/>
                          <a:cs typeface="Arial" pitchFamily="34" charset="-120"/>
                        </a:rPr>
                        <a:t>Onion 2.16 | Banana 0.70 | Pineapple 0.00</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900" dirty="0">
                          <a:solidFill>
                            <a:schemeClr val="tx1"/>
                          </a:solidFill>
                          <a:latin typeface="Georgia" panose="02040502050405020303" pitchFamily="18" charset="0"/>
                          <a:ea typeface="Arial" pitchFamily="34" charset="-122"/>
                          <a:cs typeface="Arial" pitchFamily="34" charset="-120"/>
                        </a:rPr>
                        <a:t>Onion LQ 2.16 is the highest, which on crop specialisation alone could suggest C2. Overriding factors: entirely within Western Ghats agro-ecological zone; borders Shivamogga and Kodagu (C7); does not border any C2 district. Onion production occurs in semi-arid eastern taluks within an otherwise Ghats-dominated geography.</a:t>
                      </a:r>
                      <a:endParaRPr lang="en-US" sz="900" dirty="0">
                        <a:solidFill>
                          <a:schemeClr val="tx1"/>
                        </a:solidFill>
                        <a:latin typeface="Georgia" panose="02040502050405020303" pitchFamily="18" charset="0"/>
                        <a:ea typeface="Arial" charset="0"/>
                        <a:cs typeface="Arial" charset="0"/>
                      </a:endParaRPr>
                    </a:p>
                  </a:txBody>
                  <a:tcP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4" name="Text 5">
            <a:extLst>
              <a:ext uri="{FF2B5EF4-FFF2-40B4-BE49-F238E27FC236}">
                <a16:creationId xmlns:a16="http://schemas.microsoft.com/office/drawing/2014/main" id="{753E074F-C5D7-0EC1-CB84-ACDAF544EC41}"/>
              </a:ext>
            </a:extLst>
          </p:cNvPr>
          <p:cNvSpPr/>
          <p:nvPr/>
        </p:nvSpPr>
        <p:spPr>
          <a:xfrm>
            <a:off x="472440" y="5882640"/>
            <a:ext cx="11795760" cy="137160"/>
          </a:xfrm>
          <a:prstGeom prst="rect">
            <a:avLst/>
          </a:prstGeom>
          <a:noFill/>
          <a:ln/>
        </p:spPr>
        <p:txBody>
          <a:bodyPr wrap="square" rtlCol="0" anchor="ctr"/>
          <a:lstStyle/>
          <a:p>
            <a:pPr marL="0" indent="0">
              <a:buNone/>
            </a:pPr>
            <a:r>
              <a:rPr lang="en-US" sz="900" i="1" dirty="0">
                <a:latin typeface="Georgia" panose="02040502050405020303" pitchFamily="18" charset="0"/>
                <a:ea typeface="Arial" pitchFamily="34" charset="-122"/>
                <a:cs typeface="Arial" pitchFamily="34" charset="-120"/>
              </a:rPr>
              <a:t>LQ values above 1.5 indicate meaningful specialisation. </a:t>
            </a:r>
            <a:endParaRPr lang="en-US" sz="900" dirty="0">
              <a:latin typeface="Georgia" panose="02040502050405020303" pitchFamily="18" charset="0"/>
            </a:endParaRPr>
          </a:p>
        </p:txBody>
      </p:sp>
      <p:sp>
        <p:nvSpPr>
          <p:cNvPr id="5" name="Slide Number Placeholder 2">
            <a:extLst>
              <a:ext uri="{FF2B5EF4-FFF2-40B4-BE49-F238E27FC236}">
                <a16:creationId xmlns:a16="http://schemas.microsoft.com/office/drawing/2014/main" id="{41F8BB13-6324-05D6-D11C-B1843A828845}"/>
              </a:ext>
            </a:extLst>
          </p:cNvPr>
          <p:cNvSpPr>
            <a:spLocks noGrp="1"/>
          </p:cNvSpPr>
          <p:nvPr>
            <p:ph type="sldNum" sz="quarter" idx="7"/>
          </p:nvPr>
        </p:nvSpPr>
        <p:spPr>
          <a:xfrm>
            <a:off x="779630" y="6440648"/>
            <a:ext cx="383540" cy="115416"/>
          </a:xfrm>
        </p:spPr>
        <p:txBody>
          <a:bodyPr/>
          <a:lstStyle/>
          <a:p>
            <a:pPr marL="12700">
              <a:spcBef>
                <a:spcPts val="60"/>
              </a:spcBef>
            </a:pPr>
            <a:r>
              <a:rPr lang="en-IN" dirty="0">
                <a:latin typeface="Georgia" panose="02040502050405020303" pitchFamily="18" charset="0"/>
              </a:rPr>
              <a:t>Page</a:t>
            </a:r>
            <a:r>
              <a:rPr lang="en-IN" spc="-55" dirty="0">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41</a:t>
            </a:fld>
            <a:endParaRPr dirty="0">
              <a:latin typeface="Georgia" panose="02040502050405020303" pitchFamily="18" charset="0"/>
            </a:endParaRPr>
          </a:p>
        </p:txBody>
      </p:sp>
      <p:pic>
        <p:nvPicPr>
          <p:cNvPr id="7" name="Picture 6">
            <a:extLst>
              <a:ext uri="{FF2B5EF4-FFF2-40B4-BE49-F238E27FC236}">
                <a16:creationId xmlns:a16="http://schemas.microsoft.com/office/drawing/2014/main" id="{40A450B0-A82B-77DE-96D0-38B587B73DE4}"/>
              </a:ext>
            </a:extLst>
          </p:cNvPr>
          <p:cNvPicPr>
            <a:picLocks noChangeAspect="1"/>
          </p:cNvPicPr>
          <p:nvPr/>
        </p:nvPicPr>
        <p:blipFill>
          <a:blip r:embed="rId3"/>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8985451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028F7-A996-2552-3D4B-59B87B2033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EFF51-3BB1-14C4-E3A6-5A1688866FC5}"/>
              </a:ext>
            </a:extLst>
          </p:cNvPr>
          <p:cNvSpPr>
            <a:spLocks noGrp="1"/>
          </p:cNvSpPr>
          <p:nvPr>
            <p:ph type="title"/>
          </p:nvPr>
        </p:nvSpPr>
        <p:spPr>
          <a:xfrm>
            <a:off x="609600" y="381000"/>
            <a:ext cx="10561116" cy="369332"/>
          </a:xfrm>
        </p:spPr>
        <p:txBody>
          <a:bodyPr/>
          <a:lstStyle/>
          <a:p>
            <a:pPr marL="0" indent="0">
              <a:buNone/>
            </a:pPr>
            <a:r>
              <a:rPr lang="en-US" sz="2400" dirty="0">
                <a:solidFill>
                  <a:srgbClr val="FFFFFF"/>
                </a:solidFill>
                <a:latin typeface="Georgia" panose="02040502050405020303" pitchFamily="18" charset="0"/>
                <a:ea typeface="Arial" pitchFamily="34" charset="-122"/>
                <a:cs typeface="Arial" pitchFamily="34" charset="-120"/>
              </a:rPr>
              <a:t>Cluster-Level LQ, Validation and References</a:t>
            </a:r>
            <a:endParaRPr lang="en-US" sz="2400" dirty="0">
              <a:latin typeface="Georgia" panose="02040502050405020303" pitchFamily="18" charset="0"/>
            </a:endParaRPr>
          </a:p>
        </p:txBody>
      </p:sp>
      <p:grpSp>
        <p:nvGrpSpPr>
          <p:cNvPr id="11" name="Group 10">
            <a:extLst>
              <a:ext uri="{FF2B5EF4-FFF2-40B4-BE49-F238E27FC236}">
                <a16:creationId xmlns:a16="http://schemas.microsoft.com/office/drawing/2014/main" id="{89C70A10-6E7F-A9C1-7609-6726406ECCAC}"/>
              </a:ext>
            </a:extLst>
          </p:cNvPr>
          <p:cNvGrpSpPr/>
          <p:nvPr/>
        </p:nvGrpSpPr>
        <p:grpSpPr>
          <a:xfrm>
            <a:off x="402335" y="1218100"/>
            <a:ext cx="11103866" cy="2363300"/>
            <a:chOff x="402335" y="1042634"/>
            <a:chExt cx="11103866" cy="2363300"/>
          </a:xfrm>
        </p:grpSpPr>
        <p:sp>
          <p:nvSpPr>
            <p:cNvPr id="8" name="Shape 8">
              <a:extLst>
                <a:ext uri="{FF2B5EF4-FFF2-40B4-BE49-F238E27FC236}">
                  <a16:creationId xmlns:a16="http://schemas.microsoft.com/office/drawing/2014/main" id="{4AA02937-BF11-6DE8-AF86-EC3E67FE915B}"/>
                </a:ext>
              </a:extLst>
            </p:cNvPr>
            <p:cNvSpPr/>
            <p:nvPr/>
          </p:nvSpPr>
          <p:spPr>
            <a:xfrm>
              <a:off x="402335" y="1042634"/>
              <a:ext cx="11103866" cy="369332"/>
            </a:xfrm>
            <a:prstGeom prst="rect">
              <a:avLst/>
            </a:prstGeom>
            <a:solidFill>
              <a:srgbClr val="0B6E78"/>
            </a:solidFill>
            <a:ln w="12700">
              <a:solidFill>
                <a:srgbClr val="0E6655"/>
              </a:solidFill>
              <a:prstDash val="solid"/>
            </a:ln>
          </p:spPr>
          <p:txBody>
            <a:bodyPr/>
            <a:lstStyle/>
            <a:p>
              <a:endParaRPr lang="en-IN">
                <a:latin typeface="Georgia" panose="02040502050405020303" pitchFamily="18" charset="0"/>
              </a:endParaRPr>
            </a:p>
          </p:txBody>
        </p:sp>
        <p:sp>
          <p:nvSpPr>
            <p:cNvPr id="9" name="Text 9">
              <a:extLst>
                <a:ext uri="{FF2B5EF4-FFF2-40B4-BE49-F238E27FC236}">
                  <a16:creationId xmlns:a16="http://schemas.microsoft.com/office/drawing/2014/main" id="{601CE99E-ED27-407A-4D21-69F800926613}"/>
                </a:ext>
              </a:extLst>
            </p:cNvPr>
            <p:cNvSpPr/>
            <p:nvPr/>
          </p:nvSpPr>
          <p:spPr>
            <a:xfrm>
              <a:off x="457200" y="1143000"/>
              <a:ext cx="11017789" cy="163109"/>
            </a:xfrm>
            <a:prstGeom prst="rect">
              <a:avLst/>
            </a:prstGeom>
            <a:noFill/>
            <a:ln/>
          </p:spPr>
          <p:txBody>
            <a:bodyPr wrap="square" lIns="0" tIns="0" rIns="0" bIns="0" rtlCol="0" anchor="ctr"/>
            <a:lstStyle/>
            <a:p>
              <a:pPr marL="0" indent="0">
                <a:buNone/>
              </a:pPr>
              <a:r>
                <a:rPr lang="en-US" sz="1200" b="1" dirty="0">
                  <a:solidFill>
                    <a:srgbClr val="FFFFFF"/>
                  </a:solidFill>
                  <a:latin typeface="Georgia" panose="02040502050405020303" pitchFamily="18" charset="0"/>
                  <a:ea typeface="Arial" pitchFamily="34" charset="-122"/>
                  <a:cs typeface="Arial" pitchFamily="34" charset="-120"/>
                </a:rPr>
                <a:t>VALIDATION - THREE CHECKS</a:t>
              </a:r>
              <a:endParaRPr lang="en-US" sz="1200" dirty="0">
                <a:latin typeface="Georgia" panose="02040502050405020303" pitchFamily="18" charset="0"/>
              </a:endParaRPr>
            </a:p>
          </p:txBody>
        </p:sp>
        <p:grpSp>
          <p:nvGrpSpPr>
            <p:cNvPr id="47" name="Group 46">
              <a:extLst>
                <a:ext uri="{FF2B5EF4-FFF2-40B4-BE49-F238E27FC236}">
                  <a16:creationId xmlns:a16="http://schemas.microsoft.com/office/drawing/2014/main" id="{BE1C65A0-9214-2D42-EB18-29B75BAF4435}"/>
                </a:ext>
              </a:extLst>
            </p:cNvPr>
            <p:cNvGrpSpPr/>
            <p:nvPr/>
          </p:nvGrpSpPr>
          <p:grpSpPr>
            <a:xfrm>
              <a:off x="402335" y="1531893"/>
              <a:ext cx="11103866" cy="638567"/>
              <a:chOff x="326136" y="3761756"/>
              <a:chExt cx="11795760" cy="281734"/>
            </a:xfrm>
          </p:grpSpPr>
          <p:sp>
            <p:nvSpPr>
              <p:cNvPr id="31" name="Shape 10">
                <a:extLst>
                  <a:ext uri="{FF2B5EF4-FFF2-40B4-BE49-F238E27FC236}">
                    <a16:creationId xmlns:a16="http://schemas.microsoft.com/office/drawing/2014/main" id="{95309006-D694-64B7-281B-63794AAD698B}"/>
                  </a:ext>
                </a:extLst>
              </p:cNvPr>
              <p:cNvSpPr/>
              <p:nvPr/>
            </p:nvSpPr>
            <p:spPr>
              <a:xfrm>
                <a:off x="326136" y="3761756"/>
                <a:ext cx="11795760" cy="281734"/>
              </a:xfrm>
              <a:prstGeom prst="rect">
                <a:avLst/>
              </a:prstGeom>
              <a:solidFill>
                <a:srgbClr val="F4F6F7"/>
              </a:solidFill>
              <a:ln w="6350">
                <a:solidFill>
                  <a:srgbClr val="D5D8DC"/>
                </a:solidFill>
                <a:prstDash val="solid"/>
              </a:ln>
            </p:spPr>
            <p:txBody>
              <a:bodyPr/>
              <a:lstStyle/>
              <a:p>
                <a:endParaRPr lang="en-IN">
                  <a:latin typeface="Georgia" panose="02040502050405020303" pitchFamily="18" charset="0"/>
                </a:endParaRPr>
              </a:p>
            </p:txBody>
          </p:sp>
          <p:sp>
            <p:nvSpPr>
              <p:cNvPr id="35" name="Shape 11">
                <a:extLst>
                  <a:ext uri="{FF2B5EF4-FFF2-40B4-BE49-F238E27FC236}">
                    <a16:creationId xmlns:a16="http://schemas.microsoft.com/office/drawing/2014/main" id="{D4879EE6-C373-032E-A849-6672C3680ADE}"/>
                  </a:ext>
                </a:extLst>
              </p:cNvPr>
              <p:cNvSpPr/>
              <p:nvPr/>
            </p:nvSpPr>
            <p:spPr>
              <a:xfrm>
                <a:off x="326136" y="3761756"/>
                <a:ext cx="109728" cy="281734"/>
              </a:xfrm>
              <a:prstGeom prst="rect">
                <a:avLst/>
              </a:prstGeom>
              <a:solidFill>
                <a:srgbClr val="0B6E78"/>
              </a:solidFill>
              <a:ln w="12700">
                <a:solidFill>
                  <a:srgbClr val="0E6655"/>
                </a:solidFill>
                <a:prstDash val="solid"/>
              </a:ln>
            </p:spPr>
            <p:txBody>
              <a:bodyPr/>
              <a:lstStyle/>
              <a:p>
                <a:endParaRPr lang="en-IN">
                  <a:latin typeface="Georgia" panose="02040502050405020303" pitchFamily="18" charset="0"/>
                </a:endParaRPr>
              </a:p>
            </p:txBody>
          </p:sp>
          <p:sp>
            <p:nvSpPr>
              <p:cNvPr id="36" name="Text 12">
                <a:extLst>
                  <a:ext uri="{FF2B5EF4-FFF2-40B4-BE49-F238E27FC236}">
                    <a16:creationId xmlns:a16="http://schemas.microsoft.com/office/drawing/2014/main" id="{AA550960-C477-1498-47DF-25E155B8A529}"/>
                  </a:ext>
                </a:extLst>
              </p:cNvPr>
              <p:cNvSpPr/>
              <p:nvPr/>
            </p:nvSpPr>
            <p:spPr>
              <a:xfrm>
                <a:off x="490728" y="3780044"/>
                <a:ext cx="11521440" cy="252078"/>
              </a:xfrm>
              <a:prstGeom prst="rect">
                <a:avLst/>
              </a:prstGeom>
              <a:noFill/>
              <a:ln/>
            </p:spPr>
            <p:txBody>
              <a:bodyPr wrap="square" lIns="0" tIns="38100" rIns="38100" bIns="0" rtlCol="0" anchor="ctr"/>
              <a:lstStyle/>
              <a:p>
                <a:pPr marL="0" indent="0">
                  <a:buNone/>
                </a:pPr>
                <a:r>
                  <a:rPr lang="en-US" sz="1000" b="1" dirty="0">
                    <a:solidFill>
                      <a:srgbClr val="1B3A6B"/>
                    </a:solidFill>
                    <a:latin typeface="Georgia" panose="02040502050405020303" pitchFamily="18" charset="0"/>
                    <a:ea typeface="Arial" pitchFamily="34" charset="-122"/>
                    <a:cs typeface="Arial" pitchFamily="34" charset="-120"/>
                  </a:rPr>
                  <a:t>Internal crop coherence:  </a:t>
                </a:r>
                <a:r>
                  <a:rPr lang="en-US" sz="1000" dirty="0">
                    <a:latin typeface="Georgia" panose="02040502050405020303" pitchFamily="18" charset="0"/>
                    <a:ea typeface="Arial" pitchFamily="34" charset="-122"/>
                    <a:cs typeface="Arial" pitchFamily="34" charset="-120"/>
                  </a:rPr>
                  <a:t>All 7 clusters have a cluster-level LQ ≥ 1.5 for their primary crop: C1 Grape 2.78, C2 Pomegranate 2.93, C3 Pomegranate 2.56, C4 Banana 3.35, C5 Tomato 2.14, C6 Mango 2.90, C7 Pineapple 22.19. Cluster names reflect crops with highest LQ, adjusted where a small state total inflates the index (pineapple).</a:t>
                </a:r>
                <a:endParaRPr lang="en-US" sz="1000" dirty="0">
                  <a:latin typeface="Georgia" panose="02040502050405020303" pitchFamily="18" charset="0"/>
                </a:endParaRPr>
              </a:p>
            </p:txBody>
          </p:sp>
        </p:grpSp>
        <p:grpSp>
          <p:nvGrpSpPr>
            <p:cNvPr id="49" name="Group 48">
              <a:extLst>
                <a:ext uri="{FF2B5EF4-FFF2-40B4-BE49-F238E27FC236}">
                  <a16:creationId xmlns:a16="http://schemas.microsoft.com/office/drawing/2014/main" id="{8D3C87BD-2B71-74A6-8DE0-192A96F58C8F}"/>
                </a:ext>
              </a:extLst>
            </p:cNvPr>
            <p:cNvGrpSpPr/>
            <p:nvPr/>
          </p:nvGrpSpPr>
          <p:grpSpPr>
            <a:xfrm>
              <a:off x="402335" y="2261899"/>
              <a:ext cx="11103866" cy="434134"/>
              <a:chOff x="326136" y="4145804"/>
              <a:chExt cx="11795760" cy="281734"/>
            </a:xfrm>
          </p:grpSpPr>
          <p:sp>
            <p:nvSpPr>
              <p:cNvPr id="37" name="Shape 13">
                <a:extLst>
                  <a:ext uri="{FF2B5EF4-FFF2-40B4-BE49-F238E27FC236}">
                    <a16:creationId xmlns:a16="http://schemas.microsoft.com/office/drawing/2014/main" id="{4E1AC712-F8BC-234A-2397-A9C23133C22B}"/>
                  </a:ext>
                </a:extLst>
              </p:cNvPr>
              <p:cNvSpPr/>
              <p:nvPr/>
            </p:nvSpPr>
            <p:spPr>
              <a:xfrm>
                <a:off x="326136" y="4145804"/>
                <a:ext cx="11795760" cy="281734"/>
              </a:xfrm>
              <a:prstGeom prst="rect">
                <a:avLst/>
              </a:prstGeom>
              <a:solidFill>
                <a:srgbClr val="FFFFFF"/>
              </a:solidFill>
              <a:ln w="6350">
                <a:solidFill>
                  <a:srgbClr val="D5D8DC"/>
                </a:solidFill>
                <a:prstDash val="solid"/>
              </a:ln>
            </p:spPr>
            <p:txBody>
              <a:bodyPr/>
              <a:lstStyle/>
              <a:p>
                <a:endParaRPr lang="en-IN">
                  <a:latin typeface="Georgia" panose="02040502050405020303" pitchFamily="18" charset="0"/>
                </a:endParaRPr>
              </a:p>
            </p:txBody>
          </p:sp>
          <p:sp>
            <p:nvSpPr>
              <p:cNvPr id="38" name="Shape 14">
                <a:extLst>
                  <a:ext uri="{FF2B5EF4-FFF2-40B4-BE49-F238E27FC236}">
                    <a16:creationId xmlns:a16="http://schemas.microsoft.com/office/drawing/2014/main" id="{17A86EC8-0892-4E15-E0D8-E653493BFCB0}"/>
                  </a:ext>
                </a:extLst>
              </p:cNvPr>
              <p:cNvSpPr/>
              <p:nvPr/>
            </p:nvSpPr>
            <p:spPr>
              <a:xfrm>
                <a:off x="326136" y="4145804"/>
                <a:ext cx="109728" cy="281734"/>
              </a:xfrm>
              <a:prstGeom prst="rect">
                <a:avLst/>
              </a:prstGeom>
              <a:solidFill>
                <a:srgbClr val="0B6E78"/>
              </a:solidFill>
              <a:ln w="12700">
                <a:solidFill>
                  <a:srgbClr val="0E6655"/>
                </a:solidFill>
                <a:prstDash val="solid"/>
              </a:ln>
            </p:spPr>
            <p:txBody>
              <a:bodyPr/>
              <a:lstStyle/>
              <a:p>
                <a:endParaRPr lang="en-IN">
                  <a:latin typeface="Georgia" panose="02040502050405020303" pitchFamily="18" charset="0"/>
                </a:endParaRPr>
              </a:p>
            </p:txBody>
          </p:sp>
          <p:sp>
            <p:nvSpPr>
              <p:cNvPr id="39" name="Text 15">
                <a:extLst>
                  <a:ext uri="{FF2B5EF4-FFF2-40B4-BE49-F238E27FC236}">
                    <a16:creationId xmlns:a16="http://schemas.microsoft.com/office/drawing/2014/main" id="{4BE2AA50-F91E-A0F1-9314-535F61FA0D3B}"/>
                  </a:ext>
                </a:extLst>
              </p:cNvPr>
              <p:cNvSpPr/>
              <p:nvPr/>
            </p:nvSpPr>
            <p:spPr>
              <a:xfrm>
                <a:off x="490728" y="4164092"/>
                <a:ext cx="11521440" cy="252078"/>
              </a:xfrm>
              <a:prstGeom prst="rect">
                <a:avLst/>
              </a:prstGeom>
              <a:noFill/>
              <a:ln/>
            </p:spPr>
            <p:txBody>
              <a:bodyPr wrap="square" lIns="0" tIns="38100" rIns="38100" bIns="0" rtlCol="0" anchor="ctr"/>
              <a:lstStyle/>
              <a:p>
                <a:pPr marL="0" indent="0">
                  <a:buNone/>
                </a:pPr>
                <a:r>
                  <a:rPr lang="en-US" sz="1000" b="1" dirty="0">
                    <a:solidFill>
                      <a:srgbClr val="1B3A6B"/>
                    </a:solidFill>
                    <a:latin typeface="Georgia" panose="02040502050405020303" pitchFamily="18" charset="0"/>
                    <a:ea typeface="Arial" pitchFamily="34" charset="-122"/>
                    <a:cs typeface="Arial" pitchFamily="34" charset="-120"/>
                  </a:rPr>
                  <a:t>Coverage completeness:  </a:t>
                </a:r>
                <a:r>
                  <a:rPr lang="en-US" sz="1000" dirty="0">
                    <a:latin typeface="Georgia" panose="02040502050405020303" pitchFamily="18" charset="0"/>
                    <a:ea typeface="Arial" pitchFamily="34" charset="-122"/>
                    <a:cs typeface="Arial" pitchFamily="34" charset="-120"/>
                  </a:rPr>
                  <a:t>All 31 districts of Karnataka are assigned to one of the 7 clusters. The assignment is exhaustive and mutually exclusive.</a:t>
                </a:r>
                <a:endParaRPr lang="en-US" sz="1000" dirty="0">
                  <a:latin typeface="Georgia" panose="02040502050405020303" pitchFamily="18" charset="0"/>
                </a:endParaRPr>
              </a:p>
            </p:txBody>
          </p:sp>
        </p:grpSp>
        <p:grpSp>
          <p:nvGrpSpPr>
            <p:cNvPr id="50" name="Group 49">
              <a:extLst>
                <a:ext uri="{FF2B5EF4-FFF2-40B4-BE49-F238E27FC236}">
                  <a16:creationId xmlns:a16="http://schemas.microsoft.com/office/drawing/2014/main" id="{B7125C6D-8FD8-255A-4323-B179368C2C43}"/>
                </a:ext>
              </a:extLst>
            </p:cNvPr>
            <p:cNvGrpSpPr/>
            <p:nvPr/>
          </p:nvGrpSpPr>
          <p:grpSpPr>
            <a:xfrm>
              <a:off x="402335" y="2819400"/>
              <a:ext cx="11103866" cy="586534"/>
              <a:chOff x="326136" y="4529852"/>
              <a:chExt cx="11795760" cy="281734"/>
            </a:xfrm>
          </p:grpSpPr>
          <p:sp>
            <p:nvSpPr>
              <p:cNvPr id="40" name="Shape 16">
                <a:extLst>
                  <a:ext uri="{FF2B5EF4-FFF2-40B4-BE49-F238E27FC236}">
                    <a16:creationId xmlns:a16="http://schemas.microsoft.com/office/drawing/2014/main" id="{12C70D03-ED71-BEB2-291A-2FFC35E20255}"/>
                  </a:ext>
                </a:extLst>
              </p:cNvPr>
              <p:cNvSpPr/>
              <p:nvPr/>
            </p:nvSpPr>
            <p:spPr>
              <a:xfrm>
                <a:off x="326136" y="4529852"/>
                <a:ext cx="11795760" cy="281734"/>
              </a:xfrm>
              <a:prstGeom prst="rect">
                <a:avLst/>
              </a:prstGeom>
              <a:solidFill>
                <a:srgbClr val="F4F6F7"/>
              </a:solidFill>
              <a:ln w="6350">
                <a:solidFill>
                  <a:srgbClr val="D5D8DC"/>
                </a:solidFill>
                <a:prstDash val="solid"/>
              </a:ln>
            </p:spPr>
            <p:txBody>
              <a:bodyPr/>
              <a:lstStyle/>
              <a:p>
                <a:endParaRPr lang="en-IN">
                  <a:latin typeface="Georgia" panose="02040502050405020303" pitchFamily="18" charset="0"/>
                </a:endParaRPr>
              </a:p>
            </p:txBody>
          </p:sp>
          <p:sp>
            <p:nvSpPr>
              <p:cNvPr id="41" name="Shape 17">
                <a:extLst>
                  <a:ext uri="{FF2B5EF4-FFF2-40B4-BE49-F238E27FC236}">
                    <a16:creationId xmlns:a16="http://schemas.microsoft.com/office/drawing/2014/main" id="{CE209A27-4FE0-42A4-B1D3-DBDE1D56914F}"/>
                  </a:ext>
                </a:extLst>
              </p:cNvPr>
              <p:cNvSpPr/>
              <p:nvPr/>
            </p:nvSpPr>
            <p:spPr>
              <a:xfrm>
                <a:off x="326136" y="4529852"/>
                <a:ext cx="109728" cy="281734"/>
              </a:xfrm>
              <a:prstGeom prst="rect">
                <a:avLst/>
              </a:prstGeom>
              <a:solidFill>
                <a:srgbClr val="0B6E78"/>
              </a:solidFill>
              <a:ln w="12700">
                <a:solidFill>
                  <a:srgbClr val="0E6655"/>
                </a:solidFill>
                <a:prstDash val="solid"/>
              </a:ln>
            </p:spPr>
            <p:txBody>
              <a:bodyPr/>
              <a:lstStyle/>
              <a:p>
                <a:endParaRPr lang="en-IN">
                  <a:latin typeface="Georgia" panose="02040502050405020303" pitchFamily="18" charset="0"/>
                </a:endParaRPr>
              </a:p>
            </p:txBody>
          </p:sp>
          <p:sp>
            <p:nvSpPr>
              <p:cNvPr id="42" name="Text 18">
                <a:extLst>
                  <a:ext uri="{FF2B5EF4-FFF2-40B4-BE49-F238E27FC236}">
                    <a16:creationId xmlns:a16="http://schemas.microsoft.com/office/drawing/2014/main" id="{BD8C38B1-AC5E-2959-F258-A3BBC22ABA45}"/>
                  </a:ext>
                </a:extLst>
              </p:cNvPr>
              <p:cNvSpPr/>
              <p:nvPr/>
            </p:nvSpPr>
            <p:spPr>
              <a:xfrm>
                <a:off x="490728" y="4548140"/>
                <a:ext cx="11521440" cy="252078"/>
              </a:xfrm>
              <a:prstGeom prst="rect">
                <a:avLst/>
              </a:prstGeom>
              <a:noFill/>
              <a:ln/>
            </p:spPr>
            <p:txBody>
              <a:bodyPr wrap="square" lIns="0" tIns="38100" rIns="38100" bIns="0" rtlCol="0" anchor="ctr"/>
              <a:lstStyle/>
              <a:p>
                <a:pPr marL="0" indent="0">
                  <a:buNone/>
                </a:pPr>
                <a:r>
                  <a:rPr lang="en-US" sz="1000" b="1" dirty="0">
                    <a:solidFill>
                      <a:srgbClr val="1B3A6B"/>
                    </a:solidFill>
                    <a:latin typeface="Georgia" panose="02040502050405020303" pitchFamily="18" charset="0"/>
                    <a:ea typeface="Arial" pitchFamily="34" charset="-122"/>
                    <a:cs typeface="Arial" pitchFamily="34" charset="-120"/>
                  </a:rPr>
                  <a:t>Geographic contiguity:  </a:t>
                </a:r>
                <a:r>
                  <a:rPr lang="en-US" sz="1000" dirty="0">
                    <a:latin typeface="Georgia" panose="02040502050405020303" pitchFamily="18" charset="0"/>
                    <a:ea typeface="Arial" pitchFamily="34" charset="-122"/>
                    <a:cs typeface="Arial" pitchFamily="34" charset="-120"/>
                  </a:rPr>
                  <a:t>Each cluster forms a geographically contiguous block. No district is isolated from the rest of its cluster. Verified by tracing district adjacency on the Karnataka district map.</a:t>
                </a:r>
                <a:endParaRPr lang="en-US" sz="1000" dirty="0">
                  <a:latin typeface="Georgia" panose="02040502050405020303" pitchFamily="18" charset="0"/>
                </a:endParaRPr>
              </a:p>
            </p:txBody>
          </p:sp>
        </p:grpSp>
      </p:grpSp>
      <p:grpSp>
        <p:nvGrpSpPr>
          <p:cNvPr id="7" name="Group 6">
            <a:extLst>
              <a:ext uri="{FF2B5EF4-FFF2-40B4-BE49-F238E27FC236}">
                <a16:creationId xmlns:a16="http://schemas.microsoft.com/office/drawing/2014/main" id="{3D8A0DAA-C9BE-DE4E-0835-A6C734C6B101}"/>
              </a:ext>
            </a:extLst>
          </p:cNvPr>
          <p:cNvGrpSpPr/>
          <p:nvPr/>
        </p:nvGrpSpPr>
        <p:grpSpPr>
          <a:xfrm>
            <a:off x="402335" y="3810001"/>
            <a:ext cx="11103866" cy="381000"/>
            <a:chOff x="402335" y="2377440"/>
            <a:chExt cx="11103866" cy="192765"/>
          </a:xfrm>
        </p:grpSpPr>
        <p:sp>
          <p:nvSpPr>
            <p:cNvPr id="43" name="Shape 19">
              <a:extLst>
                <a:ext uri="{FF2B5EF4-FFF2-40B4-BE49-F238E27FC236}">
                  <a16:creationId xmlns:a16="http://schemas.microsoft.com/office/drawing/2014/main" id="{703E5216-E9A8-A1CD-6BC0-351723364C2B}"/>
                </a:ext>
              </a:extLst>
            </p:cNvPr>
            <p:cNvSpPr/>
            <p:nvPr/>
          </p:nvSpPr>
          <p:spPr>
            <a:xfrm>
              <a:off x="402335" y="2377440"/>
              <a:ext cx="11103866" cy="192765"/>
            </a:xfrm>
            <a:prstGeom prst="rect">
              <a:avLst/>
            </a:prstGeom>
            <a:solidFill>
              <a:srgbClr val="0B6E78"/>
            </a:solidFill>
            <a:ln w="12700">
              <a:solidFill>
                <a:srgbClr val="0E6655"/>
              </a:solidFill>
              <a:prstDash val="solid"/>
            </a:ln>
          </p:spPr>
          <p:txBody>
            <a:bodyPr/>
            <a:lstStyle/>
            <a:p>
              <a:endParaRPr lang="en-IN">
                <a:latin typeface="Georgia" panose="02040502050405020303" pitchFamily="18" charset="0"/>
              </a:endParaRPr>
            </a:p>
          </p:txBody>
        </p:sp>
        <p:sp>
          <p:nvSpPr>
            <p:cNvPr id="44" name="Text 20">
              <a:extLst>
                <a:ext uri="{FF2B5EF4-FFF2-40B4-BE49-F238E27FC236}">
                  <a16:creationId xmlns:a16="http://schemas.microsoft.com/office/drawing/2014/main" id="{F56BAE3A-6C2E-D687-A6A5-8C36B01F0248}"/>
                </a:ext>
              </a:extLst>
            </p:cNvPr>
            <p:cNvSpPr/>
            <p:nvPr/>
          </p:nvSpPr>
          <p:spPr>
            <a:xfrm>
              <a:off x="457200" y="2396252"/>
              <a:ext cx="11017789" cy="163109"/>
            </a:xfrm>
            <a:prstGeom prst="rect">
              <a:avLst/>
            </a:prstGeom>
            <a:noFill/>
            <a:ln/>
          </p:spPr>
          <p:txBody>
            <a:bodyPr wrap="square" lIns="0" tIns="0" rIns="0" bIns="0" rtlCol="0" anchor="ctr"/>
            <a:lstStyle/>
            <a:p>
              <a:pPr marL="0" indent="0">
                <a:buNone/>
              </a:pPr>
              <a:r>
                <a:rPr lang="en-US" sz="1200" b="1" dirty="0">
                  <a:solidFill>
                    <a:srgbClr val="FFFFFF"/>
                  </a:solidFill>
                  <a:latin typeface="Georgia" panose="02040502050405020303" pitchFamily="18" charset="0"/>
                  <a:ea typeface="Arial" pitchFamily="34" charset="-122"/>
                  <a:cs typeface="Arial" pitchFamily="34" charset="-120"/>
                </a:rPr>
                <a:t>KEY REFERENCES</a:t>
              </a:r>
              <a:endParaRPr lang="en-US" sz="1200" dirty="0">
                <a:latin typeface="Georgia" panose="02040502050405020303" pitchFamily="18" charset="0"/>
              </a:endParaRPr>
            </a:p>
          </p:txBody>
        </p:sp>
      </p:grpSp>
      <p:graphicFrame>
        <p:nvGraphicFramePr>
          <p:cNvPr id="45" name="Table 1">
            <a:extLst>
              <a:ext uri="{FF2B5EF4-FFF2-40B4-BE49-F238E27FC236}">
                <a16:creationId xmlns:a16="http://schemas.microsoft.com/office/drawing/2014/main" id="{C777147B-B074-EEA1-F3EC-FCCCF7FF89DA}"/>
              </a:ext>
            </a:extLst>
          </p:cNvPr>
          <p:cNvGraphicFramePr>
            <a:graphicFrameLocks noGrp="1"/>
          </p:cNvGraphicFramePr>
          <p:nvPr>
            <p:extLst>
              <p:ext uri="{D42A27DB-BD31-4B8C-83A1-F6EECF244321}">
                <p14:modId xmlns:p14="http://schemas.microsoft.com/office/powerpoint/2010/main" val="2983597330"/>
              </p:ext>
            </p:extLst>
          </p:nvPr>
        </p:nvGraphicFramePr>
        <p:xfrm>
          <a:off x="402335" y="4282440"/>
          <a:ext cx="11103866" cy="1615440"/>
        </p:xfrm>
        <a:graphic>
          <a:graphicData uri="http://schemas.openxmlformats.org/drawingml/2006/table">
            <a:tbl>
              <a:tblPr/>
              <a:tblGrid>
                <a:gridCol w="301267">
                  <a:extLst>
                    <a:ext uri="{9D8B030D-6E8A-4147-A177-3AD203B41FA5}">
                      <a16:colId xmlns:a16="http://schemas.microsoft.com/office/drawing/2014/main" val="20000"/>
                    </a:ext>
                  </a:extLst>
                </a:gridCol>
                <a:gridCol w="10802599">
                  <a:extLst>
                    <a:ext uri="{9D8B030D-6E8A-4147-A177-3AD203B41FA5}">
                      <a16:colId xmlns:a16="http://schemas.microsoft.com/office/drawing/2014/main" val="20001"/>
                    </a:ext>
                  </a:extLst>
                </a:gridCol>
              </a:tblGrid>
              <a:tr h="182880">
                <a:tc>
                  <a:txBody>
                    <a:bodyPr/>
                    <a:lstStyle/>
                    <a:p>
                      <a:pPr marL="0" indent="0" algn="ctr">
                        <a:buNone/>
                      </a:pPr>
                      <a:r>
                        <a:rPr lang="en-US" sz="1000" b="1" dirty="0">
                          <a:solidFill>
                            <a:srgbClr val="2C3E50"/>
                          </a:solidFill>
                          <a:latin typeface="Georgia" panose="02040502050405020303" pitchFamily="18" charset="0"/>
                          <a:ea typeface="Arial" pitchFamily="34" charset="-122"/>
                          <a:cs typeface="Arial" pitchFamily="34" charset="-120"/>
                        </a:rPr>
                        <a:t>1</a:t>
                      </a:r>
                      <a:endParaRPr lang="en-US" sz="1000" dirty="0">
                        <a:latin typeface="Georgia" panose="02040502050405020303" pitchFamily="18" charset="0"/>
                        <a:ea typeface="Arial" charset="0"/>
                        <a:cs typeface="Arial" charset="0"/>
                      </a:endParaRPr>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1000" dirty="0">
                          <a:solidFill>
                            <a:srgbClr val="111111"/>
                          </a:solidFill>
                          <a:latin typeface="Georgia" panose="02040502050405020303" pitchFamily="18" charset="0"/>
                          <a:ea typeface="Arial" pitchFamily="34" charset="-122"/>
                          <a:cs typeface="Arial" pitchFamily="34" charset="-120"/>
                        </a:rPr>
                        <a:t>Florence, P.S. (1939). Report on the Location of Industry. Political and Economic Planning, London.</a:t>
                      </a:r>
                      <a:endParaRPr lang="en-US" sz="1000" dirty="0">
                        <a:latin typeface="Georgia" panose="02040502050405020303" pitchFamily="18" charset="0"/>
                        <a:ea typeface="Arial" charset="0"/>
                        <a:cs typeface="Arial" charset="0"/>
                      </a:endParaRPr>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0"/>
                  </a:ext>
                </a:extLst>
              </a:tr>
              <a:tr h="182880">
                <a:tc>
                  <a:txBody>
                    <a:bodyPr/>
                    <a:lstStyle/>
                    <a:p>
                      <a:pPr marL="0" indent="0" algn="ctr">
                        <a:buNone/>
                      </a:pPr>
                      <a:r>
                        <a:rPr lang="en-US" sz="1000" b="1" dirty="0">
                          <a:solidFill>
                            <a:srgbClr val="2C3E50"/>
                          </a:solidFill>
                          <a:latin typeface="Georgia" panose="02040502050405020303" pitchFamily="18" charset="0"/>
                          <a:ea typeface="Arial" pitchFamily="34" charset="-122"/>
                          <a:cs typeface="Arial" pitchFamily="34" charset="-120"/>
                        </a:rPr>
                        <a:t>2</a:t>
                      </a:r>
                      <a:endParaRPr lang="en-US" sz="1000" dirty="0">
                        <a:latin typeface="Georgia" panose="02040502050405020303" pitchFamily="18" charset="0"/>
                        <a:ea typeface="Arial" charset="0"/>
                        <a:cs typeface="Arial" charset="0"/>
                      </a:endParaRPr>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1000" dirty="0">
                          <a:solidFill>
                            <a:srgbClr val="111111"/>
                          </a:solidFill>
                          <a:latin typeface="Georgia" panose="02040502050405020303" pitchFamily="18" charset="0"/>
                          <a:ea typeface="Arial" pitchFamily="34" charset="-122"/>
                          <a:cs typeface="Arial" pitchFamily="34" charset="-120"/>
                        </a:rPr>
                        <a:t>Isard, W. (1960). Methods of Regional Analysis: An Introduction to Regional Science. MIT Press. [Original formulation of the Location Quotient for regional specialisation analysis.]</a:t>
                      </a:r>
                      <a:endParaRPr lang="en-US" sz="1000" dirty="0">
                        <a:latin typeface="Georgia" panose="02040502050405020303" pitchFamily="18" charset="0"/>
                        <a:ea typeface="Arial" charset="0"/>
                        <a:cs typeface="Arial" charset="0"/>
                      </a:endParaRPr>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82880">
                <a:tc>
                  <a:txBody>
                    <a:bodyPr/>
                    <a:lstStyle/>
                    <a:p>
                      <a:pPr marL="0" indent="0" algn="ctr">
                        <a:buNone/>
                      </a:pPr>
                      <a:r>
                        <a:rPr lang="en-US" sz="1000" b="1" dirty="0">
                          <a:solidFill>
                            <a:srgbClr val="2C3E50"/>
                          </a:solidFill>
                          <a:latin typeface="Georgia" panose="02040502050405020303" pitchFamily="18" charset="0"/>
                          <a:ea typeface="Arial" pitchFamily="34" charset="-122"/>
                          <a:cs typeface="Arial" pitchFamily="34" charset="-120"/>
                        </a:rPr>
                        <a:t>3</a:t>
                      </a:r>
                      <a:endParaRPr lang="en-US" sz="1000" dirty="0">
                        <a:latin typeface="Georgia" panose="02040502050405020303" pitchFamily="18" charset="0"/>
                        <a:ea typeface="Arial" charset="0"/>
                        <a:cs typeface="Arial" charset="0"/>
                      </a:endParaRPr>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1000" dirty="0">
                          <a:solidFill>
                            <a:srgbClr val="111111"/>
                          </a:solidFill>
                          <a:latin typeface="Georgia" panose="02040502050405020303" pitchFamily="18" charset="0"/>
                          <a:ea typeface="Arial" pitchFamily="34" charset="-122"/>
                          <a:cs typeface="Arial" pitchFamily="34" charset="-120"/>
                        </a:rPr>
                        <a:t>Ministry of Food Processing Industries, GoI (2020). PM-FME Scheme Guidelines: One District One Product. [Operationalises district-level crop concentration logic equivalent to LQ.]</a:t>
                      </a:r>
                      <a:endParaRPr lang="en-US" sz="1000" dirty="0">
                        <a:latin typeface="Georgia" panose="02040502050405020303" pitchFamily="18" charset="0"/>
                        <a:ea typeface="Arial" charset="0"/>
                        <a:cs typeface="Arial" charset="0"/>
                      </a:endParaRPr>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182880">
                <a:tc>
                  <a:txBody>
                    <a:bodyPr/>
                    <a:lstStyle/>
                    <a:p>
                      <a:pPr marL="0" indent="0" algn="ctr">
                        <a:buNone/>
                      </a:pPr>
                      <a:r>
                        <a:rPr lang="en-US" sz="1000" b="1" dirty="0">
                          <a:solidFill>
                            <a:srgbClr val="2C3E50"/>
                          </a:solidFill>
                          <a:latin typeface="Georgia" panose="02040502050405020303" pitchFamily="18" charset="0"/>
                          <a:ea typeface="Arial" pitchFamily="34" charset="-122"/>
                          <a:cs typeface="Arial" pitchFamily="34" charset="-120"/>
                        </a:rPr>
                        <a:t>4</a:t>
                      </a:r>
                      <a:endParaRPr lang="en-US" sz="1000" dirty="0">
                        <a:latin typeface="Georgia" panose="02040502050405020303" pitchFamily="18" charset="0"/>
                        <a:ea typeface="Arial" charset="0"/>
                        <a:cs typeface="Arial" charset="0"/>
                      </a:endParaRPr>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1000" dirty="0">
                          <a:solidFill>
                            <a:srgbClr val="111111"/>
                          </a:solidFill>
                          <a:latin typeface="Georgia" panose="02040502050405020303" pitchFamily="18" charset="0"/>
                          <a:ea typeface="Arial" pitchFamily="34" charset="-122"/>
                          <a:cs typeface="Arial" pitchFamily="34" charset="-120"/>
                        </a:rPr>
                        <a:t>NITI Aayog (2018 onwards). Aspirational Districts Programme. [Uses sectoral specialisation indices at district level for development prioritisation.]</a:t>
                      </a:r>
                      <a:endParaRPr lang="en-US" sz="1000" dirty="0">
                        <a:latin typeface="Georgia" panose="02040502050405020303" pitchFamily="18" charset="0"/>
                        <a:ea typeface="Arial" charset="0"/>
                        <a:cs typeface="Arial" charset="0"/>
                      </a:endParaRPr>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2880">
                <a:tc>
                  <a:txBody>
                    <a:bodyPr/>
                    <a:lstStyle/>
                    <a:p>
                      <a:pPr marL="0" indent="0" algn="ctr">
                        <a:buNone/>
                      </a:pPr>
                      <a:r>
                        <a:rPr lang="en-US" sz="1000" b="1" dirty="0">
                          <a:solidFill>
                            <a:srgbClr val="2C3E50"/>
                          </a:solidFill>
                          <a:latin typeface="Georgia" panose="02040502050405020303" pitchFamily="18" charset="0"/>
                          <a:ea typeface="Arial" pitchFamily="34" charset="-122"/>
                          <a:cs typeface="Arial" pitchFamily="34" charset="-120"/>
                        </a:rPr>
                        <a:t>5</a:t>
                      </a:r>
                      <a:endParaRPr lang="en-US" sz="1000" dirty="0">
                        <a:latin typeface="Georgia" panose="02040502050405020303" pitchFamily="18" charset="0"/>
                        <a:ea typeface="Arial" charset="0"/>
                        <a:cs typeface="Arial" charset="0"/>
                      </a:endParaRPr>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4F6F7"/>
                    </a:solidFill>
                  </a:tcPr>
                </a:tc>
                <a:tc>
                  <a:txBody>
                    <a:bodyPr/>
                    <a:lstStyle/>
                    <a:p>
                      <a:pPr marL="0" indent="0">
                        <a:buNone/>
                      </a:pPr>
                      <a:r>
                        <a:rPr lang="en-US" sz="1000" dirty="0">
                          <a:solidFill>
                            <a:srgbClr val="111111"/>
                          </a:solidFill>
                          <a:latin typeface="Georgia" panose="02040502050405020303" pitchFamily="18" charset="0"/>
                          <a:ea typeface="Arial" pitchFamily="34" charset="-122"/>
                          <a:cs typeface="Arial" pitchFamily="34" charset="-120"/>
                        </a:rPr>
                        <a:t>Food and Agriculture Organization (2021). Territorial Approaches to Food and Nutrition Security. FAO, Rome. [Recommends LQ analysis for identifying sub-national agricultural specialisation clusters.]</a:t>
                      </a:r>
                      <a:endParaRPr lang="en-US" sz="1000" dirty="0">
                        <a:latin typeface="Georgia" panose="02040502050405020303" pitchFamily="18" charset="0"/>
                        <a:ea typeface="Arial" charset="0"/>
                        <a:cs typeface="Arial" charset="0"/>
                      </a:endParaRPr>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r h="182880">
                <a:tc>
                  <a:txBody>
                    <a:bodyPr/>
                    <a:lstStyle/>
                    <a:p>
                      <a:pPr marL="0" indent="0" algn="ctr">
                        <a:buNone/>
                      </a:pPr>
                      <a:r>
                        <a:rPr lang="en-US" sz="1000" b="1" dirty="0">
                          <a:solidFill>
                            <a:srgbClr val="2C3E50"/>
                          </a:solidFill>
                          <a:latin typeface="Georgia" panose="02040502050405020303" pitchFamily="18" charset="0"/>
                          <a:ea typeface="Arial" pitchFamily="34" charset="-122"/>
                          <a:cs typeface="Arial" pitchFamily="34" charset="-120"/>
                        </a:rPr>
                        <a:t>6</a:t>
                      </a:r>
                      <a:endParaRPr lang="en-US" sz="1000" dirty="0">
                        <a:latin typeface="Georgia" panose="02040502050405020303" pitchFamily="18" charset="0"/>
                        <a:ea typeface="Arial" charset="0"/>
                        <a:cs typeface="Arial" charset="0"/>
                      </a:endParaRPr>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FFF"/>
                    </a:solidFill>
                  </a:tcPr>
                </a:tc>
                <a:tc>
                  <a:txBody>
                    <a:bodyPr/>
                    <a:lstStyle/>
                    <a:p>
                      <a:pPr marL="0" indent="0">
                        <a:buNone/>
                      </a:pPr>
                      <a:r>
                        <a:rPr lang="en-US" sz="1000" dirty="0">
                          <a:solidFill>
                            <a:srgbClr val="111111"/>
                          </a:solidFill>
                          <a:latin typeface="Georgia" panose="02040502050405020303" pitchFamily="18" charset="0"/>
                          <a:ea typeface="Arial" pitchFamily="34" charset="-122"/>
                          <a:cs typeface="Arial" pitchFamily="34" charset="-120"/>
                        </a:rPr>
                        <a:t>Porter, M.E. (1998). Clusters and the New Economics of Competition. Harvard Business Review, Nov-Dec.</a:t>
                      </a:r>
                      <a:endParaRPr lang="en-US" sz="1000" dirty="0">
                        <a:latin typeface="Georgia" panose="02040502050405020303" pitchFamily="18" charset="0"/>
                        <a:ea typeface="Arial" charset="0"/>
                        <a:cs typeface="Arial" charset="0"/>
                      </a:endParaRPr>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 name="Slide Number Placeholder 2">
            <a:extLst>
              <a:ext uri="{FF2B5EF4-FFF2-40B4-BE49-F238E27FC236}">
                <a16:creationId xmlns:a16="http://schemas.microsoft.com/office/drawing/2014/main" id="{15E4CCD8-A178-0464-5069-2E6D427195C2}"/>
              </a:ext>
            </a:extLst>
          </p:cNvPr>
          <p:cNvSpPr>
            <a:spLocks noGrp="1"/>
          </p:cNvSpPr>
          <p:nvPr>
            <p:ph type="sldNum" sz="quarter" idx="7"/>
          </p:nvPr>
        </p:nvSpPr>
        <p:spPr>
          <a:xfrm>
            <a:off x="779630" y="6440648"/>
            <a:ext cx="383540" cy="115416"/>
          </a:xfrm>
        </p:spPr>
        <p:txBody>
          <a:bodyPr/>
          <a:lstStyle/>
          <a:p>
            <a:pPr marL="12700">
              <a:spcBef>
                <a:spcPts val="60"/>
              </a:spcBef>
            </a:pPr>
            <a:r>
              <a:rPr lang="en-IN" dirty="0">
                <a:latin typeface="Georgia" panose="02040502050405020303" pitchFamily="18" charset="0"/>
              </a:rPr>
              <a:t>Page</a:t>
            </a:r>
            <a:r>
              <a:rPr lang="en-IN" spc="-55" dirty="0">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42</a:t>
            </a:fld>
            <a:endParaRPr dirty="0">
              <a:latin typeface="Georgia" panose="02040502050405020303" pitchFamily="18" charset="0"/>
            </a:endParaRPr>
          </a:p>
        </p:txBody>
      </p:sp>
      <p:pic>
        <p:nvPicPr>
          <p:cNvPr id="5" name="Picture 4">
            <a:extLst>
              <a:ext uri="{FF2B5EF4-FFF2-40B4-BE49-F238E27FC236}">
                <a16:creationId xmlns:a16="http://schemas.microsoft.com/office/drawing/2014/main" id="{7416A8E5-07C2-2723-5096-4C2E54B787F4}"/>
              </a:ext>
            </a:extLst>
          </p:cNvPr>
          <p:cNvPicPr>
            <a:picLocks noChangeAspect="1"/>
          </p:cNvPicPr>
          <p:nvPr/>
        </p:nvPicPr>
        <p:blipFill>
          <a:blip r:embed="rId2"/>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16273211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A8D17-2CC1-4E41-3F38-E124CD69C8D7}"/>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FB3A9F69-0499-F8F1-77E8-7895ED7F2C95}"/>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43</a:t>
            </a:fld>
            <a:endParaRPr dirty="0">
              <a:latin typeface="Georgia" panose="02040502050405020303" pitchFamily="18" charset="0"/>
            </a:endParaRPr>
          </a:p>
        </p:txBody>
      </p:sp>
      <p:grpSp>
        <p:nvGrpSpPr>
          <p:cNvPr id="3" name="Group 2">
            <a:extLst>
              <a:ext uri="{FF2B5EF4-FFF2-40B4-BE49-F238E27FC236}">
                <a16:creationId xmlns:a16="http://schemas.microsoft.com/office/drawing/2014/main" id="{2A7C193A-E65D-380C-D899-BC7DE6B4B55A}"/>
              </a:ext>
            </a:extLst>
          </p:cNvPr>
          <p:cNvGrpSpPr/>
          <p:nvPr/>
        </p:nvGrpSpPr>
        <p:grpSpPr>
          <a:xfrm>
            <a:off x="694344" y="1066800"/>
            <a:ext cx="10421249" cy="4724400"/>
            <a:chOff x="644526" y="1480741"/>
            <a:chExt cx="10912475" cy="4554935"/>
          </a:xfrm>
        </p:grpSpPr>
        <p:sp>
          <p:nvSpPr>
            <p:cNvPr id="4" name="Shape 4">
              <a:extLst>
                <a:ext uri="{FF2B5EF4-FFF2-40B4-BE49-F238E27FC236}">
                  <a16:creationId xmlns:a16="http://schemas.microsoft.com/office/drawing/2014/main" id="{9D158B52-9BFB-308F-ED3A-29E3BD97EDEE}"/>
                </a:ext>
              </a:extLst>
            </p:cNvPr>
            <p:cNvSpPr/>
            <p:nvPr/>
          </p:nvSpPr>
          <p:spPr>
            <a:xfrm>
              <a:off x="644526" y="1480741"/>
              <a:ext cx="10912475" cy="355600"/>
            </a:xfrm>
            <a:prstGeom prst="rect">
              <a:avLst/>
            </a:prstGeom>
            <a:solidFill>
              <a:srgbClr val="0B6E78"/>
            </a:solidFill>
            <a:ln/>
          </p:spPr>
          <p:txBody>
            <a:bodyPr/>
            <a:lstStyle/>
            <a:p>
              <a:pPr algn="ctr"/>
              <a:endParaRPr lang="en-IN" dirty="0">
                <a:latin typeface="Georgia" panose="02040502050405020303" pitchFamily="18" charset="0"/>
              </a:endParaRPr>
            </a:p>
          </p:txBody>
        </p:sp>
        <p:sp>
          <p:nvSpPr>
            <p:cNvPr id="6" name="Text 5">
              <a:extLst>
                <a:ext uri="{FF2B5EF4-FFF2-40B4-BE49-F238E27FC236}">
                  <a16:creationId xmlns:a16="http://schemas.microsoft.com/office/drawing/2014/main" id="{50907512-7C6C-7121-D75F-B95100F77E3F}"/>
                </a:ext>
              </a:extLst>
            </p:cNvPr>
            <p:cNvSpPr/>
            <p:nvPr/>
          </p:nvSpPr>
          <p:spPr>
            <a:xfrm>
              <a:off x="746125" y="1569641"/>
              <a:ext cx="4892156" cy="203200"/>
            </a:xfrm>
            <a:prstGeom prst="rect">
              <a:avLst/>
            </a:prstGeom>
            <a:noFill/>
            <a:ln/>
          </p:spPr>
          <p:txBody>
            <a:bodyPr wrap="square" lIns="16933" tIns="16933" rIns="16933" bIns="16933" rtlCol="0" anchor="ctr">
              <a:normAutofit lnSpcReduction="10000"/>
            </a:bodyPr>
            <a:lstStyle/>
            <a:p>
              <a:r>
                <a:rPr lang="en-US" sz="1200" b="1" kern="0" spc="24" dirty="0">
                  <a:solidFill>
                    <a:srgbClr val="FFFFFF"/>
                  </a:solidFill>
                  <a:latin typeface="Georgia" panose="02040502050405020303" pitchFamily="18" charset="0"/>
                  <a:ea typeface="Trebuchet MS" pitchFamily="34" charset="-122"/>
                  <a:cs typeface="Trebuchet MS" pitchFamily="34" charset="-120"/>
                </a:rPr>
                <a:t>Cluster</a:t>
              </a:r>
              <a:endParaRPr lang="en-US" sz="1200" dirty="0">
                <a:latin typeface="Georgia" panose="02040502050405020303" pitchFamily="18" charset="0"/>
              </a:endParaRPr>
            </a:p>
          </p:txBody>
        </p:sp>
        <p:sp>
          <p:nvSpPr>
            <p:cNvPr id="8" name="Text 6">
              <a:extLst>
                <a:ext uri="{FF2B5EF4-FFF2-40B4-BE49-F238E27FC236}">
                  <a16:creationId xmlns:a16="http://schemas.microsoft.com/office/drawing/2014/main" id="{D6562791-7991-BAEA-1855-F73CAE22BE76}"/>
                </a:ext>
              </a:extLst>
            </p:cNvPr>
            <p:cNvSpPr/>
            <p:nvPr/>
          </p:nvSpPr>
          <p:spPr>
            <a:xfrm>
              <a:off x="5582673" y="1554208"/>
              <a:ext cx="1448097" cy="203200"/>
            </a:xfrm>
            <a:prstGeom prst="rect">
              <a:avLst/>
            </a:prstGeom>
            <a:noFill/>
            <a:ln/>
          </p:spPr>
          <p:txBody>
            <a:bodyPr wrap="square" lIns="16933" tIns="16933" rIns="16933" bIns="16933" rtlCol="0" anchor="ctr">
              <a:normAutofit lnSpcReduction="10000"/>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Warehouses</a:t>
              </a:r>
              <a:endParaRPr lang="en-US" sz="1200" dirty="0">
                <a:latin typeface="Georgia" panose="02040502050405020303" pitchFamily="18" charset="0"/>
              </a:endParaRPr>
            </a:p>
          </p:txBody>
        </p:sp>
        <p:sp>
          <p:nvSpPr>
            <p:cNvPr id="9" name="Text 7">
              <a:extLst>
                <a:ext uri="{FF2B5EF4-FFF2-40B4-BE49-F238E27FC236}">
                  <a16:creationId xmlns:a16="http://schemas.microsoft.com/office/drawing/2014/main" id="{E6CC9C31-3818-8E99-93D0-8ACEDE2E948A}"/>
                </a:ext>
              </a:extLst>
            </p:cNvPr>
            <p:cNvSpPr/>
            <p:nvPr/>
          </p:nvSpPr>
          <p:spPr>
            <a:xfrm>
              <a:off x="7777164" y="1571408"/>
              <a:ext cx="2194608" cy="203200"/>
            </a:xfrm>
            <a:prstGeom prst="rect">
              <a:avLst/>
            </a:prstGeom>
            <a:noFill/>
            <a:ln/>
          </p:spPr>
          <p:txBody>
            <a:bodyPr wrap="square" lIns="16933" tIns="16933" rIns="16933" bIns="16933" rtlCol="0" anchor="ctr">
              <a:normAutofit lnSpcReduction="10000"/>
            </a:bodyPr>
            <a:lstStyle/>
            <a:p>
              <a:r>
                <a:rPr lang="en-US" sz="1200" b="1" kern="0" spc="24" dirty="0">
                  <a:solidFill>
                    <a:srgbClr val="FFFFFF"/>
                  </a:solidFill>
                  <a:latin typeface="Georgia" panose="02040502050405020303" pitchFamily="18" charset="0"/>
                  <a:ea typeface="Trebuchet MS" pitchFamily="34" charset="-122"/>
                  <a:cs typeface="Trebuchet MS" pitchFamily="34" charset="-120"/>
                </a:rPr>
                <a:t>Capacity (MT)</a:t>
              </a:r>
              <a:endParaRPr lang="en-US" sz="1200" dirty="0">
                <a:latin typeface="Georgia" panose="02040502050405020303" pitchFamily="18" charset="0"/>
              </a:endParaRPr>
            </a:p>
          </p:txBody>
        </p:sp>
        <p:sp>
          <p:nvSpPr>
            <p:cNvPr id="10" name="Text 8">
              <a:extLst>
                <a:ext uri="{FF2B5EF4-FFF2-40B4-BE49-F238E27FC236}">
                  <a16:creationId xmlns:a16="http://schemas.microsoft.com/office/drawing/2014/main" id="{66B4DE7A-0E57-1977-A928-1926133DE6C0}"/>
                </a:ext>
              </a:extLst>
            </p:cNvPr>
            <p:cNvSpPr/>
            <p:nvPr/>
          </p:nvSpPr>
          <p:spPr>
            <a:xfrm>
              <a:off x="9621540" y="1569641"/>
              <a:ext cx="1894972" cy="203200"/>
            </a:xfrm>
            <a:prstGeom prst="rect">
              <a:avLst/>
            </a:prstGeom>
            <a:noFill/>
            <a:ln/>
          </p:spPr>
          <p:txBody>
            <a:bodyPr wrap="square" lIns="16933" tIns="16933" rIns="16933" bIns="16933" rtlCol="0" anchor="ctr">
              <a:normAutofit lnSpcReduction="10000"/>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Average </a:t>
              </a:r>
              <a:r>
                <a:rPr lang="en-US" sz="1200" b="1" kern="0" spc="24" dirty="0" err="1">
                  <a:solidFill>
                    <a:srgbClr val="FFFFFF"/>
                  </a:solidFill>
                  <a:latin typeface="Georgia" panose="02040502050405020303" pitchFamily="18" charset="0"/>
                  <a:ea typeface="Trebuchet MS" pitchFamily="34" charset="-122"/>
                  <a:cs typeface="Trebuchet MS" pitchFamily="34" charset="-120"/>
                </a:rPr>
                <a:t>utilisation</a:t>
              </a:r>
              <a:endParaRPr lang="en-US" sz="1200" dirty="0">
                <a:latin typeface="Georgia" panose="02040502050405020303" pitchFamily="18" charset="0"/>
              </a:endParaRPr>
            </a:p>
          </p:txBody>
        </p:sp>
        <p:sp>
          <p:nvSpPr>
            <p:cNvPr id="11" name="Shape 9">
              <a:extLst>
                <a:ext uri="{FF2B5EF4-FFF2-40B4-BE49-F238E27FC236}">
                  <a16:creationId xmlns:a16="http://schemas.microsoft.com/office/drawing/2014/main" id="{BFD96A32-2453-EA1E-62A7-5480613BF9E1}"/>
                </a:ext>
              </a:extLst>
            </p:cNvPr>
            <p:cNvSpPr/>
            <p:nvPr/>
          </p:nvSpPr>
          <p:spPr>
            <a:xfrm>
              <a:off x="644526" y="2426692"/>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12" name="Shape 10">
              <a:extLst>
                <a:ext uri="{FF2B5EF4-FFF2-40B4-BE49-F238E27FC236}">
                  <a16:creationId xmlns:a16="http://schemas.microsoft.com/office/drawing/2014/main" id="{B598E1F1-6570-C334-5756-6DE9A40ED9FE}"/>
                </a:ext>
              </a:extLst>
            </p:cNvPr>
            <p:cNvSpPr/>
            <p:nvPr/>
          </p:nvSpPr>
          <p:spPr>
            <a:xfrm>
              <a:off x="644526" y="1836341"/>
              <a:ext cx="19050" cy="596701"/>
            </a:xfrm>
            <a:prstGeom prst="rect">
              <a:avLst/>
            </a:prstGeom>
            <a:solidFill>
              <a:srgbClr val="0E8B96"/>
            </a:solidFill>
            <a:ln/>
          </p:spPr>
          <p:txBody>
            <a:bodyPr/>
            <a:lstStyle/>
            <a:p>
              <a:endParaRPr lang="en-IN">
                <a:latin typeface="Georgia" panose="02040502050405020303" pitchFamily="18" charset="0"/>
              </a:endParaRPr>
            </a:p>
          </p:txBody>
        </p:sp>
        <p:sp>
          <p:nvSpPr>
            <p:cNvPr id="13" name="Text 11">
              <a:extLst>
                <a:ext uri="{FF2B5EF4-FFF2-40B4-BE49-F238E27FC236}">
                  <a16:creationId xmlns:a16="http://schemas.microsoft.com/office/drawing/2014/main" id="{65304533-57A2-8AA4-840E-4D9904982682}"/>
                </a:ext>
              </a:extLst>
            </p:cNvPr>
            <p:cNvSpPr/>
            <p:nvPr/>
          </p:nvSpPr>
          <p:spPr>
            <a:xfrm>
              <a:off x="755650" y="1912541"/>
              <a:ext cx="4876249"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North Karnataka</a:t>
              </a:r>
              <a:endParaRPr lang="en-US" sz="1200" dirty="0">
                <a:latin typeface="Georgia" panose="02040502050405020303" pitchFamily="18" charset="0"/>
              </a:endParaRPr>
            </a:p>
          </p:txBody>
        </p:sp>
        <p:sp>
          <p:nvSpPr>
            <p:cNvPr id="14" name="Text 12">
              <a:extLst>
                <a:ext uri="{FF2B5EF4-FFF2-40B4-BE49-F238E27FC236}">
                  <a16:creationId xmlns:a16="http://schemas.microsoft.com/office/drawing/2014/main" id="{FCCF4EE0-E211-11DA-18F2-45B658A199FD}"/>
                </a:ext>
              </a:extLst>
            </p:cNvPr>
            <p:cNvSpPr/>
            <p:nvPr/>
          </p:nvSpPr>
          <p:spPr>
            <a:xfrm>
              <a:off x="776080" y="2150107"/>
              <a:ext cx="4876249"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Onion · Grape · Raisin · Pomegranate</a:t>
              </a:r>
              <a:endParaRPr lang="en-US" sz="1000" dirty="0">
                <a:latin typeface="Georgia" panose="02040502050405020303" pitchFamily="18" charset="0"/>
              </a:endParaRPr>
            </a:p>
          </p:txBody>
        </p:sp>
        <p:sp>
          <p:nvSpPr>
            <p:cNvPr id="15" name="Text 13">
              <a:extLst>
                <a:ext uri="{FF2B5EF4-FFF2-40B4-BE49-F238E27FC236}">
                  <a16:creationId xmlns:a16="http://schemas.microsoft.com/office/drawing/2014/main" id="{EF3A3832-8614-F596-8077-B0D82428367D}"/>
                </a:ext>
              </a:extLst>
            </p:cNvPr>
            <p:cNvSpPr/>
            <p:nvPr/>
          </p:nvSpPr>
          <p:spPr>
            <a:xfrm>
              <a:off x="5642273" y="1912541"/>
              <a:ext cx="1448097" cy="469701"/>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33</a:t>
              </a:r>
              <a:endParaRPr lang="en-US" sz="1200" dirty="0">
                <a:latin typeface="Georgia" panose="02040502050405020303" pitchFamily="18" charset="0"/>
              </a:endParaRPr>
            </a:p>
          </p:txBody>
        </p:sp>
        <p:sp>
          <p:nvSpPr>
            <p:cNvPr id="16" name="Text 14">
              <a:extLst>
                <a:ext uri="{FF2B5EF4-FFF2-40B4-BE49-F238E27FC236}">
                  <a16:creationId xmlns:a16="http://schemas.microsoft.com/office/drawing/2014/main" id="{6723158E-7468-9C04-D675-2F12245CAD36}"/>
                </a:ext>
              </a:extLst>
            </p:cNvPr>
            <p:cNvSpPr/>
            <p:nvPr/>
          </p:nvSpPr>
          <p:spPr>
            <a:xfrm>
              <a:off x="7223732" y="1912541"/>
              <a:ext cx="2194609" cy="469701"/>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3,72,716</a:t>
              </a:r>
              <a:endParaRPr lang="en-US" sz="1200" dirty="0">
                <a:latin typeface="Georgia" panose="02040502050405020303" pitchFamily="18" charset="0"/>
              </a:endParaRPr>
            </a:p>
          </p:txBody>
        </p:sp>
        <p:sp>
          <p:nvSpPr>
            <p:cNvPr id="17" name="Text 15">
              <a:extLst>
                <a:ext uri="{FF2B5EF4-FFF2-40B4-BE49-F238E27FC236}">
                  <a16:creationId xmlns:a16="http://schemas.microsoft.com/office/drawing/2014/main" id="{BFEBD0E9-5973-9AA8-1A9F-22509EA5A5F5}"/>
                </a:ext>
              </a:extLst>
            </p:cNvPr>
            <p:cNvSpPr/>
            <p:nvPr/>
          </p:nvSpPr>
          <p:spPr>
            <a:xfrm>
              <a:off x="9590984" y="1912541"/>
              <a:ext cx="1894972" cy="469701"/>
            </a:xfrm>
            <a:prstGeom prst="rect">
              <a:avLst/>
            </a:prstGeom>
            <a:noFill/>
            <a:ln/>
          </p:spPr>
          <p:txBody>
            <a:bodyPr wrap="square" lIns="16933" tIns="16933" rIns="16933" bIns="16933" rtlCol="0" anchor="t">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56%</a:t>
              </a:r>
              <a:endParaRPr lang="en-US" sz="1200" dirty="0">
                <a:latin typeface="Georgia" panose="02040502050405020303" pitchFamily="18" charset="0"/>
              </a:endParaRPr>
            </a:p>
          </p:txBody>
        </p:sp>
        <p:sp>
          <p:nvSpPr>
            <p:cNvPr id="18" name="Shape 16">
              <a:extLst>
                <a:ext uri="{FF2B5EF4-FFF2-40B4-BE49-F238E27FC236}">
                  <a16:creationId xmlns:a16="http://schemas.microsoft.com/office/drawing/2014/main" id="{94336B2F-F744-04F0-FCFC-DEB75BDBA28A}"/>
                </a:ext>
              </a:extLst>
            </p:cNvPr>
            <p:cNvSpPr/>
            <p:nvPr/>
          </p:nvSpPr>
          <p:spPr>
            <a:xfrm>
              <a:off x="644526" y="2433042"/>
              <a:ext cx="10912475" cy="600373"/>
            </a:xfrm>
            <a:prstGeom prst="rect">
              <a:avLst/>
            </a:prstGeom>
            <a:solidFill>
              <a:srgbClr val="EFE8D8"/>
            </a:solidFill>
            <a:ln/>
          </p:spPr>
          <p:txBody>
            <a:bodyPr/>
            <a:lstStyle/>
            <a:p>
              <a:endParaRPr lang="en-IN">
                <a:latin typeface="Georgia" panose="02040502050405020303" pitchFamily="18" charset="0"/>
              </a:endParaRPr>
            </a:p>
          </p:txBody>
        </p:sp>
        <p:sp>
          <p:nvSpPr>
            <p:cNvPr id="19" name="Shape 17">
              <a:extLst>
                <a:ext uri="{FF2B5EF4-FFF2-40B4-BE49-F238E27FC236}">
                  <a16:creationId xmlns:a16="http://schemas.microsoft.com/office/drawing/2014/main" id="{8D7DC6CA-D2D8-5486-FFA2-38794E9E12D0}"/>
                </a:ext>
              </a:extLst>
            </p:cNvPr>
            <p:cNvSpPr/>
            <p:nvPr/>
          </p:nvSpPr>
          <p:spPr>
            <a:xfrm>
              <a:off x="644526" y="3027065"/>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20" name="Shape 18">
              <a:extLst>
                <a:ext uri="{FF2B5EF4-FFF2-40B4-BE49-F238E27FC236}">
                  <a16:creationId xmlns:a16="http://schemas.microsoft.com/office/drawing/2014/main" id="{DD6DC8DB-B436-9A28-C05C-8E92A15A1365}"/>
                </a:ext>
              </a:extLst>
            </p:cNvPr>
            <p:cNvSpPr/>
            <p:nvPr/>
          </p:nvSpPr>
          <p:spPr>
            <a:xfrm>
              <a:off x="644526" y="2433042"/>
              <a:ext cx="19050" cy="600373"/>
            </a:xfrm>
            <a:prstGeom prst="rect">
              <a:avLst/>
            </a:prstGeom>
            <a:solidFill>
              <a:srgbClr val="0E8B96"/>
            </a:solidFill>
            <a:ln/>
          </p:spPr>
          <p:txBody>
            <a:bodyPr/>
            <a:lstStyle/>
            <a:p>
              <a:endParaRPr lang="en-IN">
                <a:latin typeface="Georgia" panose="02040502050405020303" pitchFamily="18" charset="0"/>
              </a:endParaRPr>
            </a:p>
          </p:txBody>
        </p:sp>
        <p:sp>
          <p:nvSpPr>
            <p:cNvPr id="21" name="Text 19">
              <a:extLst>
                <a:ext uri="{FF2B5EF4-FFF2-40B4-BE49-F238E27FC236}">
                  <a16:creationId xmlns:a16="http://schemas.microsoft.com/office/drawing/2014/main" id="{4A99297B-326C-387A-F2FA-FDB47E300F1F}"/>
                </a:ext>
              </a:extLst>
            </p:cNvPr>
            <p:cNvSpPr/>
            <p:nvPr/>
          </p:nvSpPr>
          <p:spPr>
            <a:xfrm>
              <a:off x="755650" y="2512418"/>
              <a:ext cx="4876249"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Central Karnataka</a:t>
              </a:r>
              <a:endParaRPr lang="en-US" sz="1200" dirty="0">
                <a:latin typeface="Georgia" panose="02040502050405020303" pitchFamily="18" charset="0"/>
              </a:endParaRPr>
            </a:p>
          </p:txBody>
        </p:sp>
        <p:sp>
          <p:nvSpPr>
            <p:cNvPr id="22" name="Text 20">
              <a:extLst>
                <a:ext uri="{FF2B5EF4-FFF2-40B4-BE49-F238E27FC236}">
                  <a16:creationId xmlns:a16="http://schemas.microsoft.com/office/drawing/2014/main" id="{CEB1FEA2-A137-7233-9BBD-0B816DC85BEB}"/>
                </a:ext>
              </a:extLst>
            </p:cNvPr>
            <p:cNvSpPr/>
            <p:nvPr/>
          </p:nvSpPr>
          <p:spPr>
            <a:xfrm>
              <a:off x="776080" y="2749983"/>
              <a:ext cx="4876249"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Onion · Pomegranate</a:t>
              </a:r>
              <a:endParaRPr lang="en-US" sz="1000" dirty="0">
                <a:latin typeface="Georgia" panose="02040502050405020303" pitchFamily="18" charset="0"/>
              </a:endParaRPr>
            </a:p>
          </p:txBody>
        </p:sp>
        <p:sp>
          <p:nvSpPr>
            <p:cNvPr id="44" name="Text 21">
              <a:extLst>
                <a:ext uri="{FF2B5EF4-FFF2-40B4-BE49-F238E27FC236}">
                  <a16:creationId xmlns:a16="http://schemas.microsoft.com/office/drawing/2014/main" id="{AEF39268-9AD7-266F-7185-00FD9B60F83C}"/>
                </a:ext>
              </a:extLst>
            </p:cNvPr>
            <p:cNvSpPr/>
            <p:nvPr/>
          </p:nvSpPr>
          <p:spPr>
            <a:xfrm>
              <a:off x="5642273" y="2509242"/>
              <a:ext cx="1448097"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31</a:t>
              </a:r>
              <a:endParaRPr lang="en-US" sz="1200" dirty="0">
                <a:latin typeface="Georgia" panose="02040502050405020303" pitchFamily="18" charset="0"/>
              </a:endParaRPr>
            </a:p>
          </p:txBody>
        </p:sp>
        <p:sp>
          <p:nvSpPr>
            <p:cNvPr id="45" name="Text 22">
              <a:extLst>
                <a:ext uri="{FF2B5EF4-FFF2-40B4-BE49-F238E27FC236}">
                  <a16:creationId xmlns:a16="http://schemas.microsoft.com/office/drawing/2014/main" id="{3EC9A058-13C5-0CD8-F1ED-69BBEDF0F407}"/>
                </a:ext>
              </a:extLst>
            </p:cNvPr>
            <p:cNvSpPr/>
            <p:nvPr/>
          </p:nvSpPr>
          <p:spPr>
            <a:xfrm>
              <a:off x="7223732" y="2509242"/>
              <a:ext cx="2194609"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4,08,792</a:t>
              </a:r>
              <a:endParaRPr lang="en-US" sz="1200" dirty="0">
                <a:latin typeface="Georgia" panose="02040502050405020303" pitchFamily="18" charset="0"/>
              </a:endParaRPr>
            </a:p>
          </p:txBody>
        </p:sp>
        <p:sp>
          <p:nvSpPr>
            <p:cNvPr id="46" name="Text 23">
              <a:extLst>
                <a:ext uri="{FF2B5EF4-FFF2-40B4-BE49-F238E27FC236}">
                  <a16:creationId xmlns:a16="http://schemas.microsoft.com/office/drawing/2014/main" id="{3B4E7C4F-19C0-EA33-146E-5473DAD6E61B}"/>
                </a:ext>
              </a:extLst>
            </p:cNvPr>
            <p:cNvSpPr/>
            <p:nvPr/>
          </p:nvSpPr>
          <p:spPr>
            <a:xfrm>
              <a:off x="9590984" y="2509242"/>
              <a:ext cx="1894972" cy="473373"/>
            </a:xfrm>
            <a:prstGeom prst="rect">
              <a:avLst/>
            </a:prstGeom>
            <a:noFill/>
            <a:ln/>
          </p:spPr>
          <p:txBody>
            <a:bodyPr wrap="square" lIns="16933" tIns="16933" rIns="16933" bIns="16933" rtlCol="0" anchor="t">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38%</a:t>
              </a:r>
              <a:endParaRPr lang="en-US" sz="1200" dirty="0">
                <a:latin typeface="Georgia" panose="02040502050405020303" pitchFamily="18" charset="0"/>
              </a:endParaRPr>
            </a:p>
          </p:txBody>
        </p:sp>
        <p:sp>
          <p:nvSpPr>
            <p:cNvPr id="47" name="Shape 24">
              <a:extLst>
                <a:ext uri="{FF2B5EF4-FFF2-40B4-BE49-F238E27FC236}">
                  <a16:creationId xmlns:a16="http://schemas.microsoft.com/office/drawing/2014/main" id="{179AB625-6451-C7DA-C3F9-A14C59B536CE}"/>
                </a:ext>
              </a:extLst>
            </p:cNvPr>
            <p:cNvSpPr/>
            <p:nvPr/>
          </p:nvSpPr>
          <p:spPr>
            <a:xfrm>
              <a:off x="644526" y="3627438"/>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48" name="Shape 25">
              <a:extLst>
                <a:ext uri="{FF2B5EF4-FFF2-40B4-BE49-F238E27FC236}">
                  <a16:creationId xmlns:a16="http://schemas.microsoft.com/office/drawing/2014/main" id="{B636BED3-3598-10B0-F22E-FB79372E26F9}"/>
                </a:ext>
              </a:extLst>
            </p:cNvPr>
            <p:cNvSpPr/>
            <p:nvPr/>
          </p:nvSpPr>
          <p:spPr>
            <a:xfrm>
              <a:off x="644526" y="3033415"/>
              <a:ext cx="19050" cy="600373"/>
            </a:xfrm>
            <a:prstGeom prst="rect">
              <a:avLst/>
            </a:prstGeom>
            <a:solidFill>
              <a:srgbClr val="0E8B96"/>
            </a:solidFill>
            <a:ln/>
          </p:spPr>
          <p:txBody>
            <a:bodyPr/>
            <a:lstStyle/>
            <a:p>
              <a:endParaRPr lang="en-IN">
                <a:latin typeface="Georgia" panose="02040502050405020303" pitchFamily="18" charset="0"/>
              </a:endParaRPr>
            </a:p>
          </p:txBody>
        </p:sp>
        <p:sp>
          <p:nvSpPr>
            <p:cNvPr id="49" name="Text 26">
              <a:extLst>
                <a:ext uri="{FF2B5EF4-FFF2-40B4-BE49-F238E27FC236}">
                  <a16:creationId xmlns:a16="http://schemas.microsoft.com/office/drawing/2014/main" id="{1F72188C-C4B2-B929-338F-5F0C86B8AD60}"/>
                </a:ext>
              </a:extLst>
            </p:cNvPr>
            <p:cNvSpPr/>
            <p:nvPr/>
          </p:nvSpPr>
          <p:spPr>
            <a:xfrm>
              <a:off x="755650" y="3112790"/>
              <a:ext cx="4876249"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Kalyana Karnataka</a:t>
              </a:r>
              <a:endParaRPr lang="en-US" sz="1200" dirty="0">
                <a:latin typeface="Georgia" panose="02040502050405020303" pitchFamily="18" charset="0"/>
              </a:endParaRPr>
            </a:p>
          </p:txBody>
        </p:sp>
        <p:sp>
          <p:nvSpPr>
            <p:cNvPr id="50" name="Text 27">
              <a:extLst>
                <a:ext uri="{FF2B5EF4-FFF2-40B4-BE49-F238E27FC236}">
                  <a16:creationId xmlns:a16="http://schemas.microsoft.com/office/drawing/2014/main" id="{0BA1FB6A-1F74-68F8-1E03-BB0546795B89}"/>
                </a:ext>
              </a:extLst>
            </p:cNvPr>
            <p:cNvSpPr/>
            <p:nvPr/>
          </p:nvSpPr>
          <p:spPr>
            <a:xfrm>
              <a:off x="776080" y="3350355"/>
              <a:ext cx="4876249"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Onion · Tomato</a:t>
              </a:r>
              <a:endParaRPr lang="en-US" sz="1000" dirty="0">
                <a:latin typeface="Georgia" panose="02040502050405020303" pitchFamily="18" charset="0"/>
              </a:endParaRPr>
            </a:p>
          </p:txBody>
        </p:sp>
        <p:sp>
          <p:nvSpPr>
            <p:cNvPr id="51" name="Text 28">
              <a:extLst>
                <a:ext uri="{FF2B5EF4-FFF2-40B4-BE49-F238E27FC236}">
                  <a16:creationId xmlns:a16="http://schemas.microsoft.com/office/drawing/2014/main" id="{EE1487B8-06CB-AF39-A800-75ABEE03BA6A}"/>
                </a:ext>
              </a:extLst>
            </p:cNvPr>
            <p:cNvSpPr/>
            <p:nvPr/>
          </p:nvSpPr>
          <p:spPr>
            <a:xfrm>
              <a:off x="5642273" y="3109615"/>
              <a:ext cx="1448097"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28</a:t>
              </a:r>
              <a:endParaRPr lang="en-US" sz="1200" dirty="0">
                <a:latin typeface="Georgia" panose="02040502050405020303" pitchFamily="18" charset="0"/>
              </a:endParaRPr>
            </a:p>
          </p:txBody>
        </p:sp>
        <p:sp>
          <p:nvSpPr>
            <p:cNvPr id="52" name="Text 29">
              <a:extLst>
                <a:ext uri="{FF2B5EF4-FFF2-40B4-BE49-F238E27FC236}">
                  <a16:creationId xmlns:a16="http://schemas.microsoft.com/office/drawing/2014/main" id="{CCFEEA3F-5811-A96A-6161-36EBA28BD8B2}"/>
                </a:ext>
              </a:extLst>
            </p:cNvPr>
            <p:cNvSpPr/>
            <p:nvPr/>
          </p:nvSpPr>
          <p:spPr>
            <a:xfrm>
              <a:off x="7223732" y="3109615"/>
              <a:ext cx="2194609"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4,86,213</a:t>
              </a:r>
              <a:endParaRPr lang="en-US" sz="1200" dirty="0">
                <a:latin typeface="Georgia" panose="02040502050405020303" pitchFamily="18" charset="0"/>
              </a:endParaRPr>
            </a:p>
          </p:txBody>
        </p:sp>
        <p:sp>
          <p:nvSpPr>
            <p:cNvPr id="53" name="Text 30">
              <a:extLst>
                <a:ext uri="{FF2B5EF4-FFF2-40B4-BE49-F238E27FC236}">
                  <a16:creationId xmlns:a16="http://schemas.microsoft.com/office/drawing/2014/main" id="{A731BF04-3286-5223-E6D8-0957F7A8235B}"/>
                </a:ext>
              </a:extLst>
            </p:cNvPr>
            <p:cNvSpPr/>
            <p:nvPr/>
          </p:nvSpPr>
          <p:spPr>
            <a:xfrm>
              <a:off x="9590984" y="3109615"/>
              <a:ext cx="1894972" cy="473373"/>
            </a:xfrm>
            <a:prstGeom prst="rect">
              <a:avLst/>
            </a:prstGeom>
            <a:noFill/>
            <a:ln/>
          </p:spPr>
          <p:txBody>
            <a:bodyPr wrap="square" lIns="16933" tIns="16933" rIns="16933" bIns="16933" rtlCol="0" anchor="t">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64%</a:t>
              </a:r>
              <a:endParaRPr lang="en-US" sz="1200" dirty="0">
                <a:latin typeface="Georgia" panose="02040502050405020303" pitchFamily="18" charset="0"/>
              </a:endParaRPr>
            </a:p>
          </p:txBody>
        </p:sp>
        <p:sp>
          <p:nvSpPr>
            <p:cNvPr id="54" name="Shape 31">
              <a:extLst>
                <a:ext uri="{FF2B5EF4-FFF2-40B4-BE49-F238E27FC236}">
                  <a16:creationId xmlns:a16="http://schemas.microsoft.com/office/drawing/2014/main" id="{2B97CBD5-8C5A-D795-3888-F0DF85EEE496}"/>
                </a:ext>
              </a:extLst>
            </p:cNvPr>
            <p:cNvSpPr/>
            <p:nvPr/>
          </p:nvSpPr>
          <p:spPr>
            <a:xfrm>
              <a:off x="644526" y="3633788"/>
              <a:ext cx="10912475" cy="600373"/>
            </a:xfrm>
            <a:prstGeom prst="rect">
              <a:avLst/>
            </a:prstGeom>
            <a:solidFill>
              <a:srgbClr val="EFE8D8"/>
            </a:solidFill>
            <a:ln/>
          </p:spPr>
          <p:txBody>
            <a:bodyPr/>
            <a:lstStyle/>
            <a:p>
              <a:endParaRPr lang="en-IN">
                <a:latin typeface="Georgia" panose="02040502050405020303" pitchFamily="18" charset="0"/>
              </a:endParaRPr>
            </a:p>
          </p:txBody>
        </p:sp>
        <p:sp>
          <p:nvSpPr>
            <p:cNvPr id="55" name="Shape 32">
              <a:extLst>
                <a:ext uri="{FF2B5EF4-FFF2-40B4-BE49-F238E27FC236}">
                  <a16:creationId xmlns:a16="http://schemas.microsoft.com/office/drawing/2014/main" id="{67447EF0-8B8D-91B3-398E-1B5370CA53F7}"/>
                </a:ext>
              </a:extLst>
            </p:cNvPr>
            <p:cNvSpPr/>
            <p:nvPr/>
          </p:nvSpPr>
          <p:spPr>
            <a:xfrm>
              <a:off x="644526" y="4227810"/>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56" name="Shape 33">
              <a:extLst>
                <a:ext uri="{FF2B5EF4-FFF2-40B4-BE49-F238E27FC236}">
                  <a16:creationId xmlns:a16="http://schemas.microsoft.com/office/drawing/2014/main" id="{DD77417A-21CA-0939-7D8B-B53E2DC120C6}"/>
                </a:ext>
              </a:extLst>
            </p:cNvPr>
            <p:cNvSpPr/>
            <p:nvPr/>
          </p:nvSpPr>
          <p:spPr>
            <a:xfrm>
              <a:off x="644526" y="3633788"/>
              <a:ext cx="19050" cy="600373"/>
            </a:xfrm>
            <a:prstGeom prst="rect">
              <a:avLst/>
            </a:prstGeom>
            <a:solidFill>
              <a:srgbClr val="0E8B96"/>
            </a:solidFill>
            <a:ln/>
          </p:spPr>
          <p:txBody>
            <a:bodyPr/>
            <a:lstStyle/>
            <a:p>
              <a:endParaRPr lang="en-IN">
                <a:latin typeface="Georgia" panose="02040502050405020303" pitchFamily="18" charset="0"/>
              </a:endParaRPr>
            </a:p>
          </p:txBody>
        </p:sp>
        <p:sp>
          <p:nvSpPr>
            <p:cNvPr id="57" name="Text 34">
              <a:extLst>
                <a:ext uri="{FF2B5EF4-FFF2-40B4-BE49-F238E27FC236}">
                  <a16:creationId xmlns:a16="http://schemas.microsoft.com/office/drawing/2014/main" id="{CF1518AF-CB8E-E5EF-6C06-9EF09AA1DBD7}"/>
                </a:ext>
              </a:extLst>
            </p:cNvPr>
            <p:cNvSpPr/>
            <p:nvPr/>
          </p:nvSpPr>
          <p:spPr>
            <a:xfrm>
              <a:off x="755650" y="3713163"/>
              <a:ext cx="4876249"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South Karnataka</a:t>
              </a:r>
              <a:endParaRPr lang="en-US" sz="1200" dirty="0">
                <a:latin typeface="Georgia" panose="02040502050405020303" pitchFamily="18" charset="0"/>
              </a:endParaRPr>
            </a:p>
          </p:txBody>
        </p:sp>
        <p:sp>
          <p:nvSpPr>
            <p:cNvPr id="58" name="Text 35">
              <a:extLst>
                <a:ext uri="{FF2B5EF4-FFF2-40B4-BE49-F238E27FC236}">
                  <a16:creationId xmlns:a16="http://schemas.microsoft.com/office/drawing/2014/main" id="{C5D8BB63-4656-260A-2F40-812C27926B26}"/>
                </a:ext>
              </a:extLst>
            </p:cNvPr>
            <p:cNvSpPr/>
            <p:nvPr/>
          </p:nvSpPr>
          <p:spPr>
            <a:xfrm>
              <a:off x="776080" y="3950728"/>
              <a:ext cx="4876249"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Banana · Tomato · Mango</a:t>
              </a:r>
              <a:endParaRPr lang="en-US" sz="1000" dirty="0">
                <a:latin typeface="Georgia" panose="02040502050405020303" pitchFamily="18" charset="0"/>
              </a:endParaRPr>
            </a:p>
          </p:txBody>
        </p:sp>
        <p:sp>
          <p:nvSpPr>
            <p:cNvPr id="76" name="Text 36">
              <a:extLst>
                <a:ext uri="{FF2B5EF4-FFF2-40B4-BE49-F238E27FC236}">
                  <a16:creationId xmlns:a16="http://schemas.microsoft.com/office/drawing/2014/main" id="{DA5B5447-DABF-7246-64E2-663E95E5ED19}"/>
                </a:ext>
              </a:extLst>
            </p:cNvPr>
            <p:cNvSpPr/>
            <p:nvPr/>
          </p:nvSpPr>
          <p:spPr>
            <a:xfrm>
              <a:off x="5642273" y="3709988"/>
              <a:ext cx="1448097"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29</a:t>
              </a:r>
              <a:endParaRPr lang="en-US" sz="1200" dirty="0">
                <a:latin typeface="Georgia" panose="02040502050405020303" pitchFamily="18" charset="0"/>
              </a:endParaRPr>
            </a:p>
          </p:txBody>
        </p:sp>
        <p:sp>
          <p:nvSpPr>
            <p:cNvPr id="77" name="Text 37">
              <a:extLst>
                <a:ext uri="{FF2B5EF4-FFF2-40B4-BE49-F238E27FC236}">
                  <a16:creationId xmlns:a16="http://schemas.microsoft.com/office/drawing/2014/main" id="{9E75913D-CD9B-A03B-EC74-CD81404DA4A8}"/>
                </a:ext>
              </a:extLst>
            </p:cNvPr>
            <p:cNvSpPr/>
            <p:nvPr/>
          </p:nvSpPr>
          <p:spPr>
            <a:xfrm>
              <a:off x="7223732" y="3709988"/>
              <a:ext cx="2194609"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3,30,582</a:t>
              </a:r>
              <a:endParaRPr lang="en-US" sz="1200" dirty="0">
                <a:latin typeface="Georgia" panose="02040502050405020303" pitchFamily="18" charset="0"/>
              </a:endParaRPr>
            </a:p>
          </p:txBody>
        </p:sp>
        <p:sp>
          <p:nvSpPr>
            <p:cNvPr id="78" name="Text 38">
              <a:extLst>
                <a:ext uri="{FF2B5EF4-FFF2-40B4-BE49-F238E27FC236}">
                  <a16:creationId xmlns:a16="http://schemas.microsoft.com/office/drawing/2014/main" id="{FC1B5264-CEEC-7BA7-4C7B-687AB6044C07}"/>
                </a:ext>
              </a:extLst>
            </p:cNvPr>
            <p:cNvSpPr/>
            <p:nvPr/>
          </p:nvSpPr>
          <p:spPr>
            <a:xfrm>
              <a:off x="9590984" y="3709988"/>
              <a:ext cx="1894972" cy="473373"/>
            </a:xfrm>
            <a:prstGeom prst="rect">
              <a:avLst/>
            </a:prstGeom>
            <a:noFill/>
            <a:ln/>
          </p:spPr>
          <p:txBody>
            <a:bodyPr wrap="square" lIns="16933" tIns="16933" rIns="16933" bIns="16933" rtlCol="0" anchor="t">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47%</a:t>
              </a:r>
              <a:endParaRPr lang="en-US" sz="1200" dirty="0">
                <a:latin typeface="Georgia" panose="02040502050405020303" pitchFamily="18" charset="0"/>
              </a:endParaRPr>
            </a:p>
          </p:txBody>
        </p:sp>
        <p:sp>
          <p:nvSpPr>
            <p:cNvPr id="79" name="Shape 39">
              <a:extLst>
                <a:ext uri="{FF2B5EF4-FFF2-40B4-BE49-F238E27FC236}">
                  <a16:creationId xmlns:a16="http://schemas.microsoft.com/office/drawing/2014/main" id="{05E47E46-E230-4008-DF3E-E7D37B9164E3}"/>
                </a:ext>
              </a:extLst>
            </p:cNvPr>
            <p:cNvSpPr/>
            <p:nvPr/>
          </p:nvSpPr>
          <p:spPr>
            <a:xfrm>
              <a:off x="644526" y="4828183"/>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80" name="Shape 40">
              <a:extLst>
                <a:ext uri="{FF2B5EF4-FFF2-40B4-BE49-F238E27FC236}">
                  <a16:creationId xmlns:a16="http://schemas.microsoft.com/office/drawing/2014/main" id="{BC76C41E-9F5B-3A35-5D2E-49C52D8AAF8D}"/>
                </a:ext>
              </a:extLst>
            </p:cNvPr>
            <p:cNvSpPr/>
            <p:nvPr/>
          </p:nvSpPr>
          <p:spPr>
            <a:xfrm>
              <a:off x="644526" y="4234160"/>
              <a:ext cx="19050" cy="600373"/>
            </a:xfrm>
            <a:prstGeom prst="rect">
              <a:avLst/>
            </a:prstGeom>
            <a:solidFill>
              <a:srgbClr val="0E8B96"/>
            </a:solidFill>
            <a:ln/>
          </p:spPr>
          <p:txBody>
            <a:bodyPr/>
            <a:lstStyle/>
            <a:p>
              <a:endParaRPr lang="en-IN">
                <a:latin typeface="Georgia" panose="02040502050405020303" pitchFamily="18" charset="0"/>
              </a:endParaRPr>
            </a:p>
          </p:txBody>
        </p:sp>
        <p:sp>
          <p:nvSpPr>
            <p:cNvPr id="81" name="Text 41">
              <a:extLst>
                <a:ext uri="{FF2B5EF4-FFF2-40B4-BE49-F238E27FC236}">
                  <a16:creationId xmlns:a16="http://schemas.microsoft.com/office/drawing/2014/main" id="{E00927C9-2B3E-1367-C11F-615831FE4EA3}"/>
                </a:ext>
              </a:extLst>
            </p:cNvPr>
            <p:cNvSpPr/>
            <p:nvPr/>
          </p:nvSpPr>
          <p:spPr>
            <a:xfrm>
              <a:off x="755650" y="4313536"/>
              <a:ext cx="4876249"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East Karnataka</a:t>
              </a:r>
              <a:endParaRPr lang="en-US" sz="1200" dirty="0">
                <a:latin typeface="Georgia" panose="02040502050405020303" pitchFamily="18" charset="0"/>
              </a:endParaRPr>
            </a:p>
          </p:txBody>
        </p:sp>
        <p:sp>
          <p:nvSpPr>
            <p:cNvPr id="82" name="Text 42">
              <a:extLst>
                <a:ext uri="{FF2B5EF4-FFF2-40B4-BE49-F238E27FC236}">
                  <a16:creationId xmlns:a16="http://schemas.microsoft.com/office/drawing/2014/main" id="{5972A5A8-0EB6-2F1D-EC9B-34E270D2425D}"/>
                </a:ext>
              </a:extLst>
            </p:cNvPr>
            <p:cNvSpPr/>
            <p:nvPr/>
          </p:nvSpPr>
          <p:spPr>
            <a:xfrm>
              <a:off x="776080" y="4551101"/>
              <a:ext cx="4876249"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Tomato · Mango processing</a:t>
              </a:r>
              <a:endParaRPr lang="en-US" sz="1000" dirty="0">
                <a:latin typeface="Georgia" panose="02040502050405020303" pitchFamily="18" charset="0"/>
              </a:endParaRPr>
            </a:p>
          </p:txBody>
        </p:sp>
        <p:sp>
          <p:nvSpPr>
            <p:cNvPr id="83" name="Text 43">
              <a:extLst>
                <a:ext uri="{FF2B5EF4-FFF2-40B4-BE49-F238E27FC236}">
                  <a16:creationId xmlns:a16="http://schemas.microsoft.com/office/drawing/2014/main" id="{57745F7E-F875-EDE5-DABE-18A7736A428E}"/>
                </a:ext>
              </a:extLst>
            </p:cNvPr>
            <p:cNvSpPr/>
            <p:nvPr/>
          </p:nvSpPr>
          <p:spPr>
            <a:xfrm>
              <a:off x="5642273" y="4310360"/>
              <a:ext cx="1448097"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27</a:t>
              </a:r>
              <a:endParaRPr lang="en-US" sz="1200" dirty="0">
                <a:latin typeface="Georgia" panose="02040502050405020303" pitchFamily="18" charset="0"/>
              </a:endParaRPr>
            </a:p>
          </p:txBody>
        </p:sp>
        <p:sp>
          <p:nvSpPr>
            <p:cNvPr id="84" name="Text 44">
              <a:extLst>
                <a:ext uri="{FF2B5EF4-FFF2-40B4-BE49-F238E27FC236}">
                  <a16:creationId xmlns:a16="http://schemas.microsoft.com/office/drawing/2014/main" id="{40F7865F-AF26-0F85-75F3-B45E69E6E4A6}"/>
                </a:ext>
              </a:extLst>
            </p:cNvPr>
            <p:cNvSpPr/>
            <p:nvPr/>
          </p:nvSpPr>
          <p:spPr>
            <a:xfrm>
              <a:off x="7223732" y="4310360"/>
              <a:ext cx="2194609"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3,16,767</a:t>
              </a:r>
              <a:endParaRPr lang="en-US" sz="1200" dirty="0">
                <a:latin typeface="Georgia" panose="02040502050405020303" pitchFamily="18" charset="0"/>
              </a:endParaRPr>
            </a:p>
          </p:txBody>
        </p:sp>
        <p:sp>
          <p:nvSpPr>
            <p:cNvPr id="85" name="Text 45">
              <a:extLst>
                <a:ext uri="{FF2B5EF4-FFF2-40B4-BE49-F238E27FC236}">
                  <a16:creationId xmlns:a16="http://schemas.microsoft.com/office/drawing/2014/main" id="{229BBBBE-5805-3C3F-71EF-9AE28EDA2C11}"/>
                </a:ext>
              </a:extLst>
            </p:cNvPr>
            <p:cNvSpPr/>
            <p:nvPr/>
          </p:nvSpPr>
          <p:spPr>
            <a:xfrm>
              <a:off x="9590984" y="4310360"/>
              <a:ext cx="1894972" cy="473373"/>
            </a:xfrm>
            <a:prstGeom prst="rect">
              <a:avLst/>
            </a:prstGeom>
            <a:noFill/>
            <a:ln/>
          </p:spPr>
          <p:txBody>
            <a:bodyPr wrap="square" lIns="16933" tIns="16933" rIns="16933" bIns="16933" rtlCol="0" anchor="t">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72%</a:t>
              </a:r>
              <a:endParaRPr lang="en-US" sz="1200" dirty="0">
                <a:latin typeface="Georgia" panose="02040502050405020303" pitchFamily="18" charset="0"/>
              </a:endParaRPr>
            </a:p>
          </p:txBody>
        </p:sp>
        <p:sp>
          <p:nvSpPr>
            <p:cNvPr id="86" name="Shape 46">
              <a:extLst>
                <a:ext uri="{FF2B5EF4-FFF2-40B4-BE49-F238E27FC236}">
                  <a16:creationId xmlns:a16="http://schemas.microsoft.com/office/drawing/2014/main" id="{E45749A5-5DBA-09CB-478C-6324F9A0D975}"/>
                </a:ext>
              </a:extLst>
            </p:cNvPr>
            <p:cNvSpPr/>
            <p:nvPr/>
          </p:nvSpPr>
          <p:spPr>
            <a:xfrm>
              <a:off x="644526" y="4834533"/>
              <a:ext cx="10912475" cy="600373"/>
            </a:xfrm>
            <a:prstGeom prst="rect">
              <a:avLst/>
            </a:prstGeom>
            <a:solidFill>
              <a:srgbClr val="EFE8D8"/>
            </a:solidFill>
            <a:ln/>
          </p:spPr>
          <p:txBody>
            <a:bodyPr/>
            <a:lstStyle/>
            <a:p>
              <a:endParaRPr lang="en-IN">
                <a:latin typeface="Georgia" panose="02040502050405020303" pitchFamily="18" charset="0"/>
              </a:endParaRPr>
            </a:p>
          </p:txBody>
        </p:sp>
        <p:sp>
          <p:nvSpPr>
            <p:cNvPr id="87" name="Shape 47">
              <a:extLst>
                <a:ext uri="{FF2B5EF4-FFF2-40B4-BE49-F238E27FC236}">
                  <a16:creationId xmlns:a16="http://schemas.microsoft.com/office/drawing/2014/main" id="{FCAFA545-F81D-68D1-C675-F10EF8094146}"/>
                </a:ext>
              </a:extLst>
            </p:cNvPr>
            <p:cNvSpPr/>
            <p:nvPr/>
          </p:nvSpPr>
          <p:spPr>
            <a:xfrm>
              <a:off x="644526" y="5428556"/>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88" name="Shape 48">
              <a:extLst>
                <a:ext uri="{FF2B5EF4-FFF2-40B4-BE49-F238E27FC236}">
                  <a16:creationId xmlns:a16="http://schemas.microsoft.com/office/drawing/2014/main" id="{7328804B-0004-F975-28BB-7CB73DF7B376}"/>
                </a:ext>
              </a:extLst>
            </p:cNvPr>
            <p:cNvSpPr/>
            <p:nvPr/>
          </p:nvSpPr>
          <p:spPr>
            <a:xfrm>
              <a:off x="644526" y="4834533"/>
              <a:ext cx="19050" cy="600373"/>
            </a:xfrm>
            <a:prstGeom prst="rect">
              <a:avLst/>
            </a:prstGeom>
            <a:solidFill>
              <a:srgbClr val="0E8B96"/>
            </a:solidFill>
            <a:ln/>
          </p:spPr>
          <p:txBody>
            <a:bodyPr/>
            <a:lstStyle/>
            <a:p>
              <a:endParaRPr lang="en-IN">
                <a:latin typeface="Georgia" panose="02040502050405020303" pitchFamily="18" charset="0"/>
              </a:endParaRPr>
            </a:p>
          </p:txBody>
        </p:sp>
        <p:sp>
          <p:nvSpPr>
            <p:cNvPr id="89" name="Text 49">
              <a:extLst>
                <a:ext uri="{FF2B5EF4-FFF2-40B4-BE49-F238E27FC236}">
                  <a16:creationId xmlns:a16="http://schemas.microsoft.com/office/drawing/2014/main" id="{B5ACD1D7-2E3D-93D5-0403-893E48204A8D}"/>
                </a:ext>
              </a:extLst>
            </p:cNvPr>
            <p:cNvSpPr/>
            <p:nvPr/>
          </p:nvSpPr>
          <p:spPr>
            <a:xfrm>
              <a:off x="755650" y="4913908"/>
              <a:ext cx="4876249"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Northwest Karnataka</a:t>
              </a:r>
              <a:endParaRPr lang="en-US" sz="1200" dirty="0">
                <a:latin typeface="Georgia" panose="02040502050405020303" pitchFamily="18" charset="0"/>
              </a:endParaRPr>
            </a:p>
          </p:txBody>
        </p:sp>
        <p:sp>
          <p:nvSpPr>
            <p:cNvPr id="90" name="Text 50">
              <a:extLst>
                <a:ext uri="{FF2B5EF4-FFF2-40B4-BE49-F238E27FC236}">
                  <a16:creationId xmlns:a16="http://schemas.microsoft.com/office/drawing/2014/main" id="{4D30446D-1813-A63E-6095-45BD3FEE44BC}"/>
                </a:ext>
              </a:extLst>
            </p:cNvPr>
            <p:cNvSpPr/>
            <p:nvPr/>
          </p:nvSpPr>
          <p:spPr>
            <a:xfrm>
              <a:off x="776080" y="5151473"/>
              <a:ext cx="4876249"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Multi-crop</a:t>
              </a:r>
              <a:endParaRPr lang="en-US" sz="1000" dirty="0">
                <a:latin typeface="Georgia" panose="02040502050405020303" pitchFamily="18" charset="0"/>
              </a:endParaRPr>
            </a:p>
          </p:txBody>
        </p:sp>
        <p:sp>
          <p:nvSpPr>
            <p:cNvPr id="91" name="Text 51">
              <a:extLst>
                <a:ext uri="{FF2B5EF4-FFF2-40B4-BE49-F238E27FC236}">
                  <a16:creationId xmlns:a16="http://schemas.microsoft.com/office/drawing/2014/main" id="{B6D846B0-BB09-0122-58ED-BDC96D188CC6}"/>
                </a:ext>
              </a:extLst>
            </p:cNvPr>
            <p:cNvSpPr/>
            <p:nvPr/>
          </p:nvSpPr>
          <p:spPr>
            <a:xfrm>
              <a:off x="5642273" y="4910733"/>
              <a:ext cx="1448097"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rPr>
                <a:t>20</a:t>
              </a:r>
              <a:endParaRPr lang="en-US" sz="1200" dirty="0">
                <a:latin typeface="Georgia" panose="02040502050405020303" pitchFamily="18" charset="0"/>
              </a:endParaRPr>
            </a:p>
          </p:txBody>
        </p:sp>
        <p:sp>
          <p:nvSpPr>
            <p:cNvPr id="92" name="Text 52">
              <a:extLst>
                <a:ext uri="{FF2B5EF4-FFF2-40B4-BE49-F238E27FC236}">
                  <a16:creationId xmlns:a16="http://schemas.microsoft.com/office/drawing/2014/main" id="{4001C0FB-0D75-297A-085B-A3A848A8A60C}"/>
                </a:ext>
              </a:extLst>
            </p:cNvPr>
            <p:cNvSpPr/>
            <p:nvPr/>
          </p:nvSpPr>
          <p:spPr>
            <a:xfrm>
              <a:off x="7223732" y="4910733"/>
              <a:ext cx="2194609"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1,92,988</a:t>
              </a:r>
              <a:endParaRPr lang="en-US" sz="1200" dirty="0">
                <a:latin typeface="Georgia" panose="02040502050405020303" pitchFamily="18" charset="0"/>
              </a:endParaRPr>
            </a:p>
          </p:txBody>
        </p:sp>
        <p:sp>
          <p:nvSpPr>
            <p:cNvPr id="93" name="Text 53">
              <a:extLst>
                <a:ext uri="{FF2B5EF4-FFF2-40B4-BE49-F238E27FC236}">
                  <a16:creationId xmlns:a16="http://schemas.microsoft.com/office/drawing/2014/main" id="{77D255FA-8F0B-CD67-6648-E3CF20281FE5}"/>
                </a:ext>
              </a:extLst>
            </p:cNvPr>
            <p:cNvSpPr/>
            <p:nvPr/>
          </p:nvSpPr>
          <p:spPr>
            <a:xfrm>
              <a:off x="9590984" y="4910733"/>
              <a:ext cx="1894972" cy="473373"/>
            </a:xfrm>
            <a:prstGeom prst="rect">
              <a:avLst/>
            </a:prstGeom>
            <a:noFill/>
            <a:ln/>
          </p:spPr>
          <p:txBody>
            <a:bodyPr wrap="square" lIns="16933" tIns="16933" rIns="16933" bIns="16933" rtlCol="0" anchor="t">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47%</a:t>
              </a:r>
              <a:endParaRPr lang="en-US" sz="1200" dirty="0">
                <a:latin typeface="Georgia" panose="02040502050405020303" pitchFamily="18" charset="0"/>
              </a:endParaRPr>
            </a:p>
          </p:txBody>
        </p:sp>
        <p:sp>
          <p:nvSpPr>
            <p:cNvPr id="94" name="Shape 54">
              <a:extLst>
                <a:ext uri="{FF2B5EF4-FFF2-40B4-BE49-F238E27FC236}">
                  <a16:creationId xmlns:a16="http://schemas.microsoft.com/office/drawing/2014/main" id="{4EB60AF8-769F-8C1A-E7FB-9CF600204E17}"/>
                </a:ext>
              </a:extLst>
            </p:cNvPr>
            <p:cNvSpPr/>
            <p:nvPr/>
          </p:nvSpPr>
          <p:spPr>
            <a:xfrm>
              <a:off x="644526" y="6029326"/>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95" name="Shape 55">
              <a:extLst>
                <a:ext uri="{FF2B5EF4-FFF2-40B4-BE49-F238E27FC236}">
                  <a16:creationId xmlns:a16="http://schemas.microsoft.com/office/drawing/2014/main" id="{3424C28A-FE24-9652-104B-300467026A80}"/>
                </a:ext>
              </a:extLst>
            </p:cNvPr>
            <p:cNvSpPr/>
            <p:nvPr/>
          </p:nvSpPr>
          <p:spPr>
            <a:xfrm>
              <a:off x="644526" y="5434906"/>
              <a:ext cx="19050" cy="600769"/>
            </a:xfrm>
            <a:prstGeom prst="rect">
              <a:avLst/>
            </a:prstGeom>
            <a:solidFill>
              <a:srgbClr val="0E8B96"/>
            </a:solidFill>
            <a:ln/>
          </p:spPr>
          <p:txBody>
            <a:bodyPr/>
            <a:lstStyle/>
            <a:p>
              <a:endParaRPr lang="en-IN">
                <a:latin typeface="Georgia" panose="02040502050405020303" pitchFamily="18" charset="0"/>
              </a:endParaRPr>
            </a:p>
          </p:txBody>
        </p:sp>
        <p:sp>
          <p:nvSpPr>
            <p:cNvPr id="96" name="Text 56">
              <a:extLst>
                <a:ext uri="{FF2B5EF4-FFF2-40B4-BE49-F238E27FC236}">
                  <a16:creationId xmlns:a16="http://schemas.microsoft.com/office/drawing/2014/main" id="{1AF3D9A1-4C9D-9A0E-D6EB-D10CB8CBF47F}"/>
                </a:ext>
              </a:extLst>
            </p:cNvPr>
            <p:cNvSpPr/>
            <p:nvPr/>
          </p:nvSpPr>
          <p:spPr>
            <a:xfrm>
              <a:off x="755650" y="5514281"/>
              <a:ext cx="4876249"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Western Ghats</a:t>
              </a:r>
              <a:endParaRPr lang="en-US" sz="1200" dirty="0">
                <a:latin typeface="Georgia" panose="02040502050405020303" pitchFamily="18" charset="0"/>
              </a:endParaRPr>
            </a:p>
          </p:txBody>
        </p:sp>
        <p:sp>
          <p:nvSpPr>
            <p:cNvPr id="97" name="Text 57">
              <a:extLst>
                <a:ext uri="{FF2B5EF4-FFF2-40B4-BE49-F238E27FC236}">
                  <a16:creationId xmlns:a16="http://schemas.microsoft.com/office/drawing/2014/main" id="{519F54A6-9D95-A64B-46D1-BC8E27D1AACA}"/>
                </a:ext>
              </a:extLst>
            </p:cNvPr>
            <p:cNvSpPr/>
            <p:nvPr/>
          </p:nvSpPr>
          <p:spPr>
            <a:xfrm>
              <a:off x="776080" y="5751846"/>
              <a:ext cx="4876249"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Banana · Pineapple</a:t>
              </a:r>
              <a:endParaRPr lang="en-US" sz="1000" dirty="0">
                <a:latin typeface="Georgia" panose="02040502050405020303" pitchFamily="18" charset="0"/>
              </a:endParaRPr>
            </a:p>
          </p:txBody>
        </p:sp>
        <p:sp>
          <p:nvSpPr>
            <p:cNvPr id="98" name="Text 58">
              <a:extLst>
                <a:ext uri="{FF2B5EF4-FFF2-40B4-BE49-F238E27FC236}">
                  <a16:creationId xmlns:a16="http://schemas.microsoft.com/office/drawing/2014/main" id="{A6918930-512C-D83C-8BDE-914D6F7EABC7}"/>
                </a:ext>
              </a:extLst>
            </p:cNvPr>
            <p:cNvSpPr/>
            <p:nvPr/>
          </p:nvSpPr>
          <p:spPr>
            <a:xfrm>
              <a:off x="5642273" y="5511106"/>
              <a:ext cx="1448097" cy="473769"/>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17</a:t>
              </a:r>
              <a:endParaRPr lang="en-US" sz="1200" dirty="0">
                <a:latin typeface="Georgia" panose="02040502050405020303" pitchFamily="18" charset="0"/>
              </a:endParaRPr>
            </a:p>
          </p:txBody>
        </p:sp>
        <p:sp>
          <p:nvSpPr>
            <p:cNvPr id="99" name="Text 59">
              <a:extLst>
                <a:ext uri="{FF2B5EF4-FFF2-40B4-BE49-F238E27FC236}">
                  <a16:creationId xmlns:a16="http://schemas.microsoft.com/office/drawing/2014/main" id="{CB12BB2A-1B5A-13CF-07D0-5150D817723D}"/>
                </a:ext>
              </a:extLst>
            </p:cNvPr>
            <p:cNvSpPr/>
            <p:nvPr/>
          </p:nvSpPr>
          <p:spPr>
            <a:xfrm>
              <a:off x="7223732" y="5511106"/>
              <a:ext cx="2194609" cy="473769"/>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1,86,764</a:t>
              </a:r>
              <a:endParaRPr lang="en-US" sz="1200" dirty="0">
                <a:latin typeface="Georgia" panose="02040502050405020303" pitchFamily="18" charset="0"/>
              </a:endParaRPr>
            </a:p>
          </p:txBody>
        </p:sp>
        <p:sp>
          <p:nvSpPr>
            <p:cNvPr id="100" name="Text 60">
              <a:extLst>
                <a:ext uri="{FF2B5EF4-FFF2-40B4-BE49-F238E27FC236}">
                  <a16:creationId xmlns:a16="http://schemas.microsoft.com/office/drawing/2014/main" id="{D82682B8-A707-792B-1D17-C2F2180C471E}"/>
                </a:ext>
              </a:extLst>
            </p:cNvPr>
            <p:cNvSpPr/>
            <p:nvPr/>
          </p:nvSpPr>
          <p:spPr>
            <a:xfrm>
              <a:off x="9590984" y="5511106"/>
              <a:ext cx="1894972" cy="473769"/>
            </a:xfrm>
            <a:prstGeom prst="rect">
              <a:avLst/>
            </a:prstGeom>
            <a:noFill/>
            <a:ln/>
          </p:spPr>
          <p:txBody>
            <a:bodyPr wrap="square" lIns="16933" tIns="16933" rIns="16933" bIns="16933" rtlCol="0" anchor="t">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49%</a:t>
              </a:r>
              <a:endParaRPr lang="en-US" sz="1200" dirty="0">
                <a:latin typeface="Georgia" panose="02040502050405020303" pitchFamily="18" charset="0"/>
              </a:endParaRPr>
            </a:p>
          </p:txBody>
        </p:sp>
      </p:grpSp>
      <p:sp>
        <p:nvSpPr>
          <p:cNvPr id="101" name="TextBox 100">
            <a:extLst>
              <a:ext uri="{FF2B5EF4-FFF2-40B4-BE49-F238E27FC236}">
                <a16:creationId xmlns:a16="http://schemas.microsoft.com/office/drawing/2014/main" id="{D2C64152-0025-66AC-25B3-D6921D88F36A}"/>
              </a:ext>
            </a:extLst>
          </p:cNvPr>
          <p:cNvSpPr txBox="1"/>
          <p:nvPr/>
        </p:nvSpPr>
        <p:spPr>
          <a:xfrm>
            <a:off x="663972" y="5943600"/>
            <a:ext cx="6270228" cy="230832"/>
          </a:xfrm>
          <a:prstGeom prst="rect">
            <a:avLst/>
          </a:prstGeom>
          <a:noFill/>
        </p:spPr>
        <p:txBody>
          <a:bodyPr wrap="square" rtlCol="0">
            <a:spAutoFit/>
          </a:bodyPr>
          <a:lstStyle/>
          <a:p>
            <a:r>
              <a:rPr lang="en-IN" sz="900" i="1" dirty="0">
                <a:latin typeface="Georgia" panose="02040502050405020303" pitchFamily="18" charset="0"/>
              </a:rPr>
              <a:t>Sources: KSWC, </a:t>
            </a:r>
            <a:r>
              <a:rPr lang="en-IN" sz="900" i="1" dirty="0" err="1">
                <a:latin typeface="Georgia" panose="02040502050405020303" pitchFamily="18" charset="0"/>
              </a:rPr>
              <a:t>GoK</a:t>
            </a:r>
            <a:endParaRPr lang="en-IN" i="1" dirty="0">
              <a:latin typeface="Georgia" panose="02040502050405020303" pitchFamily="18" charset="0"/>
            </a:endParaRPr>
          </a:p>
        </p:txBody>
      </p:sp>
      <p:sp>
        <p:nvSpPr>
          <p:cNvPr id="102" name="Title 21">
            <a:extLst>
              <a:ext uri="{FF2B5EF4-FFF2-40B4-BE49-F238E27FC236}">
                <a16:creationId xmlns:a16="http://schemas.microsoft.com/office/drawing/2014/main" id="{776C2B24-8B11-30C7-E852-33B5CE9964D9}"/>
              </a:ext>
            </a:extLst>
          </p:cNvPr>
          <p:cNvSpPr txBox="1">
            <a:spLocks/>
          </p:cNvSpPr>
          <p:nvPr/>
        </p:nvSpPr>
        <p:spPr>
          <a:xfrm>
            <a:off x="533400" y="286091"/>
            <a:ext cx="10561116" cy="486159"/>
          </a:xfrm>
          <a:prstGeom prst="rect">
            <a:avLst/>
          </a:prstGeom>
        </p:spPr>
        <p:txBody>
          <a:bodyPr/>
          <a:lstStyle>
            <a:lvl1pPr>
              <a:defRPr>
                <a:latin typeface="+mj-lt"/>
                <a:ea typeface="+mj-ea"/>
                <a:cs typeface="+mj-cs"/>
              </a:defRPr>
            </a:lvl1pPr>
          </a:lstStyle>
          <a:p>
            <a:pPr>
              <a:lnSpc>
                <a:spcPct val="150000"/>
              </a:lnSpc>
              <a:spcAft>
                <a:spcPts val="800"/>
              </a:spcAft>
            </a:pPr>
            <a:r>
              <a:rPr lang="en-US" sz="2400" b="1" dirty="0">
                <a:solidFill>
                  <a:schemeClr val="bg1"/>
                </a:solidFill>
                <a:latin typeface="Georgia" panose="02040502050405020303" pitchFamily="18" charset="0"/>
              </a:rPr>
              <a:t>Warehouse infrastructure</a:t>
            </a:r>
          </a:p>
          <a:p>
            <a:pPr>
              <a:lnSpc>
                <a:spcPct val="150000"/>
              </a:lnSpc>
              <a:spcAft>
                <a:spcPts val="800"/>
              </a:spcAft>
            </a:pPr>
            <a:endParaRPr lang="en-US" sz="2400" b="1" dirty="0">
              <a:solidFill>
                <a:schemeClr val="bg1"/>
              </a:solidFill>
              <a:latin typeface="Georgia" panose="02040502050405020303" pitchFamily="18" charset="0"/>
            </a:endParaRPr>
          </a:p>
        </p:txBody>
      </p:sp>
      <p:pic>
        <p:nvPicPr>
          <p:cNvPr id="7" name="Picture 6">
            <a:extLst>
              <a:ext uri="{FF2B5EF4-FFF2-40B4-BE49-F238E27FC236}">
                <a16:creationId xmlns:a16="http://schemas.microsoft.com/office/drawing/2014/main" id="{E2F86C10-DBF7-CDDB-D74B-E4F672F68066}"/>
              </a:ext>
            </a:extLst>
          </p:cNvPr>
          <p:cNvPicPr>
            <a:picLocks noChangeAspect="1"/>
          </p:cNvPicPr>
          <p:nvPr/>
        </p:nvPicPr>
        <p:blipFill>
          <a:blip r:embed="rId2"/>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8216651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CE22F-5A44-4BEC-ED2B-C055A118B03F}"/>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1753FCB7-721E-9B46-B585-45349AE375A5}"/>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44</a:t>
            </a:fld>
            <a:endParaRPr dirty="0">
              <a:latin typeface="Georgia" panose="02040502050405020303" pitchFamily="18" charset="0"/>
            </a:endParaRPr>
          </a:p>
        </p:txBody>
      </p:sp>
      <p:grpSp>
        <p:nvGrpSpPr>
          <p:cNvPr id="3" name="Group 2">
            <a:extLst>
              <a:ext uri="{FF2B5EF4-FFF2-40B4-BE49-F238E27FC236}">
                <a16:creationId xmlns:a16="http://schemas.microsoft.com/office/drawing/2014/main" id="{A17CC763-5C60-EE50-684C-FD941C16C4D6}"/>
              </a:ext>
            </a:extLst>
          </p:cNvPr>
          <p:cNvGrpSpPr/>
          <p:nvPr/>
        </p:nvGrpSpPr>
        <p:grpSpPr>
          <a:xfrm>
            <a:off x="626576" y="1219201"/>
            <a:ext cx="10948374" cy="4341465"/>
            <a:chOff x="644526" y="1480741"/>
            <a:chExt cx="10948374" cy="4554935"/>
          </a:xfrm>
        </p:grpSpPr>
        <p:sp>
          <p:nvSpPr>
            <p:cNvPr id="4" name="Shape 4">
              <a:extLst>
                <a:ext uri="{FF2B5EF4-FFF2-40B4-BE49-F238E27FC236}">
                  <a16:creationId xmlns:a16="http://schemas.microsoft.com/office/drawing/2014/main" id="{92197A79-9F9C-3F83-8EDB-689E98570F99}"/>
                </a:ext>
              </a:extLst>
            </p:cNvPr>
            <p:cNvSpPr/>
            <p:nvPr/>
          </p:nvSpPr>
          <p:spPr>
            <a:xfrm>
              <a:off x="644526" y="1480741"/>
              <a:ext cx="10912475" cy="355600"/>
            </a:xfrm>
            <a:prstGeom prst="rect">
              <a:avLst/>
            </a:prstGeom>
            <a:solidFill>
              <a:srgbClr val="0B6E78"/>
            </a:solidFill>
            <a:ln/>
          </p:spPr>
          <p:txBody>
            <a:bodyPr/>
            <a:lstStyle/>
            <a:p>
              <a:endParaRPr lang="en-IN">
                <a:latin typeface="Georgia" panose="02040502050405020303" pitchFamily="18" charset="0"/>
              </a:endParaRPr>
            </a:p>
          </p:txBody>
        </p:sp>
        <p:sp>
          <p:nvSpPr>
            <p:cNvPr id="6" name="Text 5">
              <a:extLst>
                <a:ext uri="{FF2B5EF4-FFF2-40B4-BE49-F238E27FC236}">
                  <a16:creationId xmlns:a16="http://schemas.microsoft.com/office/drawing/2014/main" id="{F90D677A-E354-7CA9-15FD-020C4FA52111}"/>
                </a:ext>
              </a:extLst>
            </p:cNvPr>
            <p:cNvSpPr/>
            <p:nvPr/>
          </p:nvSpPr>
          <p:spPr>
            <a:xfrm>
              <a:off x="746125" y="1569641"/>
              <a:ext cx="3168735" cy="203200"/>
            </a:xfrm>
            <a:prstGeom prst="rect">
              <a:avLst/>
            </a:prstGeom>
            <a:noFill/>
            <a:ln/>
          </p:spPr>
          <p:txBody>
            <a:bodyPr wrap="square" lIns="16933" tIns="16933" rIns="16933" bIns="16933" rtlCol="0" anchor="ctr">
              <a:normAutofit fontScale="92500" lnSpcReduction="10000"/>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Cluster</a:t>
              </a:r>
              <a:endParaRPr lang="en-US" sz="1200" dirty="0">
                <a:latin typeface="Georgia" panose="02040502050405020303" pitchFamily="18" charset="0"/>
              </a:endParaRPr>
            </a:p>
          </p:txBody>
        </p:sp>
        <p:sp>
          <p:nvSpPr>
            <p:cNvPr id="8" name="Text 6">
              <a:extLst>
                <a:ext uri="{FF2B5EF4-FFF2-40B4-BE49-F238E27FC236}">
                  <a16:creationId xmlns:a16="http://schemas.microsoft.com/office/drawing/2014/main" id="{2A5FFC8A-75E7-3079-4EB9-A040CA3633BD}"/>
                </a:ext>
              </a:extLst>
            </p:cNvPr>
            <p:cNvSpPr/>
            <p:nvPr/>
          </p:nvSpPr>
          <p:spPr>
            <a:xfrm>
              <a:off x="4019848" y="1569641"/>
              <a:ext cx="1157089" cy="203200"/>
            </a:xfrm>
            <a:prstGeom prst="rect">
              <a:avLst/>
            </a:prstGeom>
            <a:noFill/>
            <a:ln/>
          </p:spPr>
          <p:txBody>
            <a:bodyPr wrap="square" lIns="16933" tIns="16933" rIns="16933" bIns="16933" rtlCol="0" anchor="ctr">
              <a:normAutofit fontScale="92500" lnSpcReduction="10000"/>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Volume (MT)</a:t>
              </a:r>
              <a:endParaRPr lang="en-US" sz="1200" dirty="0">
                <a:latin typeface="Georgia" panose="02040502050405020303" pitchFamily="18" charset="0"/>
              </a:endParaRPr>
            </a:p>
          </p:txBody>
        </p:sp>
        <p:sp>
          <p:nvSpPr>
            <p:cNvPr id="9" name="Text 7">
              <a:extLst>
                <a:ext uri="{FF2B5EF4-FFF2-40B4-BE49-F238E27FC236}">
                  <a16:creationId xmlns:a16="http://schemas.microsoft.com/office/drawing/2014/main" id="{185DD342-25A9-71C7-DFD7-853C75D87EDF}"/>
                </a:ext>
              </a:extLst>
            </p:cNvPr>
            <p:cNvSpPr/>
            <p:nvPr/>
          </p:nvSpPr>
          <p:spPr>
            <a:xfrm>
              <a:off x="5329337" y="1569641"/>
              <a:ext cx="1595131" cy="203200"/>
            </a:xfrm>
            <a:prstGeom prst="rect">
              <a:avLst/>
            </a:prstGeom>
            <a:noFill/>
            <a:ln/>
          </p:spPr>
          <p:txBody>
            <a:bodyPr wrap="square" lIns="16933" tIns="16933" rIns="16933" bIns="16933" rtlCol="0" anchor="ctr">
              <a:normAutofit fontScale="92500" lnSpcReduction="10000"/>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Value FY 23-24 (₹)</a:t>
              </a:r>
              <a:endParaRPr lang="en-US" sz="1200" dirty="0">
                <a:latin typeface="Georgia" panose="02040502050405020303" pitchFamily="18" charset="0"/>
              </a:endParaRPr>
            </a:p>
          </p:txBody>
        </p:sp>
        <p:sp>
          <p:nvSpPr>
            <p:cNvPr id="10" name="Text 8">
              <a:extLst>
                <a:ext uri="{FF2B5EF4-FFF2-40B4-BE49-F238E27FC236}">
                  <a16:creationId xmlns:a16="http://schemas.microsoft.com/office/drawing/2014/main" id="{A2F84909-DD55-0CDB-8D4D-8A2B8E655547}"/>
                </a:ext>
              </a:extLst>
            </p:cNvPr>
            <p:cNvSpPr/>
            <p:nvPr/>
          </p:nvSpPr>
          <p:spPr>
            <a:xfrm>
              <a:off x="7075290" y="1569641"/>
              <a:ext cx="4517610" cy="203200"/>
            </a:xfrm>
            <a:prstGeom prst="rect">
              <a:avLst/>
            </a:prstGeom>
            <a:noFill/>
            <a:ln/>
          </p:spPr>
          <p:txBody>
            <a:bodyPr wrap="square" lIns="16933" tIns="16933" rIns="16933" bIns="16933" rtlCol="0" anchor="ctr">
              <a:normAutofit fontScale="92500" lnSpcReduction="10000"/>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Major crops</a:t>
              </a:r>
              <a:endParaRPr lang="en-US" sz="1200" dirty="0">
                <a:latin typeface="Georgia" panose="02040502050405020303" pitchFamily="18" charset="0"/>
              </a:endParaRPr>
            </a:p>
          </p:txBody>
        </p:sp>
        <p:sp>
          <p:nvSpPr>
            <p:cNvPr id="11" name="Shape 9">
              <a:extLst>
                <a:ext uri="{FF2B5EF4-FFF2-40B4-BE49-F238E27FC236}">
                  <a16:creationId xmlns:a16="http://schemas.microsoft.com/office/drawing/2014/main" id="{D0025CC3-C07E-8896-E83D-168E113880E7}"/>
                </a:ext>
              </a:extLst>
            </p:cNvPr>
            <p:cNvSpPr/>
            <p:nvPr/>
          </p:nvSpPr>
          <p:spPr>
            <a:xfrm>
              <a:off x="644526" y="2426692"/>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12" name="Shape 10">
              <a:extLst>
                <a:ext uri="{FF2B5EF4-FFF2-40B4-BE49-F238E27FC236}">
                  <a16:creationId xmlns:a16="http://schemas.microsoft.com/office/drawing/2014/main" id="{73B38C12-FF4D-38B4-5197-87E9C5B5C5AF}"/>
                </a:ext>
              </a:extLst>
            </p:cNvPr>
            <p:cNvSpPr/>
            <p:nvPr/>
          </p:nvSpPr>
          <p:spPr>
            <a:xfrm>
              <a:off x="644526" y="1836341"/>
              <a:ext cx="19050" cy="596701"/>
            </a:xfrm>
            <a:prstGeom prst="rect">
              <a:avLst/>
            </a:prstGeom>
            <a:solidFill>
              <a:srgbClr val="0E8B96"/>
            </a:solidFill>
            <a:ln/>
          </p:spPr>
          <p:txBody>
            <a:bodyPr/>
            <a:lstStyle/>
            <a:p>
              <a:endParaRPr lang="en-IN">
                <a:latin typeface="Georgia" panose="02040502050405020303" pitchFamily="18" charset="0"/>
              </a:endParaRPr>
            </a:p>
          </p:txBody>
        </p:sp>
        <p:sp>
          <p:nvSpPr>
            <p:cNvPr id="13" name="Text 11">
              <a:extLst>
                <a:ext uri="{FF2B5EF4-FFF2-40B4-BE49-F238E27FC236}">
                  <a16:creationId xmlns:a16="http://schemas.microsoft.com/office/drawing/2014/main" id="{98FAD6B5-F808-172E-36D3-B55750DEF1A8}"/>
                </a:ext>
              </a:extLst>
            </p:cNvPr>
            <p:cNvSpPr/>
            <p:nvPr/>
          </p:nvSpPr>
          <p:spPr>
            <a:xfrm>
              <a:off x="755651" y="1912541"/>
              <a:ext cx="3152827"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North Karnataka</a:t>
              </a:r>
              <a:endParaRPr lang="en-US" sz="1200" dirty="0">
                <a:latin typeface="Georgia" panose="02040502050405020303" pitchFamily="18" charset="0"/>
              </a:endParaRPr>
            </a:p>
          </p:txBody>
        </p:sp>
        <p:sp>
          <p:nvSpPr>
            <p:cNvPr id="14" name="Text 12">
              <a:extLst>
                <a:ext uri="{FF2B5EF4-FFF2-40B4-BE49-F238E27FC236}">
                  <a16:creationId xmlns:a16="http://schemas.microsoft.com/office/drawing/2014/main" id="{8A050152-C5A6-688D-B19C-91E837EE0F51}"/>
                </a:ext>
              </a:extLst>
            </p:cNvPr>
            <p:cNvSpPr/>
            <p:nvPr/>
          </p:nvSpPr>
          <p:spPr>
            <a:xfrm>
              <a:off x="755651" y="2124572"/>
              <a:ext cx="3152827"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Onion · Grape · Raisin · Pomegranate</a:t>
              </a:r>
              <a:endParaRPr lang="en-US" sz="1000" dirty="0">
                <a:latin typeface="Georgia" panose="02040502050405020303" pitchFamily="18" charset="0"/>
              </a:endParaRPr>
            </a:p>
          </p:txBody>
        </p:sp>
        <p:sp>
          <p:nvSpPr>
            <p:cNvPr id="15" name="Text 13">
              <a:extLst>
                <a:ext uri="{FF2B5EF4-FFF2-40B4-BE49-F238E27FC236}">
                  <a16:creationId xmlns:a16="http://schemas.microsoft.com/office/drawing/2014/main" id="{7F0C31D3-99A5-54B3-B173-4EC26FAE59B2}"/>
                </a:ext>
              </a:extLst>
            </p:cNvPr>
            <p:cNvSpPr/>
            <p:nvPr/>
          </p:nvSpPr>
          <p:spPr>
            <a:xfrm>
              <a:off x="3969048" y="1912541"/>
              <a:ext cx="1157089" cy="469701"/>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1,553</a:t>
              </a:r>
              <a:endParaRPr lang="en-US" sz="1200" dirty="0">
                <a:latin typeface="Georgia" panose="02040502050405020303" pitchFamily="18" charset="0"/>
              </a:endParaRPr>
            </a:p>
          </p:txBody>
        </p:sp>
        <p:sp>
          <p:nvSpPr>
            <p:cNvPr id="16" name="Text 14">
              <a:extLst>
                <a:ext uri="{FF2B5EF4-FFF2-40B4-BE49-F238E27FC236}">
                  <a16:creationId xmlns:a16="http://schemas.microsoft.com/office/drawing/2014/main" id="{A1897372-D78A-D956-3F1B-248612993BDE}"/>
                </a:ext>
              </a:extLst>
            </p:cNvPr>
            <p:cNvSpPr/>
            <p:nvPr/>
          </p:nvSpPr>
          <p:spPr>
            <a:xfrm>
              <a:off x="5276958" y="1912541"/>
              <a:ext cx="1595131" cy="469701"/>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24,60,25,000</a:t>
              </a:r>
              <a:endParaRPr lang="en-US" sz="1200" dirty="0">
                <a:latin typeface="Georgia" panose="02040502050405020303" pitchFamily="18" charset="0"/>
              </a:endParaRPr>
            </a:p>
          </p:txBody>
        </p:sp>
        <p:sp>
          <p:nvSpPr>
            <p:cNvPr id="17" name="Text 15">
              <a:extLst>
                <a:ext uri="{FF2B5EF4-FFF2-40B4-BE49-F238E27FC236}">
                  <a16:creationId xmlns:a16="http://schemas.microsoft.com/office/drawing/2014/main" id="{16069886-3D13-2BEC-6E5F-7A7853A240BF}"/>
                </a:ext>
              </a:extLst>
            </p:cNvPr>
            <p:cNvSpPr/>
            <p:nvPr/>
          </p:nvSpPr>
          <p:spPr>
            <a:xfrm>
              <a:off x="7075290" y="1912541"/>
              <a:ext cx="4517610" cy="469701"/>
            </a:xfrm>
            <a:prstGeom prst="rect">
              <a:avLst/>
            </a:prstGeom>
            <a:noFill/>
            <a:ln/>
          </p:spPr>
          <p:txBody>
            <a:bodyPr wrap="square" lIns="16933" tIns="16933" rIns="16933" bIns="16933" rtlCol="0" anchor="ctr">
              <a:no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Dry chilli, Lemon, Onion, Groundnut oil, Sunflower oil, Safflower oil, Maize, Turmeric</a:t>
              </a:r>
              <a:endParaRPr lang="en-US" sz="1200" dirty="0">
                <a:latin typeface="Georgia" panose="02040502050405020303" pitchFamily="18" charset="0"/>
              </a:endParaRPr>
            </a:p>
          </p:txBody>
        </p:sp>
        <p:sp>
          <p:nvSpPr>
            <p:cNvPr id="18" name="Shape 16">
              <a:extLst>
                <a:ext uri="{FF2B5EF4-FFF2-40B4-BE49-F238E27FC236}">
                  <a16:creationId xmlns:a16="http://schemas.microsoft.com/office/drawing/2014/main" id="{418B3895-D75F-EA13-F2AE-6718921DD60D}"/>
                </a:ext>
              </a:extLst>
            </p:cNvPr>
            <p:cNvSpPr/>
            <p:nvPr/>
          </p:nvSpPr>
          <p:spPr>
            <a:xfrm>
              <a:off x="644526" y="2433042"/>
              <a:ext cx="10912475" cy="600373"/>
            </a:xfrm>
            <a:prstGeom prst="rect">
              <a:avLst/>
            </a:prstGeom>
            <a:solidFill>
              <a:srgbClr val="EFE8D8"/>
            </a:solidFill>
            <a:ln/>
          </p:spPr>
          <p:txBody>
            <a:bodyPr/>
            <a:lstStyle/>
            <a:p>
              <a:endParaRPr lang="en-IN">
                <a:latin typeface="Georgia" panose="02040502050405020303" pitchFamily="18" charset="0"/>
              </a:endParaRPr>
            </a:p>
          </p:txBody>
        </p:sp>
        <p:sp>
          <p:nvSpPr>
            <p:cNvPr id="19" name="Shape 17">
              <a:extLst>
                <a:ext uri="{FF2B5EF4-FFF2-40B4-BE49-F238E27FC236}">
                  <a16:creationId xmlns:a16="http://schemas.microsoft.com/office/drawing/2014/main" id="{EA3077BF-40E0-30D5-A88B-66C54E813930}"/>
                </a:ext>
              </a:extLst>
            </p:cNvPr>
            <p:cNvSpPr/>
            <p:nvPr/>
          </p:nvSpPr>
          <p:spPr>
            <a:xfrm>
              <a:off x="644526" y="3027065"/>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20" name="Shape 18">
              <a:extLst>
                <a:ext uri="{FF2B5EF4-FFF2-40B4-BE49-F238E27FC236}">
                  <a16:creationId xmlns:a16="http://schemas.microsoft.com/office/drawing/2014/main" id="{722C1BFD-8989-6790-E117-B5E584CA9125}"/>
                </a:ext>
              </a:extLst>
            </p:cNvPr>
            <p:cNvSpPr/>
            <p:nvPr/>
          </p:nvSpPr>
          <p:spPr>
            <a:xfrm>
              <a:off x="644526" y="2433042"/>
              <a:ext cx="19050" cy="600373"/>
            </a:xfrm>
            <a:prstGeom prst="rect">
              <a:avLst/>
            </a:prstGeom>
            <a:solidFill>
              <a:srgbClr val="0E8B96"/>
            </a:solidFill>
            <a:ln/>
          </p:spPr>
          <p:txBody>
            <a:bodyPr/>
            <a:lstStyle/>
            <a:p>
              <a:endParaRPr lang="en-IN">
                <a:latin typeface="Georgia" panose="02040502050405020303" pitchFamily="18" charset="0"/>
              </a:endParaRPr>
            </a:p>
          </p:txBody>
        </p:sp>
        <p:sp>
          <p:nvSpPr>
            <p:cNvPr id="21" name="Text 19">
              <a:extLst>
                <a:ext uri="{FF2B5EF4-FFF2-40B4-BE49-F238E27FC236}">
                  <a16:creationId xmlns:a16="http://schemas.microsoft.com/office/drawing/2014/main" id="{88D462E8-5512-0E63-6171-8595CF06F25C}"/>
                </a:ext>
              </a:extLst>
            </p:cNvPr>
            <p:cNvSpPr/>
            <p:nvPr/>
          </p:nvSpPr>
          <p:spPr>
            <a:xfrm>
              <a:off x="755651" y="2512418"/>
              <a:ext cx="3152827"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Central Karnataka</a:t>
              </a:r>
              <a:endParaRPr lang="en-US" sz="1200" dirty="0">
                <a:latin typeface="Georgia" panose="02040502050405020303" pitchFamily="18" charset="0"/>
              </a:endParaRPr>
            </a:p>
          </p:txBody>
        </p:sp>
        <p:sp>
          <p:nvSpPr>
            <p:cNvPr id="22" name="Text 20">
              <a:extLst>
                <a:ext uri="{FF2B5EF4-FFF2-40B4-BE49-F238E27FC236}">
                  <a16:creationId xmlns:a16="http://schemas.microsoft.com/office/drawing/2014/main" id="{54811E65-8971-E991-78B7-68ED62F9C25F}"/>
                </a:ext>
              </a:extLst>
            </p:cNvPr>
            <p:cNvSpPr/>
            <p:nvPr/>
          </p:nvSpPr>
          <p:spPr>
            <a:xfrm>
              <a:off x="755651" y="2724448"/>
              <a:ext cx="3152827"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Onion · Pomegranate</a:t>
              </a:r>
              <a:endParaRPr lang="en-US" sz="1000" dirty="0">
                <a:latin typeface="Georgia" panose="02040502050405020303" pitchFamily="18" charset="0"/>
              </a:endParaRPr>
            </a:p>
          </p:txBody>
        </p:sp>
        <p:sp>
          <p:nvSpPr>
            <p:cNvPr id="44" name="Text 21">
              <a:extLst>
                <a:ext uri="{FF2B5EF4-FFF2-40B4-BE49-F238E27FC236}">
                  <a16:creationId xmlns:a16="http://schemas.microsoft.com/office/drawing/2014/main" id="{BAE50A99-9259-00D4-801B-07FA1EDC0170}"/>
                </a:ext>
              </a:extLst>
            </p:cNvPr>
            <p:cNvSpPr/>
            <p:nvPr/>
          </p:nvSpPr>
          <p:spPr>
            <a:xfrm>
              <a:off x="3969048" y="2509242"/>
              <a:ext cx="1157089"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216</a:t>
              </a:r>
              <a:endParaRPr lang="en-US" sz="1200" dirty="0">
                <a:latin typeface="Georgia" panose="02040502050405020303" pitchFamily="18" charset="0"/>
              </a:endParaRPr>
            </a:p>
          </p:txBody>
        </p:sp>
        <p:sp>
          <p:nvSpPr>
            <p:cNvPr id="45" name="Text 22">
              <a:extLst>
                <a:ext uri="{FF2B5EF4-FFF2-40B4-BE49-F238E27FC236}">
                  <a16:creationId xmlns:a16="http://schemas.microsoft.com/office/drawing/2014/main" id="{F81DE3A3-7512-4453-8520-770E40F0E548}"/>
                </a:ext>
              </a:extLst>
            </p:cNvPr>
            <p:cNvSpPr/>
            <p:nvPr/>
          </p:nvSpPr>
          <p:spPr>
            <a:xfrm>
              <a:off x="5276958" y="2509242"/>
              <a:ext cx="1595131"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48,10,000</a:t>
              </a:r>
              <a:endParaRPr lang="en-US" sz="1200" dirty="0">
                <a:latin typeface="Georgia" panose="02040502050405020303" pitchFamily="18" charset="0"/>
              </a:endParaRPr>
            </a:p>
          </p:txBody>
        </p:sp>
        <p:sp>
          <p:nvSpPr>
            <p:cNvPr id="46" name="Text 23">
              <a:extLst>
                <a:ext uri="{FF2B5EF4-FFF2-40B4-BE49-F238E27FC236}">
                  <a16:creationId xmlns:a16="http://schemas.microsoft.com/office/drawing/2014/main" id="{2D9546B9-B932-469C-1594-26E79AE6EEA8}"/>
                </a:ext>
              </a:extLst>
            </p:cNvPr>
            <p:cNvSpPr/>
            <p:nvPr/>
          </p:nvSpPr>
          <p:spPr>
            <a:xfrm>
              <a:off x="7075290" y="2509242"/>
              <a:ext cx="4517610" cy="473373"/>
            </a:xfrm>
            <a:prstGeom prst="rect">
              <a:avLst/>
            </a:prstGeom>
            <a:noFill/>
            <a:ln/>
          </p:spPr>
          <p:txBody>
            <a:bodyPr wrap="square" lIns="16933" tIns="16933" rIns="16933" bIns="16933" rtlCol="0" anchor="ctr">
              <a:norm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Coconut, Maize</a:t>
              </a:r>
              <a:endParaRPr lang="en-US" sz="1200" dirty="0">
                <a:latin typeface="Georgia" panose="02040502050405020303" pitchFamily="18" charset="0"/>
              </a:endParaRPr>
            </a:p>
          </p:txBody>
        </p:sp>
        <p:sp>
          <p:nvSpPr>
            <p:cNvPr id="47" name="Shape 24">
              <a:extLst>
                <a:ext uri="{FF2B5EF4-FFF2-40B4-BE49-F238E27FC236}">
                  <a16:creationId xmlns:a16="http://schemas.microsoft.com/office/drawing/2014/main" id="{69F55375-487F-DE0D-6BEE-37B6B551D70B}"/>
                </a:ext>
              </a:extLst>
            </p:cNvPr>
            <p:cNvSpPr/>
            <p:nvPr/>
          </p:nvSpPr>
          <p:spPr>
            <a:xfrm>
              <a:off x="644526" y="3627438"/>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48" name="Shape 25">
              <a:extLst>
                <a:ext uri="{FF2B5EF4-FFF2-40B4-BE49-F238E27FC236}">
                  <a16:creationId xmlns:a16="http://schemas.microsoft.com/office/drawing/2014/main" id="{D841C20B-5DF8-845C-BED6-BE79F66BA2E2}"/>
                </a:ext>
              </a:extLst>
            </p:cNvPr>
            <p:cNvSpPr/>
            <p:nvPr/>
          </p:nvSpPr>
          <p:spPr>
            <a:xfrm>
              <a:off x="644526" y="3033415"/>
              <a:ext cx="19050" cy="600373"/>
            </a:xfrm>
            <a:prstGeom prst="rect">
              <a:avLst/>
            </a:prstGeom>
            <a:solidFill>
              <a:srgbClr val="0E8B96"/>
            </a:solidFill>
            <a:ln/>
          </p:spPr>
          <p:txBody>
            <a:bodyPr/>
            <a:lstStyle/>
            <a:p>
              <a:endParaRPr lang="en-IN">
                <a:latin typeface="Georgia" panose="02040502050405020303" pitchFamily="18" charset="0"/>
              </a:endParaRPr>
            </a:p>
          </p:txBody>
        </p:sp>
        <p:sp>
          <p:nvSpPr>
            <p:cNvPr id="49" name="Text 26">
              <a:extLst>
                <a:ext uri="{FF2B5EF4-FFF2-40B4-BE49-F238E27FC236}">
                  <a16:creationId xmlns:a16="http://schemas.microsoft.com/office/drawing/2014/main" id="{B175CC56-2B6E-F09E-A69D-6110912A310D}"/>
                </a:ext>
              </a:extLst>
            </p:cNvPr>
            <p:cNvSpPr/>
            <p:nvPr/>
          </p:nvSpPr>
          <p:spPr>
            <a:xfrm>
              <a:off x="755651" y="3112790"/>
              <a:ext cx="3152827"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Kalyana Karnataka</a:t>
              </a:r>
              <a:endParaRPr lang="en-US" sz="1200" dirty="0">
                <a:latin typeface="Georgia" panose="02040502050405020303" pitchFamily="18" charset="0"/>
              </a:endParaRPr>
            </a:p>
          </p:txBody>
        </p:sp>
        <p:sp>
          <p:nvSpPr>
            <p:cNvPr id="50" name="Text 27">
              <a:extLst>
                <a:ext uri="{FF2B5EF4-FFF2-40B4-BE49-F238E27FC236}">
                  <a16:creationId xmlns:a16="http://schemas.microsoft.com/office/drawing/2014/main" id="{6B7CD407-55B7-59A2-1FF0-77F2EDCA57CB}"/>
                </a:ext>
              </a:extLst>
            </p:cNvPr>
            <p:cNvSpPr/>
            <p:nvPr/>
          </p:nvSpPr>
          <p:spPr>
            <a:xfrm>
              <a:off x="755651" y="3324820"/>
              <a:ext cx="3152827"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Onion · Tomato</a:t>
              </a:r>
              <a:endParaRPr lang="en-US" sz="1000" dirty="0">
                <a:latin typeface="Georgia" panose="02040502050405020303" pitchFamily="18" charset="0"/>
              </a:endParaRPr>
            </a:p>
          </p:txBody>
        </p:sp>
        <p:sp>
          <p:nvSpPr>
            <p:cNvPr id="51" name="Text 28">
              <a:extLst>
                <a:ext uri="{FF2B5EF4-FFF2-40B4-BE49-F238E27FC236}">
                  <a16:creationId xmlns:a16="http://schemas.microsoft.com/office/drawing/2014/main" id="{AB150442-525F-F472-151C-BD53CD326D62}"/>
                </a:ext>
              </a:extLst>
            </p:cNvPr>
            <p:cNvSpPr/>
            <p:nvPr/>
          </p:nvSpPr>
          <p:spPr>
            <a:xfrm>
              <a:off x="3969048" y="3109615"/>
              <a:ext cx="1157089"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1,242</a:t>
              </a:r>
              <a:endParaRPr lang="en-US" sz="1200" dirty="0">
                <a:latin typeface="Georgia" panose="02040502050405020303" pitchFamily="18" charset="0"/>
              </a:endParaRPr>
            </a:p>
          </p:txBody>
        </p:sp>
        <p:sp>
          <p:nvSpPr>
            <p:cNvPr id="52" name="Text 29">
              <a:extLst>
                <a:ext uri="{FF2B5EF4-FFF2-40B4-BE49-F238E27FC236}">
                  <a16:creationId xmlns:a16="http://schemas.microsoft.com/office/drawing/2014/main" id="{4DD147DE-BCCE-8CF5-B5CC-3E3BF277DC8F}"/>
                </a:ext>
              </a:extLst>
            </p:cNvPr>
            <p:cNvSpPr/>
            <p:nvPr/>
          </p:nvSpPr>
          <p:spPr>
            <a:xfrm>
              <a:off x="5276958" y="3109615"/>
              <a:ext cx="1595131"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rPr>
                <a:t>1,23,28,688</a:t>
              </a:r>
              <a:endParaRPr lang="en-US" sz="1200" dirty="0">
                <a:latin typeface="Georgia" panose="02040502050405020303" pitchFamily="18" charset="0"/>
              </a:endParaRPr>
            </a:p>
          </p:txBody>
        </p:sp>
        <p:sp>
          <p:nvSpPr>
            <p:cNvPr id="53" name="Text 30">
              <a:extLst>
                <a:ext uri="{FF2B5EF4-FFF2-40B4-BE49-F238E27FC236}">
                  <a16:creationId xmlns:a16="http://schemas.microsoft.com/office/drawing/2014/main" id="{691483BF-736A-6F65-6E33-842102FD73B1}"/>
                </a:ext>
              </a:extLst>
            </p:cNvPr>
            <p:cNvSpPr/>
            <p:nvPr/>
          </p:nvSpPr>
          <p:spPr>
            <a:xfrm>
              <a:off x="7075290" y="3109615"/>
              <a:ext cx="4517610" cy="473373"/>
            </a:xfrm>
            <a:prstGeom prst="rect">
              <a:avLst/>
            </a:prstGeom>
            <a:noFill/>
            <a:ln/>
          </p:spPr>
          <p:txBody>
            <a:bodyPr wrap="square" lIns="16933" tIns="16933" rIns="16933" bIns="16933" rtlCol="0" anchor="ctr">
              <a:no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Watermelon, Ginger, Tomato, Cabbage, Pulses, Tur dal, Red gram, Chilli, Onion</a:t>
              </a:r>
              <a:endParaRPr lang="en-US" sz="1200" dirty="0">
                <a:latin typeface="Georgia" panose="02040502050405020303" pitchFamily="18" charset="0"/>
              </a:endParaRPr>
            </a:p>
          </p:txBody>
        </p:sp>
        <p:sp>
          <p:nvSpPr>
            <p:cNvPr id="54" name="Shape 31">
              <a:extLst>
                <a:ext uri="{FF2B5EF4-FFF2-40B4-BE49-F238E27FC236}">
                  <a16:creationId xmlns:a16="http://schemas.microsoft.com/office/drawing/2014/main" id="{347542A0-4606-9AFD-5DF1-9118C55F724E}"/>
                </a:ext>
              </a:extLst>
            </p:cNvPr>
            <p:cNvSpPr/>
            <p:nvPr/>
          </p:nvSpPr>
          <p:spPr>
            <a:xfrm>
              <a:off x="644526" y="3633788"/>
              <a:ext cx="10912475" cy="600373"/>
            </a:xfrm>
            <a:prstGeom prst="rect">
              <a:avLst/>
            </a:prstGeom>
            <a:solidFill>
              <a:srgbClr val="EFE8D8"/>
            </a:solidFill>
            <a:ln/>
          </p:spPr>
          <p:txBody>
            <a:bodyPr/>
            <a:lstStyle/>
            <a:p>
              <a:endParaRPr lang="en-IN">
                <a:latin typeface="Georgia" panose="02040502050405020303" pitchFamily="18" charset="0"/>
              </a:endParaRPr>
            </a:p>
          </p:txBody>
        </p:sp>
        <p:sp>
          <p:nvSpPr>
            <p:cNvPr id="55" name="Shape 32">
              <a:extLst>
                <a:ext uri="{FF2B5EF4-FFF2-40B4-BE49-F238E27FC236}">
                  <a16:creationId xmlns:a16="http://schemas.microsoft.com/office/drawing/2014/main" id="{87858B7B-AF13-B3D4-497E-1548220A7633}"/>
                </a:ext>
              </a:extLst>
            </p:cNvPr>
            <p:cNvSpPr/>
            <p:nvPr/>
          </p:nvSpPr>
          <p:spPr>
            <a:xfrm>
              <a:off x="644526" y="4227810"/>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56" name="Shape 33">
              <a:extLst>
                <a:ext uri="{FF2B5EF4-FFF2-40B4-BE49-F238E27FC236}">
                  <a16:creationId xmlns:a16="http://schemas.microsoft.com/office/drawing/2014/main" id="{3473B95E-B97F-812D-0C88-97A442E06AAE}"/>
                </a:ext>
              </a:extLst>
            </p:cNvPr>
            <p:cNvSpPr/>
            <p:nvPr/>
          </p:nvSpPr>
          <p:spPr>
            <a:xfrm>
              <a:off x="644526" y="3633788"/>
              <a:ext cx="19050" cy="600373"/>
            </a:xfrm>
            <a:prstGeom prst="rect">
              <a:avLst/>
            </a:prstGeom>
            <a:solidFill>
              <a:srgbClr val="0E8B96"/>
            </a:solidFill>
            <a:ln/>
          </p:spPr>
          <p:txBody>
            <a:bodyPr/>
            <a:lstStyle/>
            <a:p>
              <a:endParaRPr lang="en-IN">
                <a:latin typeface="Georgia" panose="02040502050405020303" pitchFamily="18" charset="0"/>
              </a:endParaRPr>
            </a:p>
          </p:txBody>
        </p:sp>
        <p:sp>
          <p:nvSpPr>
            <p:cNvPr id="57" name="Text 34">
              <a:extLst>
                <a:ext uri="{FF2B5EF4-FFF2-40B4-BE49-F238E27FC236}">
                  <a16:creationId xmlns:a16="http://schemas.microsoft.com/office/drawing/2014/main" id="{498D736F-106E-A289-9B4B-7E47FB24FC16}"/>
                </a:ext>
              </a:extLst>
            </p:cNvPr>
            <p:cNvSpPr/>
            <p:nvPr/>
          </p:nvSpPr>
          <p:spPr>
            <a:xfrm>
              <a:off x="755651" y="3713163"/>
              <a:ext cx="3152827"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South Karnataka</a:t>
              </a:r>
              <a:endParaRPr lang="en-US" sz="1200" dirty="0">
                <a:latin typeface="Georgia" panose="02040502050405020303" pitchFamily="18" charset="0"/>
              </a:endParaRPr>
            </a:p>
          </p:txBody>
        </p:sp>
        <p:sp>
          <p:nvSpPr>
            <p:cNvPr id="58" name="Text 35">
              <a:extLst>
                <a:ext uri="{FF2B5EF4-FFF2-40B4-BE49-F238E27FC236}">
                  <a16:creationId xmlns:a16="http://schemas.microsoft.com/office/drawing/2014/main" id="{C6A338AD-C5C2-A43D-2BED-3BA53BA308EF}"/>
                </a:ext>
              </a:extLst>
            </p:cNvPr>
            <p:cNvSpPr/>
            <p:nvPr/>
          </p:nvSpPr>
          <p:spPr>
            <a:xfrm>
              <a:off x="755651" y="3925193"/>
              <a:ext cx="3152827"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Banana · Tomato · Mango</a:t>
              </a:r>
              <a:endParaRPr lang="en-US" sz="1000" dirty="0">
                <a:latin typeface="Georgia" panose="02040502050405020303" pitchFamily="18" charset="0"/>
              </a:endParaRPr>
            </a:p>
          </p:txBody>
        </p:sp>
        <p:sp>
          <p:nvSpPr>
            <p:cNvPr id="76" name="Text 36">
              <a:extLst>
                <a:ext uri="{FF2B5EF4-FFF2-40B4-BE49-F238E27FC236}">
                  <a16:creationId xmlns:a16="http://schemas.microsoft.com/office/drawing/2014/main" id="{40477E27-35B4-E0FC-1581-D95394566CB8}"/>
                </a:ext>
              </a:extLst>
            </p:cNvPr>
            <p:cNvSpPr/>
            <p:nvPr/>
          </p:nvSpPr>
          <p:spPr>
            <a:xfrm>
              <a:off x="3969048" y="3709988"/>
              <a:ext cx="1157089"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90</a:t>
              </a:r>
              <a:endParaRPr lang="en-US" sz="1200" dirty="0">
                <a:latin typeface="Georgia" panose="02040502050405020303" pitchFamily="18" charset="0"/>
              </a:endParaRPr>
            </a:p>
          </p:txBody>
        </p:sp>
        <p:sp>
          <p:nvSpPr>
            <p:cNvPr id="77" name="Text 37">
              <a:extLst>
                <a:ext uri="{FF2B5EF4-FFF2-40B4-BE49-F238E27FC236}">
                  <a16:creationId xmlns:a16="http://schemas.microsoft.com/office/drawing/2014/main" id="{6871B5B9-F663-D9CE-B5D8-2ECEC5852B89}"/>
                </a:ext>
              </a:extLst>
            </p:cNvPr>
            <p:cNvSpPr/>
            <p:nvPr/>
          </p:nvSpPr>
          <p:spPr>
            <a:xfrm>
              <a:off x="5276958" y="3709988"/>
              <a:ext cx="1595131"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1,20,47,000</a:t>
              </a:r>
              <a:endParaRPr lang="en-US" sz="1200" dirty="0">
                <a:latin typeface="Georgia" panose="02040502050405020303" pitchFamily="18" charset="0"/>
              </a:endParaRPr>
            </a:p>
          </p:txBody>
        </p:sp>
        <p:sp>
          <p:nvSpPr>
            <p:cNvPr id="78" name="Text 38">
              <a:extLst>
                <a:ext uri="{FF2B5EF4-FFF2-40B4-BE49-F238E27FC236}">
                  <a16:creationId xmlns:a16="http://schemas.microsoft.com/office/drawing/2014/main" id="{B5569482-AE7B-272F-90EC-034970778364}"/>
                </a:ext>
              </a:extLst>
            </p:cNvPr>
            <p:cNvSpPr/>
            <p:nvPr/>
          </p:nvSpPr>
          <p:spPr>
            <a:xfrm>
              <a:off x="7075290" y="3709988"/>
              <a:ext cx="4517610" cy="473373"/>
            </a:xfrm>
            <a:prstGeom prst="rect">
              <a:avLst/>
            </a:prstGeom>
            <a:noFill/>
            <a:ln/>
          </p:spPr>
          <p:txBody>
            <a:bodyPr wrap="square" lIns="16933" tIns="16933" rIns="16933" bIns="16933" rtlCol="0" anchor="ctr">
              <a:norm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Turmeric, Coconut</a:t>
              </a:r>
              <a:endParaRPr lang="en-US" sz="1200" dirty="0">
                <a:latin typeface="Georgia" panose="02040502050405020303" pitchFamily="18" charset="0"/>
              </a:endParaRPr>
            </a:p>
          </p:txBody>
        </p:sp>
        <p:sp>
          <p:nvSpPr>
            <p:cNvPr id="79" name="Shape 39">
              <a:extLst>
                <a:ext uri="{FF2B5EF4-FFF2-40B4-BE49-F238E27FC236}">
                  <a16:creationId xmlns:a16="http://schemas.microsoft.com/office/drawing/2014/main" id="{8CF0A44C-5EF3-0047-7C2A-432175486958}"/>
                </a:ext>
              </a:extLst>
            </p:cNvPr>
            <p:cNvSpPr/>
            <p:nvPr/>
          </p:nvSpPr>
          <p:spPr>
            <a:xfrm>
              <a:off x="644526" y="4828183"/>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80" name="Shape 40">
              <a:extLst>
                <a:ext uri="{FF2B5EF4-FFF2-40B4-BE49-F238E27FC236}">
                  <a16:creationId xmlns:a16="http://schemas.microsoft.com/office/drawing/2014/main" id="{A4CA33EC-0CB6-A526-30B1-3E9454A413F6}"/>
                </a:ext>
              </a:extLst>
            </p:cNvPr>
            <p:cNvSpPr/>
            <p:nvPr/>
          </p:nvSpPr>
          <p:spPr>
            <a:xfrm>
              <a:off x="644526" y="4234160"/>
              <a:ext cx="19050" cy="600373"/>
            </a:xfrm>
            <a:prstGeom prst="rect">
              <a:avLst/>
            </a:prstGeom>
            <a:solidFill>
              <a:srgbClr val="0E8B96"/>
            </a:solidFill>
            <a:ln/>
          </p:spPr>
          <p:txBody>
            <a:bodyPr/>
            <a:lstStyle/>
            <a:p>
              <a:endParaRPr lang="en-IN">
                <a:latin typeface="Georgia" panose="02040502050405020303" pitchFamily="18" charset="0"/>
              </a:endParaRPr>
            </a:p>
          </p:txBody>
        </p:sp>
        <p:sp>
          <p:nvSpPr>
            <p:cNvPr id="81" name="Text 41">
              <a:extLst>
                <a:ext uri="{FF2B5EF4-FFF2-40B4-BE49-F238E27FC236}">
                  <a16:creationId xmlns:a16="http://schemas.microsoft.com/office/drawing/2014/main" id="{0E59D250-53C7-6CB6-B13F-75A9110A6C47}"/>
                </a:ext>
              </a:extLst>
            </p:cNvPr>
            <p:cNvSpPr/>
            <p:nvPr/>
          </p:nvSpPr>
          <p:spPr>
            <a:xfrm>
              <a:off x="755651" y="4313536"/>
              <a:ext cx="3152827"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East Karnataka</a:t>
              </a:r>
              <a:endParaRPr lang="en-US" sz="1200" dirty="0">
                <a:latin typeface="Georgia" panose="02040502050405020303" pitchFamily="18" charset="0"/>
              </a:endParaRPr>
            </a:p>
          </p:txBody>
        </p:sp>
        <p:sp>
          <p:nvSpPr>
            <p:cNvPr id="82" name="Text 42">
              <a:extLst>
                <a:ext uri="{FF2B5EF4-FFF2-40B4-BE49-F238E27FC236}">
                  <a16:creationId xmlns:a16="http://schemas.microsoft.com/office/drawing/2014/main" id="{F07B8C1C-E6D9-5C0D-32C5-6A09453A76DC}"/>
                </a:ext>
              </a:extLst>
            </p:cNvPr>
            <p:cNvSpPr/>
            <p:nvPr/>
          </p:nvSpPr>
          <p:spPr>
            <a:xfrm>
              <a:off x="755651" y="4525566"/>
              <a:ext cx="3152827"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Tomato · Mango processing</a:t>
              </a:r>
              <a:endParaRPr lang="en-US" sz="1000" dirty="0">
                <a:latin typeface="Georgia" panose="02040502050405020303" pitchFamily="18" charset="0"/>
              </a:endParaRPr>
            </a:p>
          </p:txBody>
        </p:sp>
        <p:sp>
          <p:nvSpPr>
            <p:cNvPr id="83" name="Text 43">
              <a:extLst>
                <a:ext uri="{FF2B5EF4-FFF2-40B4-BE49-F238E27FC236}">
                  <a16:creationId xmlns:a16="http://schemas.microsoft.com/office/drawing/2014/main" id="{F17A2F59-75E7-AFD3-75DB-E9A96D0E06A8}"/>
                </a:ext>
              </a:extLst>
            </p:cNvPr>
            <p:cNvSpPr/>
            <p:nvPr/>
          </p:nvSpPr>
          <p:spPr>
            <a:xfrm>
              <a:off x="3969048" y="4310360"/>
              <a:ext cx="1157089"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698</a:t>
              </a:r>
              <a:endParaRPr lang="en-US" sz="1200" dirty="0">
                <a:latin typeface="Georgia" panose="02040502050405020303" pitchFamily="18" charset="0"/>
              </a:endParaRPr>
            </a:p>
          </p:txBody>
        </p:sp>
        <p:sp>
          <p:nvSpPr>
            <p:cNvPr id="84" name="Text 44">
              <a:extLst>
                <a:ext uri="{FF2B5EF4-FFF2-40B4-BE49-F238E27FC236}">
                  <a16:creationId xmlns:a16="http://schemas.microsoft.com/office/drawing/2014/main" id="{F3D4F59E-0D41-2CFE-1D74-1DA84BA918E9}"/>
                </a:ext>
              </a:extLst>
            </p:cNvPr>
            <p:cNvSpPr/>
            <p:nvPr/>
          </p:nvSpPr>
          <p:spPr>
            <a:xfrm>
              <a:off x="5276958" y="4310360"/>
              <a:ext cx="1595131"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1,57,93,000</a:t>
              </a:r>
              <a:endParaRPr lang="en-US" sz="1200" dirty="0">
                <a:latin typeface="Georgia" panose="02040502050405020303" pitchFamily="18" charset="0"/>
              </a:endParaRPr>
            </a:p>
          </p:txBody>
        </p:sp>
        <p:sp>
          <p:nvSpPr>
            <p:cNvPr id="85" name="Text 45">
              <a:extLst>
                <a:ext uri="{FF2B5EF4-FFF2-40B4-BE49-F238E27FC236}">
                  <a16:creationId xmlns:a16="http://schemas.microsoft.com/office/drawing/2014/main" id="{C376591A-4418-FDA3-411B-3860D3E520C9}"/>
                </a:ext>
              </a:extLst>
            </p:cNvPr>
            <p:cNvSpPr/>
            <p:nvPr/>
          </p:nvSpPr>
          <p:spPr>
            <a:xfrm>
              <a:off x="7075290" y="4310360"/>
              <a:ext cx="4517610" cy="473373"/>
            </a:xfrm>
            <a:prstGeom prst="rect">
              <a:avLst/>
            </a:prstGeom>
            <a:noFill/>
            <a:ln/>
          </p:spPr>
          <p:txBody>
            <a:bodyPr wrap="square" lIns="16933" tIns="16933" rIns="16933" bIns="16933" rtlCol="0" anchor="ctr">
              <a:no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Carrot, Beetroot, Brinjal, Cabbage, Ridge gourd, Rose onion, Maize, Pomegranate, Mango</a:t>
              </a:r>
              <a:endParaRPr lang="en-US" sz="1200" dirty="0">
                <a:latin typeface="Georgia" panose="02040502050405020303" pitchFamily="18" charset="0"/>
              </a:endParaRPr>
            </a:p>
          </p:txBody>
        </p:sp>
        <p:sp>
          <p:nvSpPr>
            <p:cNvPr id="86" name="Shape 46">
              <a:extLst>
                <a:ext uri="{FF2B5EF4-FFF2-40B4-BE49-F238E27FC236}">
                  <a16:creationId xmlns:a16="http://schemas.microsoft.com/office/drawing/2014/main" id="{9F800E1F-6AC6-DB1A-0990-59FFC195D6DF}"/>
                </a:ext>
              </a:extLst>
            </p:cNvPr>
            <p:cNvSpPr/>
            <p:nvPr/>
          </p:nvSpPr>
          <p:spPr>
            <a:xfrm>
              <a:off x="644526" y="4834533"/>
              <a:ext cx="10912475" cy="600373"/>
            </a:xfrm>
            <a:prstGeom prst="rect">
              <a:avLst/>
            </a:prstGeom>
            <a:solidFill>
              <a:srgbClr val="EFE8D8"/>
            </a:solidFill>
            <a:ln/>
          </p:spPr>
          <p:txBody>
            <a:bodyPr/>
            <a:lstStyle/>
            <a:p>
              <a:endParaRPr lang="en-IN">
                <a:latin typeface="Georgia" panose="02040502050405020303" pitchFamily="18" charset="0"/>
              </a:endParaRPr>
            </a:p>
          </p:txBody>
        </p:sp>
        <p:sp>
          <p:nvSpPr>
            <p:cNvPr id="87" name="Shape 47">
              <a:extLst>
                <a:ext uri="{FF2B5EF4-FFF2-40B4-BE49-F238E27FC236}">
                  <a16:creationId xmlns:a16="http://schemas.microsoft.com/office/drawing/2014/main" id="{2877A862-8C44-ED31-05E2-4C973859F886}"/>
                </a:ext>
              </a:extLst>
            </p:cNvPr>
            <p:cNvSpPr/>
            <p:nvPr/>
          </p:nvSpPr>
          <p:spPr>
            <a:xfrm>
              <a:off x="644526" y="5428556"/>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88" name="Shape 48">
              <a:extLst>
                <a:ext uri="{FF2B5EF4-FFF2-40B4-BE49-F238E27FC236}">
                  <a16:creationId xmlns:a16="http://schemas.microsoft.com/office/drawing/2014/main" id="{2489BCCB-748C-F192-23AA-CEEADF7D33E2}"/>
                </a:ext>
              </a:extLst>
            </p:cNvPr>
            <p:cNvSpPr/>
            <p:nvPr/>
          </p:nvSpPr>
          <p:spPr>
            <a:xfrm>
              <a:off x="644526" y="4834533"/>
              <a:ext cx="19050" cy="600373"/>
            </a:xfrm>
            <a:prstGeom prst="rect">
              <a:avLst/>
            </a:prstGeom>
            <a:solidFill>
              <a:srgbClr val="0E8B96"/>
            </a:solidFill>
            <a:ln/>
          </p:spPr>
          <p:txBody>
            <a:bodyPr/>
            <a:lstStyle/>
            <a:p>
              <a:endParaRPr lang="en-IN">
                <a:latin typeface="Georgia" panose="02040502050405020303" pitchFamily="18" charset="0"/>
              </a:endParaRPr>
            </a:p>
          </p:txBody>
        </p:sp>
        <p:sp>
          <p:nvSpPr>
            <p:cNvPr id="89" name="Text 49">
              <a:extLst>
                <a:ext uri="{FF2B5EF4-FFF2-40B4-BE49-F238E27FC236}">
                  <a16:creationId xmlns:a16="http://schemas.microsoft.com/office/drawing/2014/main" id="{7516B76A-A412-0370-B19A-67F0740D13CF}"/>
                </a:ext>
              </a:extLst>
            </p:cNvPr>
            <p:cNvSpPr/>
            <p:nvPr/>
          </p:nvSpPr>
          <p:spPr>
            <a:xfrm>
              <a:off x="755651" y="4913908"/>
              <a:ext cx="3152827"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Northwest Karnataka</a:t>
              </a:r>
              <a:endParaRPr lang="en-US" sz="1200" dirty="0">
                <a:latin typeface="Georgia" panose="02040502050405020303" pitchFamily="18" charset="0"/>
              </a:endParaRPr>
            </a:p>
          </p:txBody>
        </p:sp>
        <p:sp>
          <p:nvSpPr>
            <p:cNvPr id="90" name="Text 50">
              <a:extLst>
                <a:ext uri="{FF2B5EF4-FFF2-40B4-BE49-F238E27FC236}">
                  <a16:creationId xmlns:a16="http://schemas.microsoft.com/office/drawing/2014/main" id="{E2B14590-5208-4A30-B2B7-A09CB9EF53F9}"/>
                </a:ext>
              </a:extLst>
            </p:cNvPr>
            <p:cNvSpPr/>
            <p:nvPr/>
          </p:nvSpPr>
          <p:spPr>
            <a:xfrm>
              <a:off x="755651" y="5125938"/>
              <a:ext cx="3152827"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Multi-crop</a:t>
              </a:r>
              <a:endParaRPr lang="en-US" sz="1000" dirty="0">
                <a:latin typeface="Georgia" panose="02040502050405020303" pitchFamily="18" charset="0"/>
              </a:endParaRPr>
            </a:p>
          </p:txBody>
        </p:sp>
        <p:sp>
          <p:nvSpPr>
            <p:cNvPr id="91" name="Text 51">
              <a:extLst>
                <a:ext uri="{FF2B5EF4-FFF2-40B4-BE49-F238E27FC236}">
                  <a16:creationId xmlns:a16="http://schemas.microsoft.com/office/drawing/2014/main" id="{C0E4DC36-B306-75BB-8A7A-E25F4EB48917}"/>
                </a:ext>
              </a:extLst>
            </p:cNvPr>
            <p:cNvSpPr/>
            <p:nvPr/>
          </p:nvSpPr>
          <p:spPr>
            <a:xfrm>
              <a:off x="3969048" y="4910733"/>
              <a:ext cx="1157089"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rPr>
                <a:t>133</a:t>
              </a:r>
              <a:endParaRPr lang="en-US" sz="1200" dirty="0">
                <a:latin typeface="Georgia" panose="02040502050405020303" pitchFamily="18" charset="0"/>
              </a:endParaRPr>
            </a:p>
          </p:txBody>
        </p:sp>
        <p:sp>
          <p:nvSpPr>
            <p:cNvPr id="92" name="Text 52">
              <a:extLst>
                <a:ext uri="{FF2B5EF4-FFF2-40B4-BE49-F238E27FC236}">
                  <a16:creationId xmlns:a16="http://schemas.microsoft.com/office/drawing/2014/main" id="{66843719-3365-3C97-C08C-68D1CFB07F05}"/>
                </a:ext>
              </a:extLst>
            </p:cNvPr>
            <p:cNvSpPr/>
            <p:nvPr/>
          </p:nvSpPr>
          <p:spPr>
            <a:xfrm>
              <a:off x="5276958" y="4910733"/>
              <a:ext cx="1595131" cy="473373"/>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rPr>
                <a:t>33,34,428</a:t>
              </a:r>
              <a:endParaRPr lang="en-US" sz="1200" dirty="0">
                <a:latin typeface="Georgia" panose="02040502050405020303" pitchFamily="18" charset="0"/>
              </a:endParaRPr>
            </a:p>
          </p:txBody>
        </p:sp>
        <p:sp>
          <p:nvSpPr>
            <p:cNvPr id="93" name="Text 53">
              <a:extLst>
                <a:ext uri="{FF2B5EF4-FFF2-40B4-BE49-F238E27FC236}">
                  <a16:creationId xmlns:a16="http://schemas.microsoft.com/office/drawing/2014/main" id="{34A671D8-3127-BC9F-74EA-2D9D453928DF}"/>
                </a:ext>
              </a:extLst>
            </p:cNvPr>
            <p:cNvSpPr/>
            <p:nvPr/>
          </p:nvSpPr>
          <p:spPr>
            <a:xfrm>
              <a:off x="7075290" y="4910733"/>
              <a:ext cx="4517610" cy="473373"/>
            </a:xfrm>
            <a:prstGeom prst="rect">
              <a:avLst/>
            </a:prstGeom>
            <a:noFill/>
            <a:ln/>
          </p:spPr>
          <p:txBody>
            <a:bodyPr wrap="square" lIns="16933" tIns="16933" rIns="16933" bIns="16933" rtlCol="0" anchor="ctr">
              <a:norm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Coconut, Banana, Onion, Maize</a:t>
              </a:r>
              <a:endParaRPr lang="en-US" sz="1200" dirty="0">
                <a:latin typeface="Georgia" panose="02040502050405020303" pitchFamily="18" charset="0"/>
              </a:endParaRPr>
            </a:p>
          </p:txBody>
        </p:sp>
        <p:sp>
          <p:nvSpPr>
            <p:cNvPr id="94" name="Shape 54">
              <a:extLst>
                <a:ext uri="{FF2B5EF4-FFF2-40B4-BE49-F238E27FC236}">
                  <a16:creationId xmlns:a16="http://schemas.microsoft.com/office/drawing/2014/main" id="{E40273DB-CB7F-F9EE-ABF5-D6D90CB047A7}"/>
                </a:ext>
              </a:extLst>
            </p:cNvPr>
            <p:cNvSpPr/>
            <p:nvPr/>
          </p:nvSpPr>
          <p:spPr>
            <a:xfrm>
              <a:off x="644526" y="6029326"/>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95" name="Shape 55">
              <a:extLst>
                <a:ext uri="{FF2B5EF4-FFF2-40B4-BE49-F238E27FC236}">
                  <a16:creationId xmlns:a16="http://schemas.microsoft.com/office/drawing/2014/main" id="{DEAE4E94-1994-63D6-6B25-85C9260C5C72}"/>
                </a:ext>
              </a:extLst>
            </p:cNvPr>
            <p:cNvSpPr/>
            <p:nvPr/>
          </p:nvSpPr>
          <p:spPr>
            <a:xfrm>
              <a:off x="644526" y="5434906"/>
              <a:ext cx="19050" cy="600769"/>
            </a:xfrm>
            <a:prstGeom prst="rect">
              <a:avLst/>
            </a:prstGeom>
            <a:solidFill>
              <a:srgbClr val="0E8B96"/>
            </a:solidFill>
            <a:ln/>
          </p:spPr>
          <p:txBody>
            <a:bodyPr/>
            <a:lstStyle/>
            <a:p>
              <a:endParaRPr lang="en-IN">
                <a:latin typeface="Georgia" panose="02040502050405020303" pitchFamily="18" charset="0"/>
              </a:endParaRPr>
            </a:p>
          </p:txBody>
        </p:sp>
        <p:sp>
          <p:nvSpPr>
            <p:cNvPr id="96" name="Text 56">
              <a:extLst>
                <a:ext uri="{FF2B5EF4-FFF2-40B4-BE49-F238E27FC236}">
                  <a16:creationId xmlns:a16="http://schemas.microsoft.com/office/drawing/2014/main" id="{D15CEE1E-14D5-024D-F23C-9BE1EDDD2DA0}"/>
                </a:ext>
              </a:extLst>
            </p:cNvPr>
            <p:cNvSpPr/>
            <p:nvPr/>
          </p:nvSpPr>
          <p:spPr>
            <a:xfrm>
              <a:off x="755651" y="5514281"/>
              <a:ext cx="3152827"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Western Ghats</a:t>
              </a:r>
              <a:endParaRPr lang="en-US" sz="1200" dirty="0">
                <a:latin typeface="Georgia" panose="02040502050405020303" pitchFamily="18" charset="0"/>
              </a:endParaRPr>
            </a:p>
          </p:txBody>
        </p:sp>
        <p:sp>
          <p:nvSpPr>
            <p:cNvPr id="97" name="Text 57">
              <a:extLst>
                <a:ext uri="{FF2B5EF4-FFF2-40B4-BE49-F238E27FC236}">
                  <a16:creationId xmlns:a16="http://schemas.microsoft.com/office/drawing/2014/main" id="{63E2FD3B-4792-A23F-E2F4-30F8F595842A}"/>
                </a:ext>
              </a:extLst>
            </p:cNvPr>
            <p:cNvSpPr/>
            <p:nvPr/>
          </p:nvSpPr>
          <p:spPr>
            <a:xfrm>
              <a:off x="755651" y="5726311"/>
              <a:ext cx="3152827"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Banana · Pineapple</a:t>
              </a:r>
              <a:endParaRPr lang="en-US" sz="1000" dirty="0">
                <a:latin typeface="Georgia" panose="02040502050405020303" pitchFamily="18" charset="0"/>
              </a:endParaRPr>
            </a:p>
          </p:txBody>
        </p:sp>
        <p:sp>
          <p:nvSpPr>
            <p:cNvPr id="98" name="Text 58">
              <a:extLst>
                <a:ext uri="{FF2B5EF4-FFF2-40B4-BE49-F238E27FC236}">
                  <a16:creationId xmlns:a16="http://schemas.microsoft.com/office/drawing/2014/main" id="{775CAEEA-0C63-C432-9786-6EF8C0B30503}"/>
                </a:ext>
              </a:extLst>
            </p:cNvPr>
            <p:cNvSpPr/>
            <p:nvPr/>
          </p:nvSpPr>
          <p:spPr>
            <a:xfrm>
              <a:off x="3969048" y="5511106"/>
              <a:ext cx="1157089" cy="473769"/>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rPr>
                <a:t>227</a:t>
              </a:r>
              <a:endParaRPr lang="en-US" sz="1200" dirty="0">
                <a:latin typeface="Georgia" panose="02040502050405020303" pitchFamily="18" charset="0"/>
              </a:endParaRPr>
            </a:p>
          </p:txBody>
        </p:sp>
        <p:sp>
          <p:nvSpPr>
            <p:cNvPr id="99" name="Text 59">
              <a:extLst>
                <a:ext uri="{FF2B5EF4-FFF2-40B4-BE49-F238E27FC236}">
                  <a16:creationId xmlns:a16="http://schemas.microsoft.com/office/drawing/2014/main" id="{980F06A1-6067-047A-CFC3-32D53789C24A}"/>
                </a:ext>
              </a:extLst>
            </p:cNvPr>
            <p:cNvSpPr/>
            <p:nvPr/>
          </p:nvSpPr>
          <p:spPr>
            <a:xfrm>
              <a:off x="5276958" y="5511106"/>
              <a:ext cx="1595131" cy="473769"/>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rPr>
                <a:t>6,07,51,200</a:t>
              </a:r>
              <a:endParaRPr lang="en-US" sz="1200" dirty="0">
                <a:latin typeface="Georgia" panose="02040502050405020303" pitchFamily="18" charset="0"/>
              </a:endParaRPr>
            </a:p>
          </p:txBody>
        </p:sp>
        <p:sp>
          <p:nvSpPr>
            <p:cNvPr id="100" name="Text 60">
              <a:extLst>
                <a:ext uri="{FF2B5EF4-FFF2-40B4-BE49-F238E27FC236}">
                  <a16:creationId xmlns:a16="http://schemas.microsoft.com/office/drawing/2014/main" id="{15842BE3-78D6-088E-A650-239DB55B4BBB}"/>
                </a:ext>
              </a:extLst>
            </p:cNvPr>
            <p:cNvSpPr/>
            <p:nvPr/>
          </p:nvSpPr>
          <p:spPr>
            <a:xfrm>
              <a:off x="7075290" y="5511106"/>
              <a:ext cx="4517610" cy="473769"/>
            </a:xfrm>
            <a:prstGeom prst="rect">
              <a:avLst/>
            </a:prstGeom>
            <a:noFill/>
            <a:ln/>
          </p:spPr>
          <p:txBody>
            <a:bodyPr wrap="square" lIns="16933" tIns="16933" rIns="16933" bIns="16933" rtlCol="0" anchor="ctr">
              <a:no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Pineapple, Maize, Ginger, Arecanut, Rose onion, Pomegranate, Jackfruit, Honey, Coconut</a:t>
              </a:r>
              <a:endParaRPr lang="en-US" sz="1200" dirty="0">
                <a:latin typeface="Georgia" panose="02040502050405020303" pitchFamily="18" charset="0"/>
              </a:endParaRPr>
            </a:p>
          </p:txBody>
        </p:sp>
      </p:grpSp>
      <p:sp>
        <p:nvSpPr>
          <p:cNvPr id="189" name="Text 3">
            <a:extLst>
              <a:ext uri="{FF2B5EF4-FFF2-40B4-BE49-F238E27FC236}">
                <a16:creationId xmlns:a16="http://schemas.microsoft.com/office/drawing/2014/main" id="{124341A0-31E3-EAB3-1F7B-6A0E59AE3F49}"/>
              </a:ext>
            </a:extLst>
          </p:cNvPr>
          <p:cNvSpPr/>
          <p:nvPr/>
        </p:nvSpPr>
        <p:spPr>
          <a:xfrm>
            <a:off x="617050" y="504229"/>
            <a:ext cx="11249660" cy="388541"/>
          </a:xfrm>
          <a:prstGeom prst="rect">
            <a:avLst/>
          </a:prstGeom>
          <a:noFill/>
          <a:ln/>
        </p:spPr>
        <p:txBody>
          <a:bodyPr wrap="square" lIns="16933" tIns="16933" rIns="16933" bIns="16933" rtlCol="0" anchor="t">
            <a:normAutofit fontScale="92500" lnSpcReduction="20000"/>
          </a:bodyPr>
          <a:lstStyle/>
          <a:p>
            <a:pPr>
              <a:lnSpc>
                <a:spcPct val="110000"/>
              </a:lnSpc>
            </a:pPr>
            <a:r>
              <a:rPr lang="en-US" sz="2600" b="1" kern="0" spc="-26" dirty="0">
                <a:solidFill>
                  <a:schemeClr val="bg1"/>
                </a:solidFill>
                <a:latin typeface="Georgia" panose="02040502050405020303" pitchFamily="18" charset="0"/>
                <a:ea typeface="Trebuchet MS" pitchFamily="34" charset="-122"/>
                <a:cs typeface="Trebuchet MS" pitchFamily="34" charset="-120"/>
              </a:rPr>
              <a:t>Horticulture Department FPOs</a:t>
            </a:r>
            <a:endParaRPr lang="en-US" sz="2600" dirty="0">
              <a:solidFill>
                <a:schemeClr val="bg1"/>
              </a:solidFill>
              <a:latin typeface="Georgia" panose="02040502050405020303" pitchFamily="18" charset="0"/>
            </a:endParaRPr>
          </a:p>
        </p:txBody>
      </p:sp>
      <p:sp>
        <p:nvSpPr>
          <p:cNvPr id="190" name="TextBox 189">
            <a:extLst>
              <a:ext uri="{FF2B5EF4-FFF2-40B4-BE49-F238E27FC236}">
                <a16:creationId xmlns:a16="http://schemas.microsoft.com/office/drawing/2014/main" id="{7FCA3D71-A78A-DF12-D2A2-5F5EA58F3E2C}"/>
              </a:ext>
            </a:extLst>
          </p:cNvPr>
          <p:cNvSpPr txBox="1"/>
          <p:nvPr/>
        </p:nvSpPr>
        <p:spPr>
          <a:xfrm>
            <a:off x="589090" y="5943600"/>
            <a:ext cx="6270228" cy="230832"/>
          </a:xfrm>
          <a:prstGeom prst="rect">
            <a:avLst/>
          </a:prstGeom>
          <a:noFill/>
        </p:spPr>
        <p:txBody>
          <a:bodyPr wrap="square" rtlCol="0">
            <a:spAutoFit/>
          </a:bodyPr>
          <a:lstStyle/>
          <a:p>
            <a:r>
              <a:rPr lang="en-IN" sz="900" i="1" dirty="0">
                <a:solidFill>
                  <a:schemeClr val="tx1">
                    <a:lumMod val="95000"/>
                    <a:lumOff val="5000"/>
                  </a:schemeClr>
                </a:solidFill>
                <a:latin typeface="Georgia" panose="02040502050405020303" pitchFamily="18" charset="0"/>
              </a:rPr>
              <a:t>Sources: Department of horticulture, </a:t>
            </a:r>
            <a:r>
              <a:rPr lang="en-IN" sz="900" i="1" dirty="0" err="1">
                <a:solidFill>
                  <a:schemeClr val="tx1">
                    <a:lumMod val="95000"/>
                    <a:lumOff val="5000"/>
                  </a:schemeClr>
                </a:solidFill>
                <a:latin typeface="Georgia" panose="02040502050405020303" pitchFamily="18" charset="0"/>
              </a:rPr>
              <a:t>GoK</a:t>
            </a:r>
            <a:endParaRPr lang="en-IN" sz="900" i="1" dirty="0">
              <a:solidFill>
                <a:schemeClr val="tx1">
                  <a:lumMod val="95000"/>
                  <a:lumOff val="5000"/>
                </a:schemeClr>
              </a:solidFill>
              <a:latin typeface="Georgia" panose="02040502050405020303" pitchFamily="18" charset="0"/>
            </a:endParaRPr>
          </a:p>
        </p:txBody>
      </p:sp>
      <p:pic>
        <p:nvPicPr>
          <p:cNvPr id="7" name="Picture 6">
            <a:extLst>
              <a:ext uri="{FF2B5EF4-FFF2-40B4-BE49-F238E27FC236}">
                <a16:creationId xmlns:a16="http://schemas.microsoft.com/office/drawing/2014/main" id="{7A9AC547-374C-3F12-CCEA-1A4432071915}"/>
              </a:ext>
            </a:extLst>
          </p:cNvPr>
          <p:cNvPicPr>
            <a:picLocks noChangeAspect="1"/>
          </p:cNvPicPr>
          <p:nvPr/>
        </p:nvPicPr>
        <p:blipFill>
          <a:blip r:embed="rId2"/>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26261011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B6162-E501-60FC-23B2-8A89F6FBECF6}"/>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0090CA51-D6BC-FC59-5411-2BA7B6BD2265}"/>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45</a:t>
            </a:fld>
            <a:endParaRPr dirty="0">
              <a:latin typeface="Georgia" panose="02040502050405020303" pitchFamily="18" charset="0"/>
            </a:endParaRPr>
          </a:p>
        </p:txBody>
      </p:sp>
      <p:grpSp>
        <p:nvGrpSpPr>
          <p:cNvPr id="2" name="Group 1">
            <a:extLst>
              <a:ext uri="{FF2B5EF4-FFF2-40B4-BE49-F238E27FC236}">
                <a16:creationId xmlns:a16="http://schemas.microsoft.com/office/drawing/2014/main" id="{90ED3861-53F3-E2B3-DE55-6D72DB06CBB7}"/>
              </a:ext>
            </a:extLst>
          </p:cNvPr>
          <p:cNvGrpSpPr/>
          <p:nvPr/>
        </p:nvGrpSpPr>
        <p:grpSpPr>
          <a:xfrm>
            <a:off x="532466" y="914400"/>
            <a:ext cx="11144220" cy="4554935"/>
            <a:chOff x="635000" y="1480741"/>
            <a:chExt cx="11144220" cy="4554935"/>
          </a:xfrm>
        </p:grpSpPr>
        <p:sp>
          <p:nvSpPr>
            <p:cNvPr id="7" name="Shape 4">
              <a:extLst>
                <a:ext uri="{FF2B5EF4-FFF2-40B4-BE49-F238E27FC236}">
                  <a16:creationId xmlns:a16="http://schemas.microsoft.com/office/drawing/2014/main" id="{D8EDB603-F39B-2AFD-34F3-463CD8B53FDF}"/>
                </a:ext>
              </a:extLst>
            </p:cNvPr>
            <p:cNvSpPr/>
            <p:nvPr/>
          </p:nvSpPr>
          <p:spPr>
            <a:xfrm>
              <a:off x="635000" y="1480741"/>
              <a:ext cx="10922000" cy="330200"/>
            </a:xfrm>
            <a:prstGeom prst="rect">
              <a:avLst/>
            </a:prstGeom>
            <a:solidFill>
              <a:srgbClr val="EDF6F7"/>
            </a:solidFill>
            <a:ln/>
          </p:spPr>
          <p:txBody>
            <a:bodyPr/>
            <a:lstStyle/>
            <a:p>
              <a:endParaRPr lang="en-IN">
                <a:latin typeface="Georgia" panose="02040502050405020303" pitchFamily="18" charset="0"/>
              </a:endParaRPr>
            </a:p>
          </p:txBody>
        </p:sp>
        <p:sp>
          <p:nvSpPr>
            <p:cNvPr id="23" name="Shape 5">
              <a:extLst>
                <a:ext uri="{FF2B5EF4-FFF2-40B4-BE49-F238E27FC236}">
                  <a16:creationId xmlns:a16="http://schemas.microsoft.com/office/drawing/2014/main" id="{14B01C0D-7806-822C-34C6-A50759C4C0A6}"/>
                </a:ext>
              </a:extLst>
            </p:cNvPr>
            <p:cNvSpPr/>
            <p:nvPr/>
          </p:nvSpPr>
          <p:spPr>
            <a:xfrm>
              <a:off x="635000" y="1480741"/>
              <a:ext cx="25400" cy="330200"/>
            </a:xfrm>
            <a:prstGeom prst="rect">
              <a:avLst/>
            </a:prstGeom>
            <a:solidFill>
              <a:srgbClr val="E8A33D"/>
            </a:solidFill>
            <a:ln/>
          </p:spPr>
          <p:txBody>
            <a:bodyPr/>
            <a:lstStyle/>
            <a:p>
              <a:endParaRPr lang="en-IN">
                <a:latin typeface="Georgia" panose="02040502050405020303" pitchFamily="18" charset="0"/>
              </a:endParaRPr>
            </a:p>
          </p:txBody>
        </p:sp>
        <p:sp>
          <p:nvSpPr>
            <p:cNvPr id="24" name="Text 6">
              <a:extLst>
                <a:ext uri="{FF2B5EF4-FFF2-40B4-BE49-F238E27FC236}">
                  <a16:creationId xmlns:a16="http://schemas.microsoft.com/office/drawing/2014/main" id="{20474A92-050E-0D67-1855-0192AFA21542}"/>
                </a:ext>
              </a:extLst>
            </p:cNvPr>
            <p:cNvSpPr/>
            <p:nvPr/>
          </p:nvSpPr>
          <p:spPr>
            <a:xfrm>
              <a:off x="783560" y="1513731"/>
              <a:ext cx="10995660" cy="203200"/>
            </a:xfrm>
            <a:prstGeom prst="rect">
              <a:avLst/>
            </a:prstGeom>
            <a:noFill/>
            <a:ln/>
          </p:spPr>
          <p:txBody>
            <a:bodyPr wrap="square" lIns="16933" tIns="16933" rIns="16933" bIns="16933" rtlCol="0" anchor="t">
              <a:noAutofit/>
            </a:bodyPr>
            <a:lstStyle/>
            <a:p>
              <a:pPr>
                <a:lnSpc>
                  <a:spcPct val="140000"/>
                </a:lnSpc>
              </a:pPr>
              <a:r>
                <a:rPr lang="en-US" sz="1200" dirty="0">
                  <a:solidFill>
                    <a:srgbClr val="6B7A76"/>
                  </a:solidFill>
                  <a:latin typeface="Georgia" panose="02040502050405020303" pitchFamily="18" charset="0"/>
                  <a:ea typeface="Trebuchet MS" pitchFamily="34" charset="-122"/>
                  <a:cs typeface="Trebuchet MS" pitchFamily="34" charset="-120"/>
                </a:rPr>
                <a:t>All WDD-FPOs engage in input-stage &amp; marketing only</a:t>
              </a:r>
              <a:endParaRPr lang="en-US" sz="1200" dirty="0">
                <a:latin typeface="Georgia" panose="02040502050405020303" pitchFamily="18" charset="0"/>
              </a:endParaRPr>
            </a:p>
          </p:txBody>
        </p:sp>
        <p:sp>
          <p:nvSpPr>
            <p:cNvPr id="25" name="Shape 7">
              <a:extLst>
                <a:ext uri="{FF2B5EF4-FFF2-40B4-BE49-F238E27FC236}">
                  <a16:creationId xmlns:a16="http://schemas.microsoft.com/office/drawing/2014/main" id="{08347D02-3028-80C2-A266-363018D53446}"/>
                </a:ext>
              </a:extLst>
            </p:cNvPr>
            <p:cNvSpPr/>
            <p:nvPr/>
          </p:nvSpPr>
          <p:spPr>
            <a:xfrm>
              <a:off x="644526" y="1912541"/>
              <a:ext cx="10912475" cy="355600"/>
            </a:xfrm>
            <a:prstGeom prst="rect">
              <a:avLst/>
            </a:prstGeom>
            <a:solidFill>
              <a:srgbClr val="0B6E78"/>
            </a:solidFill>
            <a:ln/>
          </p:spPr>
          <p:txBody>
            <a:bodyPr/>
            <a:lstStyle/>
            <a:p>
              <a:endParaRPr lang="en-IN">
                <a:latin typeface="Georgia" panose="02040502050405020303" pitchFamily="18" charset="0"/>
              </a:endParaRPr>
            </a:p>
          </p:txBody>
        </p:sp>
        <p:sp>
          <p:nvSpPr>
            <p:cNvPr id="26" name="Text 8">
              <a:extLst>
                <a:ext uri="{FF2B5EF4-FFF2-40B4-BE49-F238E27FC236}">
                  <a16:creationId xmlns:a16="http://schemas.microsoft.com/office/drawing/2014/main" id="{013C5BE3-3BB8-5E9F-9056-9A692C9952BD}"/>
                </a:ext>
              </a:extLst>
            </p:cNvPr>
            <p:cNvSpPr/>
            <p:nvPr/>
          </p:nvSpPr>
          <p:spPr>
            <a:xfrm>
              <a:off x="746125" y="2001441"/>
              <a:ext cx="2719075" cy="203200"/>
            </a:xfrm>
            <a:prstGeom prst="rect">
              <a:avLst/>
            </a:prstGeom>
            <a:noFill/>
            <a:ln/>
          </p:spPr>
          <p:txBody>
            <a:bodyPr wrap="square" lIns="16933" tIns="16933" rIns="16933" bIns="16933" rtlCol="0" anchor="ctr">
              <a:normAutofit lnSpcReduction="10000"/>
            </a:bodyPr>
            <a:lstStyle/>
            <a:p>
              <a:r>
                <a:rPr lang="en-US" sz="1200" b="1" kern="0" spc="24" dirty="0">
                  <a:solidFill>
                    <a:srgbClr val="FFFFFF"/>
                  </a:solidFill>
                  <a:latin typeface="Georgia" panose="02040502050405020303" pitchFamily="18" charset="0"/>
                  <a:ea typeface="Trebuchet MS" pitchFamily="34" charset="-122"/>
                  <a:cs typeface="Trebuchet MS" pitchFamily="34" charset="-120"/>
                </a:rPr>
                <a:t>Cluster</a:t>
              </a:r>
              <a:endParaRPr lang="en-US" sz="1200" dirty="0">
                <a:latin typeface="Georgia" panose="02040502050405020303" pitchFamily="18" charset="0"/>
              </a:endParaRPr>
            </a:p>
          </p:txBody>
        </p:sp>
        <p:sp>
          <p:nvSpPr>
            <p:cNvPr id="27" name="Text 9">
              <a:extLst>
                <a:ext uri="{FF2B5EF4-FFF2-40B4-BE49-F238E27FC236}">
                  <a16:creationId xmlns:a16="http://schemas.microsoft.com/office/drawing/2014/main" id="{17298B4E-FF6D-AB2C-5A78-48B8BA456A19}"/>
                </a:ext>
              </a:extLst>
            </p:cNvPr>
            <p:cNvSpPr/>
            <p:nvPr/>
          </p:nvSpPr>
          <p:spPr>
            <a:xfrm>
              <a:off x="3583286" y="2001441"/>
              <a:ext cx="611386" cy="203200"/>
            </a:xfrm>
            <a:prstGeom prst="rect">
              <a:avLst/>
            </a:prstGeom>
            <a:noFill/>
            <a:ln/>
          </p:spPr>
          <p:txBody>
            <a:bodyPr wrap="square" lIns="16933" tIns="16933" rIns="16933" bIns="16933" rtlCol="0" anchor="ctr">
              <a:normAutofit lnSpcReduction="10000"/>
            </a:bodyPr>
            <a:lstStyle/>
            <a:p>
              <a:r>
                <a:rPr lang="en-US" sz="1200" b="1" kern="0" spc="24" dirty="0">
                  <a:solidFill>
                    <a:srgbClr val="FFFFFF"/>
                  </a:solidFill>
                  <a:latin typeface="Georgia" panose="02040502050405020303" pitchFamily="18" charset="0"/>
                  <a:ea typeface="Trebuchet MS" pitchFamily="34" charset="-122"/>
                  <a:cs typeface="Trebuchet MS" pitchFamily="34" charset="-120"/>
                </a:rPr>
                <a:t>FPOs</a:t>
              </a:r>
              <a:endParaRPr lang="en-US" sz="1200" dirty="0">
                <a:latin typeface="Georgia" panose="02040502050405020303" pitchFamily="18" charset="0"/>
              </a:endParaRPr>
            </a:p>
          </p:txBody>
        </p:sp>
        <p:sp>
          <p:nvSpPr>
            <p:cNvPr id="28" name="Text 10">
              <a:extLst>
                <a:ext uri="{FF2B5EF4-FFF2-40B4-BE49-F238E27FC236}">
                  <a16:creationId xmlns:a16="http://schemas.microsoft.com/office/drawing/2014/main" id="{12EFA95D-0014-3FEF-4DA8-122AA8F1BB3A}"/>
                </a:ext>
              </a:extLst>
            </p:cNvPr>
            <p:cNvSpPr/>
            <p:nvPr/>
          </p:nvSpPr>
          <p:spPr>
            <a:xfrm>
              <a:off x="4347071" y="2001441"/>
              <a:ext cx="1595131" cy="203200"/>
            </a:xfrm>
            <a:prstGeom prst="rect">
              <a:avLst/>
            </a:prstGeom>
            <a:noFill/>
            <a:ln/>
          </p:spPr>
          <p:txBody>
            <a:bodyPr wrap="square" lIns="16933" tIns="16933" rIns="16933" bIns="16933" rtlCol="0" anchor="ctr">
              <a:normAutofit lnSpcReduction="10000"/>
            </a:bodyPr>
            <a:lstStyle/>
            <a:p>
              <a:r>
                <a:rPr lang="en-US" sz="1200" b="1" kern="0" spc="24" dirty="0">
                  <a:solidFill>
                    <a:srgbClr val="FFFFFF"/>
                  </a:solidFill>
                  <a:latin typeface="Georgia" panose="02040502050405020303" pitchFamily="18" charset="0"/>
                  <a:ea typeface="Trebuchet MS" pitchFamily="34" charset="-122"/>
                  <a:cs typeface="Trebuchet MS" pitchFamily="34" charset="-120"/>
                </a:rPr>
                <a:t>Post-harvest</a:t>
              </a:r>
              <a:endParaRPr lang="en-US" sz="1200" dirty="0">
                <a:latin typeface="Georgia" panose="02040502050405020303" pitchFamily="18" charset="0"/>
              </a:endParaRPr>
            </a:p>
          </p:txBody>
        </p:sp>
        <p:sp>
          <p:nvSpPr>
            <p:cNvPr id="29" name="Text 11">
              <a:extLst>
                <a:ext uri="{FF2B5EF4-FFF2-40B4-BE49-F238E27FC236}">
                  <a16:creationId xmlns:a16="http://schemas.microsoft.com/office/drawing/2014/main" id="{3186A532-B647-149B-C8C7-F16A2DEA2C77}"/>
                </a:ext>
              </a:extLst>
            </p:cNvPr>
            <p:cNvSpPr/>
            <p:nvPr/>
          </p:nvSpPr>
          <p:spPr>
            <a:xfrm>
              <a:off x="6093024" y="2001441"/>
              <a:ext cx="3955638" cy="203200"/>
            </a:xfrm>
            <a:prstGeom prst="rect">
              <a:avLst/>
            </a:prstGeom>
            <a:noFill/>
            <a:ln/>
          </p:spPr>
          <p:txBody>
            <a:bodyPr wrap="square" lIns="16933" tIns="16933" rIns="16933" bIns="16933" rtlCol="0" anchor="ctr">
              <a:normAutofit lnSpcReduction="10000"/>
            </a:bodyPr>
            <a:lstStyle/>
            <a:p>
              <a:r>
                <a:rPr lang="en-US" sz="1200" b="1" kern="0" spc="24" dirty="0">
                  <a:solidFill>
                    <a:srgbClr val="FFFFFF"/>
                  </a:solidFill>
                  <a:latin typeface="Georgia" panose="02040502050405020303" pitchFamily="18" charset="0"/>
                  <a:ea typeface="Trebuchet MS" pitchFamily="34" charset="-122"/>
                  <a:cs typeface="Trebuchet MS" pitchFamily="34" charset="-120"/>
                </a:rPr>
                <a:t>Major crops</a:t>
              </a:r>
              <a:endParaRPr lang="en-US" sz="1200" dirty="0">
                <a:latin typeface="Georgia" panose="02040502050405020303" pitchFamily="18" charset="0"/>
              </a:endParaRPr>
            </a:p>
          </p:txBody>
        </p:sp>
        <p:sp>
          <p:nvSpPr>
            <p:cNvPr id="30" name="Text 12">
              <a:extLst>
                <a:ext uri="{FF2B5EF4-FFF2-40B4-BE49-F238E27FC236}">
                  <a16:creationId xmlns:a16="http://schemas.microsoft.com/office/drawing/2014/main" id="{9AF00D2D-E053-58C9-8E7F-4FD0E95F7140}"/>
                </a:ext>
              </a:extLst>
            </p:cNvPr>
            <p:cNvSpPr/>
            <p:nvPr/>
          </p:nvSpPr>
          <p:spPr>
            <a:xfrm>
              <a:off x="10130731" y="2001441"/>
              <a:ext cx="1375469" cy="203200"/>
            </a:xfrm>
            <a:prstGeom prst="rect">
              <a:avLst/>
            </a:prstGeom>
            <a:noFill/>
            <a:ln/>
          </p:spPr>
          <p:txBody>
            <a:bodyPr wrap="square" lIns="16933" tIns="16933" rIns="16933" bIns="16933" rtlCol="0" anchor="ctr">
              <a:normAutofit lnSpcReduction="10000"/>
            </a:bodyPr>
            <a:lstStyle/>
            <a:p>
              <a:r>
                <a:rPr lang="en-US" sz="1200" b="1" kern="0" spc="24" dirty="0">
                  <a:solidFill>
                    <a:srgbClr val="FFFFFF"/>
                  </a:solidFill>
                  <a:latin typeface="Georgia" panose="02040502050405020303" pitchFamily="18" charset="0"/>
                  <a:ea typeface="Trebuchet MS" pitchFamily="34" charset="-122"/>
                  <a:cs typeface="Trebuchet MS" pitchFamily="34" charset="-120"/>
                </a:rPr>
                <a:t>FY 23-24 (₹ Cr)</a:t>
              </a:r>
              <a:endParaRPr lang="en-US" sz="1200" dirty="0">
                <a:latin typeface="Georgia" panose="02040502050405020303" pitchFamily="18" charset="0"/>
              </a:endParaRPr>
            </a:p>
          </p:txBody>
        </p:sp>
        <p:sp>
          <p:nvSpPr>
            <p:cNvPr id="31" name="Shape 13">
              <a:extLst>
                <a:ext uri="{FF2B5EF4-FFF2-40B4-BE49-F238E27FC236}">
                  <a16:creationId xmlns:a16="http://schemas.microsoft.com/office/drawing/2014/main" id="{73CDF67F-B811-253F-5E84-8D89F131598C}"/>
                </a:ext>
              </a:extLst>
            </p:cNvPr>
            <p:cNvSpPr/>
            <p:nvPr/>
          </p:nvSpPr>
          <p:spPr>
            <a:xfrm>
              <a:off x="644526" y="3513336"/>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32" name="Shape 14">
              <a:extLst>
                <a:ext uri="{FF2B5EF4-FFF2-40B4-BE49-F238E27FC236}">
                  <a16:creationId xmlns:a16="http://schemas.microsoft.com/office/drawing/2014/main" id="{770F012B-E182-7B00-09F6-9DD8ABAF9A84}"/>
                </a:ext>
              </a:extLst>
            </p:cNvPr>
            <p:cNvSpPr/>
            <p:nvPr/>
          </p:nvSpPr>
          <p:spPr>
            <a:xfrm>
              <a:off x="644526" y="2268141"/>
              <a:ext cx="19050" cy="1251545"/>
            </a:xfrm>
            <a:prstGeom prst="rect">
              <a:avLst/>
            </a:prstGeom>
            <a:solidFill>
              <a:srgbClr val="0E8B96"/>
            </a:solidFill>
            <a:ln/>
          </p:spPr>
          <p:txBody>
            <a:bodyPr/>
            <a:lstStyle/>
            <a:p>
              <a:endParaRPr lang="en-IN">
                <a:latin typeface="Georgia" panose="02040502050405020303" pitchFamily="18" charset="0"/>
              </a:endParaRPr>
            </a:p>
          </p:txBody>
        </p:sp>
        <p:sp>
          <p:nvSpPr>
            <p:cNvPr id="33" name="Text 15">
              <a:extLst>
                <a:ext uri="{FF2B5EF4-FFF2-40B4-BE49-F238E27FC236}">
                  <a16:creationId xmlns:a16="http://schemas.microsoft.com/office/drawing/2014/main" id="{9F303F40-1C9E-57EC-F1D4-4B41AB1C8B82}"/>
                </a:ext>
              </a:extLst>
            </p:cNvPr>
            <p:cNvSpPr/>
            <p:nvPr/>
          </p:nvSpPr>
          <p:spPr>
            <a:xfrm>
              <a:off x="755650" y="2689225"/>
              <a:ext cx="2703168" cy="231081"/>
            </a:xfrm>
            <a:prstGeom prst="rect">
              <a:avLst/>
            </a:prstGeom>
            <a:noFill/>
            <a:ln/>
          </p:spPr>
          <p:txBody>
            <a:bodyPr wrap="square" lIns="16933" tIns="16933" rIns="16933" bIns="16933" rtlCol="0" anchor="ctr">
              <a:noAutofit/>
            </a:bodyPr>
            <a:lstStyle/>
            <a:p>
              <a:pPr>
                <a:lnSpc>
                  <a:spcPct val="135000"/>
                </a:lnSpc>
              </a:pPr>
              <a:r>
                <a:rPr lang="en-US" sz="1400" b="1" dirty="0">
                  <a:solidFill>
                    <a:srgbClr val="0B6E78"/>
                  </a:solidFill>
                  <a:latin typeface="Georgia" panose="02040502050405020303" pitchFamily="18" charset="0"/>
                  <a:ea typeface="Trebuchet MS" pitchFamily="34" charset="-122"/>
                  <a:cs typeface="Trebuchet MS" pitchFamily="34" charset="-120"/>
                </a:rPr>
                <a:t>North Karnataka</a:t>
              </a:r>
              <a:endParaRPr lang="en-US" sz="1400" dirty="0">
                <a:latin typeface="Georgia" panose="02040502050405020303" pitchFamily="18" charset="0"/>
              </a:endParaRPr>
            </a:p>
          </p:txBody>
        </p:sp>
        <p:sp>
          <p:nvSpPr>
            <p:cNvPr id="34" name="Text 16">
              <a:extLst>
                <a:ext uri="{FF2B5EF4-FFF2-40B4-BE49-F238E27FC236}">
                  <a16:creationId xmlns:a16="http://schemas.microsoft.com/office/drawing/2014/main" id="{C66163FD-5063-FF84-3384-7C26FECD64A5}"/>
                </a:ext>
              </a:extLst>
            </p:cNvPr>
            <p:cNvSpPr/>
            <p:nvPr/>
          </p:nvSpPr>
          <p:spPr>
            <a:xfrm>
              <a:off x="755650" y="2976865"/>
              <a:ext cx="2703168" cy="179685"/>
            </a:xfrm>
            <a:prstGeom prst="rect">
              <a:avLst/>
            </a:prstGeom>
            <a:noFill/>
            <a:ln/>
          </p:spPr>
          <p:txBody>
            <a:bodyPr wrap="square" lIns="16933" tIns="16933" rIns="16933" bIns="16933" rtlCol="0" anchor="ctr">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Onion · Grape · Raisin · Pomegranate</a:t>
              </a:r>
              <a:endParaRPr lang="en-US" sz="1000" dirty="0">
                <a:latin typeface="Georgia" panose="02040502050405020303" pitchFamily="18" charset="0"/>
              </a:endParaRPr>
            </a:p>
          </p:txBody>
        </p:sp>
        <p:sp>
          <p:nvSpPr>
            <p:cNvPr id="35" name="Text 17">
              <a:extLst>
                <a:ext uri="{FF2B5EF4-FFF2-40B4-BE49-F238E27FC236}">
                  <a16:creationId xmlns:a16="http://schemas.microsoft.com/office/drawing/2014/main" id="{984848B1-FA87-D705-8387-4F894510C3E0}"/>
                </a:ext>
              </a:extLst>
            </p:cNvPr>
            <p:cNvSpPr/>
            <p:nvPr/>
          </p:nvSpPr>
          <p:spPr>
            <a:xfrm>
              <a:off x="3532486" y="2344341"/>
              <a:ext cx="611386" cy="1124545"/>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64</a:t>
              </a:r>
              <a:endParaRPr lang="en-US" sz="1200" dirty="0">
                <a:latin typeface="Georgia" panose="02040502050405020303" pitchFamily="18" charset="0"/>
              </a:endParaRPr>
            </a:p>
          </p:txBody>
        </p:sp>
        <p:sp>
          <p:nvSpPr>
            <p:cNvPr id="36" name="Text 18">
              <a:extLst>
                <a:ext uri="{FF2B5EF4-FFF2-40B4-BE49-F238E27FC236}">
                  <a16:creationId xmlns:a16="http://schemas.microsoft.com/office/drawing/2014/main" id="{2737078E-E2F1-39C5-9E73-786E21E971D8}"/>
                </a:ext>
              </a:extLst>
            </p:cNvPr>
            <p:cNvSpPr/>
            <p:nvPr/>
          </p:nvSpPr>
          <p:spPr>
            <a:xfrm>
              <a:off x="4347071" y="2344341"/>
              <a:ext cx="1595131" cy="1124545"/>
            </a:xfrm>
            <a:prstGeom prst="rect">
              <a:avLst/>
            </a:prstGeom>
            <a:noFill/>
            <a:ln/>
          </p:spPr>
          <p:txBody>
            <a:bodyPr wrap="square" lIns="16933" tIns="16933" rIns="16933" bIns="16933" rtlCol="0" anchor="ctr">
              <a:normAutofit/>
            </a:bodyPr>
            <a:lstStyle/>
            <a:p>
              <a:pPr>
                <a:lnSpc>
                  <a:spcPct val="135000"/>
                </a:lnSpc>
              </a:pPr>
              <a:r>
                <a:rPr lang="en-US" sz="1200" dirty="0">
                  <a:solidFill>
                    <a:srgbClr val="14342B"/>
                  </a:solidFill>
                  <a:latin typeface="Georgia" panose="02040502050405020303" pitchFamily="18" charset="0"/>
                  <a:ea typeface="Trebuchet MS" pitchFamily="34" charset="-122"/>
                  <a:cs typeface="Trebuchet MS" pitchFamily="34" charset="-120"/>
                </a:rPr>
                <a:t>Input + Marketing</a:t>
              </a:r>
              <a:endParaRPr lang="en-US" sz="1200" dirty="0">
                <a:latin typeface="Georgia" panose="02040502050405020303" pitchFamily="18" charset="0"/>
              </a:endParaRPr>
            </a:p>
          </p:txBody>
        </p:sp>
        <p:sp>
          <p:nvSpPr>
            <p:cNvPr id="37" name="Text 19">
              <a:extLst>
                <a:ext uri="{FF2B5EF4-FFF2-40B4-BE49-F238E27FC236}">
                  <a16:creationId xmlns:a16="http://schemas.microsoft.com/office/drawing/2014/main" id="{F2CF05C8-D041-FBBF-2920-7FE03D004685}"/>
                </a:ext>
              </a:extLst>
            </p:cNvPr>
            <p:cNvSpPr/>
            <p:nvPr/>
          </p:nvSpPr>
          <p:spPr>
            <a:xfrm>
              <a:off x="6093024" y="2344341"/>
              <a:ext cx="3955638" cy="1124545"/>
            </a:xfrm>
            <a:prstGeom prst="rect">
              <a:avLst/>
            </a:prstGeom>
            <a:noFill/>
            <a:ln/>
          </p:spPr>
          <p:txBody>
            <a:bodyPr wrap="square" lIns="16933" tIns="16933" rIns="16933" bIns="16933" rtlCol="0" anchor="ctr">
              <a:no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Banana, Maize, Wheat, Bengal gram, Redgram, Cotton, Groundnut, Sugarcane, Turmeric, Sunflower, Chilli, Onion, Jowar, Pomegranate, Tomato</a:t>
              </a:r>
              <a:endParaRPr lang="en-US" sz="1200" dirty="0">
                <a:latin typeface="Georgia" panose="02040502050405020303" pitchFamily="18" charset="0"/>
              </a:endParaRPr>
            </a:p>
          </p:txBody>
        </p:sp>
        <p:sp>
          <p:nvSpPr>
            <p:cNvPr id="38" name="Text 20">
              <a:extLst>
                <a:ext uri="{FF2B5EF4-FFF2-40B4-BE49-F238E27FC236}">
                  <a16:creationId xmlns:a16="http://schemas.microsoft.com/office/drawing/2014/main" id="{72207CA5-02A6-3D90-DCC2-45EEF895290B}"/>
                </a:ext>
              </a:extLst>
            </p:cNvPr>
            <p:cNvSpPr/>
            <p:nvPr/>
          </p:nvSpPr>
          <p:spPr>
            <a:xfrm>
              <a:off x="10079931" y="2344341"/>
              <a:ext cx="1375469" cy="1124545"/>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19</a:t>
              </a:r>
              <a:endParaRPr lang="en-US" sz="1200" dirty="0">
                <a:latin typeface="Georgia" panose="02040502050405020303" pitchFamily="18" charset="0"/>
              </a:endParaRPr>
            </a:p>
          </p:txBody>
        </p:sp>
        <p:sp>
          <p:nvSpPr>
            <p:cNvPr id="39" name="Shape 21">
              <a:extLst>
                <a:ext uri="{FF2B5EF4-FFF2-40B4-BE49-F238E27FC236}">
                  <a16:creationId xmlns:a16="http://schemas.microsoft.com/office/drawing/2014/main" id="{ECF0777D-9537-F748-867B-E62E47A5F00F}"/>
                </a:ext>
              </a:extLst>
            </p:cNvPr>
            <p:cNvSpPr/>
            <p:nvPr/>
          </p:nvSpPr>
          <p:spPr>
            <a:xfrm>
              <a:off x="644526" y="3519687"/>
              <a:ext cx="10912475" cy="1257895"/>
            </a:xfrm>
            <a:prstGeom prst="rect">
              <a:avLst/>
            </a:prstGeom>
            <a:solidFill>
              <a:srgbClr val="EFE8D8"/>
            </a:solidFill>
            <a:ln/>
          </p:spPr>
          <p:txBody>
            <a:bodyPr/>
            <a:lstStyle/>
            <a:p>
              <a:endParaRPr lang="en-IN">
                <a:latin typeface="Georgia" panose="02040502050405020303" pitchFamily="18" charset="0"/>
              </a:endParaRPr>
            </a:p>
          </p:txBody>
        </p:sp>
        <p:sp>
          <p:nvSpPr>
            <p:cNvPr id="40" name="Shape 22">
              <a:extLst>
                <a:ext uri="{FF2B5EF4-FFF2-40B4-BE49-F238E27FC236}">
                  <a16:creationId xmlns:a16="http://schemas.microsoft.com/office/drawing/2014/main" id="{BDC64EA2-0639-748F-1A63-22044836E1BF}"/>
                </a:ext>
              </a:extLst>
            </p:cNvPr>
            <p:cNvSpPr/>
            <p:nvPr/>
          </p:nvSpPr>
          <p:spPr>
            <a:xfrm>
              <a:off x="644526" y="4771232"/>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41" name="Shape 23">
              <a:extLst>
                <a:ext uri="{FF2B5EF4-FFF2-40B4-BE49-F238E27FC236}">
                  <a16:creationId xmlns:a16="http://schemas.microsoft.com/office/drawing/2014/main" id="{36798F08-7E23-4A41-27A9-9224909FDABC}"/>
                </a:ext>
              </a:extLst>
            </p:cNvPr>
            <p:cNvSpPr/>
            <p:nvPr/>
          </p:nvSpPr>
          <p:spPr>
            <a:xfrm>
              <a:off x="644526" y="3519687"/>
              <a:ext cx="19050" cy="1257895"/>
            </a:xfrm>
            <a:prstGeom prst="rect">
              <a:avLst/>
            </a:prstGeom>
            <a:solidFill>
              <a:srgbClr val="0E8B96"/>
            </a:solidFill>
            <a:ln/>
          </p:spPr>
          <p:txBody>
            <a:bodyPr/>
            <a:lstStyle/>
            <a:p>
              <a:endParaRPr lang="en-IN">
                <a:latin typeface="Georgia" panose="02040502050405020303" pitchFamily="18" charset="0"/>
              </a:endParaRPr>
            </a:p>
          </p:txBody>
        </p:sp>
        <p:sp>
          <p:nvSpPr>
            <p:cNvPr id="42" name="Text 24">
              <a:extLst>
                <a:ext uri="{FF2B5EF4-FFF2-40B4-BE49-F238E27FC236}">
                  <a16:creationId xmlns:a16="http://schemas.microsoft.com/office/drawing/2014/main" id="{C3120A7F-2B03-30AA-BBA3-6FA6ABFE9851}"/>
                </a:ext>
              </a:extLst>
            </p:cNvPr>
            <p:cNvSpPr/>
            <p:nvPr/>
          </p:nvSpPr>
          <p:spPr>
            <a:xfrm>
              <a:off x="755650" y="3919141"/>
              <a:ext cx="2703168" cy="231081"/>
            </a:xfrm>
            <a:prstGeom prst="rect">
              <a:avLst/>
            </a:prstGeom>
            <a:noFill/>
            <a:ln/>
          </p:spPr>
          <p:txBody>
            <a:bodyPr wrap="square" lIns="16933" tIns="16933" rIns="16933" bIns="16933" rtlCol="0" anchor="ctr">
              <a:noAutofit/>
            </a:bodyPr>
            <a:lstStyle/>
            <a:p>
              <a:pPr>
                <a:lnSpc>
                  <a:spcPct val="135000"/>
                </a:lnSpc>
              </a:pPr>
              <a:r>
                <a:rPr lang="en-US" sz="1400" b="1" dirty="0">
                  <a:solidFill>
                    <a:srgbClr val="0B6E78"/>
                  </a:solidFill>
                  <a:latin typeface="Georgia" panose="02040502050405020303" pitchFamily="18" charset="0"/>
                  <a:ea typeface="Trebuchet MS" pitchFamily="34" charset="-122"/>
                  <a:cs typeface="Trebuchet MS" pitchFamily="34" charset="-120"/>
                </a:rPr>
                <a:t>Central Karnataka</a:t>
              </a:r>
              <a:endParaRPr lang="en-US" sz="1400" dirty="0">
                <a:latin typeface="Georgia" panose="02040502050405020303" pitchFamily="18" charset="0"/>
              </a:endParaRPr>
            </a:p>
          </p:txBody>
        </p:sp>
        <p:sp>
          <p:nvSpPr>
            <p:cNvPr id="43" name="Text 25">
              <a:extLst>
                <a:ext uri="{FF2B5EF4-FFF2-40B4-BE49-F238E27FC236}">
                  <a16:creationId xmlns:a16="http://schemas.microsoft.com/office/drawing/2014/main" id="{360B25C7-1C8F-EFD7-7150-AD5547ED144A}"/>
                </a:ext>
              </a:extLst>
            </p:cNvPr>
            <p:cNvSpPr/>
            <p:nvPr/>
          </p:nvSpPr>
          <p:spPr>
            <a:xfrm>
              <a:off x="774700" y="4182568"/>
              <a:ext cx="2703168" cy="179685"/>
            </a:xfrm>
            <a:prstGeom prst="rect">
              <a:avLst/>
            </a:prstGeom>
            <a:noFill/>
            <a:ln/>
          </p:spPr>
          <p:txBody>
            <a:bodyPr wrap="square" lIns="16933" tIns="16933" rIns="16933" bIns="16933" rtlCol="0" anchor="ctr">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Onion · Pomegranate</a:t>
              </a:r>
              <a:endParaRPr lang="en-US" sz="1000" dirty="0">
                <a:latin typeface="Georgia" panose="02040502050405020303" pitchFamily="18" charset="0"/>
              </a:endParaRPr>
            </a:p>
          </p:txBody>
        </p:sp>
        <p:sp>
          <p:nvSpPr>
            <p:cNvPr id="59" name="Text 26">
              <a:extLst>
                <a:ext uri="{FF2B5EF4-FFF2-40B4-BE49-F238E27FC236}">
                  <a16:creationId xmlns:a16="http://schemas.microsoft.com/office/drawing/2014/main" id="{D8591035-C0C0-DE88-DCEB-E265E45F36D3}"/>
                </a:ext>
              </a:extLst>
            </p:cNvPr>
            <p:cNvSpPr/>
            <p:nvPr/>
          </p:nvSpPr>
          <p:spPr>
            <a:xfrm>
              <a:off x="3532486" y="3595887"/>
              <a:ext cx="611386" cy="1130895"/>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62</a:t>
              </a:r>
              <a:endParaRPr lang="en-US" sz="1200" dirty="0">
                <a:latin typeface="Georgia" panose="02040502050405020303" pitchFamily="18" charset="0"/>
              </a:endParaRPr>
            </a:p>
          </p:txBody>
        </p:sp>
        <p:sp>
          <p:nvSpPr>
            <p:cNvPr id="60" name="Text 27">
              <a:extLst>
                <a:ext uri="{FF2B5EF4-FFF2-40B4-BE49-F238E27FC236}">
                  <a16:creationId xmlns:a16="http://schemas.microsoft.com/office/drawing/2014/main" id="{D506F8CA-DAED-D358-10F2-FC95577AD9F8}"/>
                </a:ext>
              </a:extLst>
            </p:cNvPr>
            <p:cNvSpPr/>
            <p:nvPr/>
          </p:nvSpPr>
          <p:spPr>
            <a:xfrm>
              <a:off x="4347071" y="3595887"/>
              <a:ext cx="1595131" cy="1130895"/>
            </a:xfrm>
            <a:prstGeom prst="rect">
              <a:avLst/>
            </a:prstGeom>
            <a:noFill/>
            <a:ln/>
          </p:spPr>
          <p:txBody>
            <a:bodyPr wrap="square" lIns="16933" tIns="16933" rIns="16933" bIns="16933" rtlCol="0" anchor="ctr">
              <a:normAutofit/>
            </a:bodyPr>
            <a:lstStyle/>
            <a:p>
              <a:pPr>
                <a:lnSpc>
                  <a:spcPct val="135000"/>
                </a:lnSpc>
              </a:pPr>
              <a:r>
                <a:rPr lang="en-US" sz="1200" dirty="0">
                  <a:solidFill>
                    <a:srgbClr val="14342B"/>
                  </a:solidFill>
                  <a:latin typeface="Georgia" panose="02040502050405020303" pitchFamily="18" charset="0"/>
                  <a:ea typeface="Trebuchet MS" pitchFamily="34" charset="-122"/>
                  <a:cs typeface="Trebuchet MS" pitchFamily="34" charset="-120"/>
                </a:rPr>
                <a:t>Input + Marketing</a:t>
              </a:r>
              <a:endParaRPr lang="en-US" sz="1200" dirty="0">
                <a:latin typeface="Georgia" panose="02040502050405020303" pitchFamily="18" charset="0"/>
              </a:endParaRPr>
            </a:p>
          </p:txBody>
        </p:sp>
        <p:sp>
          <p:nvSpPr>
            <p:cNvPr id="61" name="Text 28">
              <a:extLst>
                <a:ext uri="{FF2B5EF4-FFF2-40B4-BE49-F238E27FC236}">
                  <a16:creationId xmlns:a16="http://schemas.microsoft.com/office/drawing/2014/main" id="{67863955-3EC9-6D52-C622-7A7D60F0040D}"/>
                </a:ext>
              </a:extLst>
            </p:cNvPr>
            <p:cNvSpPr/>
            <p:nvPr/>
          </p:nvSpPr>
          <p:spPr>
            <a:xfrm>
              <a:off x="6093024" y="3595887"/>
              <a:ext cx="3955638" cy="1130895"/>
            </a:xfrm>
            <a:prstGeom prst="rect">
              <a:avLst/>
            </a:prstGeom>
            <a:noFill/>
            <a:ln/>
          </p:spPr>
          <p:txBody>
            <a:bodyPr wrap="square" lIns="16933" tIns="16933" rIns="16933" bIns="16933" rtlCol="0" anchor="ctr">
              <a:norm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Groundnut, Maize, Ragi, Tur, Vegetables, Bengal gram, Onion, Pomegranate, Safflower, Paddy, Arecanut, Banana, Coconut, Cotton, Jowar</a:t>
              </a:r>
              <a:endParaRPr lang="en-US" sz="1200" dirty="0">
                <a:latin typeface="Georgia" panose="02040502050405020303" pitchFamily="18" charset="0"/>
              </a:endParaRPr>
            </a:p>
          </p:txBody>
        </p:sp>
        <p:sp>
          <p:nvSpPr>
            <p:cNvPr id="62" name="Text 29">
              <a:extLst>
                <a:ext uri="{FF2B5EF4-FFF2-40B4-BE49-F238E27FC236}">
                  <a16:creationId xmlns:a16="http://schemas.microsoft.com/office/drawing/2014/main" id="{63B1206C-4846-CD02-6A69-32E79D9D34C6}"/>
                </a:ext>
              </a:extLst>
            </p:cNvPr>
            <p:cNvSpPr/>
            <p:nvPr/>
          </p:nvSpPr>
          <p:spPr>
            <a:xfrm>
              <a:off x="10079931" y="3595887"/>
              <a:ext cx="1375469" cy="1130895"/>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29</a:t>
              </a:r>
              <a:endParaRPr lang="en-US" sz="1200" dirty="0">
                <a:latin typeface="Georgia" panose="02040502050405020303" pitchFamily="18" charset="0"/>
              </a:endParaRPr>
            </a:p>
          </p:txBody>
        </p:sp>
        <p:sp>
          <p:nvSpPr>
            <p:cNvPr id="63" name="Shape 30">
              <a:extLst>
                <a:ext uri="{FF2B5EF4-FFF2-40B4-BE49-F238E27FC236}">
                  <a16:creationId xmlns:a16="http://schemas.microsoft.com/office/drawing/2014/main" id="{4E954C7A-250F-B014-B755-652B702CA87F}"/>
                </a:ext>
              </a:extLst>
            </p:cNvPr>
            <p:cNvSpPr/>
            <p:nvPr/>
          </p:nvSpPr>
          <p:spPr>
            <a:xfrm>
              <a:off x="644526" y="6029326"/>
              <a:ext cx="10912475" cy="6350"/>
            </a:xfrm>
            <a:prstGeom prst="rect">
              <a:avLst/>
            </a:prstGeom>
            <a:solidFill>
              <a:srgbClr val="D9D3C3"/>
            </a:solidFill>
            <a:ln/>
          </p:spPr>
          <p:txBody>
            <a:bodyPr/>
            <a:lstStyle/>
            <a:p>
              <a:endParaRPr lang="en-IN">
                <a:latin typeface="Georgia" panose="02040502050405020303" pitchFamily="18" charset="0"/>
              </a:endParaRPr>
            </a:p>
          </p:txBody>
        </p:sp>
        <p:sp>
          <p:nvSpPr>
            <p:cNvPr id="64" name="Shape 31">
              <a:extLst>
                <a:ext uri="{FF2B5EF4-FFF2-40B4-BE49-F238E27FC236}">
                  <a16:creationId xmlns:a16="http://schemas.microsoft.com/office/drawing/2014/main" id="{7303E882-DC80-8BCE-A486-563D3FCCA2A9}"/>
                </a:ext>
              </a:extLst>
            </p:cNvPr>
            <p:cNvSpPr/>
            <p:nvPr/>
          </p:nvSpPr>
          <p:spPr>
            <a:xfrm>
              <a:off x="644526" y="4777582"/>
              <a:ext cx="19050" cy="1258094"/>
            </a:xfrm>
            <a:prstGeom prst="rect">
              <a:avLst/>
            </a:prstGeom>
            <a:solidFill>
              <a:srgbClr val="0E8B96"/>
            </a:solidFill>
            <a:ln/>
          </p:spPr>
          <p:txBody>
            <a:bodyPr/>
            <a:lstStyle/>
            <a:p>
              <a:endParaRPr lang="en-IN">
                <a:latin typeface="Georgia" panose="02040502050405020303" pitchFamily="18" charset="0"/>
              </a:endParaRPr>
            </a:p>
          </p:txBody>
        </p:sp>
        <p:sp>
          <p:nvSpPr>
            <p:cNvPr id="65" name="Text 32">
              <a:extLst>
                <a:ext uri="{FF2B5EF4-FFF2-40B4-BE49-F238E27FC236}">
                  <a16:creationId xmlns:a16="http://schemas.microsoft.com/office/drawing/2014/main" id="{4B78C7B4-3AB6-C1F6-955D-770944A267C0}"/>
                </a:ext>
              </a:extLst>
            </p:cNvPr>
            <p:cNvSpPr/>
            <p:nvPr/>
          </p:nvSpPr>
          <p:spPr>
            <a:xfrm>
              <a:off x="755650" y="5203825"/>
              <a:ext cx="2703168" cy="231081"/>
            </a:xfrm>
            <a:prstGeom prst="rect">
              <a:avLst/>
            </a:prstGeom>
            <a:noFill/>
            <a:ln/>
          </p:spPr>
          <p:txBody>
            <a:bodyPr wrap="square" lIns="16933" tIns="16933" rIns="16933" bIns="16933" rtlCol="0" anchor="ctr">
              <a:noAutofit/>
            </a:bodyPr>
            <a:lstStyle/>
            <a:p>
              <a:pPr>
                <a:lnSpc>
                  <a:spcPct val="135000"/>
                </a:lnSpc>
              </a:pPr>
              <a:r>
                <a:rPr lang="en-US" sz="1400" b="1" dirty="0">
                  <a:solidFill>
                    <a:srgbClr val="0B6E78"/>
                  </a:solidFill>
                  <a:latin typeface="Georgia" panose="02040502050405020303" pitchFamily="18" charset="0"/>
                  <a:ea typeface="Trebuchet MS" pitchFamily="34" charset="-122"/>
                  <a:cs typeface="Trebuchet MS" pitchFamily="34" charset="-120"/>
                </a:rPr>
                <a:t>Kalyana Karnataka</a:t>
              </a:r>
              <a:endParaRPr lang="en-US" sz="1400" dirty="0">
                <a:latin typeface="Georgia" panose="02040502050405020303" pitchFamily="18" charset="0"/>
              </a:endParaRPr>
            </a:p>
          </p:txBody>
        </p:sp>
        <p:sp>
          <p:nvSpPr>
            <p:cNvPr id="66" name="Text 33">
              <a:extLst>
                <a:ext uri="{FF2B5EF4-FFF2-40B4-BE49-F238E27FC236}">
                  <a16:creationId xmlns:a16="http://schemas.microsoft.com/office/drawing/2014/main" id="{6D931C73-DD37-A2BA-AFA4-F64F6E61CE33}"/>
                </a:ext>
              </a:extLst>
            </p:cNvPr>
            <p:cNvSpPr/>
            <p:nvPr/>
          </p:nvSpPr>
          <p:spPr>
            <a:xfrm>
              <a:off x="755650" y="5479356"/>
              <a:ext cx="2703168" cy="179685"/>
            </a:xfrm>
            <a:prstGeom prst="rect">
              <a:avLst/>
            </a:prstGeom>
            <a:noFill/>
            <a:ln/>
          </p:spPr>
          <p:txBody>
            <a:bodyPr wrap="square" lIns="16933" tIns="16933" rIns="16933" bIns="16933" rtlCol="0" anchor="ctr">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Onion · Tomato</a:t>
              </a:r>
              <a:endParaRPr lang="en-US" sz="1000" dirty="0">
                <a:latin typeface="Georgia" panose="02040502050405020303" pitchFamily="18" charset="0"/>
              </a:endParaRPr>
            </a:p>
          </p:txBody>
        </p:sp>
        <p:sp>
          <p:nvSpPr>
            <p:cNvPr id="67" name="Text 34">
              <a:extLst>
                <a:ext uri="{FF2B5EF4-FFF2-40B4-BE49-F238E27FC236}">
                  <a16:creationId xmlns:a16="http://schemas.microsoft.com/office/drawing/2014/main" id="{9462AEB1-92F6-48FB-B7DF-1B244DCE7AAF}"/>
                </a:ext>
              </a:extLst>
            </p:cNvPr>
            <p:cNvSpPr/>
            <p:nvPr/>
          </p:nvSpPr>
          <p:spPr>
            <a:xfrm>
              <a:off x="3532486" y="4853782"/>
              <a:ext cx="611386" cy="1131094"/>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41</a:t>
              </a:r>
              <a:endParaRPr lang="en-US" sz="1200" dirty="0">
                <a:latin typeface="Georgia" panose="02040502050405020303" pitchFamily="18" charset="0"/>
              </a:endParaRPr>
            </a:p>
          </p:txBody>
        </p:sp>
        <p:sp>
          <p:nvSpPr>
            <p:cNvPr id="68" name="Text 35">
              <a:extLst>
                <a:ext uri="{FF2B5EF4-FFF2-40B4-BE49-F238E27FC236}">
                  <a16:creationId xmlns:a16="http://schemas.microsoft.com/office/drawing/2014/main" id="{E834CBA5-33BB-81E8-8CA4-134BFEB54D18}"/>
                </a:ext>
              </a:extLst>
            </p:cNvPr>
            <p:cNvSpPr/>
            <p:nvPr/>
          </p:nvSpPr>
          <p:spPr>
            <a:xfrm>
              <a:off x="4347071" y="4853782"/>
              <a:ext cx="1595131" cy="1131094"/>
            </a:xfrm>
            <a:prstGeom prst="rect">
              <a:avLst/>
            </a:prstGeom>
            <a:noFill/>
            <a:ln/>
          </p:spPr>
          <p:txBody>
            <a:bodyPr wrap="square" lIns="16933" tIns="16933" rIns="16933" bIns="16933" rtlCol="0" anchor="ctr">
              <a:normAutofit/>
            </a:bodyPr>
            <a:lstStyle/>
            <a:p>
              <a:pPr>
                <a:lnSpc>
                  <a:spcPct val="135000"/>
                </a:lnSpc>
              </a:pPr>
              <a:r>
                <a:rPr lang="en-US" sz="1200" dirty="0">
                  <a:solidFill>
                    <a:srgbClr val="14342B"/>
                  </a:solidFill>
                  <a:latin typeface="Georgia" panose="02040502050405020303" pitchFamily="18" charset="0"/>
                  <a:ea typeface="Trebuchet MS" pitchFamily="34" charset="-122"/>
                  <a:cs typeface="Trebuchet MS" pitchFamily="34" charset="-120"/>
                </a:rPr>
                <a:t>Input + Marketing</a:t>
              </a:r>
              <a:endParaRPr lang="en-US" sz="1200" dirty="0">
                <a:latin typeface="Georgia" panose="02040502050405020303" pitchFamily="18" charset="0"/>
              </a:endParaRPr>
            </a:p>
          </p:txBody>
        </p:sp>
        <p:sp>
          <p:nvSpPr>
            <p:cNvPr id="69" name="Text 36">
              <a:extLst>
                <a:ext uri="{FF2B5EF4-FFF2-40B4-BE49-F238E27FC236}">
                  <a16:creationId xmlns:a16="http://schemas.microsoft.com/office/drawing/2014/main" id="{5CE41FFD-9491-D060-E80F-591960D98ED2}"/>
                </a:ext>
              </a:extLst>
            </p:cNvPr>
            <p:cNvSpPr/>
            <p:nvPr/>
          </p:nvSpPr>
          <p:spPr>
            <a:xfrm>
              <a:off x="6093024" y="4853782"/>
              <a:ext cx="3955638" cy="1131094"/>
            </a:xfrm>
            <a:prstGeom prst="rect">
              <a:avLst/>
            </a:prstGeom>
            <a:noFill/>
            <a:ln/>
          </p:spPr>
          <p:txBody>
            <a:bodyPr wrap="square" lIns="16933" tIns="16933" rIns="16933" bIns="16933" rtlCol="0" anchor="ctr">
              <a:no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Bengal gram, Green gram, Jowar, Soyabean, Chia, Ginger, Sugarcane, Black gram, Cotton, Chilli, Onion, Redgram, Bajra, Sunflower, Maize, Paddy</a:t>
              </a:r>
              <a:endParaRPr lang="en-US" sz="1200" dirty="0">
                <a:latin typeface="Georgia" panose="02040502050405020303" pitchFamily="18" charset="0"/>
              </a:endParaRPr>
            </a:p>
          </p:txBody>
        </p:sp>
        <p:sp>
          <p:nvSpPr>
            <p:cNvPr id="70" name="Text 37">
              <a:extLst>
                <a:ext uri="{FF2B5EF4-FFF2-40B4-BE49-F238E27FC236}">
                  <a16:creationId xmlns:a16="http://schemas.microsoft.com/office/drawing/2014/main" id="{75B1A631-92CF-9005-A669-33BCA2C00796}"/>
                </a:ext>
              </a:extLst>
            </p:cNvPr>
            <p:cNvSpPr/>
            <p:nvPr/>
          </p:nvSpPr>
          <p:spPr>
            <a:xfrm>
              <a:off x="10079931" y="4853782"/>
              <a:ext cx="1375469" cy="1131094"/>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13</a:t>
              </a:r>
              <a:endParaRPr lang="en-US" sz="1200" dirty="0">
                <a:latin typeface="Georgia" panose="02040502050405020303" pitchFamily="18" charset="0"/>
              </a:endParaRPr>
            </a:p>
          </p:txBody>
        </p:sp>
      </p:grpSp>
      <p:sp>
        <p:nvSpPr>
          <p:cNvPr id="72" name="Text 3">
            <a:extLst>
              <a:ext uri="{FF2B5EF4-FFF2-40B4-BE49-F238E27FC236}">
                <a16:creationId xmlns:a16="http://schemas.microsoft.com/office/drawing/2014/main" id="{2201A0AF-516A-E1C0-1105-49103930600F}"/>
              </a:ext>
            </a:extLst>
          </p:cNvPr>
          <p:cNvSpPr/>
          <p:nvPr/>
        </p:nvSpPr>
        <p:spPr>
          <a:xfrm>
            <a:off x="534238" y="492624"/>
            <a:ext cx="11249660" cy="388541"/>
          </a:xfrm>
          <a:prstGeom prst="rect">
            <a:avLst/>
          </a:prstGeom>
          <a:noFill/>
          <a:ln/>
        </p:spPr>
        <p:txBody>
          <a:bodyPr wrap="square" lIns="16933" tIns="16933" rIns="16933" bIns="16933" rtlCol="0" anchor="t">
            <a:normAutofit fontScale="92500" lnSpcReduction="20000"/>
          </a:bodyPr>
          <a:lstStyle/>
          <a:p>
            <a:pPr>
              <a:lnSpc>
                <a:spcPct val="110000"/>
              </a:lnSpc>
            </a:pPr>
            <a:r>
              <a:rPr lang="en-US" sz="2600" b="1" kern="0" spc="-26" dirty="0">
                <a:solidFill>
                  <a:schemeClr val="bg1"/>
                </a:solidFill>
                <a:latin typeface="Georgia" panose="02040502050405020303" pitchFamily="18" charset="0"/>
                <a:ea typeface="Trebuchet MS" pitchFamily="34" charset="-122"/>
                <a:cs typeface="Trebuchet MS" pitchFamily="34" charset="-120"/>
              </a:rPr>
              <a:t>Watershed Development Department</a:t>
            </a:r>
            <a:endParaRPr lang="en-US" sz="2600" dirty="0">
              <a:solidFill>
                <a:schemeClr val="bg1"/>
              </a:solidFill>
              <a:latin typeface="Georgia" panose="02040502050405020303" pitchFamily="18" charset="0"/>
            </a:endParaRPr>
          </a:p>
        </p:txBody>
      </p:sp>
      <p:sp>
        <p:nvSpPr>
          <p:cNvPr id="73" name="TextBox 72">
            <a:extLst>
              <a:ext uri="{FF2B5EF4-FFF2-40B4-BE49-F238E27FC236}">
                <a16:creationId xmlns:a16="http://schemas.microsoft.com/office/drawing/2014/main" id="{ADB19964-5BAD-4723-1043-E223B19186B5}"/>
              </a:ext>
            </a:extLst>
          </p:cNvPr>
          <p:cNvSpPr txBox="1"/>
          <p:nvPr/>
        </p:nvSpPr>
        <p:spPr>
          <a:xfrm>
            <a:off x="547371" y="5511969"/>
            <a:ext cx="6270228" cy="507831"/>
          </a:xfrm>
          <a:prstGeom prst="rect">
            <a:avLst/>
          </a:prstGeom>
          <a:noFill/>
        </p:spPr>
        <p:txBody>
          <a:bodyPr wrap="square" rtlCol="0">
            <a:spAutoFit/>
          </a:bodyPr>
          <a:lstStyle/>
          <a:p>
            <a:r>
              <a:rPr lang="en-IN" sz="900" i="1" dirty="0">
                <a:latin typeface="Georgia" panose="02040502050405020303" pitchFamily="18" charset="0"/>
              </a:rPr>
              <a:t>Sources: Watershed development department, </a:t>
            </a:r>
            <a:r>
              <a:rPr lang="en-IN" sz="900" i="1" dirty="0" err="1">
                <a:latin typeface="Georgia" panose="02040502050405020303" pitchFamily="18" charset="0"/>
              </a:rPr>
              <a:t>GoK</a:t>
            </a:r>
            <a:endParaRPr lang="en-US" sz="900" i="1" dirty="0">
              <a:latin typeface="Georgia" panose="02040502050405020303" pitchFamily="18" charset="0"/>
            </a:endParaRPr>
          </a:p>
          <a:p>
            <a:endParaRPr lang="en-IN" dirty="0">
              <a:latin typeface="Georgia" panose="02040502050405020303" pitchFamily="18" charset="0"/>
            </a:endParaRPr>
          </a:p>
        </p:txBody>
      </p:sp>
      <p:pic>
        <p:nvPicPr>
          <p:cNvPr id="3" name="Picture 2">
            <a:extLst>
              <a:ext uri="{FF2B5EF4-FFF2-40B4-BE49-F238E27FC236}">
                <a16:creationId xmlns:a16="http://schemas.microsoft.com/office/drawing/2014/main" id="{64F98333-B968-DF16-8BA5-51C2B9AA63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68" y="5850484"/>
            <a:ext cx="12192000" cy="987920"/>
          </a:xfrm>
          <a:prstGeom prst="rect">
            <a:avLst/>
          </a:prstGeom>
        </p:spPr>
      </p:pic>
    </p:spTree>
    <p:extLst>
      <p:ext uri="{BB962C8B-B14F-4D97-AF65-F5344CB8AC3E}">
        <p14:creationId xmlns:p14="http://schemas.microsoft.com/office/powerpoint/2010/main" val="2450545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B0EBC-A388-9BAE-DFB6-0123D3A1EE73}"/>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183F73DE-2AE4-EC81-9F1D-2DBE8AE3C24D}"/>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46</a:t>
            </a:fld>
            <a:endParaRPr dirty="0">
              <a:latin typeface="Georgia" panose="02040502050405020303" pitchFamily="18" charset="0"/>
            </a:endParaRPr>
          </a:p>
        </p:txBody>
      </p:sp>
      <p:sp>
        <p:nvSpPr>
          <p:cNvPr id="72" name="Text 3">
            <a:extLst>
              <a:ext uri="{FF2B5EF4-FFF2-40B4-BE49-F238E27FC236}">
                <a16:creationId xmlns:a16="http://schemas.microsoft.com/office/drawing/2014/main" id="{8B37035F-BA22-70AD-BE96-BEDE63688A4F}"/>
              </a:ext>
            </a:extLst>
          </p:cNvPr>
          <p:cNvSpPr/>
          <p:nvPr/>
        </p:nvSpPr>
        <p:spPr>
          <a:xfrm>
            <a:off x="534238" y="492624"/>
            <a:ext cx="11249660" cy="388541"/>
          </a:xfrm>
          <a:prstGeom prst="rect">
            <a:avLst/>
          </a:prstGeom>
          <a:noFill/>
          <a:ln/>
        </p:spPr>
        <p:txBody>
          <a:bodyPr wrap="square" lIns="16933" tIns="16933" rIns="16933" bIns="16933" rtlCol="0" anchor="t">
            <a:normAutofit fontScale="92500" lnSpcReduction="20000"/>
          </a:bodyPr>
          <a:lstStyle/>
          <a:p>
            <a:pPr>
              <a:lnSpc>
                <a:spcPct val="110000"/>
              </a:lnSpc>
            </a:pPr>
            <a:r>
              <a:rPr lang="en-US" sz="2600" b="1" kern="0" spc="-26" dirty="0">
                <a:solidFill>
                  <a:schemeClr val="bg1"/>
                </a:solidFill>
                <a:latin typeface="Georgia" panose="02040502050405020303" pitchFamily="18" charset="0"/>
                <a:ea typeface="Trebuchet MS" pitchFamily="34" charset="-122"/>
                <a:cs typeface="Trebuchet MS" pitchFamily="34" charset="-120"/>
              </a:rPr>
              <a:t>Watershed Development Department</a:t>
            </a:r>
            <a:endParaRPr lang="en-US" sz="2600" dirty="0">
              <a:solidFill>
                <a:schemeClr val="bg1"/>
              </a:solidFill>
              <a:latin typeface="Georgia" panose="02040502050405020303" pitchFamily="18" charset="0"/>
            </a:endParaRPr>
          </a:p>
        </p:txBody>
      </p:sp>
      <p:sp>
        <p:nvSpPr>
          <p:cNvPr id="73" name="TextBox 72">
            <a:extLst>
              <a:ext uri="{FF2B5EF4-FFF2-40B4-BE49-F238E27FC236}">
                <a16:creationId xmlns:a16="http://schemas.microsoft.com/office/drawing/2014/main" id="{69E8D5A3-C1F1-15B1-4650-794E23497F6D}"/>
              </a:ext>
            </a:extLst>
          </p:cNvPr>
          <p:cNvSpPr txBox="1"/>
          <p:nvPr/>
        </p:nvSpPr>
        <p:spPr>
          <a:xfrm>
            <a:off x="547371" y="5588169"/>
            <a:ext cx="6148877" cy="507831"/>
          </a:xfrm>
          <a:prstGeom prst="rect">
            <a:avLst/>
          </a:prstGeom>
          <a:noFill/>
        </p:spPr>
        <p:txBody>
          <a:bodyPr wrap="square" rtlCol="0">
            <a:spAutoFit/>
          </a:bodyPr>
          <a:lstStyle/>
          <a:p>
            <a:r>
              <a:rPr lang="en-IN" sz="900" i="1" dirty="0">
                <a:latin typeface="Georgia" panose="02040502050405020303" pitchFamily="18" charset="0"/>
              </a:rPr>
              <a:t>Sources: Watershed development department, </a:t>
            </a:r>
            <a:r>
              <a:rPr lang="en-IN" sz="900" i="1" dirty="0" err="1">
                <a:latin typeface="Georgia" panose="02040502050405020303" pitchFamily="18" charset="0"/>
              </a:rPr>
              <a:t>GoK</a:t>
            </a:r>
            <a:endParaRPr lang="en-US" sz="900" i="1" dirty="0">
              <a:latin typeface="Georgia" panose="02040502050405020303" pitchFamily="18" charset="0"/>
            </a:endParaRPr>
          </a:p>
          <a:p>
            <a:endParaRPr lang="en-IN" dirty="0">
              <a:latin typeface="Georgia" panose="02040502050405020303" pitchFamily="18" charset="0"/>
            </a:endParaRPr>
          </a:p>
        </p:txBody>
      </p:sp>
      <p:grpSp>
        <p:nvGrpSpPr>
          <p:cNvPr id="3" name="Group 2">
            <a:extLst>
              <a:ext uri="{FF2B5EF4-FFF2-40B4-BE49-F238E27FC236}">
                <a16:creationId xmlns:a16="http://schemas.microsoft.com/office/drawing/2014/main" id="{7BA14362-FA68-D83B-ABC7-D5A259AF22A0}"/>
              </a:ext>
            </a:extLst>
          </p:cNvPr>
          <p:cNvGrpSpPr/>
          <p:nvPr/>
        </p:nvGrpSpPr>
        <p:grpSpPr>
          <a:xfrm>
            <a:off x="554683" y="957191"/>
            <a:ext cx="10875318" cy="4545153"/>
            <a:chOff x="635000" y="1480741"/>
            <a:chExt cx="11135360" cy="4554935"/>
          </a:xfrm>
        </p:grpSpPr>
        <p:sp>
          <p:nvSpPr>
            <p:cNvPr id="8" name="Shape 4">
              <a:extLst>
                <a:ext uri="{FF2B5EF4-FFF2-40B4-BE49-F238E27FC236}">
                  <a16:creationId xmlns:a16="http://schemas.microsoft.com/office/drawing/2014/main" id="{404031A0-A16C-BAA9-CDE3-72CD6275FC2D}"/>
                </a:ext>
              </a:extLst>
            </p:cNvPr>
            <p:cNvSpPr/>
            <p:nvPr/>
          </p:nvSpPr>
          <p:spPr>
            <a:xfrm>
              <a:off x="635000" y="1480741"/>
              <a:ext cx="10922000" cy="330200"/>
            </a:xfrm>
            <a:prstGeom prst="rect">
              <a:avLst/>
            </a:prstGeom>
            <a:solidFill>
              <a:srgbClr val="EDF6F7"/>
            </a:solidFill>
            <a:ln/>
          </p:spPr>
          <p:txBody>
            <a:bodyPr/>
            <a:lstStyle/>
            <a:p>
              <a:endParaRPr lang="en-IN" sz="1200">
                <a:latin typeface="Georgia" panose="02040502050405020303" pitchFamily="18" charset="0"/>
              </a:endParaRPr>
            </a:p>
          </p:txBody>
        </p:sp>
        <p:sp>
          <p:nvSpPr>
            <p:cNvPr id="9" name="Shape 5">
              <a:extLst>
                <a:ext uri="{FF2B5EF4-FFF2-40B4-BE49-F238E27FC236}">
                  <a16:creationId xmlns:a16="http://schemas.microsoft.com/office/drawing/2014/main" id="{43CFBD4A-B6EC-3618-A912-324987202AB2}"/>
                </a:ext>
              </a:extLst>
            </p:cNvPr>
            <p:cNvSpPr/>
            <p:nvPr/>
          </p:nvSpPr>
          <p:spPr>
            <a:xfrm>
              <a:off x="635000" y="1480741"/>
              <a:ext cx="25400" cy="330200"/>
            </a:xfrm>
            <a:prstGeom prst="rect">
              <a:avLst/>
            </a:prstGeom>
            <a:solidFill>
              <a:srgbClr val="E8A33D"/>
            </a:solidFill>
            <a:ln/>
          </p:spPr>
          <p:txBody>
            <a:bodyPr/>
            <a:lstStyle/>
            <a:p>
              <a:endParaRPr lang="en-IN" sz="1200">
                <a:latin typeface="Georgia" panose="02040502050405020303" pitchFamily="18" charset="0"/>
              </a:endParaRPr>
            </a:p>
          </p:txBody>
        </p:sp>
        <p:sp>
          <p:nvSpPr>
            <p:cNvPr id="10" name="Text 6">
              <a:extLst>
                <a:ext uri="{FF2B5EF4-FFF2-40B4-BE49-F238E27FC236}">
                  <a16:creationId xmlns:a16="http://schemas.microsoft.com/office/drawing/2014/main" id="{7C251D46-525E-DC4D-34BB-00B566788A13}"/>
                </a:ext>
              </a:extLst>
            </p:cNvPr>
            <p:cNvSpPr/>
            <p:nvPr/>
          </p:nvSpPr>
          <p:spPr>
            <a:xfrm>
              <a:off x="774700" y="1556941"/>
              <a:ext cx="10995660" cy="203200"/>
            </a:xfrm>
            <a:prstGeom prst="rect">
              <a:avLst/>
            </a:prstGeom>
            <a:noFill/>
            <a:ln/>
          </p:spPr>
          <p:txBody>
            <a:bodyPr wrap="square" lIns="16933" tIns="16933" rIns="16933" bIns="16933" rtlCol="0" anchor="t">
              <a:noAutofit/>
            </a:bodyPr>
            <a:lstStyle/>
            <a:p>
              <a:pPr>
                <a:lnSpc>
                  <a:spcPct val="140000"/>
                </a:lnSpc>
              </a:pPr>
              <a:r>
                <a:rPr lang="en-US" sz="1200" dirty="0">
                  <a:solidFill>
                    <a:srgbClr val="6B7A76"/>
                  </a:solidFill>
                  <a:latin typeface="Georgia" panose="02040502050405020303" pitchFamily="18" charset="0"/>
                  <a:ea typeface="Trebuchet MS" pitchFamily="34" charset="-122"/>
                  <a:cs typeface="Trebuchet MS" pitchFamily="34" charset="-120"/>
                </a:rPr>
                <a:t>All WDD-FPOs engage in input-stage &amp; marketing only </a:t>
              </a:r>
              <a:endParaRPr lang="en-US" sz="1200" dirty="0">
                <a:latin typeface="Georgia" panose="02040502050405020303" pitchFamily="18" charset="0"/>
              </a:endParaRPr>
            </a:p>
          </p:txBody>
        </p:sp>
        <p:sp>
          <p:nvSpPr>
            <p:cNvPr id="11" name="Shape 7">
              <a:extLst>
                <a:ext uri="{FF2B5EF4-FFF2-40B4-BE49-F238E27FC236}">
                  <a16:creationId xmlns:a16="http://schemas.microsoft.com/office/drawing/2014/main" id="{A5F23A35-B38A-EFB7-A32F-BE02EA9E046A}"/>
                </a:ext>
              </a:extLst>
            </p:cNvPr>
            <p:cNvSpPr/>
            <p:nvPr/>
          </p:nvSpPr>
          <p:spPr>
            <a:xfrm>
              <a:off x="644526" y="1912541"/>
              <a:ext cx="10912475" cy="355600"/>
            </a:xfrm>
            <a:prstGeom prst="rect">
              <a:avLst/>
            </a:prstGeom>
            <a:solidFill>
              <a:srgbClr val="0B6E78"/>
            </a:solidFill>
            <a:ln/>
          </p:spPr>
          <p:txBody>
            <a:bodyPr/>
            <a:lstStyle/>
            <a:p>
              <a:endParaRPr lang="en-IN" sz="1200">
                <a:latin typeface="Georgia" panose="02040502050405020303" pitchFamily="18" charset="0"/>
              </a:endParaRPr>
            </a:p>
          </p:txBody>
        </p:sp>
        <p:sp>
          <p:nvSpPr>
            <p:cNvPr id="12" name="Text 8">
              <a:extLst>
                <a:ext uri="{FF2B5EF4-FFF2-40B4-BE49-F238E27FC236}">
                  <a16:creationId xmlns:a16="http://schemas.microsoft.com/office/drawing/2014/main" id="{492DB23B-A5F4-B327-4C71-C728D8097906}"/>
                </a:ext>
              </a:extLst>
            </p:cNvPr>
            <p:cNvSpPr/>
            <p:nvPr/>
          </p:nvSpPr>
          <p:spPr>
            <a:xfrm>
              <a:off x="695758" y="1963342"/>
              <a:ext cx="2672306" cy="241300"/>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Cluster</a:t>
              </a:r>
              <a:endParaRPr lang="en-US" sz="1200" dirty="0">
                <a:latin typeface="Georgia" panose="02040502050405020303" pitchFamily="18" charset="0"/>
              </a:endParaRPr>
            </a:p>
          </p:txBody>
        </p:sp>
        <p:sp>
          <p:nvSpPr>
            <p:cNvPr id="13" name="Text 9">
              <a:extLst>
                <a:ext uri="{FF2B5EF4-FFF2-40B4-BE49-F238E27FC236}">
                  <a16:creationId xmlns:a16="http://schemas.microsoft.com/office/drawing/2014/main" id="{EFEEB262-CCD3-F892-FD11-2FC0F5B75F5E}"/>
                </a:ext>
              </a:extLst>
            </p:cNvPr>
            <p:cNvSpPr/>
            <p:nvPr/>
          </p:nvSpPr>
          <p:spPr>
            <a:xfrm>
              <a:off x="3445286" y="2001441"/>
              <a:ext cx="611386" cy="203200"/>
            </a:xfrm>
            <a:prstGeom prst="rect">
              <a:avLst/>
            </a:prstGeom>
            <a:noFill/>
            <a:ln/>
          </p:spPr>
          <p:txBody>
            <a:bodyPr wrap="square" lIns="16933" tIns="16933" rIns="16933" bIns="16933" rtlCol="0" anchor="ctr">
              <a:noAutofit/>
            </a:bodyPr>
            <a:lstStyle/>
            <a:p>
              <a:r>
                <a:rPr lang="en-US" sz="1200" b="1" kern="0" spc="24" dirty="0">
                  <a:solidFill>
                    <a:srgbClr val="FFFFFF"/>
                  </a:solidFill>
                  <a:latin typeface="Georgia" panose="02040502050405020303" pitchFamily="18" charset="0"/>
                  <a:ea typeface="Trebuchet MS" pitchFamily="34" charset="-122"/>
                  <a:cs typeface="Trebuchet MS" pitchFamily="34" charset="-120"/>
                </a:rPr>
                <a:t>FPOs</a:t>
              </a:r>
              <a:endParaRPr lang="en-US" sz="1200" dirty="0">
                <a:latin typeface="Georgia" panose="02040502050405020303" pitchFamily="18" charset="0"/>
              </a:endParaRPr>
            </a:p>
          </p:txBody>
        </p:sp>
        <p:sp>
          <p:nvSpPr>
            <p:cNvPr id="14" name="Text 10">
              <a:extLst>
                <a:ext uri="{FF2B5EF4-FFF2-40B4-BE49-F238E27FC236}">
                  <a16:creationId xmlns:a16="http://schemas.microsoft.com/office/drawing/2014/main" id="{EFE43B42-DDB1-6BBA-E53D-9430F789523F}"/>
                </a:ext>
              </a:extLst>
            </p:cNvPr>
            <p:cNvSpPr/>
            <p:nvPr/>
          </p:nvSpPr>
          <p:spPr>
            <a:xfrm>
              <a:off x="4347071" y="2001441"/>
              <a:ext cx="1595131" cy="203200"/>
            </a:xfrm>
            <a:prstGeom prst="rect">
              <a:avLst/>
            </a:prstGeom>
            <a:noFill/>
            <a:ln/>
          </p:spPr>
          <p:txBody>
            <a:bodyPr wrap="square" lIns="16933" tIns="16933" rIns="16933" bIns="16933" rtlCol="0" anchor="ctr">
              <a:noAutofit/>
            </a:bodyPr>
            <a:lstStyle/>
            <a:p>
              <a:r>
                <a:rPr lang="en-US" sz="1200" b="1" kern="0" spc="24" dirty="0">
                  <a:solidFill>
                    <a:srgbClr val="FFFFFF"/>
                  </a:solidFill>
                  <a:latin typeface="Georgia" panose="02040502050405020303" pitchFamily="18" charset="0"/>
                  <a:ea typeface="Trebuchet MS" pitchFamily="34" charset="-122"/>
                  <a:cs typeface="Trebuchet MS" pitchFamily="34" charset="-120"/>
                </a:rPr>
                <a:t>Post-harvest</a:t>
              </a:r>
              <a:endParaRPr lang="en-US" sz="1200" dirty="0">
                <a:latin typeface="Georgia" panose="02040502050405020303" pitchFamily="18" charset="0"/>
              </a:endParaRPr>
            </a:p>
          </p:txBody>
        </p:sp>
        <p:sp>
          <p:nvSpPr>
            <p:cNvPr id="15" name="Text 11">
              <a:extLst>
                <a:ext uri="{FF2B5EF4-FFF2-40B4-BE49-F238E27FC236}">
                  <a16:creationId xmlns:a16="http://schemas.microsoft.com/office/drawing/2014/main" id="{98E69ACF-3FA1-8E0B-C8C1-0540EC282126}"/>
                </a:ext>
              </a:extLst>
            </p:cNvPr>
            <p:cNvSpPr/>
            <p:nvPr/>
          </p:nvSpPr>
          <p:spPr>
            <a:xfrm>
              <a:off x="6093024" y="2001441"/>
              <a:ext cx="3955638" cy="203200"/>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Major crops</a:t>
              </a:r>
              <a:endParaRPr lang="en-US" sz="1200" dirty="0">
                <a:latin typeface="Georgia" panose="02040502050405020303" pitchFamily="18" charset="0"/>
              </a:endParaRPr>
            </a:p>
          </p:txBody>
        </p:sp>
        <p:sp>
          <p:nvSpPr>
            <p:cNvPr id="16" name="Text 12">
              <a:extLst>
                <a:ext uri="{FF2B5EF4-FFF2-40B4-BE49-F238E27FC236}">
                  <a16:creationId xmlns:a16="http://schemas.microsoft.com/office/drawing/2014/main" id="{2136646D-CA10-D71C-2327-7901DCFA76A4}"/>
                </a:ext>
              </a:extLst>
            </p:cNvPr>
            <p:cNvSpPr/>
            <p:nvPr/>
          </p:nvSpPr>
          <p:spPr>
            <a:xfrm>
              <a:off x="10130731" y="2001441"/>
              <a:ext cx="1375469" cy="203200"/>
            </a:xfrm>
            <a:prstGeom prst="rect">
              <a:avLst/>
            </a:prstGeom>
            <a:noFill/>
            <a:ln/>
          </p:spPr>
          <p:txBody>
            <a:bodyPr wrap="square" lIns="16933" tIns="16933" rIns="16933" bIns="16933" rtlCol="0" anchor="ctr">
              <a:noAutofit/>
            </a:bodyPr>
            <a:lstStyle/>
            <a:p>
              <a:r>
                <a:rPr lang="en-US" sz="1200" b="1" kern="0" spc="24" dirty="0">
                  <a:solidFill>
                    <a:srgbClr val="FFFFFF"/>
                  </a:solidFill>
                  <a:latin typeface="Georgia" panose="02040502050405020303" pitchFamily="18" charset="0"/>
                  <a:ea typeface="Trebuchet MS" pitchFamily="34" charset="-122"/>
                  <a:cs typeface="Trebuchet MS" pitchFamily="34" charset="-120"/>
                </a:rPr>
                <a:t>FY 23-24 (₹ Cr)</a:t>
              </a:r>
              <a:endParaRPr lang="en-US" sz="1200" dirty="0">
                <a:latin typeface="Georgia" panose="02040502050405020303" pitchFamily="18" charset="0"/>
              </a:endParaRPr>
            </a:p>
          </p:txBody>
        </p:sp>
        <p:sp>
          <p:nvSpPr>
            <p:cNvPr id="17" name="Shape 13">
              <a:extLst>
                <a:ext uri="{FF2B5EF4-FFF2-40B4-BE49-F238E27FC236}">
                  <a16:creationId xmlns:a16="http://schemas.microsoft.com/office/drawing/2014/main" id="{96BAE42E-7350-4946-54DB-D74FE6B5C12E}"/>
                </a:ext>
              </a:extLst>
            </p:cNvPr>
            <p:cNvSpPr/>
            <p:nvPr/>
          </p:nvSpPr>
          <p:spPr>
            <a:xfrm>
              <a:off x="644526" y="3158133"/>
              <a:ext cx="10912475" cy="6350"/>
            </a:xfrm>
            <a:prstGeom prst="rect">
              <a:avLst/>
            </a:prstGeom>
            <a:solidFill>
              <a:srgbClr val="D9D3C3"/>
            </a:solidFill>
            <a:ln/>
          </p:spPr>
          <p:txBody>
            <a:bodyPr/>
            <a:lstStyle/>
            <a:p>
              <a:endParaRPr lang="en-IN" sz="1200">
                <a:latin typeface="Georgia" panose="02040502050405020303" pitchFamily="18" charset="0"/>
              </a:endParaRPr>
            </a:p>
          </p:txBody>
        </p:sp>
        <p:sp>
          <p:nvSpPr>
            <p:cNvPr id="18" name="Shape 14">
              <a:extLst>
                <a:ext uri="{FF2B5EF4-FFF2-40B4-BE49-F238E27FC236}">
                  <a16:creationId xmlns:a16="http://schemas.microsoft.com/office/drawing/2014/main" id="{100FB252-5728-5C56-43C5-BB7A09C15FAC}"/>
                </a:ext>
              </a:extLst>
            </p:cNvPr>
            <p:cNvSpPr/>
            <p:nvPr/>
          </p:nvSpPr>
          <p:spPr>
            <a:xfrm>
              <a:off x="644526" y="2268141"/>
              <a:ext cx="19050" cy="896342"/>
            </a:xfrm>
            <a:prstGeom prst="rect">
              <a:avLst/>
            </a:prstGeom>
            <a:solidFill>
              <a:srgbClr val="0E8B96"/>
            </a:solidFill>
            <a:ln/>
          </p:spPr>
          <p:txBody>
            <a:bodyPr/>
            <a:lstStyle/>
            <a:p>
              <a:endParaRPr lang="en-IN" sz="1200">
                <a:latin typeface="Georgia" panose="02040502050405020303" pitchFamily="18" charset="0"/>
              </a:endParaRPr>
            </a:p>
          </p:txBody>
        </p:sp>
        <p:sp>
          <p:nvSpPr>
            <p:cNvPr id="19" name="Text 15">
              <a:extLst>
                <a:ext uri="{FF2B5EF4-FFF2-40B4-BE49-F238E27FC236}">
                  <a16:creationId xmlns:a16="http://schemas.microsoft.com/office/drawing/2014/main" id="{9B2080EA-B805-9006-54D7-02DC1F9B0165}"/>
                </a:ext>
              </a:extLst>
            </p:cNvPr>
            <p:cNvSpPr/>
            <p:nvPr/>
          </p:nvSpPr>
          <p:spPr>
            <a:xfrm>
              <a:off x="755650" y="2608003"/>
              <a:ext cx="2703168"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South Karnataka</a:t>
              </a:r>
              <a:endParaRPr lang="en-US" sz="1200" dirty="0">
                <a:latin typeface="Georgia" panose="02040502050405020303" pitchFamily="18" charset="0"/>
              </a:endParaRPr>
            </a:p>
          </p:txBody>
        </p:sp>
        <p:sp>
          <p:nvSpPr>
            <p:cNvPr id="20" name="Text 16">
              <a:extLst>
                <a:ext uri="{FF2B5EF4-FFF2-40B4-BE49-F238E27FC236}">
                  <a16:creationId xmlns:a16="http://schemas.microsoft.com/office/drawing/2014/main" id="{28D7CBB5-6DCA-01E0-8616-770D7C3D5491}"/>
                </a:ext>
              </a:extLst>
            </p:cNvPr>
            <p:cNvSpPr/>
            <p:nvPr/>
          </p:nvSpPr>
          <p:spPr>
            <a:xfrm>
              <a:off x="755650" y="2820034"/>
              <a:ext cx="2703168"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Banana · Tomato · Mango</a:t>
              </a:r>
              <a:endParaRPr lang="en-US" sz="1000" dirty="0">
                <a:latin typeface="Georgia" panose="02040502050405020303" pitchFamily="18" charset="0"/>
              </a:endParaRPr>
            </a:p>
          </p:txBody>
        </p:sp>
        <p:sp>
          <p:nvSpPr>
            <p:cNvPr id="21" name="Text 17">
              <a:extLst>
                <a:ext uri="{FF2B5EF4-FFF2-40B4-BE49-F238E27FC236}">
                  <a16:creationId xmlns:a16="http://schemas.microsoft.com/office/drawing/2014/main" id="{60202213-3B05-D051-1B75-54323145A9F1}"/>
                </a:ext>
              </a:extLst>
            </p:cNvPr>
            <p:cNvSpPr/>
            <p:nvPr/>
          </p:nvSpPr>
          <p:spPr>
            <a:xfrm>
              <a:off x="3292262" y="2344341"/>
              <a:ext cx="611386" cy="769342"/>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58</a:t>
              </a:r>
              <a:endParaRPr lang="en-US" sz="1200" dirty="0">
                <a:latin typeface="Georgia" panose="02040502050405020303" pitchFamily="18" charset="0"/>
              </a:endParaRPr>
            </a:p>
          </p:txBody>
        </p:sp>
        <p:sp>
          <p:nvSpPr>
            <p:cNvPr id="22" name="Text 18">
              <a:extLst>
                <a:ext uri="{FF2B5EF4-FFF2-40B4-BE49-F238E27FC236}">
                  <a16:creationId xmlns:a16="http://schemas.microsoft.com/office/drawing/2014/main" id="{30377F39-B6DD-C884-860B-5DDC3783E1D1}"/>
                </a:ext>
              </a:extLst>
            </p:cNvPr>
            <p:cNvSpPr/>
            <p:nvPr/>
          </p:nvSpPr>
          <p:spPr>
            <a:xfrm>
              <a:off x="4347071" y="2344341"/>
              <a:ext cx="1595131" cy="769342"/>
            </a:xfrm>
            <a:prstGeom prst="rect">
              <a:avLst/>
            </a:prstGeom>
            <a:noFill/>
            <a:ln/>
          </p:spPr>
          <p:txBody>
            <a:bodyPr wrap="square" lIns="16933" tIns="16933" rIns="16933" bIns="16933" rtlCol="0" anchor="ctr">
              <a:normAutofit/>
            </a:bodyPr>
            <a:lstStyle/>
            <a:p>
              <a:pPr>
                <a:lnSpc>
                  <a:spcPct val="135000"/>
                </a:lnSpc>
              </a:pPr>
              <a:r>
                <a:rPr lang="en-US" sz="1200" dirty="0">
                  <a:solidFill>
                    <a:srgbClr val="14342B"/>
                  </a:solidFill>
                  <a:latin typeface="Georgia" panose="02040502050405020303" pitchFamily="18" charset="0"/>
                  <a:ea typeface="Trebuchet MS" pitchFamily="34" charset="-122"/>
                  <a:cs typeface="Trebuchet MS" pitchFamily="34" charset="-120"/>
                </a:rPr>
                <a:t>Input + Marketing</a:t>
              </a:r>
              <a:endParaRPr lang="en-US" sz="1200" dirty="0">
                <a:latin typeface="Georgia" panose="02040502050405020303" pitchFamily="18" charset="0"/>
              </a:endParaRPr>
            </a:p>
          </p:txBody>
        </p:sp>
        <p:sp>
          <p:nvSpPr>
            <p:cNvPr id="44" name="Text 19">
              <a:extLst>
                <a:ext uri="{FF2B5EF4-FFF2-40B4-BE49-F238E27FC236}">
                  <a16:creationId xmlns:a16="http://schemas.microsoft.com/office/drawing/2014/main" id="{BC1DC0FC-72D0-E64B-48A2-DA064E58077F}"/>
                </a:ext>
              </a:extLst>
            </p:cNvPr>
            <p:cNvSpPr/>
            <p:nvPr/>
          </p:nvSpPr>
          <p:spPr>
            <a:xfrm>
              <a:off x="6093024" y="2344341"/>
              <a:ext cx="3955638" cy="769342"/>
            </a:xfrm>
            <a:prstGeom prst="rect">
              <a:avLst/>
            </a:prstGeom>
            <a:noFill/>
            <a:ln/>
          </p:spPr>
          <p:txBody>
            <a:bodyPr wrap="square" lIns="16933" tIns="16933" rIns="16933" bIns="16933" rtlCol="0" anchor="t">
              <a:no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Arecanut, Coconut, Ragi, Banana, Mango, Vegetables, Coffee, Ginger, Groundnut, Maize, Sugarcane, Turmeric, Paddy, Chilli, Tomato, Cotton</a:t>
              </a:r>
              <a:endParaRPr lang="en-US" sz="1200" dirty="0">
                <a:latin typeface="Georgia" panose="02040502050405020303" pitchFamily="18" charset="0"/>
              </a:endParaRPr>
            </a:p>
          </p:txBody>
        </p:sp>
        <p:sp>
          <p:nvSpPr>
            <p:cNvPr id="45" name="Text 20">
              <a:extLst>
                <a:ext uri="{FF2B5EF4-FFF2-40B4-BE49-F238E27FC236}">
                  <a16:creationId xmlns:a16="http://schemas.microsoft.com/office/drawing/2014/main" id="{756BC0EF-878F-5169-0F2F-39A1565E5148}"/>
                </a:ext>
              </a:extLst>
            </p:cNvPr>
            <p:cNvSpPr/>
            <p:nvPr/>
          </p:nvSpPr>
          <p:spPr>
            <a:xfrm>
              <a:off x="10079931" y="2344341"/>
              <a:ext cx="1375469" cy="769342"/>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18</a:t>
              </a:r>
              <a:endParaRPr lang="en-US" sz="1200" dirty="0">
                <a:latin typeface="Georgia" panose="02040502050405020303" pitchFamily="18" charset="0"/>
              </a:endParaRPr>
            </a:p>
          </p:txBody>
        </p:sp>
        <p:sp>
          <p:nvSpPr>
            <p:cNvPr id="46" name="Shape 21">
              <a:extLst>
                <a:ext uri="{FF2B5EF4-FFF2-40B4-BE49-F238E27FC236}">
                  <a16:creationId xmlns:a16="http://schemas.microsoft.com/office/drawing/2014/main" id="{E66FE855-3946-576A-589E-8B2550F62654}"/>
                </a:ext>
              </a:extLst>
            </p:cNvPr>
            <p:cNvSpPr/>
            <p:nvPr/>
          </p:nvSpPr>
          <p:spPr>
            <a:xfrm>
              <a:off x="644526" y="3164483"/>
              <a:ext cx="10912475" cy="901700"/>
            </a:xfrm>
            <a:prstGeom prst="rect">
              <a:avLst/>
            </a:prstGeom>
            <a:solidFill>
              <a:srgbClr val="EFE8D8"/>
            </a:solidFill>
            <a:ln/>
          </p:spPr>
          <p:txBody>
            <a:bodyPr/>
            <a:lstStyle/>
            <a:p>
              <a:endParaRPr lang="en-IN" sz="1200">
                <a:latin typeface="Georgia" panose="02040502050405020303" pitchFamily="18" charset="0"/>
              </a:endParaRPr>
            </a:p>
          </p:txBody>
        </p:sp>
        <p:sp>
          <p:nvSpPr>
            <p:cNvPr id="47" name="Shape 22">
              <a:extLst>
                <a:ext uri="{FF2B5EF4-FFF2-40B4-BE49-F238E27FC236}">
                  <a16:creationId xmlns:a16="http://schemas.microsoft.com/office/drawing/2014/main" id="{5D4BAE8E-E56B-7293-7421-6D0C1FE6657A}"/>
                </a:ext>
              </a:extLst>
            </p:cNvPr>
            <p:cNvSpPr/>
            <p:nvPr/>
          </p:nvSpPr>
          <p:spPr>
            <a:xfrm>
              <a:off x="644526" y="4059833"/>
              <a:ext cx="10912475" cy="6350"/>
            </a:xfrm>
            <a:prstGeom prst="rect">
              <a:avLst/>
            </a:prstGeom>
            <a:solidFill>
              <a:srgbClr val="D9D3C3"/>
            </a:solidFill>
            <a:ln/>
          </p:spPr>
          <p:txBody>
            <a:bodyPr/>
            <a:lstStyle/>
            <a:p>
              <a:endParaRPr lang="en-IN" sz="1200">
                <a:latin typeface="Georgia" panose="02040502050405020303" pitchFamily="18" charset="0"/>
              </a:endParaRPr>
            </a:p>
          </p:txBody>
        </p:sp>
        <p:sp>
          <p:nvSpPr>
            <p:cNvPr id="48" name="Shape 23">
              <a:extLst>
                <a:ext uri="{FF2B5EF4-FFF2-40B4-BE49-F238E27FC236}">
                  <a16:creationId xmlns:a16="http://schemas.microsoft.com/office/drawing/2014/main" id="{6852DC38-3AC0-94C9-227B-86CC9D6C6805}"/>
                </a:ext>
              </a:extLst>
            </p:cNvPr>
            <p:cNvSpPr/>
            <p:nvPr/>
          </p:nvSpPr>
          <p:spPr>
            <a:xfrm>
              <a:off x="644526" y="3164483"/>
              <a:ext cx="19050" cy="901700"/>
            </a:xfrm>
            <a:prstGeom prst="rect">
              <a:avLst/>
            </a:prstGeom>
            <a:solidFill>
              <a:srgbClr val="0E8B96"/>
            </a:solidFill>
            <a:ln/>
          </p:spPr>
          <p:txBody>
            <a:bodyPr/>
            <a:lstStyle/>
            <a:p>
              <a:endParaRPr lang="en-IN" sz="1200">
                <a:latin typeface="Georgia" panose="02040502050405020303" pitchFamily="18" charset="0"/>
              </a:endParaRPr>
            </a:p>
          </p:txBody>
        </p:sp>
        <p:sp>
          <p:nvSpPr>
            <p:cNvPr id="49" name="Text 24">
              <a:extLst>
                <a:ext uri="{FF2B5EF4-FFF2-40B4-BE49-F238E27FC236}">
                  <a16:creationId xmlns:a16="http://schemas.microsoft.com/office/drawing/2014/main" id="{39255978-CEDF-056D-3BF4-102672F9DD15}"/>
                </a:ext>
              </a:extLst>
            </p:cNvPr>
            <p:cNvSpPr/>
            <p:nvPr/>
          </p:nvSpPr>
          <p:spPr>
            <a:xfrm>
              <a:off x="755650" y="3507520"/>
              <a:ext cx="2703168"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East Karnataka</a:t>
              </a:r>
              <a:endParaRPr lang="en-US" sz="1200" dirty="0">
                <a:latin typeface="Georgia" panose="02040502050405020303" pitchFamily="18" charset="0"/>
              </a:endParaRPr>
            </a:p>
          </p:txBody>
        </p:sp>
        <p:sp>
          <p:nvSpPr>
            <p:cNvPr id="50" name="Text 25">
              <a:extLst>
                <a:ext uri="{FF2B5EF4-FFF2-40B4-BE49-F238E27FC236}">
                  <a16:creationId xmlns:a16="http://schemas.microsoft.com/office/drawing/2014/main" id="{4B0B7606-D778-08D4-89AE-E98F2BC5277C}"/>
                </a:ext>
              </a:extLst>
            </p:cNvPr>
            <p:cNvSpPr/>
            <p:nvPr/>
          </p:nvSpPr>
          <p:spPr>
            <a:xfrm>
              <a:off x="755650" y="3719550"/>
              <a:ext cx="2703168"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Tomato · Mango processing</a:t>
              </a:r>
              <a:endParaRPr lang="en-US" sz="1000" dirty="0">
                <a:latin typeface="Georgia" panose="02040502050405020303" pitchFamily="18" charset="0"/>
              </a:endParaRPr>
            </a:p>
          </p:txBody>
        </p:sp>
        <p:sp>
          <p:nvSpPr>
            <p:cNvPr id="51" name="Text 26">
              <a:extLst>
                <a:ext uri="{FF2B5EF4-FFF2-40B4-BE49-F238E27FC236}">
                  <a16:creationId xmlns:a16="http://schemas.microsoft.com/office/drawing/2014/main" id="{F1114D36-C32D-5A84-793A-6D2ADCFE9704}"/>
                </a:ext>
              </a:extLst>
            </p:cNvPr>
            <p:cNvSpPr/>
            <p:nvPr/>
          </p:nvSpPr>
          <p:spPr>
            <a:xfrm>
              <a:off x="3292262" y="3250010"/>
              <a:ext cx="611386" cy="774700"/>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40</a:t>
              </a:r>
              <a:endParaRPr lang="en-US" sz="1200" dirty="0">
                <a:latin typeface="Georgia" panose="02040502050405020303" pitchFamily="18" charset="0"/>
              </a:endParaRPr>
            </a:p>
          </p:txBody>
        </p:sp>
        <p:sp>
          <p:nvSpPr>
            <p:cNvPr id="52" name="Text 27">
              <a:extLst>
                <a:ext uri="{FF2B5EF4-FFF2-40B4-BE49-F238E27FC236}">
                  <a16:creationId xmlns:a16="http://schemas.microsoft.com/office/drawing/2014/main" id="{20510572-66D7-2C15-778C-05EC72E63643}"/>
                </a:ext>
              </a:extLst>
            </p:cNvPr>
            <p:cNvSpPr/>
            <p:nvPr/>
          </p:nvSpPr>
          <p:spPr>
            <a:xfrm>
              <a:off x="4347071" y="3240683"/>
              <a:ext cx="1595131" cy="774700"/>
            </a:xfrm>
            <a:prstGeom prst="rect">
              <a:avLst/>
            </a:prstGeom>
            <a:noFill/>
            <a:ln/>
          </p:spPr>
          <p:txBody>
            <a:bodyPr wrap="square" lIns="16933" tIns="16933" rIns="16933" bIns="16933" rtlCol="0" anchor="ctr">
              <a:normAutofit/>
            </a:bodyPr>
            <a:lstStyle/>
            <a:p>
              <a:pPr>
                <a:lnSpc>
                  <a:spcPct val="135000"/>
                </a:lnSpc>
              </a:pPr>
              <a:r>
                <a:rPr lang="en-US" sz="1200" dirty="0">
                  <a:solidFill>
                    <a:srgbClr val="14342B"/>
                  </a:solidFill>
                  <a:latin typeface="Georgia" panose="02040502050405020303" pitchFamily="18" charset="0"/>
                  <a:ea typeface="Trebuchet MS" pitchFamily="34" charset="-122"/>
                  <a:cs typeface="Trebuchet MS" pitchFamily="34" charset="-120"/>
                </a:rPr>
                <a:t>Input + Marketing</a:t>
              </a:r>
              <a:endParaRPr lang="en-US" sz="1200" dirty="0">
                <a:latin typeface="Georgia" panose="02040502050405020303" pitchFamily="18" charset="0"/>
              </a:endParaRPr>
            </a:p>
          </p:txBody>
        </p:sp>
        <p:sp>
          <p:nvSpPr>
            <p:cNvPr id="53" name="Text 28">
              <a:extLst>
                <a:ext uri="{FF2B5EF4-FFF2-40B4-BE49-F238E27FC236}">
                  <a16:creationId xmlns:a16="http://schemas.microsoft.com/office/drawing/2014/main" id="{C149CDF1-9064-34B1-4644-40FF773A2832}"/>
                </a:ext>
              </a:extLst>
            </p:cNvPr>
            <p:cNvSpPr/>
            <p:nvPr/>
          </p:nvSpPr>
          <p:spPr>
            <a:xfrm>
              <a:off x="6093024" y="3240683"/>
              <a:ext cx="3955638" cy="774700"/>
            </a:xfrm>
            <a:prstGeom prst="rect">
              <a:avLst/>
            </a:prstGeom>
            <a:noFill/>
            <a:ln/>
          </p:spPr>
          <p:txBody>
            <a:bodyPr wrap="square" lIns="16933" tIns="16933" rIns="16933" bIns="16933" rtlCol="0" anchor="t">
              <a:no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Arecanut, Coconut, Millets, Tomato, Grapes, Ginger, Cabbage, Vegetables, Flowers, Mango, Chilli, Groundnut, Maize, Ragi, Pomegranate, Cotton</a:t>
              </a:r>
              <a:endParaRPr lang="en-US" sz="1200" dirty="0">
                <a:latin typeface="Georgia" panose="02040502050405020303" pitchFamily="18" charset="0"/>
              </a:endParaRPr>
            </a:p>
          </p:txBody>
        </p:sp>
        <p:sp>
          <p:nvSpPr>
            <p:cNvPr id="54" name="Text 29">
              <a:extLst>
                <a:ext uri="{FF2B5EF4-FFF2-40B4-BE49-F238E27FC236}">
                  <a16:creationId xmlns:a16="http://schemas.microsoft.com/office/drawing/2014/main" id="{57EE7393-2219-A681-52F6-CC47697DA147}"/>
                </a:ext>
              </a:extLst>
            </p:cNvPr>
            <p:cNvSpPr/>
            <p:nvPr/>
          </p:nvSpPr>
          <p:spPr>
            <a:xfrm>
              <a:off x="10079931" y="3240683"/>
              <a:ext cx="1375469" cy="774700"/>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13</a:t>
              </a:r>
              <a:endParaRPr lang="en-US" sz="1200" dirty="0">
                <a:latin typeface="Georgia" panose="02040502050405020303" pitchFamily="18" charset="0"/>
              </a:endParaRPr>
            </a:p>
          </p:txBody>
        </p:sp>
        <p:sp>
          <p:nvSpPr>
            <p:cNvPr id="55" name="Shape 30">
              <a:extLst>
                <a:ext uri="{FF2B5EF4-FFF2-40B4-BE49-F238E27FC236}">
                  <a16:creationId xmlns:a16="http://schemas.microsoft.com/office/drawing/2014/main" id="{5F5733C9-3E66-BD75-A7D6-BDC1206C30A3}"/>
                </a:ext>
              </a:extLst>
            </p:cNvPr>
            <p:cNvSpPr/>
            <p:nvPr/>
          </p:nvSpPr>
          <p:spPr>
            <a:xfrm>
              <a:off x="644526" y="5127427"/>
              <a:ext cx="10912475" cy="6350"/>
            </a:xfrm>
            <a:prstGeom prst="rect">
              <a:avLst/>
            </a:prstGeom>
            <a:solidFill>
              <a:srgbClr val="D9D3C3"/>
            </a:solidFill>
            <a:ln/>
          </p:spPr>
          <p:txBody>
            <a:bodyPr/>
            <a:lstStyle/>
            <a:p>
              <a:endParaRPr lang="en-IN" sz="1200">
                <a:latin typeface="Georgia" panose="02040502050405020303" pitchFamily="18" charset="0"/>
              </a:endParaRPr>
            </a:p>
          </p:txBody>
        </p:sp>
        <p:sp>
          <p:nvSpPr>
            <p:cNvPr id="56" name="Shape 31">
              <a:extLst>
                <a:ext uri="{FF2B5EF4-FFF2-40B4-BE49-F238E27FC236}">
                  <a16:creationId xmlns:a16="http://schemas.microsoft.com/office/drawing/2014/main" id="{9D284C20-1444-F400-CBB0-6EEA8AEFFE77}"/>
                </a:ext>
              </a:extLst>
            </p:cNvPr>
            <p:cNvSpPr/>
            <p:nvPr/>
          </p:nvSpPr>
          <p:spPr>
            <a:xfrm>
              <a:off x="644526" y="4066183"/>
              <a:ext cx="19050" cy="1067594"/>
            </a:xfrm>
            <a:prstGeom prst="rect">
              <a:avLst/>
            </a:prstGeom>
            <a:solidFill>
              <a:srgbClr val="0E8B96"/>
            </a:solidFill>
            <a:ln/>
          </p:spPr>
          <p:txBody>
            <a:bodyPr/>
            <a:lstStyle/>
            <a:p>
              <a:endParaRPr lang="en-IN" sz="1200">
                <a:latin typeface="Georgia" panose="02040502050405020303" pitchFamily="18" charset="0"/>
              </a:endParaRPr>
            </a:p>
          </p:txBody>
        </p:sp>
        <p:sp>
          <p:nvSpPr>
            <p:cNvPr id="57" name="Text 32">
              <a:extLst>
                <a:ext uri="{FF2B5EF4-FFF2-40B4-BE49-F238E27FC236}">
                  <a16:creationId xmlns:a16="http://schemas.microsoft.com/office/drawing/2014/main" id="{07DF12C4-AD3A-30A4-A5B2-292510DFA0DB}"/>
                </a:ext>
              </a:extLst>
            </p:cNvPr>
            <p:cNvSpPr/>
            <p:nvPr/>
          </p:nvSpPr>
          <p:spPr>
            <a:xfrm>
              <a:off x="755650" y="4409220"/>
              <a:ext cx="2703168"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Northwest Karnataka</a:t>
              </a:r>
              <a:endParaRPr lang="en-US" sz="1200" dirty="0">
                <a:latin typeface="Georgia" panose="02040502050405020303" pitchFamily="18" charset="0"/>
              </a:endParaRPr>
            </a:p>
          </p:txBody>
        </p:sp>
        <p:sp>
          <p:nvSpPr>
            <p:cNvPr id="58" name="Text 33">
              <a:extLst>
                <a:ext uri="{FF2B5EF4-FFF2-40B4-BE49-F238E27FC236}">
                  <a16:creationId xmlns:a16="http://schemas.microsoft.com/office/drawing/2014/main" id="{2AF9EE86-7A86-13B6-CCC6-6E4E79BCB909}"/>
                </a:ext>
              </a:extLst>
            </p:cNvPr>
            <p:cNvSpPr/>
            <p:nvPr/>
          </p:nvSpPr>
          <p:spPr>
            <a:xfrm>
              <a:off x="755650" y="4621250"/>
              <a:ext cx="2703168"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Multi-crop</a:t>
              </a:r>
              <a:endParaRPr lang="en-US" sz="1000" dirty="0">
                <a:latin typeface="Georgia" panose="02040502050405020303" pitchFamily="18" charset="0"/>
              </a:endParaRPr>
            </a:p>
          </p:txBody>
        </p:sp>
        <p:sp>
          <p:nvSpPr>
            <p:cNvPr id="74" name="Text 34">
              <a:extLst>
                <a:ext uri="{FF2B5EF4-FFF2-40B4-BE49-F238E27FC236}">
                  <a16:creationId xmlns:a16="http://schemas.microsoft.com/office/drawing/2014/main" id="{A709CBD8-0599-A848-6A8F-B41684D18466}"/>
                </a:ext>
              </a:extLst>
            </p:cNvPr>
            <p:cNvSpPr/>
            <p:nvPr/>
          </p:nvSpPr>
          <p:spPr>
            <a:xfrm>
              <a:off x="3292262" y="4151709"/>
              <a:ext cx="611386" cy="940594"/>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48</a:t>
              </a:r>
              <a:endParaRPr lang="en-US" sz="1200" dirty="0">
                <a:latin typeface="Georgia" panose="02040502050405020303" pitchFamily="18" charset="0"/>
              </a:endParaRPr>
            </a:p>
          </p:txBody>
        </p:sp>
        <p:sp>
          <p:nvSpPr>
            <p:cNvPr id="75" name="Text 35">
              <a:extLst>
                <a:ext uri="{FF2B5EF4-FFF2-40B4-BE49-F238E27FC236}">
                  <a16:creationId xmlns:a16="http://schemas.microsoft.com/office/drawing/2014/main" id="{AE82C03D-66EA-5868-75A6-B516180A653D}"/>
                </a:ext>
              </a:extLst>
            </p:cNvPr>
            <p:cNvSpPr/>
            <p:nvPr/>
          </p:nvSpPr>
          <p:spPr>
            <a:xfrm>
              <a:off x="4347071" y="4142383"/>
              <a:ext cx="1595131" cy="940594"/>
            </a:xfrm>
            <a:prstGeom prst="rect">
              <a:avLst/>
            </a:prstGeom>
            <a:noFill/>
            <a:ln/>
          </p:spPr>
          <p:txBody>
            <a:bodyPr wrap="square" lIns="16933" tIns="16933" rIns="16933" bIns="16933" rtlCol="0" anchor="ctr">
              <a:normAutofit/>
            </a:bodyPr>
            <a:lstStyle/>
            <a:p>
              <a:pPr>
                <a:lnSpc>
                  <a:spcPct val="135000"/>
                </a:lnSpc>
              </a:pPr>
              <a:r>
                <a:rPr lang="en-US" sz="1200" dirty="0">
                  <a:solidFill>
                    <a:srgbClr val="14342B"/>
                  </a:solidFill>
                  <a:latin typeface="Georgia" panose="02040502050405020303" pitchFamily="18" charset="0"/>
                  <a:ea typeface="Trebuchet MS" pitchFamily="34" charset="-122"/>
                  <a:cs typeface="Trebuchet MS" pitchFamily="34" charset="-120"/>
                </a:rPr>
                <a:t>Input + Marketing</a:t>
              </a:r>
              <a:endParaRPr lang="en-US" sz="1200" dirty="0">
                <a:latin typeface="Georgia" panose="02040502050405020303" pitchFamily="18" charset="0"/>
              </a:endParaRPr>
            </a:p>
          </p:txBody>
        </p:sp>
        <p:sp>
          <p:nvSpPr>
            <p:cNvPr id="76" name="Text 36">
              <a:extLst>
                <a:ext uri="{FF2B5EF4-FFF2-40B4-BE49-F238E27FC236}">
                  <a16:creationId xmlns:a16="http://schemas.microsoft.com/office/drawing/2014/main" id="{9E8942DC-60F5-8A3E-E14C-DFAA9FC4F103}"/>
                </a:ext>
              </a:extLst>
            </p:cNvPr>
            <p:cNvSpPr/>
            <p:nvPr/>
          </p:nvSpPr>
          <p:spPr>
            <a:xfrm>
              <a:off x="6093024" y="4142383"/>
              <a:ext cx="3955638" cy="940594"/>
            </a:xfrm>
            <a:prstGeom prst="rect">
              <a:avLst/>
            </a:prstGeom>
            <a:noFill/>
            <a:ln/>
          </p:spPr>
          <p:txBody>
            <a:bodyPr wrap="square" lIns="16933" tIns="16933" rIns="16933" bIns="16933" rtlCol="0" anchor="t">
              <a:norm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Arecanut, Banana, Coconut, Ginger, Paddy, Pepper, Turmeric, Groundnut, Bengal gram, Cotton, Green gram, Maize, Soyabean, Sugarcane, Vegetables, Chilli</a:t>
              </a:r>
              <a:endParaRPr lang="en-US" sz="1200" dirty="0">
                <a:latin typeface="Georgia" panose="02040502050405020303" pitchFamily="18" charset="0"/>
              </a:endParaRPr>
            </a:p>
          </p:txBody>
        </p:sp>
        <p:sp>
          <p:nvSpPr>
            <p:cNvPr id="77" name="Text 37">
              <a:extLst>
                <a:ext uri="{FF2B5EF4-FFF2-40B4-BE49-F238E27FC236}">
                  <a16:creationId xmlns:a16="http://schemas.microsoft.com/office/drawing/2014/main" id="{1F43583A-BC51-8CDF-6975-532F31EFFF78}"/>
                </a:ext>
              </a:extLst>
            </p:cNvPr>
            <p:cNvSpPr/>
            <p:nvPr/>
          </p:nvSpPr>
          <p:spPr>
            <a:xfrm>
              <a:off x="10079931" y="4142383"/>
              <a:ext cx="1375469" cy="940594"/>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33</a:t>
              </a:r>
              <a:endParaRPr lang="en-US" sz="1200" dirty="0">
                <a:latin typeface="Georgia" panose="02040502050405020303" pitchFamily="18" charset="0"/>
              </a:endParaRPr>
            </a:p>
          </p:txBody>
        </p:sp>
        <p:sp>
          <p:nvSpPr>
            <p:cNvPr id="78" name="Shape 38">
              <a:extLst>
                <a:ext uri="{FF2B5EF4-FFF2-40B4-BE49-F238E27FC236}">
                  <a16:creationId xmlns:a16="http://schemas.microsoft.com/office/drawing/2014/main" id="{B0FD8AE7-DC0C-0574-6C50-FD8FA1611D35}"/>
                </a:ext>
              </a:extLst>
            </p:cNvPr>
            <p:cNvSpPr/>
            <p:nvPr/>
          </p:nvSpPr>
          <p:spPr>
            <a:xfrm>
              <a:off x="644526" y="5133777"/>
              <a:ext cx="10912475" cy="901899"/>
            </a:xfrm>
            <a:prstGeom prst="rect">
              <a:avLst/>
            </a:prstGeom>
            <a:solidFill>
              <a:srgbClr val="EFE8D8"/>
            </a:solidFill>
            <a:ln/>
          </p:spPr>
          <p:txBody>
            <a:bodyPr/>
            <a:lstStyle/>
            <a:p>
              <a:endParaRPr lang="en-IN" sz="1200">
                <a:latin typeface="Georgia" panose="02040502050405020303" pitchFamily="18" charset="0"/>
              </a:endParaRPr>
            </a:p>
          </p:txBody>
        </p:sp>
        <p:sp>
          <p:nvSpPr>
            <p:cNvPr id="79" name="Shape 39">
              <a:extLst>
                <a:ext uri="{FF2B5EF4-FFF2-40B4-BE49-F238E27FC236}">
                  <a16:creationId xmlns:a16="http://schemas.microsoft.com/office/drawing/2014/main" id="{2ECA462B-BAF1-8E74-2A30-407C12EE118E}"/>
                </a:ext>
              </a:extLst>
            </p:cNvPr>
            <p:cNvSpPr/>
            <p:nvPr/>
          </p:nvSpPr>
          <p:spPr>
            <a:xfrm>
              <a:off x="644526" y="6029326"/>
              <a:ext cx="10912475" cy="6350"/>
            </a:xfrm>
            <a:prstGeom prst="rect">
              <a:avLst/>
            </a:prstGeom>
            <a:solidFill>
              <a:srgbClr val="D9D3C3"/>
            </a:solidFill>
            <a:ln/>
          </p:spPr>
          <p:txBody>
            <a:bodyPr/>
            <a:lstStyle/>
            <a:p>
              <a:endParaRPr lang="en-IN" sz="1200">
                <a:latin typeface="Georgia" panose="02040502050405020303" pitchFamily="18" charset="0"/>
              </a:endParaRPr>
            </a:p>
          </p:txBody>
        </p:sp>
        <p:sp>
          <p:nvSpPr>
            <p:cNvPr id="80" name="Shape 40">
              <a:extLst>
                <a:ext uri="{FF2B5EF4-FFF2-40B4-BE49-F238E27FC236}">
                  <a16:creationId xmlns:a16="http://schemas.microsoft.com/office/drawing/2014/main" id="{99388062-06B0-DE82-5313-C91FBC6D6566}"/>
                </a:ext>
              </a:extLst>
            </p:cNvPr>
            <p:cNvSpPr/>
            <p:nvPr/>
          </p:nvSpPr>
          <p:spPr>
            <a:xfrm>
              <a:off x="644526" y="5133777"/>
              <a:ext cx="19050" cy="901899"/>
            </a:xfrm>
            <a:prstGeom prst="rect">
              <a:avLst/>
            </a:prstGeom>
            <a:solidFill>
              <a:srgbClr val="0E8B96"/>
            </a:solidFill>
            <a:ln/>
          </p:spPr>
          <p:txBody>
            <a:bodyPr/>
            <a:lstStyle/>
            <a:p>
              <a:endParaRPr lang="en-IN" sz="1200">
                <a:latin typeface="Georgia" panose="02040502050405020303" pitchFamily="18" charset="0"/>
              </a:endParaRPr>
            </a:p>
          </p:txBody>
        </p:sp>
        <p:sp>
          <p:nvSpPr>
            <p:cNvPr id="81" name="Text 41">
              <a:extLst>
                <a:ext uri="{FF2B5EF4-FFF2-40B4-BE49-F238E27FC236}">
                  <a16:creationId xmlns:a16="http://schemas.microsoft.com/office/drawing/2014/main" id="{ED9ECB70-C69C-B8F5-7D73-6F8C0DADCBBD}"/>
                </a:ext>
              </a:extLst>
            </p:cNvPr>
            <p:cNvSpPr/>
            <p:nvPr/>
          </p:nvSpPr>
          <p:spPr>
            <a:xfrm>
              <a:off x="755650" y="5476814"/>
              <a:ext cx="2703168" cy="231081"/>
            </a:xfrm>
            <a:prstGeom prst="rect">
              <a:avLst/>
            </a:prstGeom>
            <a:noFill/>
            <a:ln/>
          </p:spPr>
          <p:txBody>
            <a:bodyPr wrap="square" lIns="16933" tIns="16933" rIns="16933" bIns="16933" rtlCol="0" anchor="t">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Western Ghats</a:t>
              </a:r>
              <a:endParaRPr lang="en-US" sz="1200" dirty="0">
                <a:latin typeface="Georgia" panose="02040502050405020303" pitchFamily="18" charset="0"/>
              </a:endParaRPr>
            </a:p>
          </p:txBody>
        </p:sp>
        <p:sp>
          <p:nvSpPr>
            <p:cNvPr id="82" name="Text 42">
              <a:extLst>
                <a:ext uri="{FF2B5EF4-FFF2-40B4-BE49-F238E27FC236}">
                  <a16:creationId xmlns:a16="http://schemas.microsoft.com/office/drawing/2014/main" id="{9491619C-5348-C0D0-81B0-74A1D3A67F22}"/>
                </a:ext>
              </a:extLst>
            </p:cNvPr>
            <p:cNvSpPr/>
            <p:nvPr/>
          </p:nvSpPr>
          <p:spPr>
            <a:xfrm>
              <a:off x="755650" y="5688843"/>
              <a:ext cx="2703168" cy="179685"/>
            </a:xfrm>
            <a:prstGeom prst="rect">
              <a:avLst/>
            </a:prstGeom>
            <a:noFill/>
            <a:ln/>
          </p:spPr>
          <p:txBody>
            <a:bodyPr wrap="square" lIns="16933" tIns="16933" rIns="16933" bIns="16933" rtlCol="0" anchor="t">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Banana · Pineapple</a:t>
              </a:r>
              <a:endParaRPr lang="en-US" sz="1000" dirty="0">
                <a:latin typeface="Georgia" panose="02040502050405020303" pitchFamily="18" charset="0"/>
              </a:endParaRPr>
            </a:p>
          </p:txBody>
        </p:sp>
        <p:sp>
          <p:nvSpPr>
            <p:cNvPr id="83" name="Text 43">
              <a:extLst>
                <a:ext uri="{FF2B5EF4-FFF2-40B4-BE49-F238E27FC236}">
                  <a16:creationId xmlns:a16="http://schemas.microsoft.com/office/drawing/2014/main" id="{6E9B91CF-CCCA-1B84-36DE-C67FA718A75A}"/>
                </a:ext>
              </a:extLst>
            </p:cNvPr>
            <p:cNvSpPr/>
            <p:nvPr/>
          </p:nvSpPr>
          <p:spPr>
            <a:xfrm>
              <a:off x="3292262" y="5219304"/>
              <a:ext cx="611386" cy="774899"/>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25</a:t>
              </a:r>
              <a:endParaRPr lang="en-US" sz="1200" dirty="0">
                <a:latin typeface="Georgia" panose="02040502050405020303" pitchFamily="18" charset="0"/>
              </a:endParaRPr>
            </a:p>
          </p:txBody>
        </p:sp>
        <p:sp>
          <p:nvSpPr>
            <p:cNvPr id="84" name="Text 44">
              <a:extLst>
                <a:ext uri="{FF2B5EF4-FFF2-40B4-BE49-F238E27FC236}">
                  <a16:creationId xmlns:a16="http://schemas.microsoft.com/office/drawing/2014/main" id="{D9513364-E2BF-A06E-C66D-E41B2AF30546}"/>
                </a:ext>
              </a:extLst>
            </p:cNvPr>
            <p:cNvSpPr/>
            <p:nvPr/>
          </p:nvSpPr>
          <p:spPr>
            <a:xfrm>
              <a:off x="4347071" y="5209977"/>
              <a:ext cx="1595131" cy="774899"/>
            </a:xfrm>
            <a:prstGeom prst="rect">
              <a:avLst/>
            </a:prstGeom>
            <a:noFill/>
            <a:ln/>
          </p:spPr>
          <p:txBody>
            <a:bodyPr wrap="square" lIns="16933" tIns="16933" rIns="16933" bIns="16933" rtlCol="0" anchor="ctr">
              <a:normAutofit/>
            </a:bodyPr>
            <a:lstStyle/>
            <a:p>
              <a:pPr>
                <a:lnSpc>
                  <a:spcPct val="135000"/>
                </a:lnSpc>
              </a:pPr>
              <a:r>
                <a:rPr lang="en-US" sz="1200" dirty="0">
                  <a:solidFill>
                    <a:srgbClr val="14342B"/>
                  </a:solidFill>
                  <a:latin typeface="Georgia" panose="02040502050405020303" pitchFamily="18" charset="0"/>
                  <a:ea typeface="Trebuchet MS" pitchFamily="34" charset="-122"/>
                  <a:cs typeface="Trebuchet MS" pitchFamily="34" charset="-120"/>
                </a:rPr>
                <a:t>Input + Marketing</a:t>
              </a:r>
              <a:endParaRPr lang="en-US" sz="1200" dirty="0">
                <a:latin typeface="Georgia" panose="02040502050405020303" pitchFamily="18" charset="0"/>
              </a:endParaRPr>
            </a:p>
          </p:txBody>
        </p:sp>
        <p:sp>
          <p:nvSpPr>
            <p:cNvPr id="85" name="Text 45">
              <a:extLst>
                <a:ext uri="{FF2B5EF4-FFF2-40B4-BE49-F238E27FC236}">
                  <a16:creationId xmlns:a16="http://schemas.microsoft.com/office/drawing/2014/main" id="{7E4A8E5C-D1D2-F85F-0AD8-C1C1CD4AA4A7}"/>
                </a:ext>
              </a:extLst>
            </p:cNvPr>
            <p:cNvSpPr/>
            <p:nvPr/>
          </p:nvSpPr>
          <p:spPr>
            <a:xfrm>
              <a:off x="6093024" y="5209977"/>
              <a:ext cx="3955638" cy="774899"/>
            </a:xfrm>
            <a:prstGeom prst="rect">
              <a:avLst/>
            </a:prstGeom>
            <a:noFill/>
            <a:ln/>
          </p:spPr>
          <p:txBody>
            <a:bodyPr wrap="square" lIns="16933" tIns="16933" rIns="16933" bIns="16933" rtlCol="0" anchor="t">
              <a:no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Arecanut, Coconut, Ginger, Paddy, Pepper, Banana, Pineapple, Ragi, Maize, Sugarcane, Tomato, Vegetables, Chilli, Turmeric</a:t>
              </a:r>
              <a:endParaRPr lang="en-US" sz="1200" dirty="0">
                <a:latin typeface="Georgia" panose="02040502050405020303" pitchFamily="18" charset="0"/>
              </a:endParaRPr>
            </a:p>
          </p:txBody>
        </p:sp>
        <p:sp>
          <p:nvSpPr>
            <p:cNvPr id="86" name="Text 46">
              <a:extLst>
                <a:ext uri="{FF2B5EF4-FFF2-40B4-BE49-F238E27FC236}">
                  <a16:creationId xmlns:a16="http://schemas.microsoft.com/office/drawing/2014/main" id="{A8ED9471-6A6D-9FB7-CB6F-E53BCC87E82F}"/>
                </a:ext>
              </a:extLst>
            </p:cNvPr>
            <p:cNvSpPr/>
            <p:nvPr/>
          </p:nvSpPr>
          <p:spPr>
            <a:xfrm>
              <a:off x="10079931" y="5209977"/>
              <a:ext cx="1375469" cy="774899"/>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23</a:t>
              </a:r>
              <a:endParaRPr lang="en-US" sz="1200" dirty="0">
                <a:latin typeface="Georgia" panose="02040502050405020303" pitchFamily="18" charset="0"/>
              </a:endParaRPr>
            </a:p>
          </p:txBody>
        </p:sp>
      </p:grpSp>
      <p:pic>
        <p:nvPicPr>
          <p:cNvPr id="2" name="Picture 1">
            <a:extLst>
              <a:ext uri="{FF2B5EF4-FFF2-40B4-BE49-F238E27FC236}">
                <a16:creationId xmlns:a16="http://schemas.microsoft.com/office/drawing/2014/main" id="{398A8610-754D-0294-DEDF-A61D2CEA39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60626"/>
            <a:ext cx="12192000" cy="987920"/>
          </a:xfrm>
          <a:prstGeom prst="rect">
            <a:avLst/>
          </a:prstGeom>
        </p:spPr>
      </p:pic>
    </p:spTree>
    <p:extLst>
      <p:ext uri="{BB962C8B-B14F-4D97-AF65-F5344CB8AC3E}">
        <p14:creationId xmlns:p14="http://schemas.microsoft.com/office/powerpoint/2010/main" val="3895376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E9D39-BE37-FC48-09BF-17D57C8FBDB0}"/>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3DD64449-A872-65CD-2CA3-D2B87C2C3911}"/>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47</a:t>
            </a:fld>
            <a:endParaRPr dirty="0">
              <a:latin typeface="Georgia" panose="02040502050405020303" pitchFamily="18" charset="0"/>
            </a:endParaRPr>
          </a:p>
        </p:txBody>
      </p:sp>
      <p:sp>
        <p:nvSpPr>
          <p:cNvPr id="72" name="Text 3">
            <a:extLst>
              <a:ext uri="{FF2B5EF4-FFF2-40B4-BE49-F238E27FC236}">
                <a16:creationId xmlns:a16="http://schemas.microsoft.com/office/drawing/2014/main" id="{28765651-BA50-1FB3-132E-878D458EAD84}"/>
              </a:ext>
            </a:extLst>
          </p:cNvPr>
          <p:cNvSpPr/>
          <p:nvPr/>
        </p:nvSpPr>
        <p:spPr>
          <a:xfrm>
            <a:off x="471170" y="185742"/>
            <a:ext cx="11249660" cy="388541"/>
          </a:xfrm>
          <a:prstGeom prst="rect">
            <a:avLst/>
          </a:prstGeom>
          <a:noFill/>
          <a:ln/>
        </p:spPr>
        <p:txBody>
          <a:bodyPr wrap="square" lIns="16933" tIns="16933" rIns="16933" bIns="16933" rtlCol="0" anchor="t">
            <a:normAutofit fontScale="92500" lnSpcReduction="20000"/>
          </a:bodyPr>
          <a:lstStyle/>
          <a:p>
            <a:pPr>
              <a:lnSpc>
                <a:spcPct val="110000"/>
              </a:lnSpc>
            </a:pPr>
            <a:r>
              <a:rPr lang="en-US" sz="2600" b="1" kern="0" spc="-26" dirty="0">
                <a:solidFill>
                  <a:schemeClr val="bg1"/>
                </a:solidFill>
                <a:latin typeface="Georgia" panose="02040502050405020303" pitchFamily="18" charset="0"/>
                <a:ea typeface="Trebuchet MS" pitchFamily="34" charset="-122"/>
                <a:cs typeface="Trebuchet MS" pitchFamily="34" charset="-120"/>
              </a:rPr>
              <a:t>PM-FME beneficiaries</a:t>
            </a:r>
            <a:endParaRPr lang="en-US" sz="2600" dirty="0">
              <a:solidFill>
                <a:schemeClr val="bg1"/>
              </a:solidFill>
              <a:latin typeface="Georgia" panose="02040502050405020303" pitchFamily="18" charset="0"/>
            </a:endParaRPr>
          </a:p>
        </p:txBody>
      </p:sp>
      <p:grpSp>
        <p:nvGrpSpPr>
          <p:cNvPr id="79" name="Group 78">
            <a:extLst>
              <a:ext uri="{FF2B5EF4-FFF2-40B4-BE49-F238E27FC236}">
                <a16:creationId xmlns:a16="http://schemas.microsoft.com/office/drawing/2014/main" id="{37B44CF8-16A7-4970-6B51-DB75F8AA564E}"/>
              </a:ext>
            </a:extLst>
          </p:cNvPr>
          <p:cNvGrpSpPr/>
          <p:nvPr/>
        </p:nvGrpSpPr>
        <p:grpSpPr>
          <a:xfrm>
            <a:off x="471170" y="914400"/>
            <a:ext cx="10745964" cy="4724400"/>
            <a:chOff x="644526" y="2090341"/>
            <a:chExt cx="10974564" cy="4027885"/>
          </a:xfrm>
        </p:grpSpPr>
        <p:sp>
          <p:nvSpPr>
            <p:cNvPr id="80" name="Shape 7">
              <a:extLst>
                <a:ext uri="{FF2B5EF4-FFF2-40B4-BE49-F238E27FC236}">
                  <a16:creationId xmlns:a16="http://schemas.microsoft.com/office/drawing/2014/main" id="{1FDEE6AC-CEFF-D599-A8ED-4AC0B35561B6}"/>
                </a:ext>
              </a:extLst>
            </p:cNvPr>
            <p:cNvSpPr/>
            <p:nvPr/>
          </p:nvSpPr>
          <p:spPr>
            <a:xfrm>
              <a:off x="644526" y="2090341"/>
              <a:ext cx="10912475" cy="355600"/>
            </a:xfrm>
            <a:prstGeom prst="rect">
              <a:avLst/>
            </a:prstGeom>
            <a:solidFill>
              <a:srgbClr val="0B6E78"/>
            </a:solidFill>
            <a:ln/>
          </p:spPr>
          <p:txBody>
            <a:bodyPr anchor="ctr"/>
            <a:lstStyle/>
            <a:p>
              <a:pPr algn="ctr"/>
              <a:endParaRPr lang="en-IN" sz="1200">
                <a:latin typeface="Georgia" panose="02040502050405020303" pitchFamily="18" charset="0"/>
              </a:endParaRPr>
            </a:p>
          </p:txBody>
        </p:sp>
        <p:sp>
          <p:nvSpPr>
            <p:cNvPr id="81" name="Text 8">
              <a:extLst>
                <a:ext uri="{FF2B5EF4-FFF2-40B4-BE49-F238E27FC236}">
                  <a16:creationId xmlns:a16="http://schemas.microsoft.com/office/drawing/2014/main" id="{1EA37796-09EF-2C3A-2496-12BCE830DB0D}"/>
                </a:ext>
              </a:extLst>
            </p:cNvPr>
            <p:cNvSpPr/>
            <p:nvPr/>
          </p:nvSpPr>
          <p:spPr>
            <a:xfrm>
              <a:off x="746126" y="2179241"/>
              <a:ext cx="3843121" cy="203200"/>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Cluster</a:t>
              </a:r>
              <a:endParaRPr lang="en-US" sz="1200" dirty="0">
                <a:latin typeface="Georgia" panose="02040502050405020303" pitchFamily="18" charset="0"/>
              </a:endParaRPr>
            </a:p>
          </p:txBody>
        </p:sp>
        <p:sp>
          <p:nvSpPr>
            <p:cNvPr id="82" name="Text 9">
              <a:extLst>
                <a:ext uri="{FF2B5EF4-FFF2-40B4-BE49-F238E27FC236}">
                  <a16:creationId xmlns:a16="http://schemas.microsoft.com/office/drawing/2014/main" id="{FDC45D3F-2A8B-BF90-B152-D5D18BD86678}"/>
                </a:ext>
              </a:extLst>
            </p:cNvPr>
            <p:cNvSpPr/>
            <p:nvPr/>
          </p:nvSpPr>
          <p:spPr>
            <a:xfrm>
              <a:off x="4674593" y="2179241"/>
              <a:ext cx="1375271" cy="203200"/>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Beneficiaries</a:t>
              </a:r>
              <a:endParaRPr lang="en-US" sz="1200" dirty="0">
                <a:latin typeface="Georgia" panose="02040502050405020303" pitchFamily="18" charset="0"/>
              </a:endParaRPr>
            </a:p>
          </p:txBody>
        </p:sp>
        <p:sp>
          <p:nvSpPr>
            <p:cNvPr id="83" name="Text 10">
              <a:extLst>
                <a:ext uri="{FF2B5EF4-FFF2-40B4-BE49-F238E27FC236}">
                  <a16:creationId xmlns:a16="http://schemas.microsoft.com/office/drawing/2014/main" id="{4E6220C7-2763-B030-95C4-798782A09066}"/>
                </a:ext>
              </a:extLst>
            </p:cNvPr>
            <p:cNvSpPr/>
            <p:nvPr/>
          </p:nvSpPr>
          <p:spPr>
            <a:xfrm>
              <a:off x="6202263" y="2179241"/>
              <a:ext cx="5416827" cy="203200"/>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Finished products manufactured</a:t>
              </a:r>
              <a:endParaRPr lang="en-US" sz="1200" dirty="0">
                <a:latin typeface="Georgia" panose="02040502050405020303" pitchFamily="18" charset="0"/>
              </a:endParaRPr>
            </a:p>
          </p:txBody>
        </p:sp>
        <p:sp>
          <p:nvSpPr>
            <p:cNvPr id="84" name="Shape 11">
              <a:extLst>
                <a:ext uri="{FF2B5EF4-FFF2-40B4-BE49-F238E27FC236}">
                  <a16:creationId xmlns:a16="http://schemas.microsoft.com/office/drawing/2014/main" id="{2E2E8C9A-F173-9897-ACBF-2BA0ABA31BC2}"/>
                </a:ext>
              </a:extLst>
            </p:cNvPr>
            <p:cNvSpPr/>
            <p:nvPr/>
          </p:nvSpPr>
          <p:spPr>
            <a:xfrm>
              <a:off x="644526" y="2961482"/>
              <a:ext cx="10912475" cy="6350"/>
            </a:xfrm>
            <a:prstGeom prst="rect">
              <a:avLst/>
            </a:prstGeom>
            <a:solidFill>
              <a:srgbClr val="D9D3C3"/>
            </a:solidFill>
            <a:ln/>
          </p:spPr>
          <p:txBody>
            <a:bodyPr anchor="ctr"/>
            <a:lstStyle/>
            <a:p>
              <a:pPr algn="ctr"/>
              <a:endParaRPr lang="en-IN" sz="1200">
                <a:latin typeface="Georgia" panose="02040502050405020303" pitchFamily="18" charset="0"/>
              </a:endParaRPr>
            </a:p>
          </p:txBody>
        </p:sp>
        <p:sp>
          <p:nvSpPr>
            <p:cNvPr id="85" name="Shape 12">
              <a:extLst>
                <a:ext uri="{FF2B5EF4-FFF2-40B4-BE49-F238E27FC236}">
                  <a16:creationId xmlns:a16="http://schemas.microsoft.com/office/drawing/2014/main" id="{0E7F9A76-5231-CD37-BCF9-5D9CC996AE87}"/>
                </a:ext>
              </a:extLst>
            </p:cNvPr>
            <p:cNvSpPr/>
            <p:nvPr/>
          </p:nvSpPr>
          <p:spPr>
            <a:xfrm>
              <a:off x="644526" y="2445941"/>
              <a:ext cx="19050" cy="521891"/>
            </a:xfrm>
            <a:prstGeom prst="rect">
              <a:avLst/>
            </a:prstGeom>
            <a:solidFill>
              <a:srgbClr val="0E8B96"/>
            </a:solidFill>
            <a:ln/>
          </p:spPr>
          <p:txBody>
            <a:bodyPr anchor="ctr"/>
            <a:lstStyle/>
            <a:p>
              <a:pPr algn="ctr"/>
              <a:endParaRPr lang="en-IN" sz="1200">
                <a:latin typeface="Georgia" panose="02040502050405020303" pitchFamily="18" charset="0"/>
              </a:endParaRPr>
            </a:p>
          </p:txBody>
        </p:sp>
        <p:sp>
          <p:nvSpPr>
            <p:cNvPr id="86" name="Text 13">
              <a:extLst>
                <a:ext uri="{FF2B5EF4-FFF2-40B4-BE49-F238E27FC236}">
                  <a16:creationId xmlns:a16="http://schemas.microsoft.com/office/drawing/2014/main" id="{EB1A2702-1C5B-7844-F1DE-87B2F3432024}"/>
                </a:ext>
              </a:extLst>
            </p:cNvPr>
            <p:cNvSpPr/>
            <p:nvPr/>
          </p:nvSpPr>
          <p:spPr>
            <a:xfrm>
              <a:off x="865805" y="2471341"/>
              <a:ext cx="3827215" cy="23108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North Karnataka</a:t>
              </a:r>
              <a:endParaRPr lang="en-US" sz="1200" dirty="0">
                <a:latin typeface="Georgia" panose="02040502050405020303" pitchFamily="18" charset="0"/>
              </a:endParaRPr>
            </a:p>
          </p:txBody>
        </p:sp>
        <p:sp>
          <p:nvSpPr>
            <p:cNvPr id="87" name="Text 14">
              <a:extLst>
                <a:ext uri="{FF2B5EF4-FFF2-40B4-BE49-F238E27FC236}">
                  <a16:creationId xmlns:a16="http://schemas.microsoft.com/office/drawing/2014/main" id="{FD401EBA-8AED-4DF6-81E4-15D36097B49D}"/>
                </a:ext>
              </a:extLst>
            </p:cNvPr>
            <p:cNvSpPr/>
            <p:nvPr/>
          </p:nvSpPr>
          <p:spPr>
            <a:xfrm>
              <a:off x="865805" y="2699941"/>
              <a:ext cx="3827215" cy="179685"/>
            </a:xfrm>
            <a:prstGeom prst="rect">
              <a:avLst/>
            </a:prstGeom>
            <a:noFill/>
            <a:ln/>
          </p:spPr>
          <p:txBody>
            <a:bodyPr wrap="square" lIns="16933" tIns="16933" rIns="16933" bIns="16933" rtlCol="0" anchor="ctr">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Onion · Grape · Raisin · Pomegranate</a:t>
              </a:r>
              <a:endParaRPr lang="en-US" sz="1000" dirty="0">
                <a:latin typeface="Georgia" panose="02040502050405020303" pitchFamily="18" charset="0"/>
              </a:endParaRPr>
            </a:p>
          </p:txBody>
        </p:sp>
        <p:sp>
          <p:nvSpPr>
            <p:cNvPr id="88" name="Text 15">
              <a:extLst>
                <a:ext uri="{FF2B5EF4-FFF2-40B4-BE49-F238E27FC236}">
                  <a16:creationId xmlns:a16="http://schemas.microsoft.com/office/drawing/2014/main" id="{6A93A0DE-4174-1CCC-76AA-4780280820B9}"/>
                </a:ext>
              </a:extLst>
            </p:cNvPr>
            <p:cNvSpPr/>
            <p:nvPr/>
          </p:nvSpPr>
          <p:spPr>
            <a:xfrm>
              <a:off x="4623793" y="2522141"/>
              <a:ext cx="1375271" cy="394891"/>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3,978</a:t>
              </a:r>
              <a:endParaRPr lang="en-US" sz="1200" dirty="0">
                <a:latin typeface="Georgia" panose="02040502050405020303" pitchFamily="18" charset="0"/>
              </a:endParaRPr>
            </a:p>
          </p:txBody>
        </p:sp>
        <p:sp>
          <p:nvSpPr>
            <p:cNvPr id="89" name="Text 16">
              <a:extLst>
                <a:ext uri="{FF2B5EF4-FFF2-40B4-BE49-F238E27FC236}">
                  <a16:creationId xmlns:a16="http://schemas.microsoft.com/office/drawing/2014/main" id="{4D8759E5-5D55-60EB-BE9B-6DCE806A87A5}"/>
                </a:ext>
              </a:extLst>
            </p:cNvPr>
            <p:cNvSpPr/>
            <p:nvPr/>
          </p:nvSpPr>
          <p:spPr>
            <a:xfrm>
              <a:off x="6202263" y="2522141"/>
              <a:ext cx="5416827" cy="394891"/>
            </a:xfrm>
            <a:prstGeom prst="rect">
              <a:avLst/>
            </a:prstGeom>
            <a:noFill/>
            <a:ln/>
          </p:spPr>
          <p:txBody>
            <a:bodyPr wrap="square" lIns="16933" tIns="16933" rIns="16933" bIns="16933" rtlCol="0" anchor="ctr">
              <a:norm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Bakery, Snacks, Oils, Sweets, Groundnut products</a:t>
              </a:r>
              <a:endParaRPr lang="en-US" sz="1200" dirty="0">
                <a:latin typeface="Georgia" panose="02040502050405020303" pitchFamily="18" charset="0"/>
              </a:endParaRPr>
            </a:p>
          </p:txBody>
        </p:sp>
        <p:sp>
          <p:nvSpPr>
            <p:cNvPr id="90" name="Shape 17">
              <a:extLst>
                <a:ext uri="{FF2B5EF4-FFF2-40B4-BE49-F238E27FC236}">
                  <a16:creationId xmlns:a16="http://schemas.microsoft.com/office/drawing/2014/main" id="{4520AEE8-0343-AD1F-D5E5-0D03F811338C}"/>
                </a:ext>
              </a:extLst>
            </p:cNvPr>
            <p:cNvSpPr/>
            <p:nvPr/>
          </p:nvSpPr>
          <p:spPr>
            <a:xfrm>
              <a:off x="644526" y="2967832"/>
              <a:ext cx="10912475" cy="525065"/>
            </a:xfrm>
            <a:prstGeom prst="rect">
              <a:avLst/>
            </a:prstGeom>
            <a:solidFill>
              <a:srgbClr val="EFE8D8"/>
            </a:solidFill>
            <a:ln/>
          </p:spPr>
          <p:txBody>
            <a:bodyPr anchor="ctr"/>
            <a:lstStyle/>
            <a:p>
              <a:pPr algn="ctr"/>
              <a:endParaRPr lang="en-IN" sz="1200">
                <a:latin typeface="Georgia" panose="02040502050405020303" pitchFamily="18" charset="0"/>
              </a:endParaRPr>
            </a:p>
          </p:txBody>
        </p:sp>
        <p:sp>
          <p:nvSpPr>
            <p:cNvPr id="91" name="Shape 18">
              <a:extLst>
                <a:ext uri="{FF2B5EF4-FFF2-40B4-BE49-F238E27FC236}">
                  <a16:creationId xmlns:a16="http://schemas.microsoft.com/office/drawing/2014/main" id="{97BE18EB-AFC3-8DBD-113F-98DA2DCA38F8}"/>
                </a:ext>
              </a:extLst>
            </p:cNvPr>
            <p:cNvSpPr/>
            <p:nvPr/>
          </p:nvSpPr>
          <p:spPr>
            <a:xfrm>
              <a:off x="644526" y="3486547"/>
              <a:ext cx="10912475" cy="6350"/>
            </a:xfrm>
            <a:prstGeom prst="rect">
              <a:avLst/>
            </a:prstGeom>
            <a:solidFill>
              <a:srgbClr val="D9D3C3"/>
            </a:solidFill>
            <a:ln/>
          </p:spPr>
          <p:txBody>
            <a:bodyPr anchor="ctr"/>
            <a:lstStyle/>
            <a:p>
              <a:pPr algn="ctr"/>
              <a:endParaRPr lang="en-IN" sz="1200">
                <a:latin typeface="Georgia" panose="02040502050405020303" pitchFamily="18" charset="0"/>
              </a:endParaRPr>
            </a:p>
          </p:txBody>
        </p:sp>
        <p:sp>
          <p:nvSpPr>
            <p:cNvPr id="92" name="Shape 19">
              <a:extLst>
                <a:ext uri="{FF2B5EF4-FFF2-40B4-BE49-F238E27FC236}">
                  <a16:creationId xmlns:a16="http://schemas.microsoft.com/office/drawing/2014/main" id="{8131AED7-8B7D-FA64-5977-2F4B0FEA0317}"/>
                </a:ext>
              </a:extLst>
            </p:cNvPr>
            <p:cNvSpPr/>
            <p:nvPr/>
          </p:nvSpPr>
          <p:spPr>
            <a:xfrm>
              <a:off x="644526" y="2967832"/>
              <a:ext cx="19050" cy="525065"/>
            </a:xfrm>
            <a:prstGeom prst="rect">
              <a:avLst/>
            </a:prstGeom>
            <a:solidFill>
              <a:srgbClr val="0E8B96"/>
            </a:solidFill>
            <a:ln/>
          </p:spPr>
          <p:txBody>
            <a:bodyPr anchor="ctr"/>
            <a:lstStyle/>
            <a:p>
              <a:pPr algn="ctr"/>
              <a:endParaRPr lang="en-IN" sz="1200">
                <a:latin typeface="Georgia" panose="02040502050405020303" pitchFamily="18" charset="0"/>
              </a:endParaRPr>
            </a:p>
          </p:txBody>
        </p:sp>
        <p:sp>
          <p:nvSpPr>
            <p:cNvPr id="93" name="Text 20">
              <a:extLst>
                <a:ext uri="{FF2B5EF4-FFF2-40B4-BE49-F238E27FC236}">
                  <a16:creationId xmlns:a16="http://schemas.microsoft.com/office/drawing/2014/main" id="{A7C57D10-6C3A-E468-8827-8C5FF26684CA}"/>
                </a:ext>
              </a:extLst>
            </p:cNvPr>
            <p:cNvSpPr/>
            <p:nvPr/>
          </p:nvSpPr>
          <p:spPr>
            <a:xfrm>
              <a:off x="865805" y="3047206"/>
              <a:ext cx="3827215" cy="23108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Central Karnataka</a:t>
              </a:r>
              <a:endParaRPr lang="en-US" sz="1200" dirty="0">
                <a:latin typeface="Georgia" panose="02040502050405020303" pitchFamily="18" charset="0"/>
              </a:endParaRPr>
            </a:p>
          </p:txBody>
        </p:sp>
        <p:sp>
          <p:nvSpPr>
            <p:cNvPr id="94" name="Text 21">
              <a:extLst>
                <a:ext uri="{FF2B5EF4-FFF2-40B4-BE49-F238E27FC236}">
                  <a16:creationId xmlns:a16="http://schemas.microsoft.com/office/drawing/2014/main" id="{4792A09E-A3D3-7ECA-32DB-40378E3CAB2F}"/>
                </a:ext>
              </a:extLst>
            </p:cNvPr>
            <p:cNvSpPr/>
            <p:nvPr/>
          </p:nvSpPr>
          <p:spPr>
            <a:xfrm>
              <a:off x="865805" y="3225006"/>
              <a:ext cx="3827215" cy="179685"/>
            </a:xfrm>
            <a:prstGeom prst="rect">
              <a:avLst/>
            </a:prstGeom>
            <a:noFill/>
            <a:ln/>
          </p:spPr>
          <p:txBody>
            <a:bodyPr wrap="square" lIns="16933" tIns="16933" rIns="16933" bIns="16933" rtlCol="0" anchor="ctr">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Onion · Pomegranate</a:t>
              </a:r>
              <a:endParaRPr lang="en-US" sz="1000" dirty="0">
                <a:latin typeface="Georgia" panose="02040502050405020303" pitchFamily="18" charset="0"/>
              </a:endParaRPr>
            </a:p>
          </p:txBody>
        </p:sp>
        <p:sp>
          <p:nvSpPr>
            <p:cNvPr id="95" name="Text 22">
              <a:extLst>
                <a:ext uri="{FF2B5EF4-FFF2-40B4-BE49-F238E27FC236}">
                  <a16:creationId xmlns:a16="http://schemas.microsoft.com/office/drawing/2014/main" id="{660943EB-28B2-6850-EFEE-E43D3D193AE1}"/>
                </a:ext>
              </a:extLst>
            </p:cNvPr>
            <p:cNvSpPr/>
            <p:nvPr/>
          </p:nvSpPr>
          <p:spPr>
            <a:xfrm>
              <a:off x="4623793" y="3044032"/>
              <a:ext cx="1375271" cy="398065"/>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3,582</a:t>
              </a:r>
              <a:endParaRPr lang="en-US" sz="1200" dirty="0">
                <a:latin typeface="Georgia" panose="02040502050405020303" pitchFamily="18" charset="0"/>
              </a:endParaRPr>
            </a:p>
          </p:txBody>
        </p:sp>
        <p:sp>
          <p:nvSpPr>
            <p:cNvPr id="96" name="Text 23">
              <a:extLst>
                <a:ext uri="{FF2B5EF4-FFF2-40B4-BE49-F238E27FC236}">
                  <a16:creationId xmlns:a16="http://schemas.microsoft.com/office/drawing/2014/main" id="{AADA5279-74D9-B1F7-22E9-462DB29E1547}"/>
                </a:ext>
              </a:extLst>
            </p:cNvPr>
            <p:cNvSpPr/>
            <p:nvPr/>
          </p:nvSpPr>
          <p:spPr>
            <a:xfrm>
              <a:off x="6202263" y="3044032"/>
              <a:ext cx="5416827" cy="398065"/>
            </a:xfrm>
            <a:prstGeom prst="rect">
              <a:avLst/>
            </a:prstGeom>
            <a:noFill/>
            <a:ln/>
          </p:spPr>
          <p:txBody>
            <a:bodyPr wrap="square" lIns="16933" tIns="16933" rIns="16933" bIns="16933" rtlCol="0" anchor="ctr">
              <a:norm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Bakery, Snacks, Spices, Millet products</a:t>
              </a:r>
              <a:endParaRPr lang="en-US" sz="1200" dirty="0">
                <a:latin typeface="Georgia" panose="02040502050405020303" pitchFamily="18" charset="0"/>
              </a:endParaRPr>
            </a:p>
          </p:txBody>
        </p:sp>
        <p:sp>
          <p:nvSpPr>
            <p:cNvPr id="97" name="Shape 24">
              <a:extLst>
                <a:ext uri="{FF2B5EF4-FFF2-40B4-BE49-F238E27FC236}">
                  <a16:creationId xmlns:a16="http://schemas.microsoft.com/office/drawing/2014/main" id="{D4BD970F-C012-849C-F3E9-5F520521A07C}"/>
                </a:ext>
              </a:extLst>
            </p:cNvPr>
            <p:cNvSpPr/>
            <p:nvPr/>
          </p:nvSpPr>
          <p:spPr>
            <a:xfrm>
              <a:off x="644526" y="4011613"/>
              <a:ext cx="10912475" cy="6350"/>
            </a:xfrm>
            <a:prstGeom prst="rect">
              <a:avLst/>
            </a:prstGeom>
            <a:solidFill>
              <a:srgbClr val="D9D3C3"/>
            </a:solidFill>
            <a:ln/>
          </p:spPr>
          <p:txBody>
            <a:bodyPr anchor="ctr"/>
            <a:lstStyle/>
            <a:p>
              <a:pPr algn="ctr"/>
              <a:endParaRPr lang="en-IN" sz="1200">
                <a:latin typeface="Georgia" panose="02040502050405020303" pitchFamily="18" charset="0"/>
              </a:endParaRPr>
            </a:p>
          </p:txBody>
        </p:sp>
        <p:sp>
          <p:nvSpPr>
            <p:cNvPr id="98" name="Shape 25">
              <a:extLst>
                <a:ext uri="{FF2B5EF4-FFF2-40B4-BE49-F238E27FC236}">
                  <a16:creationId xmlns:a16="http://schemas.microsoft.com/office/drawing/2014/main" id="{198CFC8D-6FCD-2B0B-5B44-8897FE1F76A9}"/>
                </a:ext>
              </a:extLst>
            </p:cNvPr>
            <p:cNvSpPr/>
            <p:nvPr/>
          </p:nvSpPr>
          <p:spPr>
            <a:xfrm>
              <a:off x="644526" y="3492897"/>
              <a:ext cx="19050" cy="525065"/>
            </a:xfrm>
            <a:prstGeom prst="rect">
              <a:avLst/>
            </a:prstGeom>
            <a:solidFill>
              <a:srgbClr val="0E8B96"/>
            </a:solidFill>
            <a:ln/>
          </p:spPr>
          <p:txBody>
            <a:bodyPr anchor="ctr"/>
            <a:lstStyle/>
            <a:p>
              <a:pPr algn="ctr"/>
              <a:endParaRPr lang="en-IN" sz="1200">
                <a:latin typeface="Georgia" panose="02040502050405020303" pitchFamily="18" charset="0"/>
              </a:endParaRPr>
            </a:p>
          </p:txBody>
        </p:sp>
        <p:sp>
          <p:nvSpPr>
            <p:cNvPr id="99" name="Text 26">
              <a:extLst>
                <a:ext uri="{FF2B5EF4-FFF2-40B4-BE49-F238E27FC236}">
                  <a16:creationId xmlns:a16="http://schemas.microsoft.com/office/drawing/2014/main" id="{C41A7DDE-D3AD-6CF1-B8C1-308E9ABBB49B}"/>
                </a:ext>
              </a:extLst>
            </p:cNvPr>
            <p:cNvSpPr/>
            <p:nvPr/>
          </p:nvSpPr>
          <p:spPr>
            <a:xfrm>
              <a:off x="865805" y="3572272"/>
              <a:ext cx="3827215" cy="23108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Kalyana Karnataka</a:t>
              </a:r>
              <a:endParaRPr lang="en-US" sz="1200" dirty="0">
                <a:latin typeface="Georgia" panose="02040502050405020303" pitchFamily="18" charset="0"/>
              </a:endParaRPr>
            </a:p>
          </p:txBody>
        </p:sp>
        <p:sp>
          <p:nvSpPr>
            <p:cNvPr id="100" name="Text 27">
              <a:extLst>
                <a:ext uri="{FF2B5EF4-FFF2-40B4-BE49-F238E27FC236}">
                  <a16:creationId xmlns:a16="http://schemas.microsoft.com/office/drawing/2014/main" id="{196AF36E-762E-AE53-8019-571AFA5ECEAE}"/>
                </a:ext>
              </a:extLst>
            </p:cNvPr>
            <p:cNvSpPr/>
            <p:nvPr/>
          </p:nvSpPr>
          <p:spPr>
            <a:xfrm>
              <a:off x="865805" y="3750072"/>
              <a:ext cx="3827215" cy="179685"/>
            </a:xfrm>
            <a:prstGeom prst="rect">
              <a:avLst/>
            </a:prstGeom>
            <a:noFill/>
            <a:ln/>
          </p:spPr>
          <p:txBody>
            <a:bodyPr wrap="square" lIns="16933" tIns="16933" rIns="16933" bIns="16933" rtlCol="0" anchor="ctr">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Onion · Tomato</a:t>
              </a:r>
              <a:endParaRPr lang="en-US" sz="1000" dirty="0">
                <a:latin typeface="Georgia" panose="02040502050405020303" pitchFamily="18" charset="0"/>
              </a:endParaRPr>
            </a:p>
          </p:txBody>
        </p:sp>
        <p:sp>
          <p:nvSpPr>
            <p:cNvPr id="101" name="Text 28">
              <a:extLst>
                <a:ext uri="{FF2B5EF4-FFF2-40B4-BE49-F238E27FC236}">
                  <a16:creationId xmlns:a16="http://schemas.microsoft.com/office/drawing/2014/main" id="{5E43D4E0-A16C-A7AE-8DA5-165FB402BD2A}"/>
                </a:ext>
              </a:extLst>
            </p:cNvPr>
            <p:cNvSpPr/>
            <p:nvPr/>
          </p:nvSpPr>
          <p:spPr>
            <a:xfrm>
              <a:off x="4623793" y="3569097"/>
              <a:ext cx="1375271" cy="398065"/>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1,965</a:t>
              </a:r>
              <a:endParaRPr lang="en-US" sz="1200" dirty="0">
                <a:latin typeface="Georgia" panose="02040502050405020303" pitchFamily="18" charset="0"/>
              </a:endParaRPr>
            </a:p>
          </p:txBody>
        </p:sp>
        <p:sp>
          <p:nvSpPr>
            <p:cNvPr id="102" name="Text 29">
              <a:extLst>
                <a:ext uri="{FF2B5EF4-FFF2-40B4-BE49-F238E27FC236}">
                  <a16:creationId xmlns:a16="http://schemas.microsoft.com/office/drawing/2014/main" id="{DD452267-7E69-09A3-B37D-70EC410D6618}"/>
                </a:ext>
              </a:extLst>
            </p:cNvPr>
            <p:cNvSpPr/>
            <p:nvPr/>
          </p:nvSpPr>
          <p:spPr>
            <a:xfrm>
              <a:off x="6202263" y="3569097"/>
              <a:ext cx="5416827" cy="398065"/>
            </a:xfrm>
            <a:prstGeom prst="rect">
              <a:avLst/>
            </a:prstGeom>
            <a:noFill/>
            <a:ln/>
          </p:spPr>
          <p:txBody>
            <a:bodyPr wrap="square" lIns="16933" tIns="16933" rIns="16933" bIns="16933" rtlCol="0" anchor="ctr">
              <a:norm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Bakery, Snacks, Traditional foods</a:t>
              </a:r>
              <a:endParaRPr lang="en-US" sz="1200" dirty="0">
                <a:latin typeface="Georgia" panose="02040502050405020303" pitchFamily="18" charset="0"/>
              </a:endParaRPr>
            </a:p>
          </p:txBody>
        </p:sp>
        <p:sp>
          <p:nvSpPr>
            <p:cNvPr id="103" name="Shape 30">
              <a:extLst>
                <a:ext uri="{FF2B5EF4-FFF2-40B4-BE49-F238E27FC236}">
                  <a16:creationId xmlns:a16="http://schemas.microsoft.com/office/drawing/2014/main" id="{FAF21C74-1204-0E70-C4A3-D5DA3AD20FEB}"/>
                </a:ext>
              </a:extLst>
            </p:cNvPr>
            <p:cNvSpPr/>
            <p:nvPr/>
          </p:nvSpPr>
          <p:spPr>
            <a:xfrm>
              <a:off x="644526" y="4017963"/>
              <a:ext cx="10912475" cy="525065"/>
            </a:xfrm>
            <a:prstGeom prst="rect">
              <a:avLst/>
            </a:prstGeom>
            <a:solidFill>
              <a:srgbClr val="EFE8D8"/>
            </a:solidFill>
            <a:ln/>
          </p:spPr>
          <p:txBody>
            <a:bodyPr anchor="ctr"/>
            <a:lstStyle/>
            <a:p>
              <a:pPr algn="ctr"/>
              <a:endParaRPr lang="en-IN" sz="1200">
                <a:latin typeface="Georgia" panose="02040502050405020303" pitchFamily="18" charset="0"/>
              </a:endParaRPr>
            </a:p>
          </p:txBody>
        </p:sp>
        <p:sp>
          <p:nvSpPr>
            <p:cNvPr id="104" name="Shape 31">
              <a:extLst>
                <a:ext uri="{FF2B5EF4-FFF2-40B4-BE49-F238E27FC236}">
                  <a16:creationId xmlns:a16="http://schemas.microsoft.com/office/drawing/2014/main" id="{543D3A23-2E28-A2F9-A1F0-29A352A55C08}"/>
                </a:ext>
              </a:extLst>
            </p:cNvPr>
            <p:cNvSpPr/>
            <p:nvPr/>
          </p:nvSpPr>
          <p:spPr>
            <a:xfrm>
              <a:off x="644526" y="4536678"/>
              <a:ext cx="10912475" cy="6350"/>
            </a:xfrm>
            <a:prstGeom prst="rect">
              <a:avLst/>
            </a:prstGeom>
            <a:solidFill>
              <a:srgbClr val="D9D3C3"/>
            </a:solidFill>
            <a:ln/>
          </p:spPr>
          <p:txBody>
            <a:bodyPr anchor="ctr"/>
            <a:lstStyle/>
            <a:p>
              <a:pPr algn="ctr"/>
              <a:endParaRPr lang="en-IN" sz="1200">
                <a:latin typeface="Georgia" panose="02040502050405020303" pitchFamily="18" charset="0"/>
              </a:endParaRPr>
            </a:p>
          </p:txBody>
        </p:sp>
        <p:sp>
          <p:nvSpPr>
            <p:cNvPr id="105" name="Shape 32">
              <a:extLst>
                <a:ext uri="{FF2B5EF4-FFF2-40B4-BE49-F238E27FC236}">
                  <a16:creationId xmlns:a16="http://schemas.microsoft.com/office/drawing/2014/main" id="{E4589789-EC15-5DFF-41E0-E1BD911E2B7E}"/>
                </a:ext>
              </a:extLst>
            </p:cNvPr>
            <p:cNvSpPr/>
            <p:nvPr/>
          </p:nvSpPr>
          <p:spPr>
            <a:xfrm>
              <a:off x="644526" y="4017963"/>
              <a:ext cx="19050" cy="525065"/>
            </a:xfrm>
            <a:prstGeom prst="rect">
              <a:avLst/>
            </a:prstGeom>
            <a:solidFill>
              <a:srgbClr val="0E8B96"/>
            </a:solidFill>
            <a:ln/>
          </p:spPr>
          <p:txBody>
            <a:bodyPr anchor="ctr"/>
            <a:lstStyle/>
            <a:p>
              <a:pPr algn="ctr"/>
              <a:endParaRPr lang="en-IN" sz="1200">
                <a:latin typeface="Georgia" panose="02040502050405020303" pitchFamily="18" charset="0"/>
              </a:endParaRPr>
            </a:p>
          </p:txBody>
        </p:sp>
        <p:sp>
          <p:nvSpPr>
            <p:cNvPr id="106" name="Text 33">
              <a:extLst>
                <a:ext uri="{FF2B5EF4-FFF2-40B4-BE49-F238E27FC236}">
                  <a16:creationId xmlns:a16="http://schemas.microsoft.com/office/drawing/2014/main" id="{9D630983-4524-2E77-C47F-4201706D598D}"/>
                </a:ext>
              </a:extLst>
            </p:cNvPr>
            <p:cNvSpPr/>
            <p:nvPr/>
          </p:nvSpPr>
          <p:spPr>
            <a:xfrm>
              <a:off x="865805" y="4097338"/>
              <a:ext cx="3827215" cy="23108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South Karnataka</a:t>
              </a:r>
              <a:endParaRPr lang="en-US" sz="1200" dirty="0">
                <a:latin typeface="Georgia" panose="02040502050405020303" pitchFamily="18" charset="0"/>
              </a:endParaRPr>
            </a:p>
          </p:txBody>
        </p:sp>
        <p:sp>
          <p:nvSpPr>
            <p:cNvPr id="107" name="Text 34">
              <a:extLst>
                <a:ext uri="{FF2B5EF4-FFF2-40B4-BE49-F238E27FC236}">
                  <a16:creationId xmlns:a16="http://schemas.microsoft.com/office/drawing/2014/main" id="{1A773A9A-C39D-FFBD-9769-BD176ED4ADC0}"/>
                </a:ext>
              </a:extLst>
            </p:cNvPr>
            <p:cNvSpPr/>
            <p:nvPr/>
          </p:nvSpPr>
          <p:spPr>
            <a:xfrm>
              <a:off x="865805" y="4275137"/>
              <a:ext cx="3827215" cy="179685"/>
            </a:xfrm>
            <a:prstGeom prst="rect">
              <a:avLst/>
            </a:prstGeom>
            <a:noFill/>
            <a:ln/>
          </p:spPr>
          <p:txBody>
            <a:bodyPr wrap="square" lIns="16933" tIns="16933" rIns="16933" bIns="16933" rtlCol="0" anchor="ctr">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Banana · Tomato · Mango</a:t>
              </a:r>
              <a:endParaRPr lang="en-US" sz="1000" dirty="0">
                <a:latin typeface="Georgia" panose="02040502050405020303" pitchFamily="18" charset="0"/>
              </a:endParaRPr>
            </a:p>
          </p:txBody>
        </p:sp>
        <p:sp>
          <p:nvSpPr>
            <p:cNvPr id="108" name="Text 35">
              <a:extLst>
                <a:ext uri="{FF2B5EF4-FFF2-40B4-BE49-F238E27FC236}">
                  <a16:creationId xmlns:a16="http://schemas.microsoft.com/office/drawing/2014/main" id="{D803186D-3CFF-B330-7D87-C9D651158AE1}"/>
                </a:ext>
              </a:extLst>
            </p:cNvPr>
            <p:cNvSpPr/>
            <p:nvPr/>
          </p:nvSpPr>
          <p:spPr>
            <a:xfrm>
              <a:off x="4623793" y="4094163"/>
              <a:ext cx="1375271" cy="398065"/>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4,137</a:t>
              </a:r>
              <a:endParaRPr lang="en-US" sz="1200" dirty="0">
                <a:latin typeface="Georgia" panose="02040502050405020303" pitchFamily="18" charset="0"/>
              </a:endParaRPr>
            </a:p>
          </p:txBody>
        </p:sp>
        <p:sp>
          <p:nvSpPr>
            <p:cNvPr id="109" name="Text 36">
              <a:extLst>
                <a:ext uri="{FF2B5EF4-FFF2-40B4-BE49-F238E27FC236}">
                  <a16:creationId xmlns:a16="http://schemas.microsoft.com/office/drawing/2014/main" id="{89757BF1-31F6-200A-2F5F-05E8562E91DC}"/>
                </a:ext>
              </a:extLst>
            </p:cNvPr>
            <p:cNvSpPr/>
            <p:nvPr/>
          </p:nvSpPr>
          <p:spPr>
            <a:xfrm>
              <a:off x="6202263" y="4094163"/>
              <a:ext cx="5416827" cy="398065"/>
            </a:xfrm>
            <a:prstGeom prst="rect">
              <a:avLst/>
            </a:prstGeom>
            <a:noFill/>
            <a:ln/>
          </p:spPr>
          <p:txBody>
            <a:bodyPr wrap="square" lIns="16933" tIns="16933" rIns="16933" bIns="16933" rtlCol="0" anchor="ctr">
              <a:norm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Snacks, Spices, Nutrimixes, Millet products</a:t>
              </a:r>
              <a:endParaRPr lang="en-US" sz="1200" dirty="0">
                <a:latin typeface="Georgia" panose="02040502050405020303" pitchFamily="18" charset="0"/>
              </a:endParaRPr>
            </a:p>
          </p:txBody>
        </p:sp>
        <p:sp>
          <p:nvSpPr>
            <p:cNvPr id="110" name="Shape 37">
              <a:extLst>
                <a:ext uri="{FF2B5EF4-FFF2-40B4-BE49-F238E27FC236}">
                  <a16:creationId xmlns:a16="http://schemas.microsoft.com/office/drawing/2014/main" id="{043275F5-86D7-D831-0F3F-8AE1B4C777F7}"/>
                </a:ext>
              </a:extLst>
            </p:cNvPr>
            <p:cNvSpPr/>
            <p:nvPr/>
          </p:nvSpPr>
          <p:spPr>
            <a:xfrm>
              <a:off x="644526" y="5061744"/>
              <a:ext cx="10912475" cy="6350"/>
            </a:xfrm>
            <a:prstGeom prst="rect">
              <a:avLst/>
            </a:prstGeom>
            <a:solidFill>
              <a:srgbClr val="D9D3C3"/>
            </a:solidFill>
            <a:ln/>
          </p:spPr>
          <p:txBody>
            <a:bodyPr anchor="ctr"/>
            <a:lstStyle/>
            <a:p>
              <a:pPr algn="ctr"/>
              <a:endParaRPr lang="en-IN" sz="1200">
                <a:latin typeface="Georgia" panose="02040502050405020303" pitchFamily="18" charset="0"/>
              </a:endParaRPr>
            </a:p>
          </p:txBody>
        </p:sp>
        <p:sp>
          <p:nvSpPr>
            <p:cNvPr id="111" name="Shape 38">
              <a:extLst>
                <a:ext uri="{FF2B5EF4-FFF2-40B4-BE49-F238E27FC236}">
                  <a16:creationId xmlns:a16="http://schemas.microsoft.com/office/drawing/2014/main" id="{71713799-0D68-5DBF-AADA-C5C7A17437AC}"/>
                </a:ext>
              </a:extLst>
            </p:cNvPr>
            <p:cNvSpPr/>
            <p:nvPr/>
          </p:nvSpPr>
          <p:spPr>
            <a:xfrm>
              <a:off x="644526" y="4543028"/>
              <a:ext cx="19050" cy="525065"/>
            </a:xfrm>
            <a:prstGeom prst="rect">
              <a:avLst/>
            </a:prstGeom>
            <a:solidFill>
              <a:srgbClr val="0E8B96"/>
            </a:solidFill>
            <a:ln/>
          </p:spPr>
          <p:txBody>
            <a:bodyPr anchor="ctr"/>
            <a:lstStyle/>
            <a:p>
              <a:pPr algn="ctr"/>
              <a:endParaRPr lang="en-IN" sz="1200">
                <a:latin typeface="Georgia" panose="02040502050405020303" pitchFamily="18" charset="0"/>
              </a:endParaRPr>
            </a:p>
          </p:txBody>
        </p:sp>
        <p:sp>
          <p:nvSpPr>
            <p:cNvPr id="112" name="Text 39">
              <a:extLst>
                <a:ext uri="{FF2B5EF4-FFF2-40B4-BE49-F238E27FC236}">
                  <a16:creationId xmlns:a16="http://schemas.microsoft.com/office/drawing/2014/main" id="{7B7DD0DA-DB59-4324-5D21-19DC095CA79D}"/>
                </a:ext>
              </a:extLst>
            </p:cNvPr>
            <p:cNvSpPr/>
            <p:nvPr/>
          </p:nvSpPr>
          <p:spPr>
            <a:xfrm>
              <a:off x="865805" y="4622404"/>
              <a:ext cx="3827215" cy="23108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East Karnataka</a:t>
              </a:r>
              <a:endParaRPr lang="en-US" sz="1200" dirty="0">
                <a:latin typeface="Georgia" panose="02040502050405020303" pitchFamily="18" charset="0"/>
              </a:endParaRPr>
            </a:p>
          </p:txBody>
        </p:sp>
        <p:sp>
          <p:nvSpPr>
            <p:cNvPr id="113" name="Text 40">
              <a:extLst>
                <a:ext uri="{FF2B5EF4-FFF2-40B4-BE49-F238E27FC236}">
                  <a16:creationId xmlns:a16="http://schemas.microsoft.com/office/drawing/2014/main" id="{010F4DF8-A4AD-10A6-142B-391713971E93}"/>
                </a:ext>
              </a:extLst>
            </p:cNvPr>
            <p:cNvSpPr/>
            <p:nvPr/>
          </p:nvSpPr>
          <p:spPr>
            <a:xfrm>
              <a:off x="865805" y="4800203"/>
              <a:ext cx="3827215" cy="179685"/>
            </a:xfrm>
            <a:prstGeom prst="rect">
              <a:avLst/>
            </a:prstGeom>
            <a:noFill/>
            <a:ln/>
          </p:spPr>
          <p:txBody>
            <a:bodyPr wrap="square" lIns="16933" tIns="16933" rIns="16933" bIns="16933" rtlCol="0" anchor="ctr">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Tomato · Mango processing</a:t>
              </a:r>
              <a:endParaRPr lang="en-US" sz="1000" dirty="0">
                <a:latin typeface="Georgia" panose="02040502050405020303" pitchFamily="18" charset="0"/>
              </a:endParaRPr>
            </a:p>
          </p:txBody>
        </p:sp>
        <p:sp>
          <p:nvSpPr>
            <p:cNvPr id="114" name="Text 41">
              <a:extLst>
                <a:ext uri="{FF2B5EF4-FFF2-40B4-BE49-F238E27FC236}">
                  <a16:creationId xmlns:a16="http://schemas.microsoft.com/office/drawing/2014/main" id="{DD88EB04-B5C5-12D2-81A2-B236DA2CEE66}"/>
                </a:ext>
              </a:extLst>
            </p:cNvPr>
            <p:cNvSpPr/>
            <p:nvPr/>
          </p:nvSpPr>
          <p:spPr>
            <a:xfrm>
              <a:off x="4623793" y="4619228"/>
              <a:ext cx="1375271" cy="398065"/>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2,925</a:t>
              </a:r>
              <a:endParaRPr lang="en-US" sz="1200" dirty="0">
                <a:latin typeface="Georgia" panose="02040502050405020303" pitchFamily="18" charset="0"/>
              </a:endParaRPr>
            </a:p>
          </p:txBody>
        </p:sp>
        <p:sp>
          <p:nvSpPr>
            <p:cNvPr id="115" name="Text 42">
              <a:extLst>
                <a:ext uri="{FF2B5EF4-FFF2-40B4-BE49-F238E27FC236}">
                  <a16:creationId xmlns:a16="http://schemas.microsoft.com/office/drawing/2014/main" id="{243E1AF8-1F40-BCC6-12C9-C7C8ED67D49D}"/>
                </a:ext>
              </a:extLst>
            </p:cNvPr>
            <p:cNvSpPr/>
            <p:nvPr/>
          </p:nvSpPr>
          <p:spPr>
            <a:xfrm>
              <a:off x="6202263" y="4619228"/>
              <a:ext cx="5416827" cy="398065"/>
            </a:xfrm>
            <a:prstGeom prst="rect">
              <a:avLst/>
            </a:prstGeom>
            <a:noFill/>
            <a:ln/>
          </p:spPr>
          <p:txBody>
            <a:bodyPr wrap="square" lIns="16933" tIns="16933" rIns="16933" bIns="16933" rtlCol="0" anchor="ctr">
              <a:norm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Snacks, Spices, Bakery, Millet products</a:t>
              </a:r>
              <a:endParaRPr lang="en-US" sz="1200" dirty="0">
                <a:latin typeface="Georgia" panose="02040502050405020303" pitchFamily="18" charset="0"/>
              </a:endParaRPr>
            </a:p>
          </p:txBody>
        </p:sp>
        <p:sp>
          <p:nvSpPr>
            <p:cNvPr id="116" name="Shape 43">
              <a:extLst>
                <a:ext uri="{FF2B5EF4-FFF2-40B4-BE49-F238E27FC236}">
                  <a16:creationId xmlns:a16="http://schemas.microsoft.com/office/drawing/2014/main" id="{1F4E1F18-F2DB-53FF-3C00-83204A633FB7}"/>
                </a:ext>
              </a:extLst>
            </p:cNvPr>
            <p:cNvSpPr/>
            <p:nvPr/>
          </p:nvSpPr>
          <p:spPr>
            <a:xfrm>
              <a:off x="644526" y="5068094"/>
              <a:ext cx="10912475" cy="525065"/>
            </a:xfrm>
            <a:prstGeom prst="rect">
              <a:avLst/>
            </a:prstGeom>
            <a:solidFill>
              <a:srgbClr val="EFE8D8"/>
            </a:solidFill>
            <a:ln/>
          </p:spPr>
          <p:txBody>
            <a:bodyPr anchor="ctr"/>
            <a:lstStyle/>
            <a:p>
              <a:pPr algn="ctr"/>
              <a:endParaRPr lang="en-IN" sz="1200">
                <a:latin typeface="Georgia" panose="02040502050405020303" pitchFamily="18" charset="0"/>
              </a:endParaRPr>
            </a:p>
          </p:txBody>
        </p:sp>
        <p:sp>
          <p:nvSpPr>
            <p:cNvPr id="117" name="Shape 44">
              <a:extLst>
                <a:ext uri="{FF2B5EF4-FFF2-40B4-BE49-F238E27FC236}">
                  <a16:creationId xmlns:a16="http://schemas.microsoft.com/office/drawing/2014/main" id="{6B850BCA-5157-43E1-75AC-56F21563AF83}"/>
                </a:ext>
              </a:extLst>
            </p:cNvPr>
            <p:cNvSpPr/>
            <p:nvPr/>
          </p:nvSpPr>
          <p:spPr>
            <a:xfrm>
              <a:off x="644526" y="5586810"/>
              <a:ext cx="10912475" cy="6350"/>
            </a:xfrm>
            <a:prstGeom prst="rect">
              <a:avLst/>
            </a:prstGeom>
            <a:solidFill>
              <a:srgbClr val="D9D3C3"/>
            </a:solidFill>
            <a:ln/>
          </p:spPr>
          <p:txBody>
            <a:bodyPr anchor="ctr"/>
            <a:lstStyle/>
            <a:p>
              <a:pPr algn="ctr"/>
              <a:endParaRPr lang="en-IN" sz="1200">
                <a:latin typeface="Georgia" panose="02040502050405020303" pitchFamily="18" charset="0"/>
              </a:endParaRPr>
            </a:p>
          </p:txBody>
        </p:sp>
        <p:sp>
          <p:nvSpPr>
            <p:cNvPr id="118" name="Shape 45">
              <a:extLst>
                <a:ext uri="{FF2B5EF4-FFF2-40B4-BE49-F238E27FC236}">
                  <a16:creationId xmlns:a16="http://schemas.microsoft.com/office/drawing/2014/main" id="{C47C486D-4F8C-2DCB-F684-F32DEA192885}"/>
                </a:ext>
              </a:extLst>
            </p:cNvPr>
            <p:cNvSpPr/>
            <p:nvPr/>
          </p:nvSpPr>
          <p:spPr>
            <a:xfrm>
              <a:off x="644526" y="5068094"/>
              <a:ext cx="19050" cy="525065"/>
            </a:xfrm>
            <a:prstGeom prst="rect">
              <a:avLst/>
            </a:prstGeom>
            <a:solidFill>
              <a:srgbClr val="0E8B96"/>
            </a:solidFill>
            <a:ln/>
          </p:spPr>
          <p:txBody>
            <a:bodyPr anchor="ctr"/>
            <a:lstStyle/>
            <a:p>
              <a:pPr algn="ctr"/>
              <a:endParaRPr lang="en-IN" sz="1200">
                <a:latin typeface="Georgia" panose="02040502050405020303" pitchFamily="18" charset="0"/>
              </a:endParaRPr>
            </a:p>
          </p:txBody>
        </p:sp>
        <p:sp>
          <p:nvSpPr>
            <p:cNvPr id="119" name="Text 46">
              <a:extLst>
                <a:ext uri="{FF2B5EF4-FFF2-40B4-BE49-F238E27FC236}">
                  <a16:creationId xmlns:a16="http://schemas.microsoft.com/office/drawing/2014/main" id="{CA32CCD3-A477-9A0B-4B5D-52E66B9E5A44}"/>
                </a:ext>
              </a:extLst>
            </p:cNvPr>
            <p:cNvSpPr/>
            <p:nvPr/>
          </p:nvSpPr>
          <p:spPr>
            <a:xfrm>
              <a:off x="865805" y="5147469"/>
              <a:ext cx="3827215" cy="23108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Northwest Karnataka</a:t>
              </a:r>
              <a:endParaRPr lang="en-US" sz="1200" dirty="0">
                <a:latin typeface="Georgia" panose="02040502050405020303" pitchFamily="18" charset="0"/>
              </a:endParaRPr>
            </a:p>
          </p:txBody>
        </p:sp>
        <p:sp>
          <p:nvSpPr>
            <p:cNvPr id="120" name="Text 47">
              <a:extLst>
                <a:ext uri="{FF2B5EF4-FFF2-40B4-BE49-F238E27FC236}">
                  <a16:creationId xmlns:a16="http://schemas.microsoft.com/office/drawing/2014/main" id="{937A7E01-8A58-5F96-2E0A-06CF17326A9A}"/>
                </a:ext>
              </a:extLst>
            </p:cNvPr>
            <p:cNvSpPr/>
            <p:nvPr/>
          </p:nvSpPr>
          <p:spPr>
            <a:xfrm>
              <a:off x="865805" y="5325269"/>
              <a:ext cx="3827215" cy="179685"/>
            </a:xfrm>
            <a:prstGeom prst="rect">
              <a:avLst/>
            </a:prstGeom>
            <a:noFill/>
            <a:ln/>
          </p:spPr>
          <p:txBody>
            <a:bodyPr wrap="square" lIns="16933" tIns="16933" rIns="16933" bIns="16933" rtlCol="0" anchor="ctr">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Multi-crop</a:t>
              </a:r>
              <a:endParaRPr lang="en-US" sz="1000" dirty="0">
                <a:latin typeface="Georgia" panose="02040502050405020303" pitchFamily="18" charset="0"/>
              </a:endParaRPr>
            </a:p>
          </p:txBody>
        </p:sp>
        <p:sp>
          <p:nvSpPr>
            <p:cNvPr id="121" name="Text 48">
              <a:extLst>
                <a:ext uri="{FF2B5EF4-FFF2-40B4-BE49-F238E27FC236}">
                  <a16:creationId xmlns:a16="http://schemas.microsoft.com/office/drawing/2014/main" id="{55F2103B-69DB-3A57-59ED-74EE05CB67E5}"/>
                </a:ext>
              </a:extLst>
            </p:cNvPr>
            <p:cNvSpPr/>
            <p:nvPr/>
          </p:nvSpPr>
          <p:spPr>
            <a:xfrm>
              <a:off x="4623793" y="5144294"/>
              <a:ext cx="1375271" cy="398065"/>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1,664</a:t>
              </a:r>
              <a:endParaRPr lang="en-US" sz="1200" dirty="0">
                <a:latin typeface="Georgia" panose="02040502050405020303" pitchFamily="18" charset="0"/>
              </a:endParaRPr>
            </a:p>
          </p:txBody>
        </p:sp>
        <p:sp>
          <p:nvSpPr>
            <p:cNvPr id="122" name="Text 49">
              <a:extLst>
                <a:ext uri="{FF2B5EF4-FFF2-40B4-BE49-F238E27FC236}">
                  <a16:creationId xmlns:a16="http://schemas.microsoft.com/office/drawing/2014/main" id="{9DCD6B85-BD5A-BBB1-5A60-5B9B4019BE0B}"/>
                </a:ext>
              </a:extLst>
            </p:cNvPr>
            <p:cNvSpPr/>
            <p:nvPr/>
          </p:nvSpPr>
          <p:spPr>
            <a:xfrm>
              <a:off x="6202263" y="5144294"/>
              <a:ext cx="5416827" cy="398065"/>
            </a:xfrm>
            <a:prstGeom prst="rect">
              <a:avLst/>
            </a:prstGeom>
            <a:noFill/>
            <a:ln/>
          </p:spPr>
          <p:txBody>
            <a:bodyPr wrap="square" lIns="16933" tIns="16933" rIns="16933" bIns="16933" rtlCol="0" anchor="ctr">
              <a:norm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Snacks, Spices, Bakery, Pickles</a:t>
              </a:r>
              <a:endParaRPr lang="en-US" sz="1200" dirty="0">
                <a:latin typeface="Georgia" panose="02040502050405020303" pitchFamily="18" charset="0"/>
              </a:endParaRPr>
            </a:p>
          </p:txBody>
        </p:sp>
        <p:sp>
          <p:nvSpPr>
            <p:cNvPr id="123" name="Shape 50">
              <a:extLst>
                <a:ext uri="{FF2B5EF4-FFF2-40B4-BE49-F238E27FC236}">
                  <a16:creationId xmlns:a16="http://schemas.microsoft.com/office/drawing/2014/main" id="{018A683F-BF80-C245-6532-77F4748EE1DA}"/>
                </a:ext>
              </a:extLst>
            </p:cNvPr>
            <p:cNvSpPr/>
            <p:nvPr/>
          </p:nvSpPr>
          <p:spPr>
            <a:xfrm>
              <a:off x="644526" y="6111876"/>
              <a:ext cx="10912475" cy="6350"/>
            </a:xfrm>
            <a:prstGeom prst="rect">
              <a:avLst/>
            </a:prstGeom>
            <a:solidFill>
              <a:srgbClr val="D9D3C3"/>
            </a:solidFill>
            <a:ln/>
          </p:spPr>
          <p:txBody>
            <a:bodyPr anchor="ctr"/>
            <a:lstStyle/>
            <a:p>
              <a:pPr algn="ctr"/>
              <a:endParaRPr lang="en-IN" sz="1200">
                <a:latin typeface="Georgia" panose="02040502050405020303" pitchFamily="18" charset="0"/>
              </a:endParaRPr>
            </a:p>
          </p:txBody>
        </p:sp>
        <p:sp>
          <p:nvSpPr>
            <p:cNvPr id="124" name="Shape 51">
              <a:extLst>
                <a:ext uri="{FF2B5EF4-FFF2-40B4-BE49-F238E27FC236}">
                  <a16:creationId xmlns:a16="http://schemas.microsoft.com/office/drawing/2014/main" id="{B977511E-4976-4348-106F-C63D34300BA9}"/>
                </a:ext>
              </a:extLst>
            </p:cNvPr>
            <p:cNvSpPr/>
            <p:nvPr/>
          </p:nvSpPr>
          <p:spPr>
            <a:xfrm>
              <a:off x="644526" y="5593160"/>
              <a:ext cx="19050" cy="525065"/>
            </a:xfrm>
            <a:prstGeom prst="rect">
              <a:avLst/>
            </a:prstGeom>
            <a:solidFill>
              <a:srgbClr val="0E8B96"/>
            </a:solidFill>
            <a:ln/>
          </p:spPr>
          <p:txBody>
            <a:bodyPr anchor="ctr"/>
            <a:lstStyle/>
            <a:p>
              <a:pPr algn="ctr"/>
              <a:endParaRPr lang="en-IN" sz="1200">
                <a:latin typeface="Georgia" panose="02040502050405020303" pitchFamily="18" charset="0"/>
              </a:endParaRPr>
            </a:p>
          </p:txBody>
        </p:sp>
        <p:sp>
          <p:nvSpPr>
            <p:cNvPr id="125" name="Text 52">
              <a:extLst>
                <a:ext uri="{FF2B5EF4-FFF2-40B4-BE49-F238E27FC236}">
                  <a16:creationId xmlns:a16="http://schemas.microsoft.com/office/drawing/2014/main" id="{1B5BEB63-ABF3-C05F-303F-8CC3D3C162C1}"/>
                </a:ext>
              </a:extLst>
            </p:cNvPr>
            <p:cNvSpPr/>
            <p:nvPr/>
          </p:nvSpPr>
          <p:spPr>
            <a:xfrm>
              <a:off x="865805" y="5672535"/>
              <a:ext cx="3827215" cy="23108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Western Ghats</a:t>
              </a:r>
              <a:endParaRPr lang="en-US" sz="1200" dirty="0">
                <a:latin typeface="Georgia" panose="02040502050405020303" pitchFamily="18" charset="0"/>
              </a:endParaRPr>
            </a:p>
          </p:txBody>
        </p:sp>
        <p:sp>
          <p:nvSpPr>
            <p:cNvPr id="126" name="Text 53">
              <a:extLst>
                <a:ext uri="{FF2B5EF4-FFF2-40B4-BE49-F238E27FC236}">
                  <a16:creationId xmlns:a16="http://schemas.microsoft.com/office/drawing/2014/main" id="{F7231C1D-2520-981C-7C90-19BD9F71B656}"/>
                </a:ext>
              </a:extLst>
            </p:cNvPr>
            <p:cNvSpPr/>
            <p:nvPr/>
          </p:nvSpPr>
          <p:spPr>
            <a:xfrm>
              <a:off x="865805" y="5850334"/>
              <a:ext cx="3827215" cy="179685"/>
            </a:xfrm>
            <a:prstGeom prst="rect">
              <a:avLst/>
            </a:prstGeom>
            <a:noFill/>
            <a:ln/>
          </p:spPr>
          <p:txBody>
            <a:bodyPr wrap="square" lIns="16933" tIns="16933" rIns="16933" bIns="16933" rtlCol="0" anchor="ctr">
              <a:noAutofit/>
            </a:bodyPr>
            <a:lstStyle/>
            <a:p>
              <a:pPr>
                <a:lnSpc>
                  <a:spcPct val="135000"/>
                </a:lnSpc>
              </a:pPr>
              <a:r>
                <a:rPr lang="en-US" sz="1000" dirty="0">
                  <a:latin typeface="Georgia" panose="02040502050405020303" pitchFamily="18" charset="0"/>
                  <a:ea typeface="Trebuchet MS" pitchFamily="34" charset="-122"/>
                  <a:cs typeface="Trebuchet MS" pitchFamily="34" charset="-120"/>
                </a:rPr>
                <a:t>Banana · Pineapple</a:t>
              </a:r>
              <a:endParaRPr lang="en-US" sz="1000" dirty="0">
                <a:latin typeface="Georgia" panose="02040502050405020303" pitchFamily="18" charset="0"/>
              </a:endParaRPr>
            </a:p>
          </p:txBody>
        </p:sp>
        <p:sp>
          <p:nvSpPr>
            <p:cNvPr id="127" name="Text 54">
              <a:extLst>
                <a:ext uri="{FF2B5EF4-FFF2-40B4-BE49-F238E27FC236}">
                  <a16:creationId xmlns:a16="http://schemas.microsoft.com/office/drawing/2014/main" id="{B258EF8E-AC06-0713-BDDE-8A1301C5FCE9}"/>
                </a:ext>
              </a:extLst>
            </p:cNvPr>
            <p:cNvSpPr/>
            <p:nvPr/>
          </p:nvSpPr>
          <p:spPr>
            <a:xfrm>
              <a:off x="4623793" y="5669360"/>
              <a:ext cx="1375271" cy="398065"/>
            </a:xfrm>
            <a:prstGeom prst="rect">
              <a:avLst/>
            </a:prstGeom>
            <a:noFill/>
            <a:ln/>
          </p:spPr>
          <p:txBody>
            <a:bodyPr wrap="square" lIns="16933" tIns="16933" rIns="16933" bIns="16933" rtlCol="0" anchor="ctr">
              <a:norm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4,046</a:t>
              </a:r>
              <a:endParaRPr lang="en-US" sz="1200" dirty="0">
                <a:latin typeface="Georgia" panose="02040502050405020303" pitchFamily="18" charset="0"/>
              </a:endParaRPr>
            </a:p>
          </p:txBody>
        </p:sp>
        <p:sp>
          <p:nvSpPr>
            <p:cNvPr id="128" name="Text 55">
              <a:extLst>
                <a:ext uri="{FF2B5EF4-FFF2-40B4-BE49-F238E27FC236}">
                  <a16:creationId xmlns:a16="http://schemas.microsoft.com/office/drawing/2014/main" id="{187CA9B1-CF91-7B19-914B-33DB417CE5C6}"/>
                </a:ext>
              </a:extLst>
            </p:cNvPr>
            <p:cNvSpPr/>
            <p:nvPr/>
          </p:nvSpPr>
          <p:spPr>
            <a:xfrm>
              <a:off x="6202263" y="5669360"/>
              <a:ext cx="5416827" cy="398065"/>
            </a:xfrm>
            <a:prstGeom prst="rect">
              <a:avLst/>
            </a:prstGeom>
            <a:noFill/>
            <a:ln/>
          </p:spPr>
          <p:txBody>
            <a:bodyPr wrap="square" lIns="16933" tIns="16933" rIns="16933" bIns="16933" rtlCol="0" anchor="ctr">
              <a:normAutofit/>
            </a:bodyPr>
            <a:lstStyle/>
            <a:p>
              <a:pPr>
                <a:lnSpc>
                  <a:spcPct val="135000"/>
                </a:lnSpc>
              </a:pPr>
              <a:r>
                <a:rPr lang="en-US" sz="1200" dirty="0">
                  <a:latin typeface="Georgia" panose="02040502050405020303" pitchFamily="18" charset="0"/>
                  <a:ea typeface="Trebuchet MS" pitchFamily="34" charset="-122"/>
                  <a:cs typeface="Trebuchet MS" pitchFamily="34" charset="-120"/>
                </a:rPr>
                <a:t>Snacks, Spices, Bakery, Nutrimixes, Honey, Pickles, Coconut oil</a:t>
              </a:r>
              <a:endParaRPr lang="en-US" sz="1200" dirty="0">
                <a:latin typeface="Georgia" panose="02040502050405020303" pitchFamily="18" charset="0"/>
              </a:endParaRPr>
            </a:p>
          </p:txBody>
        </p:sp>
      </p:grpSp>
      <p:sp>
        <p:nvSpPr>
          <p:cNvPr id="129" name="TextBox 128">
            <a:extLst>
              <a:ext uri="{FF2B5EF4-FFF2-40B4-BE49-F238E27FC236}">
                <a16:creationId xmlns:a16="http://schemas.microsoft.com/office/drawing/2014/main" id="{8E78CBD9-EB84-74BF-B819-7087B3B6D3B0}"/>
              </a:ext>
            </a:extLst>
          </p:cNvPr>
          <p:cNvSpPr txBox="1"/>
          <p:nvPr/>
        </p:nvSpPr>
        <p:spPr>
          <a:xfrm>
            <a:off x="381000" y="5734811"/>
            <a:ext cx="6270228" cy="230832"/>
          </a:xfrm>
          <a:prstGeom prst="rect">
            <a:avLst/>
          </a:prstGeom>
          <a:noFill/>
        </p:spPr>
        <p:txBody>
          <a:bodyPr wrap="square" rtlCol="0">
            <a:spAutoFit/>
          </a:bodyPr>
          <a:lstStyle/>
          <a:p>
            <a:r>
              <a:rPr lang="en-IN" sz="900" i="1" dirty="0">
                <a:latin typeface="Georgia" panose="02040502050405020303" pitchFamily="18" charset="0"/>
              </a:rPr>
              <a:t>Sources: </a:t>
            </a:r>
            <a:r>
              <a:rPr lang="en-IN" sz="900" i="1" dirty="0">
                <a:solidFill>
                  <a:schemeClr val="tx1">
                    <a:lumMod val="95000"/>
                    <a:lumOff val="5000"/>
                  </a:schemeClr>
                </a:solidFill>
                <a:latin typeface="Georgia" panose="02040502050405020303" pitchFamily="18" charset="0"/>
              </a:rPr>
              <a:t>KSRLPS, </a:t>
            </a:r>
            <a:r>
              <a:rPr lang="en-IN" sz="900" i="1" dirty="0" err="1">
                <a:solidFill>
                  <a:schemeClr val="tx1">
                    <a:lumMod val="95000"/>
                    <a:lumOff val="5000"/>
                  </a:schemeClr>
                </a:solidFill>
                <a:latin typeface="Georgia" panose="02040502050405020303" pitchFamily="18" charset="0"/>
              </a:rPr>
              <a:t>GoK</a:t>
            </a:r>
            <a:endParaRPr lang="en-IN" dirty="0">
              <a:latin typeface="Georgia" panose="02040502050405020303" pitchFamily="18" charset="0"/>
            </a:endParaRPr>
          </a:p>
        </p:txBody>
      </p:sp>
      <p:pic>
        <p:nvPicPr>
          <p:cNvPr id="3" name="Picture 2">
            <a:extLst>
              <a:ext uri="{FF2B5EF4-FFF2-40B4-BE49-F238E27FC236}">
                <a16:creationId xmlns:a16="http://schemas.microsoft.com/office/drawing/2014/main" id="{BB0885FF-5FC7-410C-B04E-930D77FE0975}"/>
              </a:ext>
            </a:extLst>
          </p:cNvPr>
          <p:cNvPicPr>
            <a:picLocks noChangeAspect="1"/>
          </p:cNvPicPr>
          <p:nvPr/>
        </p:nvPicPr>
        <p:blipFill>
          <a:blip r:embed="rId2"/>
          <a:stretch>
            <a:fillRect/>
          </a:stretch>
        </p:blipFill>
        <p:spPr>
          <a:xfrm>
            <a:off x="-14108" y="6180332"/>
            <a:ext cx="12192000" cy="682625"/>
          </a:xfrm>
          <a:prstGeom prst="rect">
            <a:avLst/>
          </a:prstGeom>
        </p:spPr>
      </p:pic>
    </p:spTree>
    <p:extLst>
      <p:ext uri="{BB962C8B-B14F-4D97-AF65-F5344CB8AC3E}">
        <p14:creationId xmlns:p14="http://schemas.microsoft.com/office/powerpoint/2010/main" val="7281189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E6BB6-F954-87A6-2FBF-8D5F888F4A6D}"/>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A7C89DC3-2B01-1BF8-53A4-B59B52E27E9F}"/>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48</a:t>
            </a:fld>
            <a:endParaRPr dirty="0">
              <a:latin typeface="Georgia" panose="02040502050405020303" pitchFamily="18" charset="0"/>
            </a:endParaRPr>
          </a:p>
        </p:txBody>
      </p:sp>
      <p:sp>
        <p:nvSpPr>
          <p:cNvPr id="72" name="Text 3">
            <a:extLst>
              <a:ext uri="{FF2B5EF4-FFF2-40B4-BE49-F238E27FC236}">
                <a16:creationId xmlns:a16="http://schemas.microsoft.com/office/drawing/2014/main" id="{A444DAC1-8D15-0750-6007-43DA26CFCC4C}"/>
              </a:ext>
            </a:extLst>
          </p:cNvPr>
          <p:cNvSpPr/>
          <p:nvPr/>
        </p:nvSpPr>
        <p:spPr>
          <a:xfrm>
            <a:off x="534238" y="152400"/>
            <a:ext cx="11249660" cy="388541"/>
          </a:xfrm>
          <a:prstGeom prst="rect">
            <a:avLst/>
          </a:prstGeom>
          <a:noFill/>
          <a:ln/>
        </p:spPr>
        <p:txBody>
          <a:bodyPr wrap="square" lIns="16933" tIns="16933" rIns="16933" bIns="16933" rtlCol="0" anchor="t">
            <a:normAutofit fontScale="85000" lnSpcReduction="20000"/>
          </a:bodyPr>
          <a:lstStyle/>
          <a:p>
            <a:pPr>
              <a:lnSpc>
                <a:spcPct val="110000"/>
              </a:lnSpc>
            </a:pPr>
            <a:r>
              <a:rPr lang="en-US" sz="2800" b="1" dirty="0">
                <a:solidFill>
                  <a:schemeClr val="bg1"/>
                </a:solidFill>
                <a:latin typeface="Georgia" panose="02040502050405020303" pitchFamily="18" charset="0"/>
              </a:rPr>
              <a:t>District-wise trained women report as on DDU-GKY</a:t>
            </a:r>
          </a:p>
          <a:p>
            <a:pPr>
              <a:lnSpc>
                <a:spcPct val="110000"/>
              </a:lnSpc>
            </a:pPr>
            <a:endParaRPr lang="en-US" sz="2800" dirty="0">
              <a:solidFill>
                <a:schemeClr val="bg1"/>
              </a:solidFill>
              <a:latin typeface="Georgia" panose="02040502050405020303" pitchFamily="18" charset="0"/>
            </a:endParaRPr>
          </a:p>
        </p:txBody>
      </p:sp>
      <p:sp>
        <p:nvSpPr>
          <p:cNvPr id="129" name="TextBox 128">
            <a:extLst>
              <a:ext uri="{FF2B5EF4-FFF2-40B4-BE49-F238E27FC236}">
                <a16:creationId xmlns:a16="http://schemas.microsoft.com/office/drawing/2014/main" id="{6D5287F2-C6B9-CCE1-79F9-99B0AA361ECD}"/>
              </a:ext>
            </a:extLst>
          </p:cNvPr>
          <p:cNvSpPr txBox="1"/>
          <p:nvPr/>
        </p:nvSpPr>
        <p:spPr>
          <a:xfrm>
            <a:off x="497099" y="5712768"/>
            <a:ext cx="6270228" cy="230832"/>
          </a:xfrm>
          <a:prstGeom prst="rect">
            <a:avLst/>
          </a:prstGeom>
          <a:noFill/>
        </p:spPr>
        <p:txBody>
          <a:bodyPr wrap="square" rtlCol="0">
            <a:spAutoFit/>
          </a:bodyPr>
          <a:lstStyle/>
          <a:p>
            <a:r>
              <a:rPr lang="en-IN" sz="900" i="1" dirty="0">
                <a:latin typeface="Georgia" panose="02040502050405020303" pitchFamily="18" charset="0"/>
              </a:rPr>
              <a:t>Sources: </a:t>
            </a:r>
            <a:r>
              <a:rPr lang="en-IN" sz="900" i="1" dirty="0">
                <a:solidFill>
                  <a:schemeClr val="tx1">
                    <a:lumMod val="95000"/>
                    <a:lumOff val="5000"/>
                  </a:schemeClr>
                </a:solidFill>
                <a:latin typeface="Georgia" panose="02040502050405020303" pitchFamily="18" charset="0"/>
              </a:rPr>
              <a:t>KSRLPS, </a:t>
            </a:r>
            <a:r>
              <a:rPr lang="en-IN" sz="900" i="1" dirty="0" err="1">
                <a:solidFill>
                  <a:schemeClr val="tx1">
                    <a:lumMod val="95000"/>
                    <a:lumOff val="5000"/>
                  </a:schemeClr>
                </a:solidFill>
                <a:latin typeface="Georgia" panose="02040502050405020303" pitchFamily="18" charset="0"/>
              </a:rPr>
              <a:t>GoK</a:t>
            </a:r>
            <a:endParaRPr lang="en-IN" dirty="0">
              <a:latin typeface="Georgia" panose="02040502050405020303" pitchFamily="18" charset="0"/>
            </a:endParaRPr>
          </a:p>
        </p:txBody>
      </p:sp>
      <p:sp>
        <p:nvSpPr>
          <p:cNvPr id="3" name="Shape 7">
            <a:extLst>
              <a:ext uri="{FF2B5EF4-FFF2-40B4-BE49-F238E27FC236}">
                <a16:creationId xmlns:a16="http://schemas.microsoft.com/office/drawing/2014/main" id="{5E2F4350-C462-BA28-55FB-5441389A6307}"/>
              </a:ext>
            </a:extLst>
          </p:cNvPr>
          <p:cNvSpPr/>
          <p:nvPr/>
        </p:nvSpPr>
        <p:spPr>
          <a:xfrm>
            <a:off x="534239" y="1346257"/>
            <a:ext cx="10819561" cy="355600"/>
          </a:xfrm>
          <a:prstGeom prst="rect">
            <a:avLst/>
          </a:prstGeom>
          <a:solidFill>
            <a:srgbClr val="0B6E78"/>
          </a:solidFill>
          <a:ln/>
        </p:spPr>
        <p:txBody>
          <a:bodyPr/>
          <a:lstStyle/>
          <a:p>
            <a:pPr algn="ctr"/>
            <a:endParaRPr lang="en-IN" sz="1400">
              <a:latin typeface="Georgia" panose="02040502050405020303" pitchFamily="18" charset="0"/>
            </a:endParaRPr>
          </a:p>
        </p:txBody>
      </p:sp>
      <p:sp>
        <p:nvSpPr>
          <p:cNvPr id="4" name="Text 8">
            <a:extLst>
              <a:ext uri="{FF2B5EF4-FFF2-40B4-BE49-F238E27FC236}">
                <a16:creationId xmlns:a16="http://schemas.microsoft.com/office/drawing/2014/main" id="{014C27CD-6485-738C-D200-2C9252F6D530}"/>
              </a:ext>
            </a:extLst>
          </p:cNvPr>
          <p:cNvSpPr/>
          <p:nvPr/>
        </p:nvSpPr>
        <p:spPr>
          <a:xfrm>
            <a:off x="634973" y="1407525"/>
            <a:ext cx="2027279" cy="230832"/>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District</a:t>
            </a:r>
            <a:endParaRPr lang="en-US" sz="1200" dirty="0">
              <a:latin typeface="Georgia" panose="02040502050405020303" pitchFamily="18" charset="0"/>
            </a:endParaRPr>
          </a:p>
        </p:txBody>
      </p:sp>
      <p:sp>
        <p:nvSpPr>
          <p:cNvPr id="6" name="Text 9">
            <a:extLst>
              <a:ext uri="{FF2B5EF4-FFF2-40B4-BE49-F238E27FC236}">
                <a16:creationId xmlns:a16="http://schemas.microsoft.com/office/drawing/2014/main" id="{A376CBAB-FBE4-5396-EA1D-40D99460D498}"/>
              </a:ext>
            </a:extLst>
          </p:cNvPr>
          <p:cNvSpPr/>
          <p:nvPr/>
        </p:nvSpPr>
        <p:spPr>
          <a:xfrm>
            <a:off x="2798807" y="1407525"/>
            <a:ext cx="1471773" cy="230832"/>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Total trained</a:t>
            </a:r>
            <a:endParaRPr lang="en-US" sz="1200" dirty="0">
              <a:latin typeface="Georgia" panose="02040502050405020303" pitchFamily="18" charset="0"/>
            </a:endParaRPr>
          </a:p>
        </p:txBody>
      </p:sp>
      <p:sp>
        <p:nvSpPr>
          <p:cNvPr id="7" name="Text 10">
            <a:extLst>
              <a:ext uri="{FF2B5EF4-FFF2-40B4-BE49-F238E27FC236}">
                <a16:creationId xmlns:a16="http://schemas.microsoft.com/office/drawing/2014/main" id="{61D424EB-5A2A-E27E-412A-D42AB0349C19}"/>
              </a:ext>
            </a:extLst>
          </p:cNvPr>
          <p:cNvSpPr/>
          <p:nvPr/>
        </p:nvSpPr>
        <p:spPr>
          <a:xfrm>
            <a:off x="4421682" y="1409643"/>
            <a:ext cx="1471773" cy="230832"/>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Total placed</a:t>
            </a:r>
            <a:endParaRPr lang="en-US" sz="1200" dirty="0">
              <a:latin typeface="Georgia" panose="02040502050405020303" pitchFamily="18" charset="0"/>
            </a:endParaRPr>
          </a:p>
        </p:txBody>
      </p:sp>
      <p:sp>
        <p:nvSpPr>
          <p:cNvPr id="8" name="Text 11">
            <a:extLst>
              <a:ext uri="{FF2B5EF4-FFF2-40B4-BE49-F238E27FC236}">
                <a16:creationId xmlns:a16="http://schemas.microsoft.com/office/drawing/2014/main" id="{7D5981B8-7CBE-0D31-FD96-226704EC8967}"/>
              </a:ext>
            </a:extLst>
          </p:cNvPr>
          <p:cNvSpPr/>
          <p:nvPr/>
        </p:nvSpPr>
        <p:spPr>
          <a:xfrm>
            <a:off x="6044557" y="1409643"/>
            <a:ext cx="1471773" cy="230832"/>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Women trained</a:t>
            </a:r>
            <a:endParaRPr lang="en-US" sz="1200" dirty="0">
              <a:latin typeface="Georgia" panose="02040502050405020303" pitchFamily="18" charset="0"/>
            </a:endParaRPr>
          </a:p>
        </p:txBody>
      </p:sp>
      <p:sp>
        <p:nvSpPr>
          <p:cNvPr id="9" name="Text 12">
            <a:extLst>
              <a:ext uri="{FF2B5EF4-FFF2-40B4-BE49-F238E27FC236}">
                <a16:creationId xmlns:a16="http://schemas.microsoft.com/office/drawing/2014/main" id="{BF4242DC-42AD-017B-C5F5-37BA11DD7EDC}"/>
              </a:ext>
            </a:extLst>
          </p:cNvPr>
          <p:cNvSpPr/>
          <p:nvPr/>
        </p:nvSpPr>
        <p:spPr>
          <a:xfrm>
            <a:off x="7667432" y="1409643"/>
            <a:ext cx="1471773" cy="230832"/>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Women placed</a:t>
            </a:r>
            <a:endParaRPr lang="en-US" sz="1200" dirty="0">
              <a:latin typeface="Georgia" panose="02040502050405020303" pitchFamily="18" charset="0"/>
            </a:endParaRPr>
          </a:p>
        </p:txBody>
      </p:sp>
      <p:sp>
        <p:nvSpPr>
          <p:cNvPr id="10" name="Text 13">
            <a:extLst>
              <a:ext uri="{FF2B5EF4-FFF2-40B4-BE49-F238E27FC236}">
                <a16:creationId xmlns:a16="http://schemas.microsoft.com/office/drawing/2014/main" id="{4788AD7C-3F93-94D9-F39C-053F6F0C82FA}"/>
              </a:ext>
            </a:extLst>
          </p:cNvPr>
          <p:cNvSpPr/>
          <p:nvPr/>
        </p:nvSpPr>
        <p:spPr>
          <a:xfrm>
            <a:off x="9290307" y="1409643"/>
            <a:ext cx="2027684" cy="230832"/>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Women placement %</a:t>
            </a:r>
            <a:endParaRPr lang="en-US" sz="1200" dirty="0">
              <a:latin typeface="Georgia" panose="02040502050405020303" pitchFamily="18" charset="0"/>
            </a:endParaRPr>
          </a:p>
        </p:txBody>
      </p:sp>
      <p:sp>
        <p:nvSpPr>
          <p:cNvPr id="11" name="Shape 14">
            <a:extLst>
              <a:ext uri="{FF2B5EF4-FFF2-40B4-BE49-F238E27FC236}">
                <a16:creationId xmlns:a16="http://schemas.microsoft.com/office/drawing/2014/main" id="{AAFD6873-F9CB-6198-07E2-8DCFCD47FBB3}"/>
              </a:ext>
            </a:extLst>
          </p:cNvPr>
          <p:cNvSpPr/>
          <p:nvPr/>
        </p:nvSpPr>
        <p:spPr>
          <a:xfrm>
            <a:off x="534239" y="2056762"/>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12" name="Shape 15">
            <a:extLst>
              <a:ext uri="{FF2B5EF4-FFF2-40B4-BE49-F238E27FC236}">
                <a16:creationId xmlns:a16="http://schemas.microsoft.com/office/drawing/2014/main" id="{CC5E9F2E-76F5-F478-B21F-AEC23BC3DA08}"/>
              </a:ext>
            </a:extLst>
          </p:cNvPr>
          <p:cNvSpPr/>
          <p:nvPr/>
        </p:nvSpPr>
        <p:spPr>
          <a:xfrm>
            <a:off x="534239" y="1701857"/>
            <a:ext cx="18888" cy="361255"/>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13" name="Text 16">
            <a:extLst>
              <a:ext uri="{FF2B5EF4-FFF2-40B4-BE49-F238E27FC236}">
                <a16:creationId xmlns:a16="http://schemas.microsoft.com/office/drawing/2014/main" id="{A4CCFB0A-49A3-B632-E71C-6C1B18B87884}"/>
              </a:ext>
            </a:extLst>
          </p:cNvPr>
          <p:cNvSpPr/>
          <p:nvPr/>
        </p:nvSpPr>
        <p:spPr>
          <a:xfrm>
            <a:off x="685800" y="1778057"/>
            <a:ext cx="2008391" cy="234255"/>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Bijapur</a:t>
            </a:r>
            <a:endParaRPr lang="en-US" sz="1200" dirty="0">
              <a:latin typeface="Georgia" panose="02040502050405020303" pitchFamily="18" charset="0"/>
            </a:endParaRPr>
          </a:p>
        </p:txBody>
      </p:sp>
      <p:sp>
        <p:nvSpPr>
          <p:cNvPr id="14" name="Text 17">
            <a:extLst>
              <a:ext uri="{FF2B5EF4-FFF2-40B4-BE49-F238E27FC236}">
                <a16:creationId xmlns:a16="http://schemas.microsoft.com/office/drawing/2014/main" id="{430B4C27-5032-853E-971D-7E317B56EA66}"/>
              </a:ext>
            </a:extLst>
          </p:cNvPr>
          <p:cNvSpPr/>
          <p:nvPr/>
        </p:nvSpPr>
        <p:spPr>
          <a:xfrm>
            <a:off x="2748439" y="1778057"/>
            <a:ext cx="1471773" cy="234255"/>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2,484</a:t>
            </a:r>
            <a:endParaRPr lang="en-US" sz="1200" dirty="0">
              <a:latin typeface="Georgia" panose="02040502050405020303" pitchFamily="18" charset="0"/>
            </a:endParaRPr>
          </a:p>
        </p:txBody>
      </p:sp>
      <p:sp>
        <p:nvSpPr>
          <p:cNvPr id="15" name="Text 18">
            <a:extLst>
              <a:ext uri="{FF2B5EF4-FFF2-40B4-BE49-F238E27FC236}">
                <a16:creationId xmlns:a16="http://schemas.microsoft.com/office/drawing/2014/main" id="{4E7B24AD-5417-3808-5612-A4B1CD1706DD}"/>
              </a:ext>
            </a:extLst>
          </p:cNvPr>
          <p:cNvSpPr/>
          <p:nvPr/>
        </p:nvSpPr>
        <p:spPr>
          <a:xfrm>
            <a:off x="4371315" y="1778057"/>
            <a:ext cx="1471773" cy="234255"/>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1,376</a:t>
            </a:r>
            <a:endParaRPr lang="en-US" sz="1200" dirty="0">
              <a:latin typeface="Georgia" panose="02040502050405020303" pitchFamily="18" charset="0"/>
            </a:endParaRPr>
          </a:p>
        </p:txBody>
      </p:sp>
      <p:sp>
        <p:nvSpPr>
          <p:cNvPr id="16" name="Text 19">
            <a:extLst>
              <a:ext uri="{FF2B5EF4-FFF2-40B4-BE49-F238E27FC236}">
                <a16:creationId xmlns:a16="http://schemas.microsoft.com/office/drawing/2014/main" id="{DF57D1DA-032C-E544-758A-CED5F138A8EF}"/>
              </a:ext>
            </a:extLst>
          </p:cNvPr>
          <p:cNvSpPr/>
          <p:nvPr/>
        </p:nvSpPr>
        <p:spPr>
          <a:xfrm>
            <a:off x="5994189" y="1778057"/>
            <a:ext cx="1471773" cy="234255"/>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532</a:t>
            </a:r>
            <a:endParaRPr lang="en-US" sz="1200" dirty="0">
              <a:latin typeface="Georgia" panose="02040502050405020303" pitchFamily="18" charset="0"/>
            </a:endParaRPr>
          </a:p>
        </p:txBody>
      </p:sp>
      <p:sp>
        <p:nvSpPr>
          <p:cNvPr id="17" name="Text 20">
            <a:extLst>
              <a:ext uri="{FF2B5EF4-FFF2-40B4-BE49-F238E27FC236}">
                <a16:creationId xmlns:a16="http://schemas.microsoft.com/office/drawing/2014/main" id="{B94450C3-FEF0-2553-529A-BBF5D588A465}"/>
              </a:ext>
            </a:extLst>
          </p:cNvPr>
          <p:cNvSpPr/>
          <p:nvPr/>
        </p:nvSpPr>
        <p:spPr>
          <a:xfrm>
            <a:off x="7617065" y="1778057"/>
            <a:ext cx="1471773" cy="234255"/>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306</a:t>
            </a:r>
            <a:endParaRPr lang="en-US" sz="1200" dirty="0">
              <a:latin typeface="Georgia" panose="02040502050405020303" pitchFamily="18" charset="0"/>
            </a:endParaRPr>
          </a:p>
        </p:txBody>
      </p:sp>
      <p:sp>
        <p:nvSpPr>
          <p:cNvPr id="18" name="Text 21">
            <a:extLst>
              <a:ext uri="{FF2B5EF4-FFF2-40B4-BE49-F238E27FC236}">
                <a16:creationId xmlns:a16="http://schemas.microsoft.com/office/drawing/2014/main" id="{0D11168B-B066-BBA2-8210-5FF0AC2891B1}"/>
              </a:ext>
            </a:extLst>
          </p:cNvPr>
          <p:cNvSpPr/>
          <p:nvPr/>
        </p:nvSpPr>
        <p:spPr>
          <a:xfrm>
            <a:off x="9225381" y="1778057"/>
            <a:ext cx="2027684" cy="234255"/>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58%</a:t>
            </a:r>
            <a:endParaRPr lang="en-US" sz="1200" dirty="0">
              <a:latin typeface="Georgia" panose="02040502050405020303" pitchFamily="18" charset="0"/>
            </a:endParaRPr>
          </a:p>
        </p:txBody>
      </p:sp>
      <p:sp>
        <p:nvSpPr>
          <p:cNvPr id="19" name="Shape 22">
            <a:extLst>
              <a:ext uri="{FF2B5EF4-FFF2-40B4-BE49-F238E27FC236}">
                <a16:creationId xmlns:a16="http://schemas.microsoft.com/office/drawing/2014/main" id="{C46DF444-8FEB-A867-D1A9-7DD251DC556F}"/>
              </a:ext>
            </a:extLst>
          </p:cNvPr>
          <p:cNvSpPr/>
          <p:nvPr/>
        </p:nvSpPr>
        <p:spPr>
          <a:xfrm>
            <a:off x="534239" y="2063112"/>
            <a:ext cx="10819561" cy="364431"/>
          </a:xfrm>
          <a:prstGeom prst="rect">
            <a:avLst/>
          </a:prstGeom>
          <a:solidFill>
            <a:srgbClr val="EFE8D8"/>
          </a:solidFill>
          <a:ln/>
        </p:spPr>
        <p:txBody>
          <a:bodyPr/>
          <a:lstStyle/>
          <a:p>
            <a:pPr algn="ctr"/>
            <a:endParaRPr lang="en-IN" sz="1200">
              <a:latin typeface="Georgia" panose="02040502050405020303" pitchFamily="18" charset="0"/>
            </a:endParaRPr>
          </a:p>
        </p:txBody>
      </p:sp>
      <p:sp>
        <p:nvSpPr>
          <p:cNvPr id="20" name="Shape 23">
            <a:extLst>
              <a:ext uri="{FF2B5EF4-FFF2-40B4-BE49-F238E27FC236}">
                <a16:creationId xmlns:a16="http://schemas.microsoft.com/office/drawing/2014/main" id="{D554638F-A737-CB22-003D-66FDF036E1F9}"/>
              </a:ext>
            </a:extLst>
          </p:cNvPr>
          <p:cNvSpPr/>
          <p:nvPr/>
        </p:nvSpPr>
        <p:spPr>
          <a:xfrm>
            <a:off x="534239" y="2421193"/>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21" name="Shape 24">
            <a:extLst>
              <a:ext uri="{FF2B5EF4-FFF2-40B4-BE49-F238E27FC236}">
                <a16:creationId xmlns:a16="http://schemas.microsoft.com/office/drawing/2014/main" id="{0BA3625D-ACA4-E243-1D05-ADB7621DD962}"/>
              </a:ext>
            </a:extLst>
          </p:cNvPr>
          <p:cNvSpPr/>
          <p:nvPr/>
        </p:nvSpPr>
        <p:spPr>
          <a:xfrm>
            <a:off x="534239" y="2063112"/>
            <a:ext cx="18888" cy="364431"/>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22" name="Text 25">
            <a:extLst>
              <a:ext uri="{FF2B5EF4-FFF2-40B4-BE49-F238E27FC236}">
                <a16:creationId xmlns:a16="http://schemas.microsoft.com/office/drawing/2014/main" id="{C4EFE993-090E-2BA3-2333-1A491F94E21E}"/>
              </a:ext>
            </a:extLst>
          </p:cNvPr>
          <p:cNvSpPr/>
          <p:nvPr/>
        </p:nvSpPr>
        <p:spPr>
          <a:xfrm>
            <a:off x="685800" y="2139312"/>
            <a:ext cx="2008391"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Belagavi</a:t>
            </a:r>
            <a:endParaRPr lang="en-US" sz="1200" dirty="0">
              <a:latin typeface="Georgia" panose="02040502050405020303" pitchFamily="18" charset="0"/>
            </a:endParaRPr>
          </a:p>
        </p:txBody>
      </p:sp>
      <p:sp>
        <p:nvSpPr>
          <p:cNvPr id="23" name="Text 26">
            <a:extLst>
              <a:ext uri="{FF2B5EF4-FFF2-40B4-BE49-F238E27FC236}">
                <a16:creationId xmlns:a16="http://schemas.microsoft.com/office/drawing/2014/main" id="{2131BCA9-97FA-93A9-A081-1EE8B27B8BA6}"/>
              </a:ext>
            </a:extLst>
          </p:cNvPr>
          <p:cNvSpPr/>
          <p:nvPr/>
        </p:nvSpPr>
        <p:spPr>
          <a:xfrm>
            <a:off x="2748439" y="2139312"/>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2,180</a:t>
            </a:r>
            <a:endParaRPr lang="en-US" sz="1200" dirty="0">
              <a:latin typeface="Georgia" panose="02040502050405020303" pitchFamily="18" charset="0"/>
            </a:endParaRPr>
          </a:p>
        </p:txBody>
      </p:sp>
      <p:sp>
        <p:nvSpPr>
          <p:cNvPr id="24" name="Text 27">
            <a:extLst>
              <a:ext uri="{FF2B5EF4-FFF2-40B4-BE49-F238E27FC236}">
                <a16:creationId xmlns:a16="http://schemas.microsoft.com/office/drawing/2014/main" id="{B7E7E277-4CD0-6151-6419-024395A3AB2B}"/>
              </a:ext>
            </a:extLst>
          </p:cNvPr>
          <p:cNvSpPr/>
          <p:nvPr/>
        </p:nvSpPr>
        <p:spPr>
          <a:xfrm>
            <a:off x="4371315" y="2139312"/>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668</a:t>
            </a:r>
            <a:endParaRPr lang="en-US" sz="1200" dirty="0">
              <a:latin typeface="Georgia" panose="02040502050405020303" pitchFamily="18" charset="0"/>
            </a:endParaRPr>
          </a:p>
        </p:txBody>
      </p:sp>
      <p:sp>
        <p:nvSpPr>
          <p:cNvPr id="25" name="Text 28">
            <a:extLst>
              <a:ext uri="{FF2B5EF4-FFF2-40B4-BE49-F238E27FC236}">
                <a16:creationId xmlns:a16="http://schemas.microsoft.com/office/drawing/2014/main" id="{CE7C35ED-4D83-3297-8D9C-8926363619CC}"/>
              </a:ext>
            </a:extLst>
          </p:cNvPr>
          <p:cNvSpPr/>
          <p:nvPr/>
        </p:nvSpPr>
        <p:spPr>
          <a:xfrm>
            <a:off x="5994189" y="2139312"/>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642</a:t>
            </a:r>
            <a:endParaRPr lang="en-US" sz="1200" dirty="0">
              <a:latin typeface="Georgia" panose="02040502050405020303" pitchFamily="18" charset="0"/>
            </a:endParaRPr>
          </a:p>
        </p:txBody>
      </p:sp>
      <p:sp>
        <p:nvSpPr>
          <p:cNvPr id="26" name="Text 29">
            <a:extLst>
              <a:ext uri="{FF2B5EF4-FFF2-40B4-BE49-F238E27FC236}">
                <a16:creationId xmlns:a16="http://schemas.microsoft.com/office/drawing/2014/main" id="{8108969C-C963-EBCD-1B38-5C6A6004C6E3}"/>
              </a:ext>
            </a:extLst>
          </p:cNvPr>
          <p:cNvSpPr/>
          <p:nvPr/>
        </p:nvSpPr>
        <p:spPr>
          <a:xfrm>
            <a:off x="7617065" y="2139312"/>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189</a:t>
            </a:r>
            <a:endParaRPr lang="en-US" sz="1200" dirty="0">
              <a:latin typeface="Georgia" panose="02040502050405020303" pitchFamily="18" charset="0"/>
            </a:endParaRPr>
          </a:p>
        </p:txBody>
      </p:sp>
      <p:sp>
        <p:nvSpPr>
          <p:cNvPr id="27" name="Text 30">
            <a:extLst>
              <a:ext uri="{FF2B5EF4-FFF2-40B4-BE49-F238E27FC236}">
                <a16:creationId xmlns:a16="http://schemas.microsoft.com/office/drawing/2014/main" id="{938A49D6-0975-12DC-4F98-2FD41C9BCD4A}"/>
              </a:ext>
            </a:extLst>
          </p:cNvPr>
          <p:cNvSpPr/>
          <p:nvPr/>
        </p:nvSpPr>
        <p:spPr>
          <a:xfrm>
            <a:off x="9225381" y="2139312"/>
            <a:ext cx="202768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29%</a:t>
            </a:r>
            <a:endParaRPr lang="en-US" sz="1200" dirty="0">
              <a:latin typeface="Georgia" panose="02040502050405020303" pitchFamily="18" charset="0"/>
            </a:endParaRPr>
          </a:p>
        </p:txBody>
      </p:sp>
      <p:sp>
        <p:nvSpPr>
          <p:cNvPr id="28" name="Shape 31">
            <a:extLst>
              <a:ext uri="{FF2B5EF4-FFF2-40B4-BE49-F238E27FC236}">
                <a16:creationId xmlns:a16="http://schemas.microsoft.com/office/drawing/2014/main" id="{BFC06FE7-C73E-25E0-9AA2-573ABA67B335}"/>
              </a:ext>
            </a:extLst>
          </p:cNvPr>
          <p:cNvSpPr/>
          <p:nvPr/>
        </p:nvSpPr>
        <p:spPr>
          <a:xfrm>
            <a:off x="534239" y="2785624"/>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29" name="Shape 32">
            <a:extLst>
              <a:ext uri="{FF2B5EF4-FFF2-40B4-BE49-F238E27FC236}">
                <a16:creationId xmlns:a16="http://schemas.microsoft.com/office/drawing/2014/main" id="{359D374D-E8D2-51CE-63CF-06CD35377EF3}"/>
              </a:ext>
            </a:extLst>
          </p:cNvPr>
          <p:cNvSpPr/>
          <p:nvPr/>
        </p:nvSpPr>
        <p:spPr>
          <a:xfrm>
            <a:off x="534239" y="2427543"/>
            <a:ext cx="18888" cy="364431"/>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30" name="Text 33">
            <a:extLst>
              <a:ext uri="{FF2B5EF4-FFF2-40B4-BE49-F238E27FC236}">
                <a16:creationId xmlns:a16="http://schemas.microsoft.com/office/drawing/2014/main" id="{502A3D8A-2CB3-25D0-E884-4945F2FE4B8E}"/>
              </a:ext>
            </a:extLst>
          </p:cNvPr>
          <p:cNvSpPr/>
          <p:nvPr/>
        </p:nvSpPr>
        <p:spPr>
          <a:xfrm>
            <a:off x="685800" y="2503743"/>
            <a:ext cx="2008391"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Bagalkot</a:t>
            </a:r>
            <a:endParaRPr lang="en-US" sz="1200" dirty="0">
              <a:latin typeface="Georgia" panose="02040502050405020303" pitchFamily="18" charset="0"/>
            </a:endParaRPr>
          </a:p>
        </p:txBody>
      </p:sp>
      <p:sp>
        <p:nvSpPr>
          <p:cNvPr id="31" name="Text 34">
            <a:extLst>
              <a:ext uri="{FF2B5EF4-FFF2-40B4-BE49-F238E27FC236}">
                <a16:creationId xmlns:a16="http://schemas.microsoft.com/office/drawing/2014/main" id="{C3E5EFCE-60C8-F279-B6F3-CA988E958C35}"/>
              </a:ext>
            </a:extLst>
          </p:cNvPr>
          <p:cNvSpPr/>
          <p:nvPr/>
        </p:nvSpPr>
        <p:spPr>
          <a:xfrm>
            <a:off x="2748439" y="2503743"/>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853</a:t>
            </a:r>
            <a:endParaRPr lang="en-US" sz="1200" dirty="0">
              <a:latin typeface="Georgia" panose="02040502050405020303" pitchFamily="18" charset="0"/>
            </a:endParaRPr>
          </a:p>
        </p:txBody>
      </p:sp>
      <p:sp>
        <p:nvSpPr>
          <p:cNvPr id="32" name="Text 35">
            <a:extLst>
              <a:ext uri="{FF2B5EF4-FFF2-40B4-BE49-F238E27FC236}">
                <a16:creationId xmlns:a16="http://schemas.microsoft.com/office/drawing/2014/main" id="{095193A3-3B43-8DEF-44B1-E8ABF5B621B2}"/>
              </a:ext>
            </a:extLst>
          </p:cNvPr>
          <p:cNvSpPr/>
          <p:nvPr/>
        </p:nvSpPr>
        <p:spPr>
          <a:xfrm>
            <a:off x="4371315" y="2503743"/>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414</a:t>
            </a:r>
            <a:endParaRPr lang="en-US" sz="1200" dirty="0">
              <a:latin typeface="Georgia" panose="02040502050405020303" pitchFamily="18" charset="0"/>
            </a:endParaRPr>
          </a:p>
        </p:txBody>
      </p:sp>
      <p:sp>
        <p:nvSpPr>
          <p:cNvPr id="33" name="Text 36">
            <a:extLst>
              <a:ext uri="{FF2B5EF4-FFF2-40B4-BE49-F238E27FC236}">
                <a16:creationId xmlns:a16="http://schemas.microsoft.com/office/drawing/2014/main" id="{8BFC536D-661A-8B71-6C5C-A879F97A1AD3}"/>
              </a:ext>
            </a:extLst>
          </p:cNvPr>
          <p:cNvSpPr/>
          <p:nvPr/>
        </p:nvSpPr>
        <p:spPr>
          <a:xfrm>
            <a:off x="5994189" y="2503743"/>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433</a:t>
            </a:r>
            <a:endParaRPr lang="en-US" sz="1200" dirty="0">
              <a:latin typeface="Georgia" panose="02040502050405020303" pitchFamily="18" charset="0"/>
            </a:endParaRPr>
          </a:p>
        </p:txBody>
      </p:sp>
      <p:sp>
        <p:nvSpPr>
          <p:cNvPr id="34" name="Text 37">
            <a:extLst>
              <a:ext uri="{FF2B5EF4-FFF2-40B4-BE49-F238E27FC236}">
                <a16:creationId xmlns:a16="http://schemas.microsoft.com/office/drawing/2014/main" id="{D649EBFB-03DC-B15B-9FEB-19323E5E5716}"/>
              </a:ext>
            </a:extLst>
          </p:cNvPr>
          <p:cNvSpPr/>
          <p:nvPr/>
        </p:nvSpPr>
        <p:spPr>
          <a:xfrm>
            <a:off x="7617065" y="2503743"/>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225</a:t>
            </a:r>
            <a:endParaRPr lang="en-US" sz="1200" dirty="0">
              <a:latin typeface="Georgia" panose="02040502050405020303" pitchFamily="18" charset="0"/>
            </a:endParaRPr>
          </a:p>
        </p:txBody>
      </p:sp>
      <p:sp>
        <p:nvSpPr>
          <p:cNvPr id="35" name="Text 38">
            <a:extLst>
              <a:ext uri="{FF2B5EF4-FFF2-40B4-BE49-F238E27FC236}">
                <a16:creationId xmlns:a16="http://schemas.microsoft.com/office/drawing/2014/main" id="{71350DCF-957E-3548-FFB3-C08F521B3CE4}"/>
              </a:ext>
            </a:extLst>
          </p:cNvPr>
          <p:cNvSpPr/>
          <p:nvPr/>
        </p:nvSpPr>
        <p:spPr>
          <a:xfrm>
            <a:off x="9225381" y="2503743"/>
            <a:ext cx="202768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52%</a:t>
            </a:r>
            <a:endParaRPr lang="en-US" sz="1200" dirty="0">
              <a:latin typeface="Georgia" panose="02040502050405020303" pitchFamily="18" charset="0"/>
            </a:endParaRPr>
          </a:p>
        </p:txBody>
      </p:sp>
      <p:sp>
        <p:nvSpPr>
          <p:cNvPr id="36" name="Shape 39">
            <a:extLst>
              <a:ext uri="{FF2B5EF4-FFF2-40B4-BE49-F238E27FC236}">
                <a16:creationId xmlns:a16="http://schemas.microsoft.com/office/drawing/2014/main" id="{F3D16A7A-F0C7-E0A9-0F25-A252211B5BA8}"/>
              </a:ext>
            </a:extLst>
          </p:cNvPr>
          <p:cNvSpPr/>
          <p:nvPr/>
        </p:nvSpPr>
        <p:spPr>
          <a:xfrm>
            <a:off x="534239" y="2791973"/>
            <a:ext cx="10819561" cy="364431"/>
          </a:xfrm>
          <a:prstGeom prst="rect">
            <a:avLst/>
          </a:prstGeom>
          <a:solidFill>
            <a:srgbClr val="EFE8D8"/>
          </a:solidFill>
          <a:ln/>
        </p:spPr>
        <p:txBody>
          <a:bodyPr/>
          <a:lstStyle/>
          <a:p>
            <a:pPr algn="ctr"/>
            <a:endParaRPr lang="en-IN" sz="1200">
              <a:latin typeface="Georgia" panose="02040502050405020303" pitchFamily="18" charset="0"/>
            </a:endParaRPr>
          </a:p>
        </p:txBody>
      </p:sp>
      <p:sp>
        <p:nvSpPr>
          <p:cNvPr id="37" name="Shape 40">
            <a:extLst>
              <a:ext uri="{FF2B5EF4-FFF2-40B4-BE49-F238E27FC236}">
                <a16:creationId xmlns:a16="http://schemas.microsoft.com/office/drawing/2014/main" id="{E8154D4C-9A3D-6502-02AF-9EE431341EBB}"/>
              </a:ext>
            </a:extLst>
          </p:cNvPr>
          <p:cNvSpPr/>
          <p:nvPr/>
        </p:nvSpPr>
        <p:spPr>
          <a:xfrm>
            <a:off x="534239" y="3150054"/>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38" name="Shape 41">
            <a:extLst>
              <a:ext uri="{FF2B5EF4-FFF2-40B4-BE49-F238E27FC236}">
                <a16:creationId xmlns:a16="http://schemas.microsoft.com/office/drawing/2014/main" id="{48340A58-867B-E668-CFF8-EC9222E2640D}"/>
              </a:ext>
            </a:extLst>
          </p:cNvPr>
          <p:cNvSpPr/>
          <p:nvPr/>
        </p:nvSpPr>
        <p:spPr>
          <a:xfrm>
            <a:off x="534239" y="2791973"/>
            <a:ext cx="18888" cy="364431"/>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39" name="Text 42">
            <a:extLst>
              <a:ext uri="{FF2B5EF4-FFF2-40B4-BE49-F238E27FC236}">
                <a16:creationId xmlns:a16="http://schemas.microsoft.com/office/drawing/2014/main" id="{2F246CA3-FD94-51D9-48C9-4056C9E98539}"/>
              </a:ext>
            </a:extLst>
          </p:cNvPr>
          <p:cNvSpPr/>
          <p:nvPr/>
        </p:nvSpPr>
        <p:spPr>
          <a:xfrm>
            <a:off x="685800" y="2868173"/>
            <a:ext cx="2008391"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Gadag</a:t>
            </a:r>
            <a:endParaRPr lang="en-US" sz="1200" dirty="0">
              <a:latin typeface="Georgia" panose="02040502050405020303" pitchFamily="18" charset="0"/>
            </a:endParaRPr>
          </a:p>
        </p:txBody>
      </p:sp>
      <p:sp>
        <p:nvSpPr>
          <p:cNvPr id="40" name="Text 43">
            <a:extLst>
              <a:ext uri="{FF2B5EF4-FFF2-40B4-BE49-F238E27FC236}">
                <a16:creationId xmlns:a16="http://schemas.microsoft.com/office/drawing/2014/main" id="{A72A4841-A206-4ADF-3E33-2823FE5D289F}"/>
              </a:ext>
            </a:extLst>
          </p:cNvPr>
          <p:cNvSpPr/>
          <p:nvPr/>
        </p:nvSpPr>
        <p:spPr>
          <a:xfrm>
            <a:off x="2748439" y="2868173"/>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1,055</a:t>
            </a:r>
            <a:endParaRPr lang="en-US" sz="1200" dirty="0">
              <a:latin typeface="Georgia" panose="02040502050405020303" pitchFamily="18" charset="0"/>
            </a:endParaRPr>
          </a:p>
        </p:txBody>
      </p:sp>
      <p:sp>
        <p:nvSpPr>
          <p:cNvPr id="41" name="Text 44">
            <a:extLst>
              <a:ext uri="{FF2B5EF4-FFF2-40B4-BE49-F238E27FC236}">
                <a16:creationId xmlns:a16="http://schemas.microsoft.com/office/drawing/2014/main" id="{90A2756F-1C5F-3AA5-F162-5B866F14067B}"/>
              </a:ext>
            </a:extLst>
          </p:cNvPr>
          <p:cNvSpPr/>
          <p:nvPr/>
        </p:nvSpPr>
        <p:spPr>
          <a:xfrm>
            <a:off x="4371315" y="2868173"/>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416</a:t>
            </a:r>
            <a:endParaRPr lang="en-US" sz="1200" dirty="0">
              <a:latin typeface="Georgia" panose="02040502050405020303" pitchFamily="18" charset="0"/>
            </a:endParaRPr>
          </a:p>
        </p:txBody>
      </p:sp>
      <p:sp>
        <p:nvSpPr>
          <p:cNvPr id="42" name="Text 45">
            <a:extLst>
              <a:ext uri="{FF2B5EF4-FFF2-40B4-BE49-F238E27FC236}">
                <a16:creationId xmlns:a16="http://schemas.microsoft.com/office/drawing/2014/main" id="{0355B526-546C-DC42-774B-4B4A3F733D90}"/>
              </a:ext>
            </a:extLst>
          </p:cNvPr>
          <p:cNvSpPr/>
          <p:nvPr/>
        </p:nvSpPr>
        <p:spPr>
          <a:xfrm>
            <a:off x="5994189" y="2868173"/>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417</a:t>
            </a:r>
            <a:endParaRPr lang="en-US" sz="1200" dirty="0">
              <a:latin typeface="Georgia" panose="02040502050405020303" pitchFamily="18" charset="0"/>
            </a:endParaRPr>
          </a:p>
        </p:txBody>
      </p:sp>
      <p:sp>
        <p:nvSpPr>
          <p:cNvPr id="43" name="Text 46">
            <a:extLst>
              <a:ext uri="{FF2B5EF4-FFF2-40B4-BE49-F238E27FC236}">
                <a16:creationId xmlns:a16="http://schemas.microsoft.com/office/drawing/2014/main" id="{28B26A49-9CC5-374D-12B0-B8F635609B7C}"/>
              </a:ext>
            </a:extLst>
          </p:cNvPr>
          <p:cNvSpPr/>
          <p:nvPr/>
        </p:nvSpPr>
        <p:spPr>
          <a:xfrm>
            <a:off x="7617065" y="2868173"/>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191</a:t>
            </a:r>
            <a:endParaRPr lang="en-US" sz="1200" dirty="0">
              <a:latin typeface="Georgia" panose="02040502050405020303" pitchFamily="18" charset="0"/>
            </a:endParaRPr>
          </a:p>
        </p:txBody>
      </p:sp>
      <p:sp>
        <p:nvSpPr>
          <p:cNvPr id="44" name="Text 47">
            <a:extLst>
              <a:ext uri="{FF2B5EF4-FFF2-40B4-BE49-F238E27FC236}">
                <a16:creationId xmlns:a16="http://schemas.microsoft.com/office/drawing/2014/main" id="{08C632B5-4EA1-3261-56E8-0A5CE127B3C6}"/>
              </a:ext>
            </a:extLst>
          </p:cNvPr>
          <p:cNvSpPr/>
          <p:nvPr/>
        </p:nvSpPr>
        <p:spPr>
          <a:xfrm>
            <a:off x="9225381" y="2868173"/>
            <a:ext cx="202768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46%</a:t>
            </a:r>
            <a:endParaRPr lang="en-US" sz="1200" dirty="0">
              <a:latin typeface="Georgia" panose="02040502050405020303" pitchFamily="18" charset="0"/>
            </a:endParaRPr>
          </a:p>
        </p:txBody>
      </p:sp>
      <p:sp>
        <p:nvSpPr>
          <p:cNvPr id="45" name="Shape 48">
            <a:extLst>
              <a:ext uri="{FF2B5EF4-FFF2-40B4-BE49-F238E27FC236}">
                <a16:creationId xmlns:a16="http://schemas.microsoft.com/office/drawing/2014/main" id="{7FC6B590-DF15-398E-E4E9-6D526B6BDEB8}"/>
              </a:ext>
            </a:extLst>
          </p:cNvPr>
          <p:cNvSpPr/>
          <p:nvPr/>
        </p:nvSpPr>
        <p:spPr>
          <a:xfrm>
            <a:off x="534239" y="3514484"/>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46" name="Shape 49">
            <a:extLst>
              <a:ext uri="{FF2B5EF4-FFF2-40B4-BE49-F238E27FC236}">
                <a16:creationId xmlns:a16="http://schemas.microsoft.com/office/drawing/2014/main" id="{EC7EF95B-2ACF-E9D7-C24D-CCB364265396}"/>
              </a:ext>
            </a:extLst>
          </p:cNvPr>
          <p:cNvSpPr/>
          <p:nvPr/>
        </p:nvSpPr>
        <p:spPr>
          <a:xfrm>
            <a:off x="534239" y="3156403"/>
            <a:ext cx="18888" cy="364431"/>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47" name="Text 50">
            <a:extLst>
              <a:ext uri="{FF2B5EF4-FFF2-40B4-BE49-F238E27FC236}">
                <a16:creationId xmlns:a16="http://schemas.microsoft.com/office/drawing/2014/main" id="{CC7B1568-527B-7DB9-18F5-D361F8725C87}"/>
              </a:ext>
            </a:extLst>
          </p:cNvPr>
          <p:cNvSpPr/>
          <p:nvPr/>
        </p:nvSpPr>
        <p:spPr>
          <a:xfrm>
            <a:off x="685800" y="3232603"/>
            <a:ext cx="2008391"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Chitradurga</a:t>
            </a:r>
            <a:endParaRPr lang="en-US" sz="1200" dirty="0">
              <a:latin typeface="Georgia" panose="02040502050405020303" pitchFamily="18" charset="0"/>
            </a:endParaRPr>
          </a:p>
        </p:txBody>
      </p:sp>
      <p:sp>
        <p:nvSpPr>
          <p:cNvPr id="48" name="Text 51">
            <a:extLst>
              <a:ext uri="{FF2B5EF4-FFF2-40B4-BE49-F238E27FC236}">
                <a16:creationId xmlns:a16="http://schemas.microsoft.com/office/drawing/2014/main" id="{00076CA5-D162-42C7-5651-C8D07F0F3DC1}"/>
              </a:ext>
            </a:extLst>
          </p:cNvPr>
          <p:cNvSpPr/>
          <p:nvPr/>
        </p:nvSpPr>
        <p:spPr>
          <a:xfrm>
            <a:off x="2748439" y="3232603"/>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1,139</a:t>
            </a:r>
            <a:endParaRPr lang="en-US" sz="1200" dirty="0">
              <a:latin typeface="Georgia" panose="02040502050405020303" pitchFamily="18" charset="0"/>
            </a:endParaRPr>
          </a:p>
        </p:txBody>
      </p:sp>
      <p:sp>
        <p:nvSpPr>
          <p:cNvPr id="49" name="Text 52">
            <a:extLst>
              <a:ext uri="{FF2B5EF4-FFF2-40B4-BE49-F238E27FC236}">
                <a16:creationId xmlns:a16="http://schemas.microsoft.com/office/drawing/2014/main" id="{6E1B233B-8CB8-BD9C-7392-D787FA2EAEFD}"/>
              </a:ext>
            </a:extLst>
          </p:cNvPr>
          <p:cNvSpPr/>
          <p:nvPr/>
        </p:nvSpPr>
        <p:spPr>
          <a:xfrm>
            <a:off x="4371315" y="3232603"/>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694</a:t>
            </a:r>
            <a:endParaRPr lang="en-US" sz="1200" dirty="0">
              <a:latin typeface="Georgia" panose="02040502050405020303" pitchFamily="18" charset="0"/>
            </a:endParaRPr>
          </a:p>
        </p:txBody>
      </p:sp>
      <p:sp>
        <p:nvSpPr>
          <p:cNvPr id="50" name="Text 53">
            <a:extLst>
              <a:ext uri="{FF2B5EF4-FFF2-40B4-BE49-F238E27FC236}">
                <a16:creationId xmlns:a16="http://schemas.microsoft.com/office/drawing/2014/main" id="{9AACE7A2-8BEC-0A61-C504-0B1E7B1A357A}"/>
              </a:ext>
            </a:extLst>
          </p:cNvPr>
          <p:cNvSpPr/>
          <p:nvPr/>
        </p:nvSpPr>
        <p:spPr>
          <a:xfrm>
            <a:off x="5994189" y="3232603"/>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639</a:t>
            </a:r>
            <a:endParaRPr lang="en-US" sz="1200" dirty="0">
              <a:latin typeface="Georgia" panose="02040502050405020303" pitchFamily="18" charset="0"/>
            </a:endParaRPr>
          </a:p>
        </p:txBody>
      </p:sp>
      <p:sp>
        <p:nvSpPr>
          <p:cNvPr id="51" name="Text 54">
            <a:extLst>
              <a:ext uri="{FF2B5EF4-FFF2-40B4-BE49-F238E27FC236}">
                <a16:creationId xmlns:a16="http://schemas.microsoft.com/office/drawing/2014/main" id="{815E1B7F-2387-1D10-8A5C-93CD29BAB78A}"/>
              </a:ext>
            </a:extLst>
          </p:cNvPr>
          <p:cNvSpPr/>
          <p:nvPr/>
        </p:nvSpPr>
        <p:spPr>
          <a:xfrm>
            <a:off x="7617065" y="3232603"/>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424</a:t>
            </a:r>
            <a:endParaRPr lang="en-US" sz="1200" dirty="0">
              <a:latin typeface="Georgia" panose="02040502050405020303" pitchFamily="18" charset="0"/>
            </a:endParaRPr>
          </a:p>
        </p:txBody>
      </p:sp>
      <p:sp>
        <p:nvSpPr>
          <p:cNvPr id="52" name="Text 55">
            <a:extLst>
              <a:ext uri="{FF2B5EF4-FFF2-40B4-BE49-F238E27FC236}">
                <a16:creationId xmlns:a16="http://schemas.microsoft.com/office/drawing/2014/main" id="{DE29CC8D-51EC-4167-BA9A-D8E58D65EE55}"/>
              </a:ext>
            </a:extLst>
          </p:cNvPr>
          <p:cNvSpPr/>
          <p:nvPr/>
        </p:nvSpPr>
        <p:spPr>
          <a:xfrm>
            <a:off x="9225381" y="3232603"/>
            <a:ext cx="202768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66%</a:t>
            </a:r>
            <a:endParaRPr lang="en-US" sz="1200" dirty="0">
              <a:latin typeface="Georgia" panose="02040502050405020303" pitchFamily="18" charset="0"/>
            </a:endParaRPr>
          </a:p>
        </p:txBody>
      </p:sp>
      <p:sp>
        <p:nvSpPr>
          <p:cNvPr id="53" name="Shape 56">
            <a:extLst>
              <a:ext uri="{FF2B5EF4-FFF2-40B4-BE49-F238E27FC236}">
                <a16:creationId xmlns:a16="http://schemas.microsoft.com/office/drawing/2014/main" id="{20B2E63D-905D-98DF-DD58-FC0CA366353F}"/>
              </a:ext>
            </a:extLst>
          </p:cNvPr>
          <p:cNvSpPr/>
          <p:nvPr/>
        </p:nvSpPr>
        <p:spPr>
          <a:xfrm>
            <a:off x="534239" y="3520834"/>
            <a:ext cx="10819561" cy="364431"/>
          </a:xfrm>
          <a:prstGeom prst="rect">
            <a:avLst/>
          </a:prstGeom>
          <a:solidFill>
            <a:srgbClr val="EFE8D8"/>
          </a:solidFill>
          <a:ln/>
        </p:spPr>
        <p:txBody>
          <a:bodyPr/>
          <a:lstStyle/>
          <a:p>
            <a:pPr algn="ctr"/>
            <a:endParaRPr lang="en-IN" sz="1200">
              <a:latin typeface="Georgia" panose="02040502050405020303" pitchFamily="18" charset="0"/>
            </a:endParaRPr>
          </a:p>
        </p:txBody>
      </p:sp>
      <p:sp>
        <p:nvSpPr>
          <p:cNvPr id="54" name="Shape 57">
            <a:extLst>
              <a:ext uri="{FF2B5EF4-FFF2-40B4-BE49-F238E27FC236}">
                <a16:creationId xmlns:a16="http://schemas.microsoft.com/office/drawing/2014/main" id="{3240C8B8-B89A-92F8-3C66-F323D001A6A9}"/>
              </a:ext>
            </a:extLst>
          </p:cNvPr>
          <p:cNvSpPr/>
          <p:nvPr/>
        </p:nvSpPr>
        <p:spPr>
          <a:xfrm>
            <a:off x="534239" y="3878915"/>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55" name="Shape 58">
            <a:extLst>
              <a:ext uri="{FF2B5EF4-FFF2-40B4-BE49-F238E27FC236}">
                <a16:creationId xmlns:a16="http://schemas.microsoft.com/office/drawing/2014/main" id="{FC295134-9321-B6CB-8B05-C7EC552F751C}"/>
              </a:ext>
            </a:extLst>
          </p:cNvPr>
          <p:cNvSpPr/>
          <p:nvPr/>
        </p:nvSpPr>
        <p:spPr>
          <a:xfrm>
            <a:off x="534239" y="3520834"/>
            <a:ext cx="18888" cy="364431"/>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56" name="Text 59">
            <a:extLst>
              <a:ext uri="{FF2B5EF4-FFF2-40B4-BE49-F238E27FC236}">
                <a16:creationId xmlns:a16="http://schemas.microsoft.com/office/drawing/2014/main" id="{9BB8E7AD-BDF2-05EE-BE4D-1E68D2AFD36C}"/>
              </a:ext>
            </a:extLst>
          </p:cNvPr>
          <p:cNvSpPr/>
          <p:nvPr/>
        </p:nvSpPr>
        <p:spPr>
          <a:xfrm>
            <a:off x="685800" y="3597034"/>
            <a:ext cx="2008391"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Davanagere</a:t>
            </a:r>
            <a:endParaRPr lang="en-US" sz="1200" dirty="0">
              <a:latin typeface="Georgia" panose="02040502050405020303" pitchFamily="18" charset="0"/>
            </a:endParaRPr>
          </a:p>
        </p:txBody>
      </p:sp>
      <p:sp>
        <p:nvSpPr>
          <p:cNvPr id="57" name="Text 60">
            <a:extLst>
              <a:ext uri="{FF2B5EF4-FFF2-40B4-BE49-F238E27FC236}">
                <a16:creationId xmlns:a16="http://schemas.microsoft.com/office/drawing/2014/main" id="{48147404-C62D-9A73-21DA-CE62BBB8C0C9}"/>
              </a:ext>
            </a:extLst>
          </p:cNvPr>
          <p:cNvSpPr/>
          <p:nvPr/>
        </p:nvSpPr>
        <p:spPr>
          <a:xfrm>
            <a:off x="2748439" y="3597034"/>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1,148</a:t>
            </a:r>
            <a:endParaRPr lang="en-US" sz="1200" dirty="0">
              <a:latin typeface="Georgia" panose="02040502050405020303" pitchFamily="18" charset="0"/>
            </a:endParaRPr>
          </a:p>
        </p:txBody>
      </p:sp>
      <p:sp>
        <p:nvSpPr>
          <p:cNvPr id="58" name="Text 61">
            <a:extLst>
              <a:ext uri="{FF2B5EF4-FFF2-40B4-BE49-F238E27FC236}">
                <a16:creationId xmlns:a16="http://schemas.microsoft.com/office/drawing/2014/main" id="{4EF3047C-B2EC-ECEB-212C-41CF2CD0083A}"/>
              </a:ext>
            </a:extLst>
          </p:cNvPr>
          <p:cNvSpPr/>
          <p:nvPr/>
        </p:nvSpPr>
        <p:spPr>
          <a:xfrm>
            <a:off x="4371315" y="3597034"/>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489</a:t>
            </a:r>
            <a:endParaRPr lang="en-US" sz="1200" dirty="0">
              <a:latin typeface="Georgia" panose="02040502050405020303" pitchFamily="18" charset="0"/>
            </a:endParaRPr>
          </a:p>
        </p:txBody>
      </p:sp>
      <p:sp>
        <p:nvSpPr>
          <p:cNvPr id="59" name="Text 62">
            <a:extLst>
              <a:ext uri="{FF2B5EF4-FFF2-40B4-BE49-F238E27FC236}">
                <a16:creationId xmlns:a16="http://schemas.microsoft.com/office/drawing/2014/main" id="{D726271D-7149-E7D5-E880-75A3B87EE239}"/>
              </a:ext>
            </a:extLst>
          </p:cNvPr>
          <p:cNvSpPr/>
          <p:nvPr/>
        </p:nvSpPr>
        <p:spPr>
          <a:xfrm>
            <a:off x="5994189" y="3597034"/>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543</a:t>
            </a:r>
            <a:endParaRPr lang="en-US" sz="1200" dirty="0">
              <a:latin typeface="Georgia" panose="02040502050405020303" pitchFamily="18" charset="0"/>
            </a:endParaRPr>
          </a:p>
        </p:txBody>
      </p:sp>
      <p:sp>
        <p:nvSpPr>
          <p:cNvPr id="60" name="Text 63">
            <a:extLst>
              <a:ext uri="{FF2B5EF4-FFF2-40B4-BE49-F238E27FC236}">
                <a16:creationId xmlns:a16="http://schemas.microsoft.com/office/drawing/2014/main" id="{9B589245-4E7E-D3C5-146E-E00A442C1BB5}"/>
              </a:ext>
            </a:extLst>
          </p:cNvPr>
          <p:cNvSpPr/>
          <p:nvPr/>
        </p:nvSpPr>
        <p:spPr>
          <a:xfrm>
            <a:off x="7617065" y="3597034"/>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257</a:t>
            </a:r>
            <a:endParaRPr lang="en-US" sz="1200" dirty="0">
              <a:latin typeface="Georgia" panose="02040502050405020303" pitchFamily="18" charset="0"/>
            </a:endParaRPr>
          </a:p>
        </p:txBody>
      </p:sp>
      <p:sp>
        <p:nvSpPr>
          <p:cNvPr id="61" name="Text 64">
            <a:extLst>
              <a:ext uri="{FF2B5EF4-FFF2-40B4-BE49-F238E27FC236}">
                <a16:creationId xmlns:a16="http://schemas.microsoft.com/office/drawing/2014/main" id="{802B9E58-5DFD-C6DD-1C51-22D13792CD39}"/>
              </a:ext>
            </a:extLst>
          </p:cNvPr>
          <p:cNvSpPr/>
          <p:nvPr/>
        </p:nvSpPr>
        <p:spPr>
          <a:xfrm>
            <a:off x="9225381" y="3597034"/>
            <a:ext cx="202768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47%</a:t>
            </a:r>
            <a:endParaRPr lang="en-US" sz="1200" dirty="0">
              <a:latin typeface="Georgia" panose="02040502050405020303" pitchFamily="18" charset="0"/>
            </a:endParaRPr>
          </a:p>
        </p:txBody>
      </p:sp>
      <p:sp>
        <p:nvSpPr>
          <p:cNvPr id="62" name="Shape 65">
            <a:extLst>
              <a:ext uri="{FF2B5EF4-FFF2-40B4-BE49-F238E27FC236}">
                <a16:creationId xmlns:a16="http://schemas.microsoft.com/office/drawing/2014/main" id="{B7B1A20F-4554-A73F-153E-DAC86478A652}"/>
              </a:ext>
            </a:extLst>
          </p:cNvPr>
          <p:cNvSpPr/>
          <p:nvPr/>
        </p:nvSpPr>
        <p:spPr>
          <a:xfrm>
            <a:off x="534239" y="4243345"/>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63" name="Shape 66">
            <a:extLst>
              <a:ext uri="{FF2B5EF4-FFF2-40B4-BE49-F238E27FC236}">
                <a16:creationId xmlns:a16="http://schemas.microsoft.com/office/drawing/2014/main" id="{0F9CC537-3C00-7909-5312-177089BB7C80}"/>
              </a:ext>
            </a:extLst>
          </p:cNvPr>
          <p:cNvSpPr/>
          <p:nvPr/>
        </p:nvSpPr>
        <p:spPr>
          <a:xfrm>
            <a:off x="534239" y="3885265"/>
            <a:ext cx="18888" cy="364431"/>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64" name="Text 67">
            <a:extLst>
              <a:ext uri="{FF2B5EF4-FFF2-40B4-BE49-F238E27FC236}">
                <a16:creationId xmlns:a16="http://schemas.microsoft.com/office/drawing/2014/main" id="{19E4DCE7-17BC-BECF-EBFB-EED0F7AAFDA7}"/>
              </a:ext>
            </a:extLst>
          </p:cNvPr>
          <p:cNvSpPr/>
          <p:nvPr/>
        </p:nvSpPr>
        <p:spPr>
          <a:xfrm>
            <a:off x="685800" y="3961465"/>
            <a:ext cx="2008391"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Koppal</a:t>
            </a:r>
            <a:endParaRPr lang="en-US" sz="1200" dirty="0">
              <a:latin typeface="Georgia" panose="02040502050405020303" pitchFamily="18" charset="0"/>
            </a:endParaRPr>
          </a:p>
        </p:txBody>
      </p:sp>
      <p:sp>
        <p:nvSpPr>
          <p:cNvPr id="65" name="Text 68">
            <a:extLst>
              <a:ext uri="{FF2B5EF4-FFF2-40B4-BE49-F238E27FC236}">
                <a16:creationId xmlns:a16="http://schemas.microsoft.com/office/drawing/2014/main" id="{FBF33474-CAFD-DFA1-09B0-B9FB14804E5F}"/>
              </a:ext>
            </a:extLst>
          </p:cNvPr>
          <p:cNvSpPr/>
          <p:nvPr/>
        </p:nvSpPr>
        <p:spPr>
          <a:xfrm>
            <a:off x="2748439" y="3961465"/>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1,258</a:t>
            </a:r>
            <a:endParaRPr lang="en-US" sz="1200" dirty="0">
              <a:latin typeface="Georgia" panose="02040502050405020303" pitchFamily="18" charset="0"/>
            </a:endParaRPr>
          </a:p>
        </p:txBody>
      </p:sp>
      <p:sp>
        <p:nvSpPr>
          <p:cNvPr id="66" name="Text 69">
            <a:extLst>
              <a:ext uri="{FF2B5EF4-FFF2-40B4-BE49-F238E27FC236}">
                <a16:creationId xmlns:a16="http://schemas.microsoft.com/office/drawing/2014/main" id="{D15DD82B-2933-9C6B-D6F7-F0FE735394EB}"/>
              </a:ext>
            </a:extLst>
          </p:cNvPr>
          <p:cNvSpPr/>
          <p:nvPr/>
        </p:nvSpPr>
        <p:spPr>
          <a:xfrm>
            <a:off x="4371315" y="3961465"/>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662</a:t>
            </a:r>
            <a:endParaRPr lang="en-US" sz="1200" dirty="0">
              <a:latin typeface="Georgia" panose="02040502050405020303" pitchFamily="18" charset="0"/>
            </a:endParaRPr>
          </a:p>
        </p:txBody>
      </p:sp>
      <p:sp>
        <p:nvSpPr>
          <p:cNvPr id="67" name="Text 70">
            <a:extLst>
              <a:ext uri="{FF2B5EF4-FFF2-40B4-BE49-F238E27FC236}">
                <a16:creationId xmlns:a16="http://schemas.microsoft.com/office/drawing/2014/main" id="{42BFF6A2-45DA-01B8-E931-27BE895A1A0D}"/>
              </a:ext>
            </a:extLst>
          </p:cNvPr>
          <p:cNvSpPr/>
          <p:nvPr/>
        </p:nvSpPr>
        <p:spPr>
          <a:xfrm>
            <a:off x="5994189" y="3961465"/>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548</a:t>
            </a:r>
            <a:endParaRPr lang="en-US" sz="1200" dirty="0">
              <a:latin typeface="Georgia" panose="02040502050405020303" pitchFamily="18" charset="0"/>
            </a:endParaRPr>
          </a:p>
        </p:txBody>
      </p:sp>
      <p:sp>
        <p:nvSpPr>
          <p:cNvPr id="68" name="Text 71">
            <a:extLst>
              <a:ext uri="{FF2B5EF4-FFF2-40B4-BE49-F238E27FC236}">
                <a16:creationId xmlns:a16="http://schemas.microsoft.com/office/drawing/2014/main" id="{9BDC3C52-3DED-F6EF-BA89-B8A69092F084}"/>
              </a:ext>
            </a:extLst>
          </p:cNvPr>
          <p:cNvSpPr/>
          <p:nvPr/>
        </p:nvSpPr>
        <p:spPr>
          <a:xfrm>
            <a:off x="7617065" y="3961465"/>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272</a:t>
            </a:r>
            <a:endParaRPr lang="en-US" sz="1200" dirty="0">
              <a:latin typeface="Georgia" panose="02040502050405020303" pitchFamily="18" charset="0"/>
            </a:endParaRPr>
          </a:p>
        </p:txBody>
      </p:sp>
      <p:sp>
        <p:nvSpPr>
          <p:cNvPr id="69" name="Text 72">
            <a:extLst>
              <a:ext uri="{FF2B5EF4-FFF2-40B4-BE49-F238E27FC236}">
                <a16:creationId xmlns:a16="http://schemas.microsoft.com/office/drawing/2014/main" id="{C813FFD5-A14D-941B-752F-3EE5AD76C70D}"/>
              </a:ext>
            </a:extLst>
          </p:cNvPr>
          <p:cNvSpPr/>
          <p:nvPr/>
        </p:nvSpPr>
        <p:spPr>
          <a:xfrm>
            <a:off x="9225381" y="3961465"/>
            <a:ext cx="202768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50%</a:t>
            </a:r>
            <a:endParaRPr lang="en-US" sz="1200" dirty="0">
              <a:latin typeface="Georgia" panose="02040502050405020303" pitchFamily="18" charset="0"/>
            </a:endParaRPr>
          </a:p>
        </p:txBody>
      </p:sp>
      <p:sp>
        <p:nvSpPr>
          <p:cNvPr id="70" name="Shape 73">
            <a:extLst>
              <a:ext uri="{FF2B5EF4-FFF2-40B4-BE49-F238E27FC236}">
                <a16:creationId xmlns:a16="http://schemas.microsoft.com/office/drawing/2014/main" id="{69617D1B-B79F-12E8-57DA-8492C5D3BE44}"/>
              </a:ext>
            </a:extLst>
          </p:cNvPr>
          <p:cNvSpPr/>
          <p:nvPr/>
        </p:nvSpPr>
        <p:spPr>
          <a:xfrm>
            <a:off x="534239" y="4249695"/>
            <a:ext cx="10819561" cy="364431"/>
          </a:xfrm>
          <a:prstGeom prst="rect">
            <a:avLst/>
          </a:prstGeom>
          <a:solidFill>
            <a:srgbClr val="EFE8D8"/>
          </a:solidFill>
          <a:ln/>
        </p:spPr>
        <p:txBody>
          <a:bodyPr/>
          <a:lstStyle/>
          <a:p>
            <a:pPr algn="ctr"/>
            <a:endParaRPr lang="en-IN" sz="1200">
              <a:latin typeface="Georgia" panose="02040502050405020303" pitchFamily="18" charset="0"/>
            </a:endParaRPr>
          </a:p>
        </p:txBody>
      </p:sp>
      <p:sp>
        <p:nvSpPr>
          <p:cNvPr id="71" name="Shape 74">
            <a:extLst>
              <a:ext uri="{FF2B5EF4-FFF2-40B4-BE49-F238E27FC236}">
                <a16:creationId xmlns:a16="http://schemas.microsoft.com/office/drawing/2014/main" id="{91629315-0005-D39D-0D45-622248782C2E}"/>
              </a:ext>
            </a:extLst>
          </p:cNvPr>
          <p:cNvSpPr/>
          <p:nvPr/>
        </p:nvSpPr>
        <p:spPr>
          <a:xfrm>
            <a:off x="534239" y="4607776"/>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73" name="Shape 75">
            <a:extLst>
              <a:ext uri="{FF2B5EF4-FFF2-40B4-BE49-F238E27FC236}">
                <a16:creationId xmlns:a16="http://schemas.microsoft.com/office/drawing/2014/main" id="{8BEFABB4-6980-3398-0D8F-149341DEBECE}"/>
              </a:ext>
            </a:extLst>
          </p:cNvPr>
          <p:cNvSpPr/>
          <p:nvPr/>
        </p:nvSpPr>
        <p:spPr>
          <a:xfrm>
            <a:off x="534239" y="4249695"/>
            <a:ext cx="18888" cy="364431"/>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74" name="Text 76">
            <a:extLst>
              <a:ext uri="{FF2B5EF4-FFF2-40B4-BE49-F238E27FC236}">
                <a16:creationId xmlns:a16="http://schemas.microsoft.com/office/drawing/2014/main" id="{19D89C91-FF47-BB14-F9AA-20D253842063}"/>
              </a:ext>
            </a:extLst>
          </p:cNvPr>
          <p:cNvSpPr/>
          <p:nvPr/>
        </p:nvSpPr>
        <p:spPr>
          <a:xfrm>
            <a:off x="685800" y="4325895"/>
            <a:ext cx="2008391"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Ballari</a:t>
            </a:r>
            <a:endParaRPr lang="en-US" sz="1200" dirty="0">
              <a:latin typeface="Georgia" panose="02040502050405020303" pitchFamily="18" charset="0"/>
            </a:endParaRPr>
          </a:p>
        </p:txBody>
      </p:sp>
      <p:sp>
        <p:nvSpPr>
          <p:cNvPr id="75" name="Text 77">
            <a:extLst>
              <a:ext uri="{FF2B5EF4-FFF2-40B4-BE49-F238E27FC236}">
                <a16:creationId xmlns:a16="http://schemas.microsoft.com/office/drawing/2014/main" id="{6224B41A-0893-925A-3995-44A9ECD76818}"/>
              </a:ext>
            </a:extLst>
          </p:cNvPr>
          <p:cNvSpPr/>
          <p:nvPr/>
        </p:nvSpPr>
        <p:spPr>
          <a:xfrm>
            <a:off x="2748439" y="4325895"/>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2,685</a:t>
            </a:r>
            <a:endParaRPr lang="en-US" sz="1200" dirty="0">
              <a:latin typeface="Georgia" panose="02040502050405020303" pitchFamily="18" charset="0"/>
            </a:endParaRPr>
          </a:p>
        </p:txBody>
      </p:sp>
      <p:sp>
        <p:nvSpPr>
          <p:cNvPr id="76" name="Text 78">
            <a:extLst>
              <a:ext uri="{FF2B5EF4-FFF2-40B4-BE49-F238E27FC236}">
                <a16:creationId xmlns:a16="http://schemas.microsoft.com/office/drawing/2014/main" id="{A0F9CE20-B81E-D166-F62D-D45FE1C07A89}"/>
              </a:ext>
            </a:extLst>
          </p:cNvPr>
          <p:cNvSpPr/>
          <p:nvPr/>
        </p:nvSpPr>
        <p:spPr>
          <a:xfrm>
            <a:off x="4371315" y="4325895"/>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1,618</a:t>
            </a:r>
            <a:endParaRPr lang="en-US" sz="1200" dirty="0">
              <a:latin typeface="Georgia" panose="02040502050405020303" pitchFamily="18" charset="0"/>
            </a:endParaRPr>
          </a:p>
        </p:txBody>
      </p:sp>
      <p:sp>
        <p:nvSpPr>
          <p:cNvPr id="77" name="Text 79">
            <a:extLst>
              <a:ext uri="{FF2B5EF4-FFF2-40B4-BE49-F238E27FC236}">
                <a16:creationId xmlns:a16="http://schemas.microsoft.com/office/drawing/2014/main" id="{79A4764B-C146-6285-3AB7-A1F1872A718F}"/>
              </a:ext>
            </a:extLst>
          </p:cNvPr>
          <p:cNvSpPr/>
          <p:nvPr/>
        </p:nvSpPr>
        <p:spPr>
          <a:xfrm>
            <a:off x="5994189" y="4325895"/>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943</a:t>
            </a:r>
            <a:endParaRPr lang="en-US" sz="1200" dirty="0">
              <a:latin typeface="Georgia" panose="02040502050405020303" pitchFamily="18" charset="0"/>
            </a:endParaRPr>
          </a:p>
        </p:txBody>
      </p:sp>
      <p:sp>
        <p:nvSpPr>
          <p:cNvPr id="78" name="Text 80">
            <a:extLst>
              <a:ext uri="{FF2B5EF4-FFF2-40B4-BE49-F238E27FC236}">
                <a16:creationId xmlns:a16="http://schemas.microsoft.com/office/drawing/2014/main" id="{9EF387DF-D7B1-5E71-3AA5-15EAE2A4AC48}"/>
              </a:ext>
            </a:extLst>
          </p:cNvPr>
          <p:cNvSpPr/>
          <p:nvPr/>
        </p:nvSpPr>
        <p:spPr>
          <a:xfrm>
            <a:off x="7617065" y="4325895"/>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625</a:t>
            </a:r>
            <a:endParaRPr lang="en-US" sz="1200" dirty="0">
              <a:latin typeface="Georgia" panose="02040502050405020303" pitchFamily="18" charset="0"/>
            </a:endParaRPr>
          </a:p>
        </p:txBody>
      </p:sp>
      <p:sp>
        <p:nvSpPr>
          <p:cNvPr id="130" name="Text 81">
            <a:extLst>
              <a:ext uri="{FF2B5EF4-FFF2-40B4-BE49-F238E27FC236}">
                <a16:creationId xmlns:a16="http://schemas.microsoft.com/office/drawing/2014/main" id="{30516AC8-BA01-B5FB-22A1-6AF569C30D0F}"/>
              </a:ext>
            </a:extLst>
          </p:cNvPr>
          <p:cNvSpPr/>
          <p:nvPr/>
        </p:nvSpPr>
        <p:spPr>
          <a:xfrm>
            <a:off x="9225381" y="4325895"/>
            <a:ext cx="202768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66%</a:t>
            </a:r>
            <a:endParaRPr lang="en-US" sz="1200" dirty="0">
              <a:latin typeface="Georgia" panose="02040502050405020303" pitchFamily="18" charset="0"/>
            </a:endParaRPr>
          </a:p>
        </p:txBody>
      </p:sp>
      <p:sp>
        <p:nvSpPr>
          <p:cNvPr id="131" name="Shape 82">
            <a:extLst>
              <a:ext uri="{FF2B5EF4-FFF2-40B4-BE49-F238E27FC236}">
                <a16:creationId xmlns:a16="http://schemas.microsoft.com/office/drawing/2014/main" id="{997F09C9-DC1B-4123-3720-3A6CD1468B57}"/>
              </a:ext>
            </a:extLst>
          </p:cNvPr>
          <p:cNvSpPr/>
          <p:nvPr/>
        </p:nvSpPr>
        <p:spPr>
          <a:xfrm>
            <a:off x="534239" y="4972206"/>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132" name="Shape 83">
            <a:extLst>
              <a:ext uri="{FF2B5EF4-FFF2-40B4-BE49-F238E27FC236}">
                <a16:creationId xmlns:a16="http://schemas.microsoft.com/office/drawing/2014/main" id="{B6B9155D-323B-B51C-9A8A-2FF5E41955F7}"/>
              </a:ext>
            </a:extLst>
          </p:cNvPr>
          <p:cNvSpPr/>
          <p:nvPr/>
        </p:nvSpPr>
        <p:spPr>
          <a:xfrm>
            <a:off x="534239" y="4614125"/>
            <a:ext cx="18888" cy="364431"/>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133" name="Text 84">
            <a:extLst>
              <a:ext uri="{FF2B5EF4-FFF2-40B4-BE49-F238E27FC236}">
                <a16:creationId xmlns:a16="http://schemas.microsoft.com/office/drawing/2014/main" id="{1BCC9EBE-C8AD-432C-A112-D63BA8A04CD1}"/>
              </a:ext>
            </a:extLst>
          </p:cNvPr>
          <p:cNvSpPr/>
          <p:nvPr/>
        </p:nvSpPr>
        <p:spPr>
          <a:xfrm>
            <a:off x="685800" y="4690325"/>
            <a:ext cx="2008391"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Bidar</a:t>
            </a:r>
            <a:endParaRPr lang="en-US" sz="1200" dirty="0">
              <a:latin typeface="Georgia" panose="02040502050405020303" pitchFamily="18" charset="0"/>
            </a:endParaRPr>
          </a:p>
        </p:txBody>
      </p:sp>
      <p:sp>
        <p:nvSpPr>
          <p:cNvPr id="134" name="Text 85">
            <a:extLst>
              <a:ext uri="{FF2B5EF4-FFF2-40B4-BE49-F238E27FC236}">
                <a16:creationId xmlns:a16="http://schemas.microsoft.com/office/drawing/2014/main" id="{B3478227-2D04-0346-520F-C5AD250BC2D2}"/>
              </a:ext>
            </a:extLst>
          </p:cNvPr>
          <p:cNvSpPr/>
          <p:nvPr/>
        </p:nvSpPr>
        <p:spPr>
          <a:xfrm>
            <a:off x="2748439" y="4690325"/>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1,466</a:t>
            </a:r>
            <a:endParaRPr lang="en-US" sz="1200" dirty="0">
              <a:latin typeface="Georgia" panose="02040502050405020303" pitchFamily="18" charset="0"/>
            </a:endParaRPr>
          </a:p>
        </p:txBody>
      </p:sp>
      <p:sp>
        <p:nvSpPr>
          <p:cNvPr id="135" name="Text 86">
            <a:extLst>
              <a:ext uri="{FF2B5EF4-FFF2-40B4-BE49-F238E27FC236}">
                <a16:creationId xmlns:a16="http://schemas.microsoft.com/office/drawing/2014/main" id="{47F93AB2-D535-DBEC-8A3C-F4302E3EF720}"/>
              </a:ext>
            </a:extLst>
          </p:cNvPr>
          <p:cNvSpPr/>
          <p:nvPr/>
        </p:nvSpPr>
        <p:spPr>
          <a:xfrm>
            <a:off x="4371315" y="4690325"/>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484</a:t>
            </a:r>
            <a:endParaRPr lang="en-US" sz="1200" dirty="0">
              <a:latin typeface="Georgia" panose="02040502050405020303" pitchFamily="18" charset="0"/>
            </a:endParaRPr>
          </a:p>
        </p:txBody>
      </p:sp>
      <p:sp>
        <p:nvSpPr>
          <p:cNvPr id="136" name="Text 87">
            <a:extLst>
              <a:ext uri="{FF2B5EF4-FFF2-40B4-BE49-F238E27FC236}">
                <a16:creationId xmlns:a16="http://schemas.microsoft.com/office/drawing/2014/main" id="{98886AD8-BB28-251F-00AF-91B24EE97078}"/>
              </a:ext>
            </a:extLst>
          </p:cNvPr>
          <p:cNvSpPr/>
          <p:nvPr/>
        </p:nvSpPr>
        <p:spPr>
          <a:xfrm>
            <a:off x="5994189" y="4690325"/>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775</a:t>
            </a:r>
            <a:endParaRPr lang="en-US" sz="1200" dirty="0">
              <a:latin typeface="Georgia" panose="02040502050405020303" pitchFamily="18" charset="0"/>
            </a:endParaRPr>
          </a:p>
        </p:txBody>
      </p:sp>
      <p:sp>
        <p:nvSpPr>
          <p:cNvPr id="137" name="Text 88">
            <a:extLst>
              <a:ext uri="{FF2B5EF4-FFF2-40B4-BE49-F238E27FC236}">
                <a16:creationId xmlns:a16="http://schemas.microsoft.com/office/drawing/2014/main" id="{8552930C-873D-99D2-09ED-57FE27143841}"/>
              </a:ext>
            </a:extLst>
          </p:cNvPr>
          <p:cNvSpPr/>
          <p:nvPr/>
        </p:nvSpPr>
        <p:spPr>
          <a:xfrm>
            <a:off x="7617065" y="4690325"/>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265</a:t>
            </a:r>
            <a:endParaRPr lang="en-US" sz="1200" dirty="0">
              <a:latin typeface="Georgia" panose="02040502050405020303" pitchFamily="18" charset="0"/>
            </a:endParaRPr>
          </a:p>
        </p:txBody>
      </p:sp>
      <p:sp>
        <p:nvSpPr>
          <p:cNvPr id="138" name="Text 89">
            <a:extLst>
              <a:ext uri="{FF2B5EF4-FFF2-40B4-BE49-F238E27FC236}">
                <a16:creationId xmlns:a16="http://schemas.microsoft.com/office/drawing/2014/main" id="{C89A8316-EFB4-D577-3D6C-C0F0B61AE8DB}"/>
              </a:ext>
            </a:extLst>
          </p:cNvPr>
          <p:cNvSpPr/>
          <p:nvPr/>
        </p:nvSpPr>
        <p:spPr>
          <a:xfrm>
            <a:off x="9225381" y="4690325"/>
            <a:ext cx="202768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34%</a:t>
            </a:r>
            <a:endParaRPr lang="en-US" sz="1200" dirty="0">
              <a:latin typeface="Georgia" panose="02040502050405020303" pitchFamily="18" charset="0"/>
            </a:endParaRPr>
          </a:p>
        </p:txBody>
      </p:sp>
      <p:sp>
        <p:nvSpPr>
          <p:cNvPr id="139" name="Shape 90">
            <a:extLst>
              <a:ext uri="{FF2B5EF4-FFF2-40B4-BE49-F238E27FC236}">
                <a16:creationId xmlns:a16="http://schemas.microsoft.com/office/drawing/2014/main" id="{2A701DE3-9AA7-0A74-8DDD-C07CD2732CC2}"/>
              </a:ext>
            </a:extLst>
          </p:cNvPr>
          <p:cNvSpPr/>
          <p:nvPr/>
        </p:nvSpPr>
        <p:spPr>
          <a:xfrm>
            <a:off x="534239" y="4978556"/>
            <a:ext cx="10819561" cy="364431"/>
          </a:xfrm>
          <a:prstGeom prst="rect">
            <a:avLst/>
          </a:prstGeom>
          <a:solidFill>
            <a:srgbClr val="EFE8D8"/>
          </a:solidFill>
          <a:ln/>
        </p:spPr>
        <p:txBody>
          <a:bodyPr/>
          <a:lstStyle/>
          <a:p>
            <a:pPr algn="ctr"/>
            <a:endParaRPr lang="en-IN" sz="1200">
              <a:latin typeface="Georgia" panose="02040502050405020303" pitchFamily="18" charset="0"/>
            </a:endParaRPr>
          </a:p>
        </p:txBody>
      </p:sp>
      <p:sp>
        <p:nvSpPr>
          <p:cNvPr id="140" name="Shape 91">
            <a:extLst>
              <a:ext uri="{FF2B5EF4-FFF2-40B4-BE49-F238E27FC236}">
                <a16:creationId xmlns:a16="http://schemas.microsoft.com/office/drawing/2014/main" id="{BC8A6FA6-FD93-6E97-4FA0-EDCC52AF9D6A}"/>
              </a:ext>
            </a:extLst>
          </p:cNvPr>
          <p:cNvSpPr/>
          <p:nvPr/>
        </p:nvSpPr>
        <p:spPr>
          <a:xfrm>
            <a:off x="534239" y="5336636"/>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141" name="Shape 92">
            <a:extLst>
              <a:ext uri="{FF2B5EF4-FFF2-40B4-BE49-F238E27FC236}">
                <a16:creationId xmlns:a16="http://schemas.microsoft.com/office/drawing/2014/main" id="{137CDAAD-4522-92CB-77D1-AE8702CEEAC6}"/>
              </a:ext>
            </a:extLst>
          </p:cNvPr>
          <p:cNvSpPr/>
          <p:nvPr/>
        </p:nvSpPr>
        <p:spPr>
          <a:xfrm>
            <a:off x="534239" y="4978556"/>
            <a:ext cx="18888" cy="364431"/>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142" name="Text 93">
            <a:extLst>
              <a:ext uri="{FF2B5EF4-FFF2-40B4-BE49-F238E27FC236}">
                <a16:creationId xmlns:a16="http://schemas.microsoft.com/office/drawing/2014/main" id="{0CEBE099-D555-46EB-C3B8-D8C68F1A6665}"/>
              </a:ext>
            </a:extLst>
          </p:cNvPr>
          <p:cNvSpPr/>
          <p:nvPr/>
        </p:nvSpPr>
        <p:spPr>
          <a:xfrm>
            <a:off x="685800" y="5054756"/>
            <a:ext cx="2008391"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Yadgir</a:t>
            </a:r>
            <a:endParaRPr lang="en-US" sz="1200" dirty="0">
              <a:latin typeface="Georgia" panose="02040502050405020303" pitchFamily="18" charset="0"/>
            </a:endParaRPr>
          </a:p>
        </p:txBody>
      </p:sp>
      <p:sp>
        <p:nvSpPr>
          <p:cNvPr id="143" name="Text 94">
            <a:extLst>
              <a:ext uri="{FF2B5EF4-FFF2-40B4-BE49-F238E27FC236}">
                <a16:creationId xmlns:a16="http://schemas.microsoft.com/office/drawing/2014/main" id="{AAF16E0B-06D8-6116-338D-A1FDCAEAF7AB}"/>
              </a:ext>
            </a:extLst>
          </p:cNvPr>
          <p:cNvSpPr/>
          <p:nvPr/>
        </p:nvSpPr>
        <p:spPr>
          <a:xfrm>
            <a:off x="2748439" y="505475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843</a:t>
            </a:r>
            <a:endParaRPr lang="en-US" sz="1200" dirty="0">
              <a:latin typeface="Georgia" panose="02040502050405020303" pitchFamily="18" charset="0"/>
            </a:endParaRPr>
          </a:p>
        </p:txBody>
      </p:sp>
      <p:sp>
        <p:nvSpPr>
          <p:cNvPr id="144" name="Text 95">
            <a:extLst>
              <a:ext uri="{FF2B5EF4-FFF2-40B4-BE49-F238E27FC236}">
                <a16:creationId xmlns:a16="http://schemas.microsoft.com/office/drawing/2014/main" id="{F8D0C309-F78D-6FDF-9C24-C2CD145A94B5}"/>
              </a:ext>
            </a:extLst>
          </p:cNvPr>
          <p:cNvSpPr/>
          <p:nvPr/>
        </p:nvSpPr>
        <p:spPr>
          <a:xfrm>
            <a:off x="4371315" y="505475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240</a:t>
            </a:r>
            <a:endParaRPr lang="en-US" sz="1200" dirty="0">
              <a:latin typeface="Georgia" panose="02040502050405020303" pitchFamily="18" charset="0"/>
            </a:endParaRPr>
          </a:p>
        </p:txBody>
      </p:sp>
      <p:sp>
        <p:nvSpPr>
          <p:cNvPr id="145" name="Text 96">
            <a:extLst>
              <a:ext uri="{FF2B5EF4-FFF2-40B4-BE49-F238E27FC236}">
                <a16:creationId xmlns:a16="http://schemas.microsoft.com/office/drawing/2014/main" id="{A57A0811-FE8C-F0AE-7368-08AB78199C33}"/>
              </a:ext>
            </a:extLst>
          </p:cNvPr>
          <p:cNvSpPr/>
          <p:nvPr/>
        </p:nvSpPr>
        <p:spPr>
          <a:xfrm>
            <a:off x="5994189" y="505475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465</a:t>
            </a:r>
            <a:endParaRPr lang="en-US" sz="1200" dirty="0">
              <a:latin typeface="Georgia" panose="02040502050405020303" pitchFamily="18" charset="0"/>
            </a:endParaRPr>
          </a:p>
        </p:txBody>
      </p:sp>
      <p:sp>
        <p:nvSpPr>
          <p:cNvPr id="146" name="Text 97">
            <a:extLst>
              <a:ext uri="{FF2B5EF4-FFF2-40B4-BE49-F238E27FC236}">
                <a16:creationId xmlns:a16="http://schemas.microsoft.com/office/drawing/2014/main" id="{F3036F3B-95E5-59C0-C7D1-0C11EAC6AD0C}"/>
              </a:ext>
            </a:extLst>
          </p:cNvPr>
          <p:cNvSpPr/>
          <p:nvPr/>
        </p:nvSpPr>
        <p:spPr>
          <a:xfrm>
            <a:off x="7617065" y="505475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128</a:t>
            </a:r>
            <a:endParaRPr lang="en-US" sz="1200" dirty="0">
              <a:latin typeface="Georgia" panose="02040502050405020303" pitchFamily="18" charset="0"/>
            </a:endParaRPr>
          </a:p>
        </p:txBody>
      </p:sp>
      <p:sp>
        <p:nvSpPr>
          <p:cNvPr id="147" name="Text 98">
            <a:extLst>
              <a:ext uri="{FF2B5EF4-FFF2-40B4-BE49-F238E27FC236}">
                <a16:creationId xmlns:a16="http://schemas.microsoft.com/office/drawing/2014/main" id="{5E882786-BDD4-6109-54DC-5DB44710A591}"/>
              </a:ext>
            </a:extLst>
          </p:cNvPr>
          <p:cNvSpPr/>
          <p:nvPr/>
        </p:nvSpPr>
        <p:spPr>
          <a:xfrm>
            <a:off x="9225381" y="5054756"/>
            <a:ext cx="202768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28%</a:t>
            </a:r>
            <a:endParaRPr lang="en-US" sz="1200" dirty="0">
              <a:latin typeface="Georgia" panose="02040502050405020303" pitchFamily="18" charset="0"/>
            </a:endParaRPr>
          </a:p>
        </p:txBody>
      </p:sp>
      <p:sp>
        <p:nvSpPr>
          <p:cNvPr id="148" name="Shape 99">
            <a:extLst>
              <a:ext uri="{FF2B5EF4-FFF2-40B4-BE49-F238E27FC236}">
                <a16:creationId xmlns:a16="http://schemas.microsoft.com/office/drawing/2014/main" id="{F26362DB-B434-2EE4-6B5B-9324BCB07D36}"/>
              </a:ext>
            </a:extLst>
          </p:cNvPr>
          <p:cNvSpPr/>
          <p:nvPr/>
        </p:nvSpPr>
        <p:spPr>
          <a:xfrm>
            <a:off x="534239" y="5701067"/>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149" name="Shape 100">
            <a:extLst>
              <a:ext uri="{FF2B5EF4-FFF2-40B4-BE49-F238E27FC236}">
                <a16:creationId xmlns:a16="http://schemas.microsoft.com/office/drawing/2014/main" id="{6C1CCE83-DC7A-269C-812D-55BA61F8D269}"/>
              </a:ext>
            </a:extLst>
          </p:cNvPr>
          <p:cNvSpPr/>
          <p:nvPr/>
        </p:nvSpPr>
        <p:spPr>
          <a:xfrm>
            <a:off x="534239" y="5342986"/>
            <a:ext cx="18888" cy="364431"/>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150" name="Text 101">
            <a:extLst>
              <a:ext uri="{FF2B5EF4-FFF2-40B4-BE49-F238E27FC236}">
                <a16:creationId xmlns:a16="http://schemas.microsoft.com/office/drawing/2014/main" id="{0DCD5637-EFE6-EE02-C8EF-0848936C7455}"/>
              </a:ext>
            </a:extLst>
          </p:cNvPr>
          <p:cNvSpPr/>
          <p:nvPr/>
        </p:nvSpPr>
        <p:spPr>
          <a:xfrm>
            <a:off x="685800" y="5419186"/>
            <a:ext cx="2008391"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Raichur</a:t>
            </a:r>
            <a:endParaRPr lang="en-US" sz="1200" dirty="0">
              <a:latin typeface="Georgia" panose="02040502050405020303" pitchFamily="18" charset="0"/>
            </a:endParaRPr>
          </a:p>
        </p:txBody>
      </p:sp>
      <p:sp>
        <p:nvSpPr>
          <p:cNvPr id="151" name="Text 102">
            <a:extLst>
              <a:ext uri="{FF2B5EF4-FFF2-40B4-BE49-F238E27FC236}">
                <a16:creationId xmlns:a16="http://schemas.microsoft.com/office/drawing/2014/main" id="{77366DE1-B969-6959-616C-B0A1FE2C873D}"/>
              </a:ext>
            </a:extLst>
          </p:cNvPr>
          <p:cNvSpPr/>
          <p:nvPr/>
        </p:nvSpPr>
        <p:spPr>
          <a:xfrm>
            <a:off x="2748439" y="541918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2,753</a:t>
            </a:r>
            <a:endParaRPr lang="en-US" sz="1200" dirty="0">
              <a:latin typeface="Georgia" panose="02040502050405020303" pitchFamily="18" charset="0"/>
            </a:endParaRPr>
          </a:p>
        </p:txBody>
      </p:sp>
      <p:sp>
        <p:nvSpPr>
          <p:cNvPr id="152" name="Text 103">
            <a:extLst>
              <a:ext uri="{FF2B5EF4-FFF2-40B4-BE49-F238E27FC236}">
                <a16:creationId xmlns:a16="http://schemas.microsoft.com/office/drawing/2014/main" id="{C5999C40-C27B-DCD1-B7DA-877B09EAF615}"/>
              </a:ext>
            </a:extLst>
          </p:cNvPr>
          <p:cNvSpPr/>
          <p:nvPr/>
        </p:nvSpPr>
        <p:spPr>
          <a:xfrm>
            <a:off x="4371315" y="541918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1,249</a:t>
            </a:r>
            <a:endParaRPr lang="en-US" sz="1200" dirty="0">
              <a:latin typeface="Georgia" panose="02040502050405020303" pitchFamily="18" charset="0"/>
            </a:endParaRPr>
          </a:p>
        </p:txBody>
      </p:sp>
      <p:sp>
        <p:nvSpPr>
          <p:cNvPr id="153" name="Text 104">
            <a:extLst>
              <a:ext uri="{FF2B5EF4-FFF2-40B4-BE49-F238E27FC236}">
                <a16:creationId xmlns:a16="http://schemas.microsoft.com/office/drawing/2014/main" id="{9AC7C69B-5DC8-94D2-83F1-CD5C2A934E3D}"/>
              </a:ext>
            </a:extLst>
          </p:cNvPr>
          <p:cNvSpPr/>
          <p:nvPr/>
        </p:nvSpPr>
        <p:spPr>
          <a:xfrm>
            <a:off x="5994189" y="541918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1,128</a:t>
            </a:r>
            <a:endParaRPr lang="en-US" sz="1200" dirty="0">
              <a:latin typeface="Georgia" panose="02040502050405020303" pitchFamily="18" charset="0"/>
            </a:endParaRPr>
          </a:p>
        </p:txBody>
      </p:sp>
      <p:sp>
        <p:nvSpPr>
          <p:cNvPr id="154" name="Text 105">
            <a:extLst>
              <a:ext uri="{FF2B5EF4-FFF2-40B4-BE49-F238E27FC236}">
                <a16:creationId xmlns:a16="http://schemas.microsoft.com/office/drawing/2014/main" id="{7A9E4E2C-8596-DC55-84EA-95F0E5404E3E}"/>
              </a:ext>
            </a:extLst>
          </p:cNvPr>
          <p:cNvSpPr/>
          <p:nvPr/>
        </p:nvSpPr>
        <p:spPr>
          <a:xfrm>
            <a:off x="7617065" y="541918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508</a:t>
            </a:r>
            <a:endParaRPr lang="en-US" sz="1200" dirty="0">
              <a:latin typeface="Georgia" panose="02040502050405020303" pitchFamily="18" charset="0"/>
            </a:endParaRPr>
          </a:p>
        </p:txBody>
      </p:sp>
      <p:sp>
        <p:nvSpPr>
          <p:cNvPr id="155" name="Text 106">
            <a:extLst>
              <a:ext uri="{FF2B5EF4-FFF2-40B4-BE49-F238E27FC236}">
                <a16:creationId xmlns:a16="http://schemas.microsoft.com/office/drawing/2014/main" id="{534D88F2-92DD-6E89-4A97-101188A8DA9A}"/>
              </a:ext>
            </a:extLst>
          </p:cNvPr>
          <p:cNvSpPr/>
          <p:nvPr/>
        </p:nvSpPr>
        <p:spPr>
          <a:xfrm>
            <a:off x="9225381" y="5419186"/>
            <a:ext cx="202768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45%</a:t>
            </a:r>
            <a:endParaRPr lang="en-US" sz="1200" dirty="0">
              <a:latin typeface="Georgia" panose="02040502050405020303" pitchFamily="18" charset="0"/>
            </a:endParaRPr>
          </a:p>
        </p:txBody>
      </p:sp>
      <p:sp>
        <p:nvSpPr>
          <p:cNvPr id="158" name="TextBox 157">
            <a:extLst>
              <a:ext uri="{FF2B5EF4-FFF2-40B4-BE49-F238E27FC236}">
                <a16:creationId xmlns:a16="http://schemas.microsoft.com/office/drawing/2014/main" id="{98B5DAFD-9E5C-C6D8-21CB-F07004E800B9}"/>
              </a:ext>
            </a:extLst>
          </p:cNvPr>
          <p:cNvSpPr txBox="1"/>
          <p:nvPr/>
        </p:nvSpPr>
        <p:spPr>
          <a:xfrm>
            <a:off x="534238" y="685800"/>
            <a:ext cx="10819562" cy="523220"/>
          </a:xfrm>
          <a:prstGeom prst="rect">
            <a:avLst/>
          </a:prstGeom>
          <a:solidFill>
            <a:schemeClr val="bg2">
              <a:lumMod val="25000"/>
            </a:schemeClr>
          </a:solidFill>
        </p:spPr>
        <p:txBody>
          <a:bodyPr wrap="square" rtlCol="0">
            <a:spAutoFit/>
          </a:bodyPr>
          <a:lstStyle/>
          <a:p>
            <a:r>
              <a:rPr lang="en-US" sz="1400" dirty="0">
                <a:solidFill>
                  <a:schemeClr val="bg1"/>
                </a:solidFill>
                <a:latin typeface="Georgia" panose="02040502050405020303" pitchFamily="18" charset="0"/>
              </a:rPr>
              <a:t>The Deen Dayal Upadhyaya Grameen Kaushalya Yojana (DDU-GKY) is a Government of India skill development program focused on rural youth (18–35 years), aimed at providing industry-relevant training and linking candidates to wage employment. </a:t>
            </a:r>
          </a:p>
        </p:txBody>
      </p:sp>
      <p:pic>
        <p:nvPicPr>
          <p:cNvPr id="2" name="Picture 1">
            <a:extLst>
              <a:ext uri="{FF2B5EF4-FFF2-40B4-BE49-F238E27FC236}">
                <a16:creationId xmlns:a16="http://schemas.microsoft.com/office/drawing/2014/main" id="{11AA58F7-F5D6-E3C8-266F-D8F92E569D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93397"/>
            <a:ext cx="12192000" cy="987920"/>
          </a:xfrm>
          <a:prstGeom prst="rect">
            <a:avLst/>
          </a:prstGeom>
        </p:spPr>
      </p:pic>
    </p:spTree>
    <p:extLst>
      <p:ext uri="{BB962C8B-B14F-4D97-AF65-F5344CB8AC3E}">
        <p14:creationId xmlns:p14="http://schemas.microsoft.com/office/powerpoint/2010/main" val="7078356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97D63-B071-2D4C-001C-CA7A03D33CB8}"/>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8DA48804-A054-5EC1-39D9-59249B04B145}"/>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49</a:t>
            </a:fld>
            <a:endParaRPr dirty="0">
              <a:latin typeface="Georgia" panose="02040502050405020303" pitchFamily="18" charset="0"/>
            </a:endParaRPr>
          </a:p>
        </p:txBody>
      </p:sp>
      <p:sp>
        <p:nvSpPr>
          <p:cNvPr id="72" name="Text 3">
            <a:extLst>
              <a:ext uri="{FF2B5EF4-FFF2-40B4-BE49-F238E27FC236}">
                <a16:creationId xmlns:a16="http://schemas.microsoft.com/office/drawing/2014/main" id="{37222EEF-879D-E0CD-29FC-2EAE3847735C}"/>
              </a:ext>
            </a:extLst>
          </p:cNvPr>
          <p:cNvSpPr/>
          <p:nvPr/>
        </p:nvSpPr>
        <p:spPr>
          <a:xfrm>
            <a:off x="534238" y="492624"/>
            <a:ext cx="11249660" cy="388541"/>
          </a:xfrm>
          <a:prstGeom prst="rect">
            <a:avLst/>
          </a:prstGeom>
          <a:noFill/>
          <a:ln/>
        </p:spPr>
        <p:txBody>
          <a:bodyPr wrap="square" lIns="16933" tIns="16933" rIns="16933" bIns="16933" rtlCol="0" anchor="t">
            <a:normAutofit fontScale="85000" lnSpcReduction="20000"/>
          </a:bodyPr>
          <a:lstStyle/>
          <a:p>
            <a:pPr>
              <a:lnSpc>
                <a:spcPct val="110000"/>
              </a:lnSpc>
            </a:pPr>
            <a:r>
              <a:rPr lang="en-US" sz="2800" b="1" dirty="0">
                <a:solidFill>
                  <a:schemeClr val="bg1"/>
                </a:solidFill>
                <a:latin typeface="Georgia" panose="02040502050405020303" pitchFamily="18" charset="0"/>
              </a:rPr>
              <a:t>District-wise trained women report as on DDU-GKY</a:t>
            </a:r>
          </a:p>
          <a:p>
            <a:pPr>
              <a:lnSpc>
                <a:spcPct val="110000"/>
              </a:lnSpc>
            </a:pPr>
            <a:endParaRPr lang="en-US" sz="2800" dirty="0">
              <a:solidFill>
                <a:schemeClr val="bg1"/>
              </a:solidFill>
              <a:latin typeface="Georgia" panose="02040502050405020303" pitchFamily="18" charset="0"/>
            </a:endParaRPr>
          </a:p>
        </p:txBody>
      </p:sp>
      <p:sp>
        <p:nvSpPr>
          <p:cNvPr id="129" name="TextBox 128">
            <a:extLst>
              <a:ext uri="{FF2B5EF4-FFF2-40B4-BE49-F238E27FC236}">
                <a16:creationId xmlns:a16="http://schemas.microsoft.com/office/drawing/2014/main" id="{81A264B2-644C-FF0F-9ABF-70CCB227E638}"/>
              </a:ext>
            </a:extLst>
          </p:cNvPr>
          <p:cNvSpPr txBox="1"/>
          <p:nvPr/>
        </p:nvSpPr>
        <p:spPr>
          <a:xfrm>
            <a:off x="479420" y="5179220"/>
            <a:ext cx="6270228" cy="230832"/>
          </a:xfrm>
          <a:prstGeom prst="rect">
            <a:avLst/>
          </a:prstGeom>
          <a:noFill/>
        </p:spPr>
        <p:txBody>
          <a:bodyPr wrap="square" rtlCol="0">
            <a:spAutoFit/>
          </a:bodyPr>
          <a:lstStyle/>
          <a:p>
            <a:r>
              <a:rPr lang="en-IN" sz="900" i="1" dirty="0">
                <a:latin typeface="Georgia" panose="02040502050405020303" pitchFamily="18" charset="0"/>
              </a:rPr>
              <a:t>Sources: </a:t>
            </a:r>
            <a:r>
              <a:rPr lang="en-IN" sz="900" i="1" dirty="0">
                <a:solidFill>
                  <a:schemeClr val="tx1">
                    <a:lumMod val="95000"/>
                    <a:lumOff val="5000"/>
                  </a:schemeClr>
                </a:solidFill>
                <a:latin typeface="Georgia" panose="02040502050405020303" pitchFamily="18" charset="0"/>
              </a:rPr>
              <a:t>KSRLPS, </a:t>
            </a:r>
            <a:r>
              <a:rPr lang="en-IN" sz="900" i="1" dirty="0" err="1">
                <a:solidFill>
                  <a:schemeClr val="tx1">
                    <a:lumMod val="95000"/>
                    <a:lumOff val="5000"/>
                  </a:schemeClr>
                </a:solidFill>
                <a:latin typeface="Georgia" panose="02040502050405020303" pitchFamily="18" charset="0"/>
              </a:rPr>
              <a:t>GoK</a:t>
            </a:r>
            <a:endParaRPr lang="en-IN" dirty="0">
              <a:latin typeface="Georgia" panose="02040502050405020303" pitchFamily="18" charset="0"/>
            </a:endParaRPr>
          </a:p>
        </p:txBody>
      </p:sp>
      <p:grpSp>
        <p:nvGrpSpPr>
          <p:cNvPr id="80" name="Group 79">
            <a:extLst>
              <a:ext uri="{FF2B5EF4-FFF2-40B4-BE49-F238E27FC236}">
                <a16:creationId xmlns:a16="http://schemas.microsoft.com/office/drawing/2014/main" id="{0263EEEB-3EFC-9DAA-7EBE-CA165DDACA02}"/>
              </a:ext>
            </a:extLst>
          </p:cNvPr>
          <p:cNvGrpSpPr/>
          <p:nvPr/>
        </p:nvGrpSpPr>
        <p:grpSpPr>
          <a:xfrm>
            <a:off x="553812" y="1905000"/>
            <a:ext cx="10838449" cy="2909789"/>
            <a:chOff x="566895" y="1248420"/>
            <a:chExt cx="10838449" cy="2909789"/>
          </a:xfrm>
        </p:grpSpPr>
        <p:sp>
          <p:nvSpPr>
            <p:cNvPr id="3" name="Shape 7">
              <a:extLst>
                <a:ext uri="{FF2B5EF4-FFF2-40B4-BE49-F238E27FC236}">
                  <a16:creationId xmlns:a16="http://schemas.microsoft.com/office/drawing/2014/main" id="{B97D8A08-3B8C-CBE6-A174-B6C94E3F86D2}"/>
                </a:ext>
              </a:extLst>
            </p:cNvPr>
            <p:cNvSpPr/>
            <p:nvPr/>
          </p:nvSpPr>
          <p:spPr>
            <a:xfrm>
              <a:off x="566895" y="1248420"/>
              <a:ext cx="10819561" cy="355600"/>
            </a:xfrm>
            <a:prstGeom prst="rect">
              <a:avLst/>
            </a:prstGeom>
            <a:solidFill>
              <a:srgbClr val="0B6E78"/>
            </a:solidFill>
            <a:ln/>
          </p:spPr>
          <p:txBody>
            <a:bodyPr/>
            <a:lstStyle/>
            <a:p>
              <a:pPr algn="ctr"/>
              <a:endParaRPr lang="en-IN" sz="1400">
                <a:latin typeface="Georgia" panose="02040502050405020303" pitchFamily="18" charset="0"/>
              </a:endParaRPr>
            </a:p>
          </p:txBody>
        </p:sp>
        <p:sp>
          <p:nvSpPr>
            <p:cNvPr id="4" name="Text 8">
              <a:extLst>
                <a:ext uri="{FF2B5EF4-FFF2-40B4-BE49-F238E27FC236}">
                  <a16:creationId xmlns:a16="http://schemas.microsoft.com/office/drawing/2014/main" id="{FCB79CB5-0F41-C388-0C26-D8B87C0B0AFD}"/>
                </a:ext>
              </a:extLst>
            </p:cNvPr>
            <p:cNvSpPr/>
            <p:nvPr/>
          </p:nvSpPr>
          <p:spPr>
            <a:xfrm>
              <a:off x="667629" y="1309688"/>
              <a:ext cx="2027279" cy="230832"/>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District</a:t>
              </a:r>
              <a:endParaRPr lang="en-US" sz="1200" dirty="0">
                <a:latin typeface="Georgia" panose="02040502050405020303" pitchFamily="18" charset="0"/>
              </a:endParaRPr>
            </a:p>
          </p:txBody>
        </p:sp>
        <p:sp>
          <p:nvSpPr>
            <p:cNvPr id="6" name="Text 9">
              <a:extLst>
                <a:ext uri="{FF2B5EF4-FFF2-40B4-BE49-F238E27FC236}">
                  <a16:creationId xmlns:a16="http://schemas.microsoft.com/office/drawing/2014/main" id="{7C15DEED-395F-A385-86D6-56A41B91D7C1}"/>
                </a:ext>
              </a:extLst>
            </p:cNvPr>
            <p:cNvSpPr/>
            <p:nvPr/>
          </p:nvSpPr>
          <p:spPr>
            <a:xfrm>
              <a:off x="2831463" y="1309688"/>
              <a:ext cx="1471773" cy="230832"/>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Total trained</a:t>
              </a:r>
              <a:endParaRPr lang="en-US" sz="1200" dirty="0">
                <a:latin typeface="Georgia" panose="02040502050405020303" pitchFamily="18" charset="0"/>
              </a:endParaRPr>
            </a:p>
          </p:txBody>
        </p:sp>
        <p:sp>
          <p:nvSpPr>
            <p:cNvPr id="7" name="Text 10">
              <a:extLst>
                <a:ext uri="{FF2B5EF4-FFF2-40B4-BE49-F238E27FC236}">
                  <a16:creationId xmlns:a16="http://schemas.microsoft.com/office/drawing/2014/main" id="{F537444F-1C48-7534-282B-37C5FCFE1B56}"/>
                </a:ext>
              </a:extLst>
            </p:cNvPr>
            <p:cNvSpPr/>
            <p:nvPr/>
          </p:nvSpPr>
          <p:spPr>
            <a:xfrm>
              <a:off x="4454338" y="1311806"/>
              <a:ext cx="1471773" cy="230832"/>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Total placed</a:t>
              </a:r>
              <a:endParaRPr lang="en-US" sz="1200" dirty="0">
                <a:latin typeface="Georgia" panose="02040502050405020303" pitchFamily="18" charset="0"/>
              </a:endParaRPr>
            </a:p>
          </p:txBody>
        </p:sp>
        <p:sp>
          <p:nvSpPr>
            <p:cNvPr id="8" name="Text 11">
              <a:extLst>
                <a:ext uri="{FF2B5EF4-FFF2-40B4-BE49-F238E27FC236}">
                  <a16:creationId xmlns:a16="http://schemas.microsoft.com/office/drawing/2014/main" id="{AE5F56F2-084E-4265-422A-2035DC26003E}"/>
                </a:ext>
              </a:extLst>
            </p:cNvPr>
            <p:cNvSpPr/>
            <p:nvPr/>
          </p:nvSpPr>
          <p:spPr>
            <a:xfrm>
              <a:off x="6077213" y="1311806"/>
              <a:ext cx="1471773" cy="230832"/>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Women trained</a:t>
              </a:r>
              <a:endParaRPr lang="en-US" sz="1200" dirty="0">
                <a:latin typeface="Georgia" panose="02040502050405020303" pitchFamily="18" charset="0"/>
              </a:endParaRPr>
            </a:p>
          </p:txBody>
        </p:sp>
        <p:sp>
          <p:nvSpPr>
            <p:cNvPr id="9" name="Text 12">
              <a:extLst>
                <a:ext uri="{FF2B5EF4-FFF2-40B4-BE49-F238E27FC236}">
                  <a16:creationId xmlns:a16="http://schemas.microsoft.com/office/drawing/2014/main" id="{F51945CF-B5BE-BE52-8926-115DF73D3A32}"/>
                </a:ext>
              </a:extLst>
            </p:cNvPr>
            <p:cNvSpPr/>
            <p:nvPr/>
          </p:nvSpPr>
          <p:spPr>
            <a:xfrm>
              <a:off x="7700088" y="1311806"/>
              <a:ext cx="1471773" cy="230832"/>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Women placed</a:t>
              </a:r>
              <a:endParaRPr lang="en-US" sz="1200" dirty="0">
                <a:latin typeface="Georgia" panose="02040502050405020303" pitchFamily="18" charset="0"/>
              </a:endParaRPr>
            </a:p>
          </p:txBody>
        </p:sp>
        <p:sp>
          <p:nvSpPr>
            <p:cNvPr id="10" name="Text 13">
              <a:extLst>
                <a:ext uri="{FF2B5EF4-FFF2-40B4-BE49-F238E27FC236}">
                  <a16:creationId xmlns:a16="http://schemas.microsoft.com/office/drawing/2014/main" id="{81879B49-CEE9-CCF8-C5F6-7165F32F09E3}"/>
                </a:ext>
              </a:extLst>
            </p:cNvPr>
            <p:cNvSpPr/>
            <p:nvPr/>
          </p:nvSpPr>
          <p:spPr>
            <a:xfrm>
              <a:off x="9322963" y="1311806"/>
              <a:ext cx="2027684" cy="230832"/>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Women placement %</a:t>
              </a:r>
              <a:endParaRPr lang="en-US" sz="1200" dirty="0">
                <a:latin typeface="Georgia" panose="02040502050405020303" pitchFamily="18" charset="0"/>
              </a:endParaRPr>
            </a:p>
          </p:txBody>
        </p:sp>
        <p:sp>
          <p:nvSpPr>
            <p:cNvPr id="11" name="Shape 14">
              <a:extLst>
                <a:ext uri="{FF2B5EF4-FFF2-40B4-BE49-F238E27FC236}">
                  <a16:creationId xmlns:a16="http://schemas.microsoft.com/office/drawing/2014/main" id="{A5F874FB-C2AB-B46D-3535-8ECDB940F32F}"/>
                </a:ext>
              </a:extLst>
            </p:cNvPr>
            <p:cNvSpPr/>
            <p:nvPr/>
          </p:nvSpPr>
          <p:spPr>
            <a:xfrm>
              <a:off x="566895" y="1958925"/>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12" name="Shape 15">
              <a:extLst>
                <a:ext uri="{FF2B5EF4-FFF2-40B4-BE49-F238E27FC236}">
                  <a16:creationId xmlns:a16="http://schemas.microsoft.com/office/drawing/2014/main" id="{6ED6BAAB-AC2A-AB79-FA89-E1989CF522B7}"/>
                </a:ext>
              </a:extLst>
            </p:cNvPr>
            <p:cNvSpPr/>
            <p:nvPr/>
          </p:nvSpPr>
          <p:spPr>
            <a:xfrm>
              <a:off x="566895" y="1604020"/>
              <a:ext cx="18888" cy="361255"/>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13" name="Text 16">
              <a:extLst>
                <a:ext uri="{FF2B5EF4-FFF2-40B4-BE49-F238E27FC236}">
                  <a16:creationId xmlns:a16="http://schemas.microsoft.com/office/drawing/2014/main" id="{02044AAE-C700-F519-9CCC-6A7EF1D2FEEC}"/>
                </a:ext>
              </a:extLst>
            </p:cNvPr>
            <p:cNvSpPr/>
            <p:nvPr/>
          </p:nvSpPr>
          <p:spPr>
            <a:xfrm>
              <a:off x="718456" y="1680220"/>
              <a:ext cx="2008391" cy="234255"/>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Bangalore</a:t>
              </a:r>
              <a:endParaRPr lang="en-US" sz="1200" dirty="0">
                <a:latin typeface="Georgia" panose="02040502050405020303" pitchFamily="18" charset="0"/>
              </a:endParaRPr>
            </a:p>
          </p:txBody>
        </p:sp>
        <p:sp>
          <p:nvSpPr>
            <p:cNvPr id="14" name="Text 17">
              <a:extLst>
                <a:ext uri="{FF2B5EF4-FFF2-40B4-BE49-F238E27FC236}">
                  <a16:creationId xmlns:a16="http://schemas.microsoft.com/office/drawing/2014/main" id="{4E864CBD-6D1E-5277-0976-14411414C6F7}"/>
                </a:ext>
              </a:extLst>
            </p:cNvPr>
            <p:cNvSpPr/>
            <p:nvPr/>
          </p:nvSpPr>
          <p:spPr>
            <a:xfrm>
              <a:off x="2781095" y="1680220"/>
              <a:ext cx="1471773" cy="234255"/>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856</a:t>
              </a:r>
              <a:endParaRPr lang="en-US" sz="1200" dirty="0">
                <a:latin typeface="Georgia" panose="02040502050405020303" pitchFamily="18" charset="0"/>
              </a:endParaRPr>
            </a:p>
          </p:txBody>
        </p:sp>
        <p:sp>
          <p:nvSpPr>
            <p:cNvPr id="15" name="Text 18">
              <a:extLst>
                <a:ext uri="{FF2B5EF4-FFF2-40B4-BE49-F238E27FC236}">
                  <a16:creationId xmlns:a16="http://schemas.microsoft.com/office/drawing/2014/main" id="{1C30AEB3-E52E-D049-687A-00780AA570D5}"/>
                </a:ext>
              </a:extLst>
            </p:cNvPr>
            <p:cNvSpPr/>
            <p:nvPr/>
          </p:nvSpPr>
          <p:spPr>
            <a:xfrm>
              <a:off x="4403971" y="1680220"/>
              <a:ext cx="1471773" cy="234255"/>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477</a:t>
              </a:r>
              <a:endParaRPr lang="en-US" sz="1200" dirty="0">
                <a:latin typeface="Georgia" panose="02040502050405020303" pitchFamily="18" charset="0"/>
              </a:endParaRPr>
            </a:p>
          </p:txBody>
        </p:sp>
        <p:sp>
          <p:nvSpPr>
            <p:cNvPr id="16" name="Text 19">
              <a:extLst>
                <a:ext uri="{FF2B5EF4-FFF2-40B4-BE49-F238E27FC236}">
                  <a16:creationId xmlns:a16="http://schemas.microsoft.com/office/drawing/2014/main" id="{B8E03D61-9219-170B-B277-2316CF2829DF}"/>
                </a:ext>
              </a:extLst>
            </p:cNvPr>
            <p:cNvSpPr/>
            <p:nvPr/>
          </p:nvSpPr>
          <p:spPr>
            <a:xfrm>
              <a:off x="6026845" y="1680220"/>
              <a:ext cx="1471773" cy="234255"/>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570</a:t>
              </a:r>
              <a:endParaRPr lang="en-US" sz="1200" dirty="0">
                <a:latin typeface="Georgia" panose="02040502050405020303" pitchFamily="18" charset="0"/>
              </a:endParaRPr>
            </a:p>
          </p:txBody>
        </p:sp>
        <p:sp>
          <p:nvSpPr>
            <p:cNvPr id="17" name="Text 20">
              <a:extLst>
                <a:ext uri="{FF2B5EF4-FFF2-40B4-BE49-F238E27FC236}">
                  <a16:creationId xmlns:a16="http://schemas.microsoft.com/office/drawing/2014/main" id="{DACEA18A-FD6E-BBD1-97C5-0BE6552A0205}"/>
                </a:ext>
              </a:extLst>
            </p:cNvPr>
            <p:cNvSpPr/>
            <p:nvPr/>
          </p:nvSpPr>
          <p:spPr>
            <a:xfrm>
              <a:off x="7649721" y="1680220"/>
              <a:ext cx="1471773" cy="234255"/>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277</a:t>
              </a:r>
              <a:endParaRPr lang="en-US" sz="1200" dirty="0">
                <a:latin typeface="Georgia" panose="02040502050405020303" pitchFamily="18" charset="0"/>
              </a:endParaRPr>
            </a:p>
          </p:txBody>
        </p:sp>
        <p:sp>
          <p:nvSpPr>
            <p:cNvPr id="18" name="Text 21">
              <a:extLst>
                <a:ext uri="{FF2B5EF4-FFF2-40B4-BE49-F238E27FC236}">
                  <a16:creationId xmlns:a16="http://schemas.microsoft.com/office/drawing/2014/main" id="{82FABAB8-5382-8266-730A-C0693D07FFB6}"/>
                </a:ext>
              </a:extLst>
            </p:cNvPr>
            <p:cNvSpPr/>
            <p:nvPr/>
          </p:nvSpPr>
          <p:spPr>
            <a:xfrm>
              <a:off x="9258037" y="1680220"/>
              <a:ext cx="2027684" cy="234255"/>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49%</a:t>
              </a:r>
              <a:endParaRPr lang="en-US" sz="1200" dirty="0">
                <a:latin typeface="Georgia" panose="02040502050405020303" pitchFamily="18" charset="0"/>
              </a:endParaRPr>
            </a:p>
          </p:txBody>
        </p:sp>
        <p:sp>
          <p:nvSpPr>
            <p:cNvPr id="19" name="Shape 22">
              <a:extLst>
                <a:ext uri="{FF2B5EF4-FFF2-40B4-BE49-F238E27FC236}">
                  <a16:creationId xmlns:a16="http://schemas.microsoft.com/office/drawing/2014/main" id="{BEA15E83-DC5E-7F0A-929B-BD6136D48D93}"/>
                </a:ext>
              </a:extLst>
            </p:cNvPr>
            <p:cNvSpPr/>
            <p:nvPr/>
          </p:nvSpPr>
          <p:spPr>
            <a:xfrm>
              <a:off x="566895" y="1965275"/>
              <a:ext cx="10819561" cy="364431"/>
            </a:xfrm>
            <a:prstGeom prst="rect">
              <a:avLst/>
            </a:prstGeom>
            <a:solidFill>
              <a:srgbClr val="EFE8D8"/>
            </a:solidFill>
            <a:ln/>
          </p:spPr>
          <p:txBody>
            <a:bodyPr/>
            <a:lstStyle/>
            <a:p>
              <a:pPr algn="ctr"/>
              <a:endParaRPr lang="en-IN" sz="1200">
                <a:latin typeface="Georgia" panose="02040502050405020303" pitchFamily="18" charset="0"/>
              </a:endParaRPr>
            </a:p>
          </p:txBody>
        </p:sp>
        <p:sp>
          <p:nvSpPr>
            <p:cNvPr id="20" name="Shape 23">
              <a:extLst>
                <a:ext uri="{FF2B5EF4-FFF2-40B4-BE49-F238E27FC236}">
                  <a16:creationId xmlns:a16="http://schemas.microsoft.com/office/drawing/2014/main" id="{82B8E951-5A09-3632-791D-475FCF800D8D}"/>
                </a:ext>
              </a:extLst>
            </p:cNvPr>
            <p:cNvSpPr/>
            <p:nvPr/>
          </p:nvSpPr>
          <p:spPr>
            <a:xfrm>
              <a:off x="566895" y="2323356"/>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21" name="Shape 24">
              <a:extLst>
                <a:ext uri="{FF2B5EF4-FFF2-40B4-BE49-F238E27FC236}">
                  <a16:creationId xmlns:a16="http://schemas.microsoft.com/office/drawing/2014/main" id="{29C0BE94-E850-6CE6-2DDB-4224B76F79F2}"/>
                </a:ext>
              </a:extLst>
            </p:cNvPr>
            <p:cNvSpPr/>
            <p:nvPr/>
          </p:nvSpPr>
          <p:spPr>
            <a:xfrm>
              <a:off x="566895" y="1965275"/>
              <a:ext cx="18888" cy="364431"/>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22" name="Text 25">
              <a:extLst>
                <a:ext uri="{FF2B5EF4-FFF2-40B4-BE49-F238E27FC236}">
                  <a16:creationId xmlns:a16="http://schemas.microsoft.com/office/drawing/2014/main" id="{A3CF388C-E132-0A8F-1B09-0905A2E8E80C}"/>
                </a:ext>
              </a:extLst>
            </p:cNvPr>
            <p:cNvSpPr/>
            <p:nvPr/>
          </p:nvSpPr>
          <p:spPr>
            <a:xfrm>
              <a:off x="718456" y="2041475"/>
              <a:ext cx="2008391"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rPr>
                <a:t>Bangalore (rural)</a:t>
              </a:r>
              <a:endParaRPr lang="en-US" sz="1200" dirty="0">
                <a:latin typeface="Georgia" panose="02040502050405020303" pitchFamily="18" charset="0"/>
              </a:endParaRPr>
            </a:p>
          </p:txBody>
        </p:sp>
        <p:sp>
          <p:nvSpPr>
            <p:cNvPr id="23" name="Text 26">
              <a:extLst>
                <a:ext uri="{FF2B5EF4-FFF2-40B4-BE49-F238E27FC236}">
                  <a16:creationId xmlns:a16="http://schemas.microsoft.com/office/drawing/2014/main" id="{5EA9CD4B-DA10-B9C8-FD83-8815FBEA539E}"/>
                </a:ext>
              </a:extLst>
            </p:cNvPr>
            <p:cNvSpPr/>
            <p:nvPr/>
          </p:nvSpPr>
          <p:spPr>
            <a:xfrm>
              <a:off x="2781095" y="2041475"/>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2,259</a:t>
              </a:r>
              <a:endParaRPr lang="en-US" sz="1200" dirty="0">
                <a:latin typeface="Georgia" panose="02040502050405020303" pitchFamily="18" charset="0"/>
              </a:endParaRPr>
            </a:p>
          </p:txBody>
        </p:sp>
        <p:sp>
          <p:nvSpPr>
            <p:cNvPr id="24" name="Text 27">
              <a:extLst>
                <a:ext uri="{FF2B5EF4-FFF2-40B4-BE49-F238E27FC236}">
                  <a16:creationId xmlns:a16="http://schemas.microsoft.com/office/drawing/2014/main" id="{DC951E80-AE70-35FB-23BE-DF4251394A0F}"/>
                </a:ext>
              </a:extLst>
            </p:cNvPr>
            <p:cNvSpPr/>
            <p:nvPr/>
          </p:nvSpPr>
          <p:spPr>
            <a:xfrm>
              <a:off x="4403971" y="2041475"/>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1,550</a:t>
              </a:r>
              <a:endParaRPr lang="en-US" sz="1200" dirty="0">
                <a:latin typeface="Georgia" panose="02040502050405020303" pitchFamily="18" charset="0"/>
              </a:endParaRPr>
            </a:p>
          </p:txBody>
        </p:sp>
        <p:sp>
          <p:nvSpPr>
            <p:cNvPr id="25" name="Text 28">
              <a:extLst>
                <a:ext uri="{FF2B5EF4-FFF2-40B4-BE49-F238E27FC236}">
                  <a16:creationId xmlns:a16="http://schemas.microsoft.com/office/drawing/2014/main" id="{B52B65C1-E09A-0A88-8529-E9E96C15B0D7}"/>
                </a:ext>
              </a:extLst>
            </p:cNvPr>
            <p:cNvSpPr/>
            <p:nvPr/>
          </p:nvSpPr>
          <p:spPr>
            <a:xfrm>
              <a:off x="6026845" y="2041475"/>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1,275</a:t>
              </a:r>
              <a:endParaRPr lang="en-US" sz="1200" dirty="0">
                <a:latin typeface="Georgia" panose="02040502050405020303" pitchFamily="18" charset="0"/>
              </a:endParaRPr>
            </a:p>
          </p:txBody>
        </p:sp>
        <p:sp>
          <p:nvSpPr>
            <p:cNvPr id="26" name="Text 29">
              <a:extLst>
                <a:ext uri="{FF2B5EF4-FFF2-40B4-BE49-F238E27FC236}">
                  <a16:creationId xmlns:a16="http://schemas.microsoft.com/office/drawing/2014/main" id="{ADDFE156-B657-549A-A7FE-DC4E776971D2}"/>
                </a:ext>
              </a:extLst>
            </p:cNvPr>
            <p:cNvSpPr/>
            <p:nvPr/>
          </p:nvSpPr>
          <p:spPr>
            <a:xfrm>
              <a:off x="7649721" y="2041475"/>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928</a:t>
              </a:r>
              <a:endParaRPr lang="en-US" sz="1200" dirty="0">
                <a:latin typeface="Georgia" panose="02040502050405020303" pitchFamily="18" charset="0"/>
              </a:endParaRPr>
            </a:p>
          </p:txBody>
        </p:sp>
        <p:sp>
          <p:nvSpPr>
            <p:cNvPr id="27" name="Text 30">
              <a:extLst>
                <a:ext uri="{FF2B5EF4-FFF2-40B4-BE49-F238E27FC236}">
                  <a16:creationId xmlns:a16="http://schemas.microsoft.com/office/drawing/2014/main" id="{04F32E70-667D-48FB-A4CB-03E4FA8F27D0}"/>
                </a:ext>
              </a:extLst>
            </p:cNvPr>
            <p:cNvSpPr/>
            <p:nvPr/>
          </p:nvSpPr>
          <p:spPr>
            <a:xfrm>
              <a:off x="9258037" y="2041475"/>
              <a:ext cx="202768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73%</a:t>
              </a:r>
              <a:endParaRPr lang="en-US" sz="1200" dirty="0">
                <a:latin typeface="Georgia" panose="02040502050405020303" pitchFamily="18" charset="0"/>
              </a:endParaRPr>
            </a:p>
          </p:txBody>
        </p:sp>
        <p:sp>
          <p:nvSpPr>
            <p:cNvPr id="28" name="Shape 31">
              <a:extLst>
                <a:ext uri="{FF2B5EF4-FFF2-40B4-BE49-F238E27FC236}">
                  <a16:creationId xmlns:a16="http://schemas.microsoft.com/office/drawing/2014/main" id="{E8C820B5-D0E1-AAB3-CE80-F31EB8475A02}"/>
                </a:ext>
              </a:extLst>
            </p:cNvPr>
            <p:cNvSpPr/>
            <p:nvPr/>
          </p:nvSpPr>
          <p:spPr>
            <a:xfrm>
              <a:off x="566895" y="2687787"/>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29" name="Shape 32">
              <a:extLst>
                <a:ext uri="{FF2B5EF4-FFF2-40B4-BE49-F238E27FC236}">
                  <a16:creationId xmlns:a16="http://schemas.microsoft.com/office/drawing/2014/main" id="{A18C0844-2CBA-0497-A437-F498F6933F79}"/>
                </a:ext>
              </a:extLst>
            </p:cNvPr>
            <p:cNvSpPr/>
            <p:nvPr/>
          </p:nvSpPr>
          <p:spPr>
            <a:xfrm>
              <a:off x="566895" y="2329706"/>
              <a:ext cx="18888" cy="364431"/>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30" name="Text 33">
              <a:extLst>
                <a:ext uri="{FF2B5EF4-FFF2-40B4-BE49-F238E27FC236}">
                  <a16:creationId xmlns:a16="http://schemas.microsoft.com/office/drawing/2014/main" id="{1183870C-865D-1E74-EF4E-A8E6BFE30626}"/>
                </a:ext>
              </a:extLst>
            </p:cNvPr>
            <p:cNvSpPr/>
            <p:nvPr/>
          </p:nvSpPr>
          <p:spPr>
            <a:xfrm>
              <a:off x="718456" y="2405906"/>
              <a:ext cx="2008391" cy="237431"/>
            </a:xfrm>
            <a:prstGeom prst="rect">
              <a:avLst/>
            </a:prstGeom>
            <a:noFill/>
            <a:ln/>
          </p:spPr>
          <p:txBody>
            <a:bodyPr wrap="square" lIns="16933" tIns="16933" rIns="16933" bIns="16933" rtlCol="0" anchor="ctr">
              <a:noAutofit/>
            </a:bodyPr>
            <a:lstStyle/>
            <a:p>
              <a:pPr>
                <a:lnSpc>
                  <a:spcPct val="135000"/>
                </a:lnSpc>
              </a:pPr>
              <a:r>
                <a:rPr lang="en-US" sz="1200" b="1" dirty="0" err="1">
                  <a:solidFill>
                    <a:srgbClr val="0B6E78"/>
                  </a:solidFill>
                  <a:latin typeface="Georgia" panose="02040502050405020303" pitchFamily="18" charset="0"/>
                </a:rPr>
                <a:t>Chikkamagaluru</a:t>
              </a:r>
              <a:endParaRPr lang="en-US" sz="1200" dirty="0">
                <a:latin typeface="Georgia" panose="02040502050405020303" pitchFamily="18" charset="0"/>
              </a:endParaRPr>
            </a:p>
          </p:txBody>
        </p:sp>
        <p:sp>
          <p:nvSpPr>
            <p:cNvPr id="31" name="Text 34">
              <a:extLst>
                <a:ext uri="{FF2B5EF4-FFF2-40B4-BE49-F238E27FC236}">
                  <a16:creationId xmlns:a16="http://schemas.microsoft.com/office/drawing/2014/main" id="{77790131-550D-5068-21A8-834CC9251AAF}"/>
                </a:ext>
              </a:extLst>
            </p:cNvPr>
            <p:cNvSpPr/>
            <p:nvPr/>
          </p:nvSpPr>
          <p:spPr>
            <a:xfrm>
              <a:off x="2781095" y="240590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869</a:t>
              </a:r>
              <a:endParaRPr lang="en-US" sz="1200" dirty="0">
                <a:latin typeface="Georgia" panose="02040502050405020303" pitchFamily="18" charset="0"/>
              </a:endParaRPr>
            </a:p>
          </p:txBody>
        </p:sp>
        <p:sp>
          <p:nvSpPr>
            <p:cNvPr id="32" name="Text 35">
              <a:extLst>
                <a:ext uri="{FF2B5EF4-FFF2-40B4-BE49-F238E27FC236}">
                  <a16:creationId xmlns:a16="http://schemas.microsoft.com/office/drawing/2014/main" id="{6BB5DF0B-73F4-AF54-8CAA-1C053EF6EA36}"/>
                </a:ext>
              </a:extLst>
            </p:cNvPr>
            <p:cNvSpPr/>
            <p:nvPr/>
          </p:nvSpPr>
          <p:spPr>
            <a:xfrm>
              <a:off x="4403971" y="240590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369</a:t>
              </a:r>
              <a:endParaRPr lang="en-US" sz="1200" dirty="0">
                <a:latin typeface="Georgia" panose="02040502050405020303" pitchFamily="18" charset="0"/>
              </a:endParaRPr>
            </a:p>
          </p:txBody>
        </p:sp>
        <p:sp>
          <p:nvSpPr>
            <p:cNvPr id="33" name="Text 36">
              <a:extLst>
                <a:ext uri="{FF2B5EF4-FFF2-40B4-BE49-F238E27FC236}">
                  <a16:creationId xmlns:a16="http://schemas.microsoft.com/office/drawing/2014/main" id="{48DCE29D-ADC7-9E07-7894-60CC8F27A098}"/>
                </a:ext>
              </a:extLst>
            </p:cNvPr>
            <p:cNvSpPr/>
            <p:nvPr/>
          </p:nvSpPr>
          <p:spPr>
            <a:xfrm>
              <a:off x="6026845" y="240590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621</a:t>
              </a:r>
              <a:endParaRPr lang="en-US" sz="1200" dirty="0">
                <a:latin typeface="Georgia" panose="02040502050405020303" pitchFamily="18" charset="0"/>
              </a:endParaRPr>
            </a:p>
          </p:txBody>
        </p:sp>
        <p:sp>
          <p:nvSpPr>
            <p:cNvPr id="34" name="Text 37">
              <a:extLst>
                <a:ext uri="{FF2B5EF4-FFF2-40B4-BE49-F238E27FC236}">
                  <a16:creationId xmlns:a16="http://schemas.microsoft.com/office/drawing/2014/main" id="{EB11B452-731B-DF9D-5D00-4EF28380644A}"/>
                </a:ext>
              </a:extLst>
            </p:cNvPr>
            <p:cNvSpPr/>
            <p:nvPr/>
          </p:nvSpPr>
          <p:spPr>
            <a:xfrm>
              <a:off x="7649721" y="240590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289</a:t>
              </a:r>
              <a:endParaRPr lang="en-US" sz="1200" dirty="0">
                <a:latin typeface="Georgia" panose="02040502050405020303" pitchFamily="18" charset="0"/>
              </a:endParaRPr>
            </a:p>
          </p:txBody>
        </p:sp>
        <p:sp>
          <p:nvSpPr>
            <p:cNvPr id="35" name="Text 38">
              <a:extLst>
                <a:ext uri="{FF2B5EF4-FFF2-40B4-BE49-F238E27FC236}">
                  <a16:creationId xmlns:a16="http://schemas.microsoft.com/office/drawing/2014/main" id="{9F8C50DA-4C30-D641-BD7F-81B1BD229623}"/>
                </a:ext>
              </a:extLst>
            </p:cNvPr>
            <p:cNvSpPr/>
            <p:nvPr/>
          </p:nvSpPr>
          <p:spPr>
            <a:xfrm>
              <a:off x="9258037" y="2405906"/>
              <a:ext cx="202768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47%</a:t>
              </a:r>
              <a:endParaRPr lang="en-US" sz="1200" dirty="0">
                <a:latin typeface="Georgia" panose="02040502050405020303" pitchFamily="18" charset="0"/>
              </a:endParaRPr>
            </a:p>
          </p:txBody>
        </p:sp>
        <p:sp>
          <p:nvSpPr>
            <p:cNvPr id="36" name="Shape 39">
              <a:extLst>
                <a:ext uri="{FF2B5EF4-FFF2-40B4-BE49-F238E27FC236}">
                  <a16:creationId xmlns:a16="http://schemas.microsoft.com/office/drawing/2014/main" id="{5FECD369-0C3A-3926-27EB-CF2A6BA69342}"/>
                </a:ext>
              </a:extLst>
            </p:cNvPr>
            <p:cNvSpPr/>
            <p:nvPr/>
          </p:nvSpPr>
          <p:spPr>
            <a:xfrm>
              <a:off x="566895" y="2694136"/>
              <a:ext cx="10819561" cy="364431"/>
            </a:xfrm>
            <a:prstGeom prst="rect">
              <a:avLst/>
            </a:prstGeom>
            <a:solidFill>
              <a:srgbClr val="EFE8D8"/>
            </a:solidFill>
            <a:ln/>
          </p:spPr>
          <p:txBody>
            <a:bodyPr/>
            <a:lstStyle/>
            <a:p>
              <a:pPr algn="ctr"/>
              <a:endParaRPr lang="en-IN" sz="1200">
                <a:latin typeface="Georgia" panose="02040502050405020303" pitchFamily="18" charset="0"/>
              </a:endParaRPr>
            </a:p>
          </p:txBody>
        </p:sp>
        <p:sp>
          <p:nvSpPr>
            <p:cNvPr id="37" name="Shape 40">
              <a:extLst>
                <a:ext uri="{FF2B5EF4-FFF2-40B4-BE49-F238E27FC236}">
                  <a16:creationId xmlns:a16="http://schemas.microsoft.com/office/drawing/2014/main" id="{CB87BFE7-75B2-36D8-CD49-C6A63D6E1C08}"/>
                </a:ext>
              </a:extLst>
            </p:cNvPr>
            <p:cNvSpPr/>
            <p:nvPr/>
          </p:nvSpPr>
          <p:spPr>
            <a:xfrm>
              <a:off x="566895" y="3052217"/>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38" name="Shape 41">
              <a:extLst>
                <a:ext uri="{FF2B5EF4-FFF2-40B4-BE49-F238E27FC236}">
                  <a16:creationId xmlns:a16="http://schemas.microsoft.com/office/drawing/2014/main" id="{3F58CAD0-54A1-A317-2103-7C1D84C762E7}"/>
                </a:ext>
              </a:extLst>
            </p:cNvPr>
            <p:cNvSpPr/>
            <p:nvPr/>
          </p:nvSpPr>
          <p:spPr>
            <a:xfrm>
              <a:off x="566895" y="2694136"/>
              <a:ext cx="18888" cy="364431"/>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39" name="Text 42">
              <a:extLst>
                <a:ext uri="{FF2B5EF4-FFF2-40B4-BE49-F238E27FC236}">
                  <a16:creationId xmlns:a16="http://schemas.microsoft.com/office/drawing/2014/main" id="{45A76A6A-6388-9BC6-AD3E-7C6AB039C86C}"/>
                </a:ext>
              </a:extLst>
            </p:cNvPr>
            <p:cNvSpPr/>
            <p:nvPr/>
          </p:nvSpPr>
          <p:spPr>
            <a:xfrm>
              <a:off x="718456" y="2770336"/>
              <a:ext cx="2008391"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rPr>
                <a:t>Haveri</a:t>
              </a:r>
              <a:endParaRPr lang="en-US" sz="1200" dirty="0">
                <a:latin typeface="Georgia" panose="02040502050405020303" pitchFamily="18" charset="0"/>
              </a:endParaRPr>
            </a:p>
          </p:txBody>
        </p:sp>
        <p:sp>
          <p:nvSpPr>
            <p:cNvPr id="40" name="Text 43">
              <a:extLst>
                <a:ext uri="{FF2B5EF4-FFF2-40B4-BE49-F238E27FC236}">
                  <a16:creationId xmlns:a16="http://schemas.microsoft.com/office/drawing/2014/main" id="{C2016B05-BC92-6289-7EA9-77D581F42D05}"/>
                </a:ext>
              </a:extLst>
            </p:cNvPr>
            <p:cNvSpPr/>
            <p:nvPr/>
          </p:nvSpPr>
          <p:spPr>
            <a:xfrm>
              <a:off x="2781095" y="277033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1,167</a:t>
              </a:r>
              <a:endParaRPr lang="en-US" sz="1200" dirty="0">
                <a:latin typeface="Georgia" panose="02040502050405020303" pitchFamily="18" charset="0"/>
              </a:endParaRPr>
            </a:p>
          </p:txBody>
        </p:sp>
        <p:sp>
          <p:nvSpPr>
            <p:cNvPr id="41" name="Text 44">
              <a:extLst>
                <a:ext uri="{FF2B5EF4-FFF2-40B4-BE49-F238E27FC236}">
                  <a16:creationId xmlns:a16="http://schemas.microsoft.com/office/drawing/2014/main" id="{34EF01FA-7721-C046-0755-FC39D294B09B}"/>
                </a:ext>
              </a:extLst>
            </p:cNvPr>
            <p:cNvSpPr/>
            <p:nvPr/>
          </p:nvSpPr>
          <p:spPr>
            <a:xfrm>
              <a:off x="4403971" y="277033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645</a:t>
              </a:r>
              <a:endParaRPr lang="en-US" sz="1200" dirty="0">
                <a:latin typeface="Georgia" panose="02040502050405020303" pitchFamily="18" charset="0"/>
              </a:endParaRPr>
            </a:p>
          </p:txBody>
        </p:sp>
        <p:sp>
          <p:nvSpPr>
            <p:cNvPr id="42" name="Text 45">
              <a:extLst>
                <a:ext uri="{FF2B5EF4-FFF2-40B4-BE49-F238E27FC236}">
                  <a16:creationId xmlns:a16="http://schemas.microsoft.com/office/drawing/2014/main" id="{472A6A3D-0EC9-BA42-C065-F09522575289}"/>
                </a:ext>
              </a:extLst>
            </p:cNvPr>
            <p:cNvSpPr/>
            <p:nvPr/>
          </p:nvSpPr>
          <p:spPr>
            <a:xfrm>
              <a:off x="6026845" y="277033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627</a:t>
              </a:r>
              <a:endParaRPr lang="en-US" sz="1200" dirty="0">
                <a:latin typeface="Georgia" panose="02040502050405020303" pitchFamily="18" charset="0"/>
              </a:endParaRPr>
            </a:p>
          </p:txBody>
        </p:sp>
        <p:sp>
          <p:nvSpPr>
            <p:cNvPr id="43" name="Text 46">
              <a:extLst>
                <a:ext uri="{FF2B5EF4-FFF2-40B4-BE49-F238E27FC236}">
                  <a16:creationId xmlns:a16="http://schemas.microsoft.com/office/drawing/2014/main" id="{DC74D387-E29F-08A0-868E-C47E59C881C9}"/>
                </a:ext>
              </a:extLst>
            </p:cNvPr>
            <p:cNvSpPr/>
            <p:nvPr/>
          </p:nvSpPr>
          <p:spPr>
            <a:xfrm>
              <a:off x="7649721" y="277033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330</a:t>
              </a:r>
              <a:endParaRPr lang="en-US" sz="1200" dirty="0">
                <a:latin typeface="Georgia" panose="02040502050405020303" pitchFamily="18" charset="0"/>
              </a:endParaRPr>
            </a:p>
          </p:txBody>
        </p:sp>
        <p:sp>
          <p:nvSpPr>
            <p:cNvPr id="44" name="Text 47">
              <a:extLst>
                <a:ext uri="{FF2B5EF4-FFF2-40B4-BE49-F238E27FC236}">
                  <a16:creationId xmlns:a16="http://schemas.microsoft.com/office/drawing/2014/main" id="{0A353CE1-FC1C-6E75-4F67-2B3586E88BCA}"/>
                </a:ext>
              </a:extLst>
            </p:cNvPr>
            <p:cNvSpPr/>
            <p:nvPr/>
          </p:nvSpPr>
          <p:spPr>
            <a:xfrm>
              <a:off x="9258037" y="2770336"/>
              <a:ext cx="202768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53%</a:t>
              </a:r>
              <a:endParaRPr lang="en-US" sz="1200" dirty="0">
                <a:latin typeface="Georgia" panose="02040502050405020303" pitchFamily="18" charset="0"/>
              </a:endParaRPr>
            </a:p>
          </p:txBody>
        </p:sp>
        <p:sp>
          <p:nvSpPr>
            <p:cNvPr id="45" name="Shape 48">
              <a:extLst>
                <a:ext uri="{FF2B5EF4-FFF2-40B4-BE49-F238E27FC236}">
                  <a16:creationId xmlns:a16="http://schemas.microsoft.com/office/drawing/2014/main" id="{D1D565DC-2D1E-F2FE-6DA3-7432B6A02559}"/>
                </a:ext>
              </a:extLst>
            </p:cNvPr>
            <p:cNvSpPr/>
            <p:nvPr/>
          </p:nvSpPr>
          <p:spPr>
            <a:xfrm>
              <a:off x="566895" y="3416647"/>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46" name="Shape 49">
              <a:extLst>
                <a:ext uri="{FF2B5EF4-FFF2-40B4-BE49-F238E27FC236}">
                  <a16:creationId xmlns:a16="http://schemas.microsoft.com/office/drawing/2014/main" id="{4B5DD1E5-0478-A2C9-2B51-3FA890E792A5}"/>
                </a:ext>
              </a:extLst>
            </p:cNvPr>
            <p:cNvSpPr/>
            <p:nvPr/>
          </p:nvSpPr>
          <p:spPr>
            <a:xfrm>
              <a:off x="566895" y="3058566"/>
              <a:ext cx="18888" cy="364431"/>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47" name="Text 50">
              <a:extLst>
                <a:ext uri="{FF2B5EF4-FFF2-40B4-BE49-F238E27FC236}">
                  <a16:creationId xmlns:a16="http://schemas.microsoft.com/office/drawing/2014/main" id="{45DAA52D-1F54-21B8-703B-A3D0DD0E0516}"/>
                </a:ext>
              </a:extLst>
            </p:cNvPr>
            <p:cNvSpPr/>
            <p:nvPr/>
          </p:nvSpPr>
          <p:spPr>
            <a:xfrm>
              <a:off x="718456" y="3134766"/>
              <a:ext cx="2008391"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rPr>
                <a:t>Kodagu</a:t>
              </a:r>
              <a:endParaRPr lang="en-US" sz="1200" dirty="0">
                <a:latin typeface="Georgia" panose="02040502050405020303" pitchFamily="18" charset="0"/>
              </a:endParaRPr>
            </a:p>
          </p:txBody>
        </p:sp>
        <p:sp>
          <p:nvSpPr>
            <p:cNvPr id="48" name="Text 51">
              <a:extLst>
                <a:ext uri="{FF2B5EF4-FFF2-40B4-BE49-F238E27FC236}">
                  <a16:creationId xmlns:a16="http://schemas.microsoft.com/office/drawing/2014/main" id="{2FF207E3-60B5-A2F3-1BE4-B30E759EB1B2}"/>
                </a:ext>
              </a:extLst>
            </p:cNvPr>
            <p:cNvSpPr/>
            <p:nvPr/>
          </p:nvSpPr>
          <p:spPr>
            <a:xfrm>
              <a:off x="2781095" y="313476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404</a:t>
              </a:r>
              <a:endParaRPr lang="en-US" sz="1200" dirty="0">
                <a:latin typeface="Georgia" panose="02040502050405020303" pitchFamily="18" charset="0"/>
              </a:endParaRPr>
            </a:p>
          </p:txBody>
        </p:sp>
        <p:sp>
          <p:nvSpPr>
            <p:cNvPr id="49" name="Text 52">
              <a:extLst>
                <a:ext uri="{FF2B5EF4-FFF2-40B4-BE49-F238E27FC236}">
                  <a16:creationId xmlns:a16="http://schemas.microsoft.com/office/drawing/2014/main" id="{C66C3D43-F503-4986-275C-97C04BBAB616}"/>
                </a:ext>
              </a:extLst>
            </p:cNvPr>
            <p:cNvSpPr/>
            <p:nvPr/>
          </p:nvSpPr>
          <p:spPr>
            <a:xfrm>
              <a:off x="4403971" y="313476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281</a:t>
              </a:r>
              <a:endParaRPr lang="en-US" sz="1200" dirty="0">
                <a:latin typeface="Georgia" panose="02040502050405020303" pitchFamily="18" charset="0"/>
              </a:endParaRPr>
            </a:p>
          </p:txBody>
        </p:sp>
        <p:sp>
          <p:nvSpPr>
            <p:cNvPr id="50" name="Text 53">
              <a:extLst>
                <a:ext uri="{FF2B5EF4-FFF2-40B4-BE49-F238E27FC236}">
                  <a16:creationId xmlns:a16="http://schemas.microsoft.com/office/drawing/2014/main" id="{D52BD215-A9E7-74A0-E7C1-01ACCF482C80}"/>
                </a:ext>
              </a:extLst>
            </p:cNvPr>
            <p:cNvSpPr/>
            <p:nvPr/>
          </p:nvSpPr>
          <p:spPr>
            <a:xfrm>
              <a:off x="6026845" y="313476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275</a:t>
              </a:r>
              <a:endParaRPr lang="en-US" sz="1200" dirty="0">
                <a:latin typeface="Georgia" panose="02040502050405020303" pitchFamily="18" charset="0"/>
              </a:endParaRPr>
            </a:p>
          </p:txBody>
        </p:sp>
        <p:sp>
          <p:nvSpPr>
            <p:cNvPr id="51" name="Text 54">
              <a:extLst>
                <a:ext uri="{FF2B5EF4-FFF2-40B4-BE49-F238E27FC236}">
                  <a16:creationId xmlns:a16="http://schemas.microsoft.com/office/drawing/2014/main" id="{2306247E-9491-FA85-5B50-98B0E13CF252}"/>
                </a:ext>
              </a:extLst>
            </p:cNvPr>
            <p:cNvSpPr/>
            <p:nvPr/>
          </p:nvSpPr>
          <p:spPr>
            <a:xfrm>
              <a:off x="7649721" y="3134766"/>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190</a:t>
              </a:r>
              <a:endParaRPr lang="en-US" sz="1200" dirty="0">
                <a:latin typeface="Georgia" panose="02040502050405020303" pitchFamily="18" charset="0"/>
              </a:endParaRPr>
            </a:p>
          </p:txBody>
        </p:sp>
        <p:sp>
          <p:nvSpPr>
            <p:cNvPr id="52" name="Text 55">
              <a:extLst>
                <a:ext uri="{FF2B5EF4-FFF2-40B4-BE49-F238E27FC236}">
                  <a16:creationId xmlns:a16="http://schemas.microsoft.com/office/drawing/2014/main" id="{BFD43793-EB5E-BA1B-E928-53A86CDE679A}"/>
                </a:ext>
              </a:extLst>
            </p:cNvPr>
            <p:cNvSpPr/>
            <p:nvPr/>
          </p:nvSpPr>
          <p:spPr>
            <a:xfrm>
              <a:off x="9258037" y="3134766"/>
              <a:ext cx="202768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69%</a:t>
              </a:r>
              <a:endParaRPr lang="en-US" sz="1200" dirty="0">
                <a:latin typeface="Georgia" panose="02040502050405020303" pitchFamily="18" charset="0"/>
              </a:endParaRPr>
            </a:p>
          </p:txBody>
        </p:sp>
        <p:sp>
          <p:nvSpPr>
            <p:cNvPr id="53" name="Shape 56">
              <a:extLst>
                <a:ext uri="{FF2B5EF4-FFF2-40B4-BE49-F238E27FC236}">
                  <a16:creationId xmlns:a16="http://schemas.microsoft.com/office/drawing/2014/main" id="{CBF58CC8-020F-6F23-C7AD-83E3451AF704}"/>
                </a:ext>
              </a:extLst>
            </p:cNvPr>
            <p:cNvSpPr/>
            <p:nvPr/>
          </p:nvSpPr>
          <p:spPr>
            <a:xfrm>
              <a:off x="566895" y="3422997"/>
              <a:ext cx="10819561" cy="364431"/>
            </a:xfrm>
            <a:prstGeom prst="rect">
              <a:avLst/>
            </a:prstGeom>
            <a:solidFill>
              <a:srgbClr val="EFE8D8"/>
            </a:solidFill>
            <a:ln/>
          </p:spPr>
          <p:txBody>
            <a:bodyPr/>
            <a:lstStyle/>
            <a:p>
              <a:pPr algn="ctr"/>
              <a:endParaRPr lang="en-IN" sz="1200">
                <a:latin typeface="Georgia" panose="02040502050405020303" pitchFamily="18" charset="0"/>
              </a:endParaRPr>
            </a:p>
          </p:txBody>
        </p:sp>
        <p:sp>
          <p:nvSpPr>
            <p:cNvPr id="54" name="Shape 57">
              <a:extLst>
                <a:ext uri="{FF2B5EF4-FFF2-40B4-BE49-F238E27FC236}">
                  <a16:creationId xmlns:a16="http://schemas.microsoft.com/office/drawing/2014/main" id="{5A337C01-BB77-4850-569D-C3C204A22E54}"/>
                </a:ext>
              </a:extLst>
            </p:cNvPr>
            <p:cNvSpPr/>
            <p:nvPr/>
          </p:nvSpPr>
          <p:spPr>
            <a:xfrm>
              <a:off x="566895" y="3781078"/>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sp>
          <p:nvSpPr>
            <p:cNvPr id="55" name="Shape 58">
              <a:extLst>
                <a:ext uri="{FF2B5EF4-FFF2-40B4-BE49-F238E27FC236}">
                  <a16:creationId xmlns:a16="http://schemas.microsoft.com/office/drawing/2014/main" id="{A113B965-D775-75C7-99AF-0FC441B562AF}"/>
                </a:ext>
              </a:extLst>
            </p:cNvPr>
            <p:cNvSpPr/>
            <p:nvPr/>
          </p:nvSpPr>
          <p:spPr>
            <a:xfrm>
              <a:off x="566895" y="3422997"/>
              <a:ext cx="18888" cy="364431"/>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56" name="Text 59">
              <a:extLst>
                <a:ext uri="{FF2B5EF4-FFF2-40B4-BE49-F238E27FC236}">
                  <a16:creationId xmlns:a16="http://schemas.microsoft.com/office/drawing/2014/main" id="{5972B93F-E94D-467E-863A-3B610D101529}"/>
                </a:ext>
              </a:extLst>
            </p:cNvPr>
            <p:cNvSpPr/>
            <p:nvPr/>
          </p:nvSpPr>
          <p:spPr>
            <a:xfrm>
              <a:off x="718456" y="3499197"/>
              <a:ext cx="2008391"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rPr>
                <a:t>Udupi</a:t>
              </a:r>
              <a:endParaRPr lang="en-US" sz="1200" dirty="0">
                <a:latin typeface="Georgia" panose="02040502050405020303" pitchFamily="18" charset="0"/>
              </a:endParaRPr>
            </a:p>
          </p:txBody>
        </p:sp>
        <p:sp>
          <p:nvSpPr>
            <p:cNvPr id="57" name="Text 60">
              <a:extLst>
                <a:ext uri="{FF2B5EF4-FFF2-40B4-BE49-F238E27FC236}">
                  <a16:creationId xmlns:a16="http://schemas.microsoft.com/office/drawing/2014/main" id="{12EEC155-DC9A-EAB4-15A5-013D12BEF038}"/>
                </a:ext>
              </a:extLst>
            </p:cNvPr>
            <p:cNvSpPr/>
            <p:nvPr/>
          </p:nvSpPr>
          <p:spPr>
            <a:xfrm>
              <a:off x="2781095" y="3499197"/>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468</a:t>
              </a:r>
              <a:endParaRPr lang="en-US" sz="1200" dirty="0">
                <a:latin typeface="Georgia" panose="02040502050405020303" pitchFamily="18" charset="0"/>
              </a:endParaRPr>
            </a:p>
          </p:txBody>
        </p:sp>
        <p:sp>
          <p:nvSpPr>
            <p:cNvPr id="58" name="Text 61">
              <a:extLst>
                <a:ext uri="{FF2B5EF4-FFF2-40B4-BE49-F238E27FC236}">
                  <a16:creationId xmlns:a16="http://schemas.microsoft.com/office/drawing/2014/main" id="{6FC39AD6-800C-26F5-CFE5-8E8688F9F0A5}"/>
                </a:ext>
              </a:extLst>
            </p:cNvPr>
            <p:cNvSpPr/>
            <p:nvPr/>
          </p:nvSpPr>
          <p:spPr>
            <a:xfrm>
              <a:off x="4403971" y="3499197"/>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164</a:t>
              </a:r>
              <a:endParaRPr lang="en-US" sz="1200" dirty="0">
                <a:latin typeface="Georgia" panose="02040502050405020303" pitchFamily="18" charset="0"/>
              </a:endParaRPr>
            </a:p>
          </p:txBody>
        </p:sp>
        <p:sp>
          <p:nvSpPr>
            <p:cNvPr id="59" name="Text 62">
              <a:extLst>
                <a:ext uri="{FF2B5EF4-FFF2-40B4-BE49-F238E27FC236}">
                  <a16:creationId xmlns:a16="http://schemas.microsoft.com/office/drawing/2014/main" id="{1971F72D-832B-F174-0741-4A26EC90BF58}"/>
                </a:ext>
              </a:extLst>
            </p:cNvPr>
            <p:cNvSpPr/>
            <p:nvPr/>
          </p:nvSpPr>
          <p:spPr>
            <a:xfrm>
              <a:off x="6026845" y="3499197"/>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333</a:t>
              </a:r>
              <a:endParaRPr lang="en-US" sz="1200" dirty="0">
                <a:latin typeface="Georgia" panose="02040502050405020303" pitchFamily="18" charset="0"/>
              </a:endParaRPr>
            </a:p>
          </p:txBody>
        </p:sp>
        <p:sp>
          <p:nvSpPr>
            <p:cNvPr id="60" name="Text 63">
              <a:extLst>
                <a:ext uri="{FF2B5EF4-FFF2-40B4-BE49-F238E27FC236}">
                  <a16:creationId xmlns:a16="http://schemas.microsoft.com/office/drawing/2014/main" id="{1F0F063C-74BA-5814-F9CF-2AD4EFCD8F4E}"/>
                </a:ext>
              </a:extLst>
            </p:cNvPr>
            <p:cNvSpPr/>
            <p:nvPr/>
          </p:nvSpPr>
          <p:spPr>
            <a:xfrm>
              <a:off x="7649721" y="3499197"/>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115</a:t>
              </a:r>
              <a:endParaRPr lang="en-US" sz="1200" dirty="0">
                <a:latin typeface="Georgia" panose="02040502050405020303" pitchFamily="18" charset="0"/>
              </a:endParaRPr>
            </a:p>
          </p:txBody>
        </p:sp>
        <p:sp>
          <p:nvSpPr>
            <p:cNvPr id="61" name="Text 64">
              <a:extLst>
                <a:ext uri="{FF2B5EF4-FFF2-40B4-BE49-F238E27FC236}">
                  <a16:creationId xmlns:a16="http://schemas.microsoft.com/office/drawing/2014/main" id="{87351320-9B86-1104-4B97-0B4912B0B527}"/>
                </a:ext>
              </a:extLst>
            </p:cNvPr>
            <p:cNvSpPr/>
            <p:nvPr/>
          </p:nvSpPr>
          <p:spPr>
            <a:xfrm>
              <a:off x="9258037" y="3499197"/>
              <a:ext cx="202768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35%</a:t>
              </a:r>
              <a:endParaRPr lang="en-US" sz="1200" dirty="0">
                <a:latin typeface="Georgia" panose="02040502050405020303" pitchFamily="18" charset="0"/>
              </a:endParaRPr>
            </a:p>
          </p:txBody>
        </p:sp>
        <p:sp>
          <p:nvSpPr>
            <p:cNvPr id="63" name="Shape 66">
              <a:extLst>
                <a:ext uri="{FF2B5EF4-FFF2-40B4-BE49-F238E27FC236}">
                  <a16:creationId xmlns:a16="http://schemas.microsoft.com/office/drawing/2014/main" id="{A36030F9-4A00-9BC2-CFA3-4E191DA291D0}"/>
                </a:ext>
              </a:extLst>
            </p:cNvPr>
            <p:cNvSpPr/>
            <p:nvPr/>
          </p:nvSpPr>
          <p:spPr>
            <a:xfrm>
              <a:off x="566895" y="3787428"/>
              <a:ext cx="18888" cy="364431"/>
            </a:xfrm>
            <a:prstGeom prst="rect">
              <a:avLst/>
            </a:prstGeom>
            <a:solidFill>
              <a:srgbClr val="0E8B96"/>
            </a:solidFill>
            <a:ln/>
          </p:spPr>
          <p:txBody>
            <a:bodyPr/>
            <a:lstStyle/>
            <a:p>
              <a:pPr algn="ctr"/>
              <a:endParaRPr lang="en-IN" sz="1200">
                <a:latin typeface="Georgia" panose="02040502050405020303" pitchFamily="18" charset="0"/>
              </a:endParaRPr>
            </a:p>
          </p:txBody>
        </p:sp>
        <p:sp>
          <p:nvSpPr>
            <p:cNvPr id="64" name="Text 67">
              <a:extLst>
                <a:ext uri="{FF2B5EF4-FFF2-40B4-BE49-F238E27FC236}">
                  <a16:creationId xmlns:a16="http://schemas.microsoft.com/office/drawing/2014/main" id="{000662EF-1F6A-6590-53D2-70BFFBD9AEEC}"/>
                </a:ext>
              </a:extLst>
            </p:cNvPr>
            <p:cNvSpPr/>
            <p:nvPr/>
          </p:nvSpPr>
          <p:spPr>
            <a:xfrm>
              <a:off x="718456" y="3863628"/>
              <a:ext cx="2008391"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rPr>
                <a:t>Uttara Kannada </a:t>
              </a:r>
              <a:endParaRPr lang="en-US" sz="1200" dirty="0">
                <a:latin typeface="Georgia" panose="02040502050405020303" pitchFamily="18" charset="0"/>
              </a:endParaRPr>
            </a:p>
          </p:txBody>
        </p:sp>
        <p:sp>
          <p:nvSpPr>
            <p:cNvPr id="65" name="Text 68">
              <a:extLst>
                <a:ext uri="{FF2B5EF4-FFF2-40B4-BE49-F238E27FC236}">
                  <a16:creationId xmlns:a16="http://schemas.microsoft.com/office/drawing/2014/main" id="{5E9631E7-42A7-8F7A-9111-4772C9900721}"/>
                </a:ext>
              </a:extLst>
            </p:cNvPr>
            <p:cNvSpPr/>
            <p:nvPr/>
          </p:nvSpPr>
          <p:spPr>
            <a:xfrm>
              <a:off x="2781095" y="3863628"/>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1,152</a:t>
              </a:r>
              <a:endParaRPr lang="en-US" sz="1200" dirty="0">
                <a:latin typeface="Georgia" panose="02040502050405020303" pitchFamily="18" charset="0"/>
              </a:endParaRPr>
            </a:p>
          </p:txBody>
        </p:sp>
        <p:sp>
          <p:nvSpPr>
            <p:cNvPr id="66" name="Text 69">
              <a:extLst>
                <a:ext uri="{FF2B5EF4-FFF2-40B4-BE49-F238E27FC236}">
                  <a16:creationId xmlns:a16="http://schemas.microsoft.com/office/drawing/2014/main" id="{4799B4D1-D8EA-891C-3975-9EB48CB73741}"/>
                </a:ext>
              </a:extLst>
            </p:cNvPr>
            <p:cNvSpPr/>
            <p:nvPr/>
          </p:nvSpPr>
          <p:spPr>
            <a:xfrm>
              <a:off x="4403971" y="3863628"/>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730</a:t>
              </a:r>
              <a:endParaRPr lang="en-US" sz="1200" dirty="0">
                <a:latin typeface="Georgia" panose="02040502050405020303" pitchFamily="18" charset="0"/>
              </a:endParaRPr>
            </a:p>
          </p:txBody>
        </p:sp>
        <p:sp>
          <p:nvSpPr>
            <p:cNvPr id="67" name="Text 70">
              <a:extLst>
                <a:ext uri="{FF2B5EF4-FFF2-40B4-BE49-F238E27FC236}">
                  <a16:creationId xmlns:a16="http://schemas.microsoft.com/office/drawing/2014/main" id="{5AEA7207-FE1A-22DB-A76C-45B600F88CFE}"/>
                </a:ext>
              </a:extLst>
            </p:cNvPr>
            <p:cNvSpPr/>
            <p:nvPr/>
          </p:nvSpPr>
          <p:spPr>
            <a:xfrm>
              <a:off x="6026845" y="3863628"/>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747</a:t>
              </a:r>
              <a:endParaRPr lang="en-US" sz="1200" dirty="0">
                <a:latin typeface="Georgia" panose="02040502050405020303" pitchFamily="18" charset="0"/>
              </a:endParaRPr>
            </a:p>
          </p:txBody>
        </p:sp>
        <p:sp>
          <p:nvSpPr>
            <p:cNvPr id="68" name="Text 71">
              <a:extLst>
                <a:ext uri="{FF2B5EF4-FFF2-40B4-BE49-F238E27FC236}">
                  <a16:creationId xmlns:a16="http://schemas.microsoft.com/office/drawing/2014/main" id="{FBC57301-0F34-2BA4-2484-BFB5C2CF1506}"/>
                </a:ext>
              </a:extLst>
            </p:cNvPr>
            <p:cNvSpPr/>
            <p:nvPr/>
          </p:nvSpPr>
          <p:spPr>
            <a:xfrm>
              <a:off x="7649721" y="3863628"/>
              <a:ext cx="147177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480</a:t>
              </a:r>
              <a:endParaRPr lang="en-US" sz="1200" dirty="0">
                <a:latin typeface="Georgia" panose="02040502050405020303" pitchFamily="18" charset="0"/>
              </a:endParaRPr>
            </a:p>
          </p:txBody>
        </p:sp>
        <p:sp>
          <p:nvSpPr>
            <p:cNvPr id="69" name="Text 72">
              <a:extLst>
                <a:ext uri="{FF2B5EF4-FFF2-40B4-BE49-F238E27FC236}">
                  <a16:creationId xmlns:a16="http://schemas.microsoft.com/office/drawing/2014/main" id="{43BF0E78-240C-D363-093E-F391F80EBE4B}"/>
                </a:ext>
              </a:extLst>
            </p:cNvPr>
            <p:cNvSpPr/>
            <p:nvPr/>
          </p:nvSpPr>
          <p:spPr>
            <a:xfrm>
              <a:off x="9258037" y="3863628"/>
              <a:ext cx="202768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64%</a:t>
              </a:r>
              <a:endParaRPr lang="en-US" sz="1200" dirty="0">
                <a:latin typeface="Georgia" panose="02040502050405020303" pitchFamily="18" charset="0"/>
              </a:endParaRPr>
            </a:p>
          </p:txBody>
        </p:sp>
        <p:sp>
          <p:nvSpPr>
            <p:cNvPr id="79" name="Shape 99">
              <a:extLst>
                <a:ext uri="{FF2B5EF4-FFF2-40B4-BE49-F238E27FC236}">
                  <a16:creationId xmlns:a16="http://schemas.microsoft.com/office/drawing/2014/main" id="{A5C3B6B5-E59A-8D73-BAE1-6C24ED5A52C3}"/>
                </a:ext>
              </a:extLst>
            </p:cNvPr>
            <p:cNvSpPr/>
            <p:nvPr/>
          </p:nvSpPr>
          <p:spPr>
            <a:xfrm>
              <a:off x="585783" y="4151859"/>
              <a:ext cx="10819561" cy="6350"/>
            </a:xfrm>
            <a:prstGeom prst="rect">
              <a:avLst/>
            </a:prstGeom>
            <a:solidFill>
              <a:srgbClr val="D9D3C3"/>
            </a:solidFill>
            <a:ln/>
          </p:spPr>
          <p:txBody>
            <a:bodyPr/>
            <a:lstStyle/>
            <a:p>
              <a:pPr algn="ctr"/>
              <a:endParaRPr lang="en-IN" sz="1200">
                <a:latin typeface="Georgia" panose="02040502050405020303" pitchFamily="18" charset="0"/>
              </a:endParaRPr>
            </a:p>
          </p:txBody>
        </p:sp>
      </p:grpSp>
      <p:pic>
        <p:nvPicPr>
          <p:cNvPr id="2" name="Picture 1">
            <a:extLst>
              <a:ext uri="{FF2B5EF4-FFF2-40B4-BE49-F238E27FC236}">
                <a16:creationId xmlns:a16="http://schemas.microsoft.com/office/drawing/2014/main" id="{2834B58C-FA61-0CEC-E424-3BECC97470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70080"/>
            <a:ext cx="12192000" cy="987920"/>
          </a:xfrm>
          <a:prstGeom prst="rect">
            <a:avLst/>
          </a:prstGeom>
        </p:spPr>
      </p:pic>
    </p:spTree>
    <p:extLst>
      <p:ext uri="{BB962C8B-B14F-4D97-AF65-F5344CB8AC3E}">
        <p14:creationId xmlns:p14="http://schemas.microsoft.com/office/powerpoint/2010/main" val="5091193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740E6-1B5A-FFBF-7061-DFF4E75A7C0D}"/>
            </a:ext>
          </a:extLst>
        </p:cNvPr>
        <p:cNvGrpSpPr/>
        <p:nvPr/>
      </p:nvGrpSpPr>
      <p:grpSpPr>
        <a:xfrm>
          <a:off x="0" y="0"/>
          <a:ext cx="0" cy="0"/>
          <a:chOff x="0" y="0"/>
          <a:chExt cx="0" cy="0"/>
        </a:xfrm>
      </p:grpSpPr>
      <p:sp>
        <p:nvSpPr>
          <p:cNvPr id="72" name="Text 3">
            <a:extLst>
              <a:ext uri="{FF2B5EF4-FFF2-40B4-BE49-F238E27FC236}">
                <a16:creationId xmlns:a16="http://schemas.microsoft.com/office/drawing/2014/main" id="{074EFFFD-4B38-ACF6-32EB-C53407449E95}"/>
              </a:ext>
            </a:extLst>
          </p:cNvPr>
          <p:cNvSpPr/>
          <p:nvPr/>
        </p:nvSpPr>
        <p:spPr>
          <a:xfrm>
            <a:off x="534238" y="152400"/>
            <a:ext cx="11249660" cy="388541"/>
          </a:xfrm>
          <a:prstGeom prst="rect">
            <a:avLst/>
          </a:prstGeom>
          <a:noFill/>
          <a:ln/>
        </p:spPr>
        <p:txBody>
          <a:bodyPr wrap="square" lIns="16933" tIns="16933" rIns="16933" bIns="16933" rtlCol="0" anchor="t">
            <a:normAutofit fontScale="85000" lnSpcReduction="20000"/>
          </a:bodyPr>
          <a:lstStyle/>
          <a:p>
            <a:pPr>
              <a:lnSpc>
                <a:spcPct val="110000"/>
              </a:lnSpc>
            </a:pPr>
            <a:r>
              <a:rPr lang="en-US" sz="2800" b="1" dirty="0">
                <a:solidFill>
                  <a:schemeClr val="bg1"/>
                </a:solidFill>
                <a:latin typeface="Georgia" panose="02040502050405020303" pitchFamily="18" charset="0"/>
              </a:rPr>
              <a:t>District-wise trained women report as on DDU-GKY</a:t>
            </a:r>
          </a:p>
          <a:p>
            <a:pPr>
              <a:lnSpc>
                <a:spcPct val="110000"/>
              </a:lnSpc>
            </a:pPr>
            <a:endParaRPr lang="en-US" sz="2800" b="1" dirty="0">
              <a:solidFill>
                <a:schemeClr val="bg1"/>
              </a:solidFill>
              <a:latin typeface="Georgia" panose="02040502050405020303" pitchFamily="18" charset="0"/>
            </a:endParaRPr>
          </a:p>
        </p:txBody>
      </p:sp>
      <p:grpSp>
        <p:nvGrpSpPr>
          <p:cNvPr id="79" name="Group 78">
            <a:extLst>
              <a:ext uri="{FF2B5EF4-FFF2-40B4-BE49-F238E27FC236}">
                <a16:creationId xmlns:a16="http://schemas.microsoft.com/office/drawing/2014/main" id="{8856A175-0BA7-4042-B91B-88D08A4E6817}"/>
              </a:ext>
            </a:extLst>
          </p:cNvPr>
          <p:cNvGrpSpPr/>
          <p:nvPr/>
        </p:nvGrpSpPr>
        <p:grpSpPr>
          <a:xfrm>
            <a:off x="547484" y="997657"/>
            <a:ext cx="10730116" cy="4684804"/>
            <a:chOff x="325156" y="1480741"/>
            <a:chExt cx="11231845" cy="5072861"/>
          </a:xfrm>
        </p:grpSpPr>
        <p:sp>
          <p:nvSpPr>
            <p:cNvPr id="222" name="Shape 118">
              <a:extLst>
                <a:ext uri="{FF2B5EF4-FFF2-40B4-BE49-F238E27FC236}">
                  <a16:creationId xmlns:a16="http://schemas.microsoft.com/office/drawing/2014/main" id="{37C7070C-0BB9-33BE-BDCD-EB4B2788CBB2}"/>
                </a:ext>
              </a:extLst>
            </p:cNvPr>
            <p:cNvSpPr/>
            <p:nvPr/>
          </p:nvSpPr>
          <p:spPr>
            <a:xfrm>
              <a:off x="635000" y="6361906"/>
              <a:ext cx="10922000" cy="6350"/>
            </a:xfrm>
            <a:prstGeom prst="rect">
              <a:avLst/>
            </a:prstGeom>
            <a:solidFill>
              <a:srgbClr val="D9D3C3"/>
            </a:solidFill>
            <a:ln/>
          </p:spPr>
          <p:txBody>
            <a:bodyPr/>
            <a:lstStyle/>
            <a:p>
              <a:pPr algn="ctr"/>
              <a:endParaRPr lang="en-IN" sz="1200" b="1">
                <a:latin typeface="Georgia" panose="02040502050405020303" pitchFamily="18" charset="0"/>
              </a:endParaRPr>
            </a:p>
          </p:txBody>
        </p:sp>
        <p:sp>
          <p:nvSpPr>
            <p:cNvPr id="80" name="Shape 4">
              <a:extLst>
                <a:ext uri="{FF2B5EF4-FFF2-40B4-BE49-F238E27FC236}">
                  <a16:creationId xmlns:a16="http://schemas.microsoft.com/office/drawing/2014/main" id="{AF592BF9-1CB7-3303-9A2B-FB257F50706F}"/>
                </a:ext>
              </a:extLst>
            </p:cNvPr>
            <p:cNvSpPr/>
            <p:nvPr/>
          </p:nvSpPr>
          <p:spPr>
            <a:xfrm>
              <a:off x="644526" y="1480741"/>
              <a:ext cx="10912475" cy="355600"/>
            </a:xfrm>
            <a:prstGeom prst="rect">
              <a:avLst/>
            </a:prstGeom>
            <a:solidFill>
              <a:srgbClr val="0B6E78"/>
            </a:solidFill>
            <a:ln/>
          </p:spPr>
          <p:txBody>
            <a:bodyPr/>
            <a:lstStyle/>
            <a:p>
              <a:pPr algn="ctr"/>
              <a:endParaRPr lang="en-IN" sz="1200" b="1">
                <a:latin typeface="Georgia" panose="02040502050405020303" pitchFamily="18" charset="0"/>
              </a:endParaRPr>
            </a:p>
          </p:txBody>
        </p:sp>
        <p:sp>
          <p:nvSpPr>
            <p:cNvPr id="81" name="Text 5">
              <a:extLst>
                <a:ext uri="{FF2B5EF4-FFF2-40B4-BE49-F238E27FC236}">
                  <a16:creationId xmlns:a16="http://schemas.microsoft.com/office/drawing/2014/main" id="{20A7DEB9-3472-224A-B698-50963CA5FBCE}"/>
                </a:ext>
              </a:extLst>
            </p:cNvPr>
            <p:cNvSpPr/>
            <p:nvPr/>
          </p:nvSpPr>
          <p:spPr>
            <a:xfrm>
              <a:off x="746126" y="1569641"/>
              <a:ext cx="2269518" cy="203200"/>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District</a:t>
              </a:r>
              <a:endParaRPr lang="en-US" sz="1200" b="1" dirty="0">
                <a:latin typeface="Georgia" panose="02040502050405020303" pitchFamily="18" charset="0"/>
              </a:endParaRPr>
            </a:p>
          </p:txBody>
        </p:sp>
        <p:sp>
          <p:nvSpPr>
            <p:cNvPr id="82" name="Text 6">
              <a:extLst>
                <a:ext uri="{FF2B5EF4-FFF2-40B4-BE49-F238E27FC236}">
                  <a16:creationId xmlns:a16="http://schemas.microsoft.com/office/drawing/2014/main" id="{7AC0E37A-AA7E-8DFE-6753-703FB53C653D}"/>
                </a:ext>
              </a:extLst>
            </p:cNvPr>
            <p:cNvSpPr/>
            <p:nvPr/>
          </p:nvSpPr>
          <p:spPr>
            <a:xfrm>
              <a:off x="3146823" y="1569641"/>
              <a:ext cx="1375271" cy="203200"/>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Total trained</a:t>
              </a:r>
              <a:endParaRPr lang="en-US" sz="1200" b="1" dirty="0">
                <a:latin typeface="Georgia" panose="02040502050405020303" pitchFamily="18" charset="0"/>
              </a:endParaRPr>
            </a:p>
          </p:txBody>
        </p:sp>
        <p:sp>
          <p:nvSpPr>
            <p:cNvPr id="83" name="Text 7">
              <a:extLst>
                <a:ext uri="{FF2B5EF4-FFF2-40B4-BE49-F238E27FC236}">
                  <a16:creationId xmlns:a16="http://schemas.microsoft.com/office/drawing/2014/main" id="{91DB558F-5E29-F5A9-085C-D44DDA379ADC}"/>
                </a:ext>
              </a:extLst>
            </p:cNvPr>
            <p:cNvSpPr/>
            <p:nvPr/>
          </p:nvSpPr>
          <p:spPr>
            <a:xfrm>
              <a:off x="4674493" y="1569641"/>
              <a:ext cx="1375271" cy="203200"/>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Total placed</a:t>
              </a:r>
              <a:endParaRPr lang="en-US" sz="1200" b="1" dirty="0">
                <a:latin typeface="Georgia" panose="02040502050405020303" pitchFamily="18" charset="0"/>
              </a:endParaRPr>
            </a:p>
          </p:txBody>
        </p:sp>
        <p:sp>
          <p:nvSpPr>
            <p:cNvPr id="84" name="Text 8">
              <a:extLst>
                <a:ext uri="{FF2B5EF4-FFF2-40B4-BE49-F238E27FC236}">
                  <a16:creationId xmlns:a16="http://schemas.microsoft.com/office/drawing/2014/main" id="{D8E6EDFC-F94E-E7C2-736B-F62B354C3D56}"/>
                </a:ext>
              </a:extLst>
            </p:cNvPr>
            <p:cNvSpPr/>
            <p:nvPr/>
          </p:nvSpPr>
          <p:spPr>
            <a:xfrm>
              <a:off x="6202165" y="1569641"/>
              <a:ext cx="1375271" cy="203200"/>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Women trained</a:t>
              </a:r>
              <a:endParaRPr lang="en-US" sz="1200" b="1" dirty="0">
                <a:latin typeface="Georgia" panose="02040502050405020303" pitchFamily="18" charset="0"/>
              </a:endParaRPr>
            </a:p>
          </p:txBody>
        </p:sp>
        <p:sp>
          <p:nvSpPr>
            <p:cNvPr id="85" name="Text 9">
              <a:extLst>
                <a:ext uri="{FF2B5EF4-FFF2-40B4-BE49-F238E27FC236}">
                  <a16:creationId xmlns:a16="http://schemas.microsoft.com/office/drawing/2014/main" id="{DAB1775E-EA4A-306F-F0AE-8A67F6E30D49}"/>
                </a:ext>
              </a:extLst>
            </p:cNvPr>
            <p:cNvSpPr/>
            <p:nvPr/>
          </p:nvSpPr>
          <p:spPr>
            <a:xfrm>
              <a:off x="7729836" y="1569641"/>
              <a:ext cx="1375271" cy="203200"/>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Women placed</a:t>
              </a:r>
              <a:endParaRPr lang="en-US" sz="1200" b="1" dirty="0">
                <a:latin typeface="Georgia" panose="02040502050405020303" pitchFamily="18" charset="0"/>
              </a:endParaRPr>
            </a:p>
          </p:txBody>
        </p:sp>
        <p:sp>
          <p:nvSpPr>
            <p:cNvPr id="86" name="Text 10">
              <a:extLst>
                <a:ext uri="{FF2B5EF4-FFF2-40B4-BE49-F238E27FC236}">
                  <a16:creationId xmlns:a16="http://schemas.microsoft.com/office/drawing/2014/main" id="{D4C8B687-E036-65E6-E865-4365186D79BC}"/>
                </a:ext>
              </a:extLst>
            </p:cNvPr>
            <p:cNvSpPr/>
            <p:nvPr/>
          </p:nvSpPr>
          <p:spPr>
            <a:xfrm>
              <a:off x="9257506" y="1569641"/>
              <a:ext cx="2269927" cy="203200"/>
            </a:xfrm>
            <a:prstGeom prst="rect">
              <a:avLst/>
            </a:prstGeom>
            <a:noFill/>
            <a:ln/>
          </p:spPr>
          <p:txBody>
            <a:bodyPr wrap="square" lIns="16933" tIns="16933" rIns="16933" bIns="16933" rtlCol="0" anchor="ctr">
              <a:noAutofit/>
            </a:bodyPr>
            <a:lstStyle/>
            <a:p>
              <a:pPr algn="ctr"/>
              <a:r>
                <a:rPr lang="en-US" sz="1200" b="1" kern="0" spc="24" dirty="0">
                  <a:solidFill>
                    <a:srgbClr val="FFFFFF"/>
                  </a:solidFill>
                  <a:latin typeface="Georgia" panose="02040502050405020303" pitchFamily="18" charset="0"/>
                  <a:ea typeface="Trebuchet MS" pitchFamily="34" charset="-122"/>
                  <a:cs typeface="Trebuchet MS" pitchFamily="34" charset="-120"/>
                </a:rPr>
                <a:t>Women placement %</a:t>
              </a:r>
              <a:endParaRPr lang="en-US" sz="1200" b="1" dirty="0">
                <a:latin typeface="Georgia" panose="02040502050405020303" pitchFamily="18" charset="0"/>
              </a:endParaRPr>
            </a:p>
          </p:txBody>
        </p:sp>
        <p:sp>
          <p:nvSpPr>
            <p:cNvPr id="87" name="Shape 11">
              <a:extLst>
                <a:ext uri="{FF2B5EF4-FFF2-40B4-BE49-F238E27FC236}">
                  <a16:creationId xmlns:a16="http://schemas.microsoft.com/office/drawing/2014/main" id="{F45FDCE4-FB66-E82A-53BC-84DA50F72046}"/>
                </a:ext>
              </a:extLst>
            </p:cNvPr>
            <p:cNvSpPr/>
            <p:nvPr/>
          </p:nvSpPr>
          <p:spPr>
            <a:xfrm>
              <a:off x="644526" y="2191246"/>
              <a:ext cx="10912475" cy="6350"/>
            </a:xfrm>
            <a:prstGeom prst="rect">
              <a:avLst/>
            </a:prstGeom>
            <a:solidFill>
              <a:srgbClr val="D9D3C3"/>
            </a:solidFill>
            <a:ln/>
          </p:spPr>
          <p:txBody>
            <a:bodyPr/>
            <a:lstStyle/>
            <a:p>
              <a:pPr algn="ctr"/>
              <a:endParaRPr lang="en-IN" sz="1200" b="1">
                <a:latin typeface="Georgia" panose="02040502050405020303" pitchFamily="18" charset="0"/>
              </a:endParaRPr>
            </a:p>
          </p:txBody>
        </p:sp>
        <p:sp>
          <p:nvSpPr>
            <p:cNvPr id="88" name="Shape 12">
              <a:extLst>
                <a:ext uri="{FF2B5EF4-FFF2-40B4-BE49-F238E27FC236}">
                  <a16:creationId xmlns:a16="http://schemas.microsoft.com/office/drawing/2014/main" id="{E4044BD5-7754-27A0-15B7-AAE7D4977E91}"/>
                </a:ext>
              </a:extLst>
            </p:cNvPr>
            <p:cNvSpPr/>
            <p:nvPr/>
          </p:nvSpPr>
          <p:spPr>
            <a:xfrm>
              <a:off x="644526" y="1836341"/>
              <a:ext cx="19050" cy="361255"/>
            </a:xfrm>
            <a:prstGeom prst="rect">
              <a:avLst/>
            </a:prstGeom>
            <a:solidFill>
              <a:srgbClr val="0E8B96"/>
            </a:solidFill>
            <a:ln/>
          </p:spPr>
          <p:txBody>
            <a:bodyPr/>
            <a:lstStyle/>
            <a:p>
              <a:pPr algn="ctr"/>
              <a:endParaRPr lang="en-IN" sz="1200" b="1">
                <a:latin typeface="Georgia" panose="02040502050405020303" pitchFamily="18" charset="0"/>
              </a:endParaRPr>
            </a:p>
          </p:txBody>
        </p:sp>
        <p:sp>
          <p:nvSpPr>
            <p:cNvPr id="89" name="Text 13">
              <a:extLst>
                <a:ext uri="{FF2B5EF4-FFF2-40B4-BE49-F238E27FC236}">
                  <a16:creationId xmlns:a16="http://schemas.microsoft.com/office/drawing/2014/main" id="{E86CDF79-D612-F8BD-DA5E-F5B304AEA1C4}"/>
                </a:ext>
              </a:extLst>
            </p:cNvPr>
            <p:cNvSpPr/>
            <p:nvPr/>
          </p:nvSpPr>
          <p:spPr>
            <a:xfrm>
              <a:off x="833110" y="1912541"/>
              <a:ext cx="2250468" cy="234255"/>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Mysore</a:t>
              </a:r>
              <a:endParaRPr lang="en-US" sz="1200" b="1" dirty="0">
                <a:latin typeface="Georgia" panose="02040502050405020303" pitchFamily="18" charset="0"/>
              </a:endParaRPr>
            </a:p>
          </p:txBody>
        </p:sp>
        <p:sp>
          <p:nvSpPr>
            <p:cNvPr id="90" name="Text 14">
              <a:extLst>
                <a:ext uri="{FF2B5EF4-FFF2-40B4-BE49-F238E27FC236}">
                  <a16:creationId xmlns:a16="http://schemas.microsoft.com/office/drawing/2014/main" id="{3B67F687-648A-DEFA-488A-92DEADF69776}"/>
                </a:ext>
              </a:extLst>
            </p:cNvPr>
            <p:cNvSpPr/>
            <p:nvPr/>
          </p:nvSpPr>
          <p:spPr>
            <a:xfrm>
              <a:off x="3096023" y="1912541"/>
              <a:ext cx="1375271" cy="234255"/>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4,192</a:t>
              </a:r>
              <a:endParaRPr lang="en-US" sz="1200" b="1" dirty="0">
                <a:latin typeface="Georgia" panose="02040502050405020303" pitchFamily="18" charset="0"/>
              </a:endParaRPr>
            </a:p>
          </p:txBody>
        </p:sp>
        <p:sp>
          <p:nvSpPr>
            <p:cNvPr id="91" name="Text 15">
              <a:extLst>
                <a:ext uri="{FF2B5EF4-FFF2-40B4-BE49-F238E27FC236}">
                  <a16:creationId xmlns:a16="http://schemas.microsoft.com/office/drawing/2014/main" id="{F18CC4A1-46A8-CEAD-4E20-8CBD44382282}"/>
                </a:ext>
              </a:extLst>
            </p:cNvPr>
            <p:cNvSpPr/>
            <p:nvPr/>
          </p:nvSpPr>
          <p:spPr>
            <a:xfrm>
              <a:off x="4623693" y="1912541"/>
              <a:ext cx="1375271" cy="234255"/>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2,270</a:t>
              </a:r>
              <a:endParaRPr lang="en-US" sz="1200" b="1" dirty="0">
                <a:latin typeface="Georgia" panose="02040502050405020303" pitchFamily="18" charset="0"/>
              </a:endParaRPr>
            </a:p>
          </p:txBody>
        </p:sp>
        <p:sp>
          <p:nvSpPr>
            <p:cNvPr id="92" name="Text 16">
              <a:extLst>
                <a:ext uri="{FF2B5EF4-FFF2-40B4-BE49-F238E27FC236}">
                  <a16:creationId xmlns:a16="http://schemas.microsoft.com/office/drawing/2014/main" id="{8D9DAA26-F4A0-6AF5-18D7-EF680FD3E59E}"/>
                </a:ext>
              </a:extLst>
            </p:cNvPr>
            <p:cNvSpPr/>
            <p:nvPr/>
          </p:nvSpPr>
          <p:spPr>
            <a:xfrm>
              <a:off x="6151365" y="1912541"/>
              <a:ext cx="1375271" cy="234255"/>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2,326</a:t>
              </a:r>
              <a:endParaRPr lang="en-US" sz="1200" b="1" dirty="0">
                <a:latin typeface="Georgia" panose="02040502050405020303" pitchFamily="18" charset="0"/>
              </a:endParaRPr>
            </a:p>
          </p:txBody>
        </p:sp>
        <p:sp>
          <p:nvSpPr>
            <p:cNvPr id="93" name="Text 17">
              <a:extLst>
                <a:ext uri="{FF2B5EF4-FFF2-40B4-BE49-F238E27FC236}">
                  <a16:creationId xmlns:a16="http://schemas.microsoft.com/office/drawing/2014/main" id="{9B2A89CB-34F2-88EF-1F64-75F8DA5D45AB}"/>
                </a:ext>
              </a:extLst>
            </p:cNvPr>
            <p:cNvSpPr/>
            <p:nvPr/>
          </p:nvSpPr>
          <p:spPr>
            <a:xfrm>
              <a:off x="7679036" y="1912541"/>
              <a:ext cx="1375271" cy="234255"/>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1,311</a:t>
              </a:r>
              <a:endParaRPr lang="en-US" sz="1200" b="1" dirty="0">
                <a:latin typeface="Georgia" panose="02040502050405020303" pitchFamily="18" charset="0"/>
              </a:endParaRPr>
            </a:p>
          </p:txBody>
        </p:sp>
        <p:sp>
          <p:nvSpPr>
            <p:cNvPr id="94" name="Text 18">
              <a:extLst>
                <a:ext uri="{FF2B5EF4-FFF2-40B4-BE49-F238E27FC236}">
                  <a16:creationId xmlns:a16="http://schemas.microsoft.com/office/drawing/2014/main" id="{A04749EB-0A3F-54BE-BA63-108CF2B0899A}"/>
                </a:ext>
              </a:extLst>
            </p:cNvPr>
            <p:cNvSpPr/>
            <p:nvPr/>
          </p:nvSpPr>
          <p:spPr>
            <a:xfrm>
              <a:off x="9185473" y="1912541"/>
              <a:ext cx="2269927" cy="234255"/>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56%</a:t>
              </a:r>
              <a:endParaRPr lang="en-US" sz="1200" b="1" dirty="0">
                <a:latin typeface="Georgia" panose="02040502050405020303" pitchFamily="18" charset="0"/>
              </a:endParaRPr>
            </a:p>
          </p:txBody>
        </p:sp>
        <p:sp>
          <p:nvSpPr>
            <p:cNvPr id="95" name="Shape 19">
              <a:extLst>
                <a:ext uri="{FF2B5EF4-FFF2-40B4-BE49-F238E27FC236}">
                  <a16:creationId xmlns:a16="http://schemas.microsoft.com/office/drawing/2014/main" id="{5C754C1E-F7FB-BB29-9C08-A6C22D8C2181}"/>
                </a:ext>
              </a:extLst>
            </p:cNvPr>
            <p:cNvSpPr/>
            <p:nvPr/>
          </p:nvSpPr>
          <p:spPr>
            <a:xfrm>
              <a:off x="644526" y="2197596"/>
              <a:ext cx="10912475" cy="364431"/>
            </a:xfrm>
            <a:prstGeom prst="rect">
              <a:avLst/>
            </a:prstGeom>
            <a:solidFill>
              <a:srgbClr val="EFE8D8"/>
            </a:solidFill>
            <a:ln/>
          </p:spPr>
          <p:txBody>
            <a:bodyPr/>
            <a:lstStyle/>
            <a:p>
              <a:pPr algn="ctr"/>
              <a:endParaRPr lang="en-IN" sz="1200" b="1">
                <a:latin typeface="Georgia" panose="02040502050405020303" pitchFamily="18" charset="0"/>
              </a:endParaRPr>
            </a:p>
          </p:txBody>
        </p:sp>
        <p:sp>
          <p:nvSpPr>
            <p:cNvPr id="96" name="Shape 20">
              <a:extLst>
                <a:ext uri="{FF2B5EF4-FFF2-40B4-BE49-F238E27FC236}">
                  <a16:creationId xmlns:a16="http://schemas.microsoft.com/office/drawing/2014/main" id="{B468B69B-87F4-7E9F-1E2D-53DF424FC7F8}"/>
                </a:ext>
              </a:extLst>
            </p:cNvPr>
            <p:cNvSpPr/>
            <p:nvPr/>
          </p:nvSpPr>
          <p:spPr>
            <a:xfrm>
              <a:off x="644526" y="2555677"/>
              <a:ext cx="10912475" cy="6350"/>
            </a:xfrm>
            <a:prstGeom prst="rect">
              <a:avLst/>
            </a:prstGeom>
            <a:solidFill>
              <a:srgbClr val="D9D3C3"/>
            </a:solidFill>
            <a:ln/>
          </p:spPr>
          <p:txBody>
            <a:bodyPr/>
            <a:lstStyle/>
            <a:p>
              <a:pPr algn="ctr"/>
              <a:endParaRPr lang="en-IN" sz="1200" b="1">
                <a:latin typeface="Georgia" panose="02040502050405020303" pitchFamily="18" charset="0"/>
              </a:endParaRPr>
            </a:p>
          </p:txBody>
        </p:sp>
        <p:sp>
          <p:nvSpPr>
            <p:cNvPr id="97" name="Shape 21">
              <a:extLst>
                <a:ext uri="{FF2B5EF4-FFF2-40B4-BE49-F238E27FC236}">
                  <a16:creationId xmlns:a16="http://schemas.microsoft.com/office/drawing/2014/main" id="{90B2399A-93FD-D023-09B5-CA05EECF9A7E}"/>
                </a:ext>
              </a:extLst>
            </p:cNvPr>
            <p:cNvSpPr/>
            <p:nvPr/>
          </p:nvSpPr>
          <p:spPr>
            <a:xfrm>
              <a:off x="644526" y="2197596"/>
              <a:ext cx="19050" cy="364431"/>
            </a:xfrm>
            <a:prstGeom prst="rect">
              <a:avLst/>
            </a:prstGeom>
            <a:solidFill>
              <a:srgbClr val="0E8B96"/>
            </a:solidFill>
            <a:ln/>
          </p:spPr>
          <p:txBody>
            <a:bodyPr/>
            <a:lstStyle/>
            <a:p>
              <a:pPr algn="ctr"/>
              <a:endParaRPr lang="en-IN" sz="1200" b="1">
                <a:latin typeface="Georgia" panose="02040502050405020303" pitchFamily="18" charset="0"/>
              </a:endParaRPr>
            </a:p>
          </p:txBody>
        </p:sp>
        <p:sp>
          <p:nvSpPr>
            <p:cNvPr id="98" name="Text 22">
              <a:extLst>
                <a:ext uri="{FF2B5EF4-FFF2-40B4-BE49-F238E27FC236}">
                  <a16:creationId xmlns:a16="http://schemas.microsoft.com/office/drawing/2014/main" id="{931907DD-06A2-5A93-A3A4-D15860A919F9}"/>
                </a:ext>
              </a:extLst>
            </p:cNvPr>
            <p:cNvSpPr/>
            <p:nvPr/>
          </p:nvSpPr>
          <p:spPr>
            <a:xfrm>
              <a:off x="833110" y="2273796"/>
              <a:ext cx="2250468"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Mandya</a:t>
              </a:r>
              <a:endParaRPr lang="en-US" sz="1200" b="1" dirty="0">
                <a:latin typeface="Georgia" panose="02040502050405020303" pitchFamily="18" charset="0"/>
              </a:endParaRPr>
            </a:p>
          </p:txBody>
        </p:sp>
        <p:sp>
          <p:nvSpPr>
            <p:cNvPr id="99" name="Text 23">
              <a:extLst>
                <a:ext uri="{FF2B5EF4-FFF2-40B4-BE49-F238E27FC236}">
                  <a16:creationId xmlns:a16="http://schemas.microsoft.com/office/drawing/2014/main" id="{6D1F1AD4-1A92-303F-9096-5AF46DBD33CD}"/>
                </a:ext>
              </a:extLst>
            </p:cNvPr>
            <p:cNvSpPr/>
            <p:nvPr/>
          </p:nvSpPr>
          <p:spPr>
            <a:xfrm>
              <a:off x="3096023" y="2273796"/>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1,380</a:t>
              </a:r>
              <a:endParaRPr lang="en-US" sz="1200" b="1" dirty="0">
                <a:latin typeface="Georgia" panose="02040502050405020303" pitchFamily="18" charset="0"/>
              </a:endParaRPr>
            </a:p>
          </p:txBody>
        </p:sp>
        <p:sp>
          <p:nvSpPr>
            <p:cNvPr id="100" name="Text 24">
              <a:extLst>
                <a:ext uri="{FF2B5EF4-FFF2-40B4-BE49-F238E27FC236}">
                  <a16:creationId xmlns:a16="http://schemas.microsoft.com/office/drawing/2014/main" id="{58C42C95-CEF5-F7C3-260A-31D4893AAC17}"/>
                </a:ext>
              </a:extLst>
            </p:cNvPr>
            <p:cNvSpPr/>
            <p:nvPr/>
          </p:nvSpPr>
          <p:spPr>
            <a:xfrm>
              <a:off x="4623693" y="2273796"/>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812</a:t>
              </a:r>
              <a:endParaRPr lang="en-US" sz="1200" b="1" dirty="0">
                <a:latin typeface="Georgia" panose="02040502050405020303" pitchFamily="18" charset="0"/>
              </a:endParaRPr>
            </a:p>
          </p:txBody>
        </p:sp>
        <p:sp>
          <p:nvSpPr>
            <p:cNvPr id="101" name="Text 25">
              <a:extLst>
                <a:ext uri="{FF2B5EF4-FFF2-40B4-BE49-F238E27FC236}">
                  <a16:creationId xmlns:a16="http://schemas.microsoft.com/office/drawing/2014/main" id="{D2A3F195-A934-3F89-E31C-E335799A5EF5}"/>
                </a:ext>
              </a:extLst>
            </p:cNvPr>
            <p:cNvSpPr/>
            <p:nvPr/>
          </p:nvSpPr>
          <p:spPr>
            <a:xfrm>
              <a:off x="6151365" y="2273796"/>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834</a:t>
              </a:r>
              <a:endParaRPr lang="en-US" sz="1200" b="1" dirty="0">
                <a:latin typeface="Georgia" panose="02040502050405020303" pitchFamily="18" charset="0"/>
              </a:endParaRPr>
            </a:p>
          </p:txBody>
        </p:sp>
        <p:sp>
          <p:nvSpPr>
            <p:cNvPr id="102" name="Text 26">
              <a:extLst>
                <a:ext uri="{FF2B5EF4-FFF2-40B4-BE49-F238E27FC236}">
                  <a16:creationId xmlns:a16="http://schemas.microsoft.com/office/drawing/2014/main" id="{2F76E215-0DDB-2D02-D1B8-3CB284333940}"/>
                </a:ext>
              </a:extLst>
            </p:cNvPr>
            <p:cNvSpPr/>
            <p:nvPr/>
          </p:nvSpPr>
          <p:spPr>
            <a:xfrm>
              <a:off x="7679036" y="2273796"/>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490</a:t>
              </a:r>
              <a:endParaRPr lang="en-US" sz="1200" b="1" dirty="0">
                <a:latin typeface="Georgia" panose="02040502050405020303" pitchFamily="18" charset="0"/>
              </a:endParaRPr>
            </a:p>
          </p:txBody>
        </p:sp>
        <p:sp>
          <p:nvSpPr>
            <p:cNvPr id="103" name="Text 27">
              <a:extLst>
                <a:ext uri="{FF2B5EF4-FFF2-40B4-BE49-F238E27FC236}">
                  <a16:creationId xmlns:a16="http://schemas.microsoft.com/office/drawing/2014/main" id="{31244F07-B34C-03B1-819F-7DE9FD3E445A}"/>
                </a:ext>
              </a:extLst>
            </p:cNvPr>
            <p:cNvSpPr/>
            <p:nvPr/>
          </p:nvSpPr>
          <p:spPr>
            <a:xfrm>
              <a:off x="9185473" y="2273796"/>
              <a:ext cx="2269927"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59%</a:t>
              </a:r>
              <a:endParaRPr lang="en-US" sz="1200" b="1" dirty="0">
                <a:latin typeface="Georgia" panose="02040502050405020303" pitchFamily="18" charset="0"/>
              </a:endParaRPr>
            </a:p>
          </p:txBody>
        </p:sp>
        <p:sp>
          <p:nvSpPr>
            <p:cNvPr id="104" name="Shape 28">
              <a:extLst>
                <a:ext uri="{FF2B5EF4-FFF2-40B4-BE49-F238E27FC236}">
                  <a16:creationId xmlns:a16="http://schemas.microsoft.com/office/drawing/2014/main" id="{7F0C809B-87F7-B283-499F-979CF43CBE09}"/>
                </a:ext>
              </a:extLst>
            </p:cNvPr>
            <p:cNvSpPr/>
            <p:nvPr/>
          </p:nvSpPr>
          <p:spPr>
            <a:xfrm>
              <a:off x="644526" y="2920108"/>
              <a:ext cx="10912475" cy="6350"/>
            </a:xfrm>
            <a:prstGeom prst="rect">
              <a:avLst/>
            </a:prstGeom>
            <a:solidFill>
              <a:srgbClr val="D9D3C3"/>
            </a:solidFill>
            <a:ln/>
          </p:spPr>
          <p:txBody>
            <a:bodyPr/>
            <a:lstStyle/>
            <a:p>
              <a:pPr algn="ctr"/>
              <a:endParaRPr lang="en-IN" sz="1200" b="1">
                <a:latin typeface="Georgia" panose="02040502050405020303" pitchFamily="18" charset="0"/>
              </a:endParaRPr>
            </a:p>
          </p:txBody>
        </p:sp>
        <p:sp>
          <p:nvSpPr>
            <p:cNvPr id="105" name="Shape 29">
              <a:extLst>
                <a:ext uri="{FF2B5EF4-FFF2-40B4-BE49-F238E27FC236}">
                  <a16:creationId xmlns:a16="http://schemas.microsoft.com/office/drawing/2014/main" id="{6DECE4E5-ED75-9AF3-9A2E-19349DFA1A73}"/>
                </a:ext>
              </a:extLst>
            </p:cNvPr>
            <p:cNvSpPr/>
            <p:nvPr/>
          </p:nvSpPr>
          <p:spPr>
            <a:xfrm>
              <a:off x="644526" y="2562027"/>
              <a:ext cx="19050" cy="364431"/>
            </a:xfrm>
            <a:prstGeom prst="rect">
              <a:avLst/>
            </a:prstGeom>
            <a:solidFill>
              <a:srgbClr val="0E8B96"/>
            </a:solidFill>
            <a:ln/>
          </p:spPr>
          <p:txBody>
            <a:bodyPr/>
            <a:lstStyle/>
            <a:p>
              <a:pPr algn="ctr"/>
              <a:endParaRPr lang="en-IN" sz="1200" b="1">
                <a:latin typeface="Georgia" panose="02040502050405020303" pitchFamily="18" charset="0"/>
              </a:endParaRPr>
            </a:p>
          </p:txBody>
        </p:sp>
        <p:sp>
          <p:nvSpPr>
            <p:cNvPr id="106" name="Text 30">
              <a:extLst>
                <a:ext uri="{FF2B5EF4-FFF2-40B4-BE49-F238E27FC236}">
                  <a16:creationId xmlns:a16="http://schemas.microsoft.com/office/drawing/2014/main" id="{BE83B69B-69D9-1B7D-556C-4695FFCFA3B9}"/>
                </a:ext>
              </a:extLst>
            </p:cNvPr>
            <p:cNvSpPr/>
            <p:nvPr/>
          </p:nvSpPr>
          <p:spPr>
            <a:xfrm>
              <a:off x="833110" y="2638227"/>
              <a:ext cx="2250468"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Chamarajanagar</a:t>
              </a:r>
              <a:endParaRPr lang="en-US" sz="1200" b="1" dirty="0">
                <a:latin typeface="Georgia" panose="02040502050405020303" pitchFamily="18" charset="0"/>
              </a:endParaRPr>
            </a:p>
          </p:txBody>
        </p:sp>
        <p:sp>
          <p:nvSpPr>
            <p:cNvPr id="107" name="Text 31">
              <a:extLst>
                <a:ext uri="{FF2B5EF4-FFF2-40B4-BE49-F238E27FC236}">
                  <a16:creationId xmlns:a16="http://schemas.microsoft.com/office/drawing/2014/main" id="{77996D08-A9CA-0C58-2B99-2E131F14D572}"/>
                </a:ext>
              </a:extLst>
            </p:cNvPr>
            <p:cNvSpPr/>
            <p:nvPr/>
          </p:nvSpPr>
          <p:spPr>
            <a:xfrm>
              <a:off x="3096023" y="2638227"/>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1,798</a:t>
              </a:r>
              <a:endParaRPr lang="en-US" sz="1200" b="1" dirty="0">
                <a:latin typeface="Georgia" panose="02040502050405020303" pitchFamily="18" charset="0"/>
              </a:endParaRPr>
            </a:p>
          </p:txBody>
        </p:sp>
        <p:sp>
          <p:nvSpPr>
            <p:cNvPr id="108" name="Text 32">
              <a:extLst>
                <a:ext uri="{FF2B5EF4-FFF2-40B4-BE49-F238E27FC236}">
                  <a16:creationId xmlns:a16="http://schemas.microsoft.com/office/drawing/2014/main" id="{43B3470B-DE29-F335-3578-E9876B99C785}"/>
                </a:ext>
              </a:extLst>
            </p:cNvPr>
            <p:cNvSpPr/>
            <p:nvPr/>
          </p:nvSpPr>
          <p:spPr>
            <a:xfrm>
              <a:off x="4623693" y="2638227"/>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906</a:t>
              </a:r>
              <a:endParaRPr lang="en-US" sz="1200" b="1" dirty="0">
                <a:latin typeface="Georgia" panose="02040502050405020303" pitchFamily="18" charset="0"/>
              </a:endParaRPr>
            </a:p>
          </p:txBody>
        </p:sp>
        <p:sp>
          <p:nvSpPr>
            <p:cNvPr id="109" name="Text 33">
              <a:extLst>
                <a:ext uri="{FF2B5EF4-FFF2-40B4-BE49-F238E27FC236}">
                  <a16:creationId xmlns:a16="http://schemas.microsoft.com/office/drawing/2014/main" id="{5497F48B-23F8-1733-741F-8A2BB2E6FC1E}"/>
                </a:ext>
              </a:extLst>
            </p:cNvPr>
            <p:cNvSpPr/>
            <p:nvPr/>
          </p:nvSpPr>
          <p:spPr>
            <a:xfrm>
              <a:off x="6151365" y="2638227"/>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915</a:t>
              </a:r>
              <a:endParaRPr lang="en-US" sz="1200" b="1" dirty="0">
                <a:latin typeface="Georgia" panose="02040502050405020303" pitchFamily="18" charset="0"/>
              </a:endParaRPr>
            </a:p>
          </p:txBody>
        </p:sp>
        <p:sp>
          <p:nvSpPr>
            <p:cNvPr id="110" name="Text 34">
              <a:extLst>
                <a:ext uri="{FF2B5EF4-FFF2-40B4-BE49-F238E27FC236}">
                  <a16:creationId xmlns:a16="http://schemas.microsoft.com/office/drawing/2014/main" id="{DEDCA928-349C-5E98-1B31-8929B7B2FD77}"/>
                </a:ext>
              </a:extLst>
            </p:cNvPr>
            <p:cNvSpPr/>
            <p:nvPr/>
          </p:nvSpPr>
          <p:spPr>
            <a:xfrm>
              <a:off x="7679036" y="2638227"/>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399</a:t>
              </a:r>
              <a:endParaRPr lang="en-US" sz="1200" b="1" dirty="0">
                <a:latin typeface="Georgia" panose="02040502050405020303" pitchFamily="18" charset="0"/>
              </a:endParaRPr>
            </a:p>
          </p:txBody>
        </p:sp>
        <p:sp>
          <p:nvSpPr>
            <p:cNvPr id="111" name="Text 35">
              <a:extLst>
                <a:ext uri="{FF2B5EF4-FFF2-40B4-BE49-F238E27FC236}">
                  <a16:creationId xmlns:a16="http://schemas.microsoft.com/office/drawing/2014/main" id="{A817ED64-99B5-F86E-AAC6-6F6B1BC0AA41}"/>
                </a:ext>
              </a:extLst>
            </p:cNvPr>
            <p:cNvSpPr/>
            <p:nvPr/>
          </p:nvSpPr>
          <p:spPr>
            <a:xfrm>
              <a:off x="9185473" y="2638227"/>
              <a:ext cx="2269927"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44%</a:t>
              </a:r>
              <a:endParaRPr lang="en-US" sz="1200" b="1" dirty="0">
                <a:latin typeface="Georgia" panose="02040502050405020303" pitchFamily="18" charset="0"/>
              </a:endParaRPr>
            </a:p>
          </p:txBody>
        </p:sp>
        <p:sp>
          <p:nvSpPr>
            <p:cNvPr id="112" name="Shape 36">
              <a:extLst>
                <a:ext uri="{FF2B5EF4-FFF2-40B4-BE49-F238E27FC236}">
                  <a16:creationId xmlns:a16="http://schemas.microsoft.com/office/drawing/2014/main" id="{56852BFB-D80F-0B2C-B886-FC0491D0F91A}"/>
                </a:ext>
              </a:extLst>
            </p:cNvPr>
            <p:cNvSpPr/>
            <p:nvPr/>
          </p:nvSpPr>
          <p:spPr>
            <a:xfrm>
              <a:off x="644526" y="2926457"/>
              <a:ext cx="10912475" cy="364431"/>
            </a:xfrm>
            <a:prstGeom prst="rect">
              <a:avLst/>
            </a:prstGeom>
            <a:solidFill>
              <a:srgbClr val="EFE8D8"/>
            </a:solidFill>
            <a:ln/>
          </p:spPr>
          <p:txBody>
            <a:bodyPr/>
            <a:lstStyle/>
            <a:p>
              <a:pPr algn="ctr"/>
              <a:endParaRPr lang="en-IN" sz="1200" b="1">
                <a:latin typeface="Georgia" panose="02040502050405020303" pitchFamily="18" charset="0"/>
              </a:endParaRPr>
            </a:p>
          </p:txBody>
        </p:sp>
        <p:sp>
          <p:nvSpPr>
            <p:cNvPr id="113" name="Shape 37">
              <a:extLst>
                <a:ext uri="{FF2B5EF4-FFF2-40B4-BE49-F238E27FC236}">
                  <a16:creationId xmlns:a16="http://schemas.microsoft.com/office/drawing/2014/main" id="{8D2C7DE1-6CA3-9403-64B4-433C822B34AE}"/>
                </a:ext>
              </a:extLst>
            </p:cNvPr>
            <p:cNvSpPr/>
            <p:nvPr/>
          </p:nvSpPr>
          <p:spPr>
            <a:xfrm>
              <a:off x="644526" y="3284538"/>
              <a:ext cx="10912475" cy="6350"/>
            </a:xfrm>
            <a:prstGeom prst="rect">
              <a:avLst/>
            </a:prstGeom>
            <a:solidFill>
              <a:srgbClr val="D9D3C3"/>
            </a:solidFill>
            <a:ln/>
          </p:spPr>
          <p:txBody>
            <a:bodyPr/>
            <a:lstStyle/>
            <a:p>
              <a:pPr algn="ctr"/>
              <a:endParaRPr lang="en-IN" sz="1200" b="1">
                <a:latin typeface="Georgia" panose="02040502050405020303" pitchFamily="18" charset="0"/>
              </a:endParaRPr>
            </a:p>
          </p:txBody>
        </p:sp>
        <p:sp>
          <p:nvSpPr>
            <p:cNvPr id="114" name="Shape 38">
              <a:extLst>
                <a:ext uri="{FF2B5EF4-FFF2-40B4-BE49-F238E27FC236}">
                  <a16:creationId xmlns:a16="http://schemas.microsoft.com/office/drawing/2014/main" id="{7475D235-92EE-CA0F-9DBD-BDC5942BC0C2}"/>
                </a:ext>
              </a:extLst>
            </p:cNvPr>
            <p:cNvSpPr/>
            <p:nvPr/>
          </p:nvSpPr>
          <p:spPr>
            <a:xfrm>
              <a:off x="644526" y="2926457"/>
              <a:ext cx="19050" cy="364431"/>
            </a:xfrm>
            <a:prstGeom prst="rect">
              <a:avLst/>
            </a:prstGeom>
            <a:solidFill>
              <a:srgbClr val="0E8B96"/>
            </a:solidFill>
            <a:ln/>
          </p:spPr>
          <p:txBody>
            <a:bodyPr/>
            <a:lstStyle/>
            <a:p>
              <a:pPr algn="ctr"/>
              <a:endParaRPr lang="en-IN" sz="1200" b="1">
                <a:latin typeface="Georgia" panose="02040502050405020303" pitchFamily="18" charset="0"/>
              </a:endParaRPr>
            </a:p>
          </p:txBody>
        </p:sp>
        <p:sp>
          <p:nvSpPr>
            <p:cNvPr id="115" name="Text 39">
              <a:extLst>
                <a:ext uri="{FF2B5EF4-FFF2-40B4-BE49-F238E27FC236}">
                  <a16:creationId xmlns:a16="http://schemas.microsoft.com/office/drawing/2014/main" id="{128084D9-A6BA-7F5C-DB2A-406470D27A53}"/>
                </a:ext>
              </a:extLst>
            </p:cNvPr>
            <p:cNvSpPr/>
            <p:nvPr/>
          </p:nvSpPr>
          <p:spPr>
            <a:xfrm>
              <a:off x="833110" y="3002657"/>
              <a:ext cx="2250468"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Hassan</a:t>
              </a:r>
              <a:endParaRPr lang="en-US" sz="1200" b="1" dirty="0">
                <a:latin typeface="Georgia" panose="02040502050405020303" pitchFamily="18" charset="0"/>
              </a:endParaRPr>
            </a:p>
          </p:txBody>
        </p:sp>
        <p:sp>
          <p:nvSpPr>
            <p:cNvPr id="116" name="Text 40">
              <a:extLst>
                <a:ext uri="{FF2B5EF4-FFF2-40B4-BE49-F238E27FC236}">
                  <a16:creationId xmlns:a16="http://schemas.microsoft.com/office/drawing/2014/main" id="{93D6C2DF-AD5B-8EFC-CD7F-52272793C189}"/>
                </a:ext>
              </a:extLst>
            </p:cNvPr>
            <p:cNvSpPr/>
            <p:nvPr/>
          </p:nvSpPr>
          <p:spPr>
            <a:xfrm>
              <a:off x="3096023" y="3002657"/>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3,764</a:t>
              </a:r>
              <a:endParaRPr lang="en-US" sz="1200" b="1" dirty="0">
                <a:latin typeface="Georgia" panose="02040502050405020303" pitchFamily="18" charset="0"/>
              </a:endParaRPr>
            </a:p>
          </p:txBody>
        </p:sp>
        <p:sp>
          <p:nvSpPr>
            <p:cNvPr id="117" name="Text 41">
              <a:extLst>
                <a:ext uri="{FF2B5EF4-FFF2-40B4-BE49-F238E27FC236}">
                  <a16:creationId xmlns:a16="http://schemas.microsoft.com/office/drawing/2014/main" id="{EDFDEE42-2F7A-E3F4-BB83-2D2A3476FFB4}"/>
                </a:ext>
              </a:extLst>
            </p:cNvPr>
            <p:cNvSpPr/>
            <p:nvPr/>
          </p:nvSpPr>
          <p:spPr>
            <a:xfrm>
              <a:off x="4623693" y="3002657"/>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2,183</a:t>
              </a:r>
              <a:endParaRPr lang="en-US" sz="1200" b="1" dirty="0">
                <a:latin typeface="Georgia" panose="02040502050405020303" pitchFamily="18" charset="0"/>
              </a:endParaRPr>
            </a:p>
          </p:txBody>
        </p:sp>
        <p:sp>
          <p:nvSpPr>
            <p:cNvPr id="118" name="Text 42">
              <a:extLst>
                <a:ext uri="{FF2B5EF4-FFF2-40B4-BE49-F238E27FC236}">
                  <a16:creationId xmlns:a16="http://schemas.microsoft.com/office/drawing/2014/main" id="{BA4C0FD9-2061-3E63-C432-3CA08326F35B}"/>
                </a:ext>
              </a:extLst>
            </p:cNvPr>
            <p:cNvSpPr/>
            <p:nvPr/>
          </p:nvSpPr>
          <p:spPr>
            <a:xfrm>
              <a:off x="6151365" y="3002657"/>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3,332</a:t>
              </a:r>
              <a:endParaRPr lang="en-US" sz="1200" b="1" dirty="0">
                <a:latin typeface="Georgia" panose="02040502050405020303" pitchFamily="18" charset="0"/>
              </a:endParaRPr>
            </a:p>
          </p:txBody>
        </p:sp>
        <p:sp>
          <p:nvSpPr>
            <p:cNvPr id="119" name="Text 43">
              <a:extLst>
                <a:ext uri="{FF2B5EF4-FFF2-40B4-BE49-F238E27FC236}">
                  <a16:creationId xmlns:a16="http://schemas.microsoft.com/office/drawing/2014/main" id="{07D86E6F-1B56-7DC6-CFBF-992C4F429291}"/>
                </a:ext>
              </a:extLst>
            </p:cNvPr>
            <p:cNvSpPr/>
            <p:nvPr/>
          </p:nvSpPr>
          <p:spPr>
            <a:xfrm>
              <a:off x="7679036" y="3002657"/>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2,045</a:t>
              </a:r>
              <a:endParaRPr lang="en-US" sz="1200" b="1" dirty="0">
                <a:latin typeface="Georgia" panose="02040502050405020303" pitchFamily="18" charset="0"/>
              </a:endParaRPr>
            </a:p>
          </p:txBody>
        </p:sp>
        <p:sp>
          <p:nvSpPr>
            <p:cNvPr id="120" name="Text 44">
              <a:extLst>
                <a:ext uri="{FF2B5EF4-FFF2-40B4-BE49-F238E27FC236}">
                  <a16:creationId xmlns:a16="http://schemas.microsoft.com/office/drawing/2014/main" id="{ADDC0BAE-9100-09A9-2F43-8930DDA5128F}"/>
                </a:ext>
              </a:extLst>
            </p:cNvPr>
            <p:cNvSpPr/>
            <p:nvPr/>
          </p:nvSpPr>
          <p:spPr>
            <a:xfrm>
              <a:off x="9185473" y="3002657"/>
              <a:ext cx="2269927"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61%</a:t>
              </a:r>
              <a:endParaRPr lang="en-US" sz="1200" b="1" dirty="0">
                <a:latin typeface="Georgia" panose="02040502050405020303" pitchFamily="18" charset="0"/>
              </a:endParaRPr>
            </a:p>
          </p:txBody>
        </p:sp>
        <p:sp>
          <p:nvSpPr>
            <p:cNvPr id="121" name="Shape 45">
              <a:extLst>
                <a:ext uri="{FF2B5EF4-FFF2-40B4-BE49-F238E27FC236}">
                  <a16:creationId xmlns:a16="http://schemas.microsoft.com/office/drawing/2014/main" id="{18144B83-08D8-CDFE-1C3E-9526682A6A91}"/>
                </a:ext>
              </a:extLst>
            </p:cNvPr>
            <p:cNvSpPr/>
            <p:nvPr/>
          </p:nvSpPr>
          <p:spPr>
            <a:xfrm>
              <a:off x="644526" y="3648968"/>
              <a:ext cx="10912475" cy="6350"/>
            </a:xfrm>
            <a:prstGeom prst="rect">
              <a:avLst/>
            </a:prstGeom>
            <a:solidFill>
              <a:srgbClr val="D9D3C3"/>
            </a:solidFill>
            <a:ln/>
          </p:spPr>
          <p:txBody>
            <a:bodyPr/>
            <a:lstStyle/>
            <a:p>
              <a:pPr algn="ctr"/>
              <a:endParaRPr lang="en-IN" sz="1200" b="1">
                <a:latin typeface="Georgia" panose="02040502050405020303" pitchFamily="18" charset="0"/>
              </a:endParaRPr>
            </a:p>
          </p:txBody>
        </p:sp>
        <p:sp>
          <p:nvSpPr>
            <p:cNvPr id="122" name="Shape 46">
              <a:extLst>
                <a:ext uri="{FF2B5EF4-FFF2-40B4-BE49-F238E27FC236}">
                  <a16:creationId xmlns:a16="http://schemas.microsoft.com/office/drawing/2014/main" id="{F3E6388A-9761-5CEE-5D2B-54321847F2A7}"/>
                </a:ext>
              </a:extLst>
            </p:cNvPr>
            <p:cNvSpPr/>
            <p:nvPr/>
          </p:nvSpPr>
          <p:spPr>
            <a:xfrm>
              <a:off x="644526" y="3290887"/>
              <a:ext cx="19050" cy="364431"/>
            </a:xfrm>
            <a:prstGeom prst="rect">
              <a:avLst/>
            </a:prstGeom>
            <a:solidFill>
              <a:srgbClr val="0E8B96"/>
            </a:solidFill>
            <a:ln/>
          </p:spPr>
          <p:txBody>
            <a:bodyPr/>
            <a:lstStyle/>
            <a:p>
              <a:pPr algn="ctr"/>
              <a:endParaRPr lang="en-IN" sz="1200" b="1">
                <a:latin typeface="Georgia" panose="02040502050405020303" pitchFamily="18" charset="0"/>
              </a:endParaRPr>
            </a:p>
          </p:txBody>
        </p:sp>
        <p:sp>
          <p:nvSpPr>
            <p:cNvPr id="123" name="Text 47">
              <a:extLst>
                <a:ext uri="{FF2B5EF4-FFF2-40B4-BE49-F238E27FC236}">
                  <a16:creationId xmlns:a16="http://schemas.microsoft.com/office/drawing/2014/main" id="{71FE7A67-C5C7-C085-B38D-4A81ABC22F9A}"/>
                </a:ext>
              </a:extLst>
            </p:cNvPr>
            <p:cNvSpPr/>
            <p:nvPr/>
          </p:nvSpPr>
          <p:spPr>
            <a:xfrm>
              <a:off x="833110" y="3367087"/>
              <a:ext cx="2250468"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Ramanagara</a:t>
              </a:r>
              <a:endParaRPr lang="en-US" sz="1200" b="1" dirty="0">
                <a:latin typeface="Georgia" panose="02040502050405020303" pitchFamily="18" charset="0"/>
              </a:endParaRPr>
            </a:p>
          </p:txBody>
        </p:sp>
        <p:sp>
          <p:nvSpPr>
            <p:cNvPr id="124" name="Text 48">
              <a:extLst>
                <a:ext uri="{FF2B5EF4-FFF2-40B4-BE49-F238E27FC236}">
                  <a16:creationId xmlns:a16="http://schemas.microsoft.com/office/drawing/2014/main" id="{FAFD9B65-7F6E-C4F9-539D-0ED9461852AA}"/>
                </a:ext>
              </a:extLst>
            </p:cNvPr>
            <p:cNvSpPr/>
            <p:nvPr/>
          </p:nvSpPr>
          <p:spPr>
            <a:xfrm>
              <a:off x="3096023" y="3367087"/>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868</a:t>
              </a:r>
              <a:endParaRPr lang="en-US" sz="1200" b="1" dirty="0">
                <a:latin typeface="Georgia" panose="02040502050405020303" pitchFamily="18" charset="0"/>
              </a:endParaRPr>
            </a:p>
          </p:txBody>
        </p:sp>
        <p:sp>
          <p:nvSpPr>
            <p:cNvPr id="125" name="Text 49">
              <a:extLst>
                <a:ext uri="{FF2B5EF4-FFF2-40B4-BE49-F238E27FC236}">
                  <a16:creationId xmlns:a16="http://schemas.microsoft.com/office/drawing/2014/main" id="{6C92BF1A-1360-EA6C-27C5-144F90212FC7}"/>
                </a:ext>
              </a:extLst>
            </p:cNvPr>
            <p:cNvSpPr/>
            <p:nvPr/>
          </p:nvSpPr>
          <p:spPr>
            <a:xfrm>
              <a:off x="4623693" y="3367087"/>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486</a:t>
              </a:r>
              <a:endParaRPr lang="en-US" sz="1200" b="1" dirty="0">
                <a:latin typeface="Georgia" panose="02040502050405020303" pitchFamily="18" charset="0"/>
              </a:endParaRPr>
            </a:p>
          </p:txBody>
        </p:sp>
        <p:sp>
          <p:nvSpPr>
            <p:cNvPr id="126" name="Text 50">
              <a:extLst>
                <a:ext uri="{FF2B5EF4-FFF2-40B4-BE49-F238E27FC236}">
                  <a16:creationId xmlns:a16="http://schemas.microsoft.com/office/drawing/2014/main" id="{AD5B4E7E-9B2F-8142-7276-ED1246F693FA}"/>
                </a:ext>
              </a:extLst>
            </p:cNvPr>
            <p:cNvSpPr/>
            <p:nvPr/>
          </p:nvSpPr>
          <p:spPr>
            <a:xfrm>
              <a:off x="6151365" y="3367087"/>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414</a:t>
              </a:r>
              <a:endParaRPr lang="en-US" sz="1200" b="1" dirty="0">
                <a:latin typeface="Georgia" panose="02040502050405020303" pitchFamily="18" charset="0"/>
              </a:endParaRPr>
            </a:p>
          </p:txBody>
        </p:sp>
        <p:sp>
          <p:nvSpPr>
            <p:cNvPr id="127" name="Text 51">
              <a:extLst>
                <a:ext uri="{FF2B5EF4-FFF2-40B4-BE49-F238E27FC236}">
                  <a16:creationId xmlns:a16="http://schemas.microsoft.com/office/drawing/2014/main" id="{6C081D2E-32D6-6C7A-5944-B4F60D7F9975}"/>
                </a:ext>
              </a:extLst>
            </p:cNvPr>
            <p:cNvSpPr/>
            <p:nvPr/>
          </p:nvSpPr>
          <p:spPr>
            <a:xfrm>
              <a:off x="7679036" y="3367087"/>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206</a:t>
              </a:r>
              <a:endParaRPr lang="en-US" sz="1200" b="1" dirty="0">
                <a:latin typeface="Georgia" panose="02040502050405020303" pitchFamily="18" charset="0"/>
              </a:endParaRPr>
            </a:p>
          </p:txBody>
        </p:sp>
        <p:sp>
          <p:nvSpPr>
            <p:cNvPr id="128" name="Text 52">
              <a:extLst>
                <a:ext uri="{FF2B5EF4-FFF2-40B4-BE49-F238E27FC236}">
                  <a16:creationId xmlns:a16="http://schemas.microsoft.com/office/drawing/2014/main" id="{08049007-1A29-04F8-9645-0F93492C1F46}"/>
                </a:ext>
              </a:extLst>
            </p:cNvPr>
            <p:cNvSpPr/>
            <p:nvPr/>
          </p:nvSpPr>
          <p:spPr>
            <a:xfrm>
              <a:off x="9185473" y="3367087"/>
              <a:ext cx="2269927"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50%</a:t>
              </a:r>
              <a:endParaRPr lang="en-US" sz="1200" b="1" dirty="0">
                <a:latin typeface="Georgia" panose="02040502050405020303" pitchFamily="18" charset="0"/>
              </a:endParaRPr>
            </a:p>
          </p:txBody>
        </p:sp>
        <p:sp>
          <p:nvSpPr>
            <p:cNvPr id="156" name="Shape 53">
              <a:extLst>
                <a:ext uri="{FF2B5EF4-FFF2-40B4-BE49-F238E27FC236}">
                  <a16:creationId xmlns:a16="http://schemas.microsoft.com/office/drawing/2014/main" id="{A9B9B5F2-EA3E-C0A0-BC70-8D876B3382EA}"/>
                </a:ext>
              </a:extLst>
            </p:cNvPr>
            <p:cNvSpPr/>
            <p:nvPr/>
          </p:nvSpPr>
          <p:spPr>
            <a:xfrm>
              <a:off x="644526" y="3655318"/>
              <a:ext cx="10912475" cy="364431"/>
            </a:xfrm>
            <a:prstGeom prst="rect">
              <a:avLst/>
            </a:prstGeom>
            <a:solidFill>
              <a:srgbClr val="EFE8D8"/>
            </a:solidFill>
            <a:ln/>
          </p:spPr>
          <p:txBody>
            <a:bodyPr/>
            <a:lstStyle/>
            <a:p>
              <a:pPr algn="ctr"/>
              <a:endParaRPr lang="en-IN" sz="1200" b="1">
                <a:latin typeface="Georgia" panose="02040502050405020303" pitchFamily="18" charset="0"/>
              </a:endParaRPr>
            </a:p>
          </p:txBody>
        </p:sp>
        <p:sp>
          <p:nvSpPr>
            <p:cNvPr id="157" name="Shape 54">
              <a:extLst>
                <a:ext uri="{FF2B5EF4-FFF2-40B4-BE49-F238E27FC236}">
                  <a16:creationId xmlns:a16="http://schemas.microsoft.com/office/drawing/2014/main" id="{0AD114E5-B584-A358-0E1F-5A93C0C5222A}"/>
                </a:ext>
              </a:extLst>
            </p:cNvPr>
            <p:cNvSpPr/>
            <p:nvPr/>
          </p:nvSpPr>
          <p:spPr>
            <a:xfrm>
              <a:off x="644526" y="4013399"/>
              <a:ext cx="10912475" cy="6350"/>
            </a:xfrm>
            <a:prstGeom prst="rect">
              <a:avLst/>
            </a:prstGeom>
            <a:solidFill>
              <a:srgbClr val="D9D3C3"/>
            </a:solidFill>
            <a:ln/>
          </p:spPr>
          <p:txBody>
            <a:bodyPr/>
            <a:lstStyle/>
            <a:p>
              <a:pPr algn="ctr"/>
              <a:endParaRPr lang="en-IN" sz="1200" b="1">
                <a:latin typeface="Georgia" panose="02040502050405020303" pitchFamily="18" charset="0"/>
              </a:endParaRPr>
            </a:p>
          </p:txBody>
        </p:sp>
        <p:sp>
          <p:nvSpPr>
            <p:cNvPr id="159" name="Shape 55">
              <a:extLst>
                <a:ext uri="{FF2B5EF4-FFF2-40B4-BE49-F238E27FC236}">
                  <a16:creationId xmlns:a16="http://schemas.microsoft.com/office/drawing/2014/main" id="{3B9D4C78-17F2-D456-3EDB-E5CEA5790746}"/>
                </a:ext>
              </a:extLst>
            </p:cNvPr>
            <p:cNvSpPr/>
            <p:nvPr/>
          </p:nvSpPr>
          <p:spPr>
            <a:xfrm>
              <a:off x="644526" y="3655318"/>
              <a:ext cx="19050" cy="364431"/>
            </a:xfrm>
            <a:prstGeom prst="rect">
              <a:avLst/>
            </a:prstGeom>
            <a:solidFill>
              <a:srgbClr val="0E8B96"/>
            </a:solidFill>
            <a:ln/>
          </p:spPr>
          <p:txBody>
            <a:bodyPr/>
            <a:lstStyle/>
            <a:p>
              <a:pPr algn="ctr"/>
              <a:endParaRPr lang="en-IN" sz="1200" b="1">
                <a:latin typeface="Georgia" panose="02040502050405020303" pitchFamily="18" charset="0"/>
              </a:endParaRPr>
            </a:p>
          </p:txBody>
        </p:sp>
        <p:sp>
          <p:nvSpPr>
            <p:cNvPr id="160" name="Text 56">
              <a:extLst>
                <a:ext uri="{FF2B5EF4-FFF2-40B4-BE49-F238E27FC236}">
                  <a16:creationId xmlns:a16="http://schemas.microsoft.com/office/drawing/2014/main" id="{052B1195-724A-DF67-A8D5-6F7F4BE53F05}"/>
                </a:ext>
              </a:extLst>
            </p:cNvPr>
            <p:cNvSpPr/>
            <p:nvPr/>
          </p:nvSpPr>
          <p:spPr>
            <a:xfrm>
              <a:off x="833110" y="3731518"/>
              <a:ext cx="2250468"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Kolar</a:t>
              </a:r>
              <a:endParaRPr lang="en-US" sz="1200" b="1" dirty="0">
                <a:latin typeface="Georgia" panose="02040502050405020303" pitchFamily="18" charset="0"/>
              </a:endParaRPr>
            </a:p>
          </p:txBody>
        </p:sp>
        <p:sp>
          <p:nvSpPr>
            <p:cNvPr id="161" name="Text 57">
              <a:extLst>
                <a:ext uri="{FF2B5EF4-FFF2-40B4-BE49-F238E27FC236}">
                  <a16:creationId xmlns:a16="http://schemas.microsoft.com/office/drawing/2014/main" id="{A30417CC-E6F9-4452-737A-68C9F863FBA6}"/>
                </a:ext>
              </a:extLst>
            </p:cNvPr>
            <p:cNvSpPr/>
            <p:nvPr/>
          </p:nvSpPr>
          <p:spPr>
            <a:xfrm>
              <a:off x="3096023" y="3731518"/>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2,491</a:t>
              </a:r>
              <a:endParaRPr lang="en-US" sz="1200" b="1" dirty="0">
                <a:latin typeface="Georgia" panose="02040502050405020303" pitchFamily="18" charset="0"/>
              </a:endParaRPr>
            </a:p>
          </p:txBody>
        </p:sp>
        <p:sp>
          <p:nvSpPr>
            <p:cNvPr id="162" name="Text 58">
              <a:extLst>
                <a:ext uri="{FF2B5EF4-FFF2-40B4-BE49-F238E27FC236}">
                  <a16:creationId xmlns:a16="http://schemas.microsoft.com/office/drawing/2014/main" id="{B08A0CD3-D3A7-A360-8412-0F0D7D377EFE}"/>
                </a:ext>
              </a:extLst>
            </p:cNvPr>
            <p:cNvSpPr/>
            <p:nvPr/>
          </p:nvSpPr>
          <p:spPr>
            <a:xfrm>
              <a:off x="4623693" y="3731518"/>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1,492</a:t>
              </a:r>
              <a:endParaRPr lang="en-US" sz="1200" b="1" dirty="0">
                <a:latin typeface="Georgia" panose="02040502050405020303" pitchFamily="18" charset="0"/>
              </a:endParaRPr>
            </a:p>
          </p:txBody>
        </p:sp>
        <p:sp>
          <p:nvSpPr>
            <p:cNvPr id="163" name="Text 59">
              <a:extLst>
                <a:ext uri="{FF2B5EF4-FFF2-40B4-BE49-F238E27FC236}">
                  <a16:creationId xmlns:a16="http://schemas.microsoft.com/office/drawing/2014/main" id="{A5DB7371-2D81-50FA-B699-2F63DF1CD5F2}"/>
                </a:ext>
              </a:extLst>
            </p:cNvPr>
            <p:cNvSpPr/>
            <p:nvPr/>
          </p:nvSpPr>
          <p:spPr>
            <a:xfrm>
              <a:off x="6151365" y="3731518"/>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1,659</a:t>
              </a:r>
              <a:endParaRPr lang="en-US" sz="1200" b="1" dirty="0">
                <a:latin typeface="Georgia" panose="02040502050405020303" pitchFamily="18" charset="0"/>
              </a:endParaRPr>
            </a:p>
          </p:txBody>
        </p:sp>
        <p:sp>
          <p:nvSpPr>
            <p:cNvPr id="164" name="Text 60">
              <a:extLst>
                <a:ext uri="{FF2B5EF4-FFF2-40B4-BE49-F238E27FC236}">
                  <a16:creationId xmlns:a16="http://schemas.microsoft.com/office/drawing/2014/main" id="{564F4C35-5C7A-DC84-163B-A7FA25114FB4}"/>
                </a:ext>
              </a:extLst>
            </p:cNvPr>
            <p:cNvSpPr/>
            <p:nvPr/>
          </p:nvSpPr>
          <p:spPr>
            <a:xfrm>
              <a:off x="7679036" y="3731518"/>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1,049</a:t>
              </a:r>
              <a:endParaRPr lang="en-US" sz="1200" b="1" dirty="0">
                <a:latin typeface="Georgia" panose="02040502050405020303" pitchFamily="18" charset="0"/>
              </a:endParaRPr>
            </a:p>
          </p:txBody>
        </p:sp>
        <p:sp>
          <p:nvSpPr>
            <p:cNvPr id="165" name="Text 61">
              <a:extLst>
                <a:ext uri="{FF2B5EF4-FFF2-40B4-BE49-F238E27FC236}">
                  <a16:creationId xmlns:a16="http://schemas.microsoft.com/office/drawing/2014/main" id="{B0BFB55C-E797-93F8-FD68-A44E7F301754}"/>
                </a:ext>
              </a:extLst>
            </p:cNvPr>
            <p:cNvSpPr/>
            <p:nvPr/>
          </p:nvSpPr>
          <p:spPr>
            <a:xfrm>
              <a:off x="9185473" y="3731518"/>
              <a:ext cx="2269927"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63%</a:t>
              </a:r>
              <a:endParaRPr lang="en-US" sz="1200" b="1" dirty="0">
                <a:latin typeface="Georgia" panose="02040502050405020303" pitchFamily="18" charset="0"/>
              </a:endParaRPr>
            </a:p>
          </p:txBody>
        </p:sp>
        <p:sp>
          <p:nvSpPr>
            <p:cNvPr id="166" name="Shape 62">
              <a:extLst>
                <a:ext uri="{FF2B5EF4-FFF2-40B4-BE49-F238E27FC236}">
                  <a16:creationId xmlns:a16="http://schemas.microsoft.com/office/drawing/2014/main" id="{E71184A2-7252-79A0-20FD-8CCCD379C43F}"/>
                </a:ext>
              </a:extLst>
            </p:cNvPr>
            <p:cNvSpPr/>
            <p:nvPr/>
          </p:nvSpPr>
          <p:spPr>
            <a:xfrm>
              <a:off x="644526" y="4377829"/>
              <a:ext cx="10912475" cy="6350"/>
            </a:xfrm>
            <a:prstGeom prst="rect">
              <a:avLst/>
            </a:prstGeom>
            <a:solidFill>
              <a:srgbClr val="D9D3C3"/>
            </a:solidFill>
            <a:ln/>
          </p:spPr>
          <p:txBody>
            <a:bodyPr/>
            <a:lstStyle/>
            <a:p>
              <a:pPr algn="ctr"/>
              <a:endParaRPr lang="en-IN" sz="1200" b="1">
                <a:latin typeface="Georgia" panose="02040502050405020303" pitchFamily="18" charset="0"/>
              </a:endParaRPr>
            </a:p>
          </p:txBody>
        </p:sp>
        <p:sp>
          <p:nvSpPr>
            <p:cNvPr id="167" name="Shape 63">
              <a:extLst>
                <a:ext uri="{FF2B5EF4-FFF2-40B4-BE49-F238E27FC236}">
                  <a16:creationId xmlns:a16="http://schemas.microsoft.com/office/drawing/2014/main" id="{67B62BA5-F01C-3190-895C-376A944573C7}"/>
                </a:ext>
              </a:extLst>
            </p:cNvPr>
            <p:cNvSpPr/>
            <p:nvPr/>
          </p:nvSpPr>
          <p:spPr>
            <a:xfrm>
              <a:off x="644526" y="4019749"/>
              <a:ext cx="19050" cy="364431"/>
            </a:xfrm>
            <a:prstGeom prst="rect">
              <a:avLst/>
            </a:prstGeom>
            <a:solidFill>
              <a:srgbClr val="0E8B96"/>
            </a:solidFill>
            <a:ln/>
          </p:spPr>
          <p:txBody>
            <a:bodyPr/>
            <a:lstStyle/>
            <a:p>
              <a:pPr algn="ctr"/>
              <a:endParaRPr lang="en-IN" sz="1200" b="1">
                <a:latin typeface="Georgia" panose="02040502050405020303" pitchFamily="18" charset="0"/>
              </a:endParaRPr>
            </a:p>
          </p:txBody>
        </p:sp>
        <p:sp>
          <p:nvSpPr>
            <p:cNvPr id="168" name="Text 64">
              <a:extLst>
                <a:ext uri="{FF2B5EF4-FFF2-40B4-BE49-F238E27FC236}">
                  <a16:creationId xmlns:a16="http://schemas.microsoft.com/office/drawing/2014/main" id="{3FF47D9A-B55E-3EEB-5713-5CA066383DE6}"/>
                </a:ext>
              </a:extLst>
            </p:cNvPr>
            <p:cNvSpPr/>
            <p:nvPr/>
          </p:nvSpPr>
          <p:spPr>
            <a:xfrm>
              <a:off x="833110" y="4095949"/>
              <a:ext cx="2250468"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Chikkaballapura</a:t>
              </a:r>
              <a:endParaRPr lang="en-US" sz="1200" b="1" dirty="0">
                <a:latin typeface="Georgia" panose="02040502050405020303" pitchFamily="18" charset="0"/>
              </a:endParaRPr>
            </a:p>
          </p:txBody>
        </p:sp>
        <p:sp>
          <p:nvSpPr>
            <p:cNvPr id="169" name="Text 65">
              <a:extLst>
                <a:ext uri="{FF2B5EF4-FFF2-40B4-BE49-F238E27FC236}">
                  <a16:creationId xmlns:a16="http://schemas.microsoft.com/office/drawing/2014/main" id="{CAF0194B-141F-3DCC-D0A9-CA29C6E56618}"/>
                </a:ext>
              </a:extLst>
            </p:cNvPr>
            <p:cNvSpPr/>
            <p:nvPr/>
          </p:nvSpPr>
          <p:spPr>
            <a:xfrm>
              <a:off x="3096023" y="4095949"/>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3,409</a:t>
              </a:r>
              <a:endParaRPr lang="en-US" sz="1200" b="1" dirty="0">
                <a:latin typeface="Georgia" panose="02040502050405020303" pitchFamily="18" charset="0"/>
              </a:endParaRPr>
            </a:p>
          </p:txBody>
        </p:sp>
        <p:sp>
          <p:nvSpPr>
            <p:cNvPr id="170" name="Text 66">
              <a:extLst>
                <a:ext uri="{FF2B5EF4-FFF2-40B4-BE49-F238E27FC236}">
                  <a16:creationId xmlns:a16="http://schemas.microsoft.com/office/drawing/2014/main" id="{B627749A-E249-56B4-0640-2DA66725A0E2}"/>
                </a:ext>
              </a:extLst>
            </p:cNvPr>
            <p:cNvSpPr/>
            <p:nvPr/>
          </p:nvSpPr>
          <p:spPr>
            <a:xfrm>
              <a:off x="4623693" y="4095949"/>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1,571</a:t>
              </a:r>
              <a:endParaRPr lang="en-US" sz="1200" b="1" dirty="0">
                <a:latin typeface="Georgia" panose="02040502050405020303" pitchFamily="18" charset="0"/>
              </a:endParaRPr>
            </a:p>
          </p:txBody>
        </p:sp>
        <p:sp>
          <p:nvSpPr>
            <p:cNvPr id="171" name="Text 67">
              <a:extLst>
                <a:ext uri="{FF2B5EF4-FFF2-40B4-BE49-F238E27FC236}">
                  <a16:creationId xmlns:a16="http://schemas.microsoft.com/office/drawing/2014/main" id="{5CC3ACA8-4997-527B-130B-FC53E1F19EB1}"/>
                </a:ext>
              </a:extLst>
            </p:cNvPr>
            <p:cNvSpPr/>
            <p:nvPr/>
          </p:nvSpPr>
          <p:spPr>
            <a:xfrm>
              <a:off x="6151365" y="4095949"/>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1,977</a:t>
              </a:r>
              <a:endParaRPr lang="en-US" sz="1200" b="1" dirty="0">
                <a:latin typeface="Georgia" panose="02040502050405020303" pitchFamily="18" charset="0"/>
              </a:endParaRPr>
            </a:p>
          </p:txBody>
        </p:sp>
        <p:sp>
          <p:nvSpPr>
            <p:cNvPr id="172" name="Text 68">
              <a:extLst>
                <a:ext uri="{FF2B5EF4-FFF2-40B4-BE49-F238E27FC236}">
                  <a16:creationId xmlns:a16="http://schemas.microsoft.com/office/drawing/2014/main" id="{9E13C034-F0A0-B479-DF66-FC0D628F58D6}"/>
                </a:ext>
              </a:extLst>
            </p:cNvPr>
            <p:cNvSpPr/>
            <p:nvPr/>
          </p:nvSpPr>
          <p:spPr>
            <a:xfrm>
              <a:off x="7679036" y="4095949"/>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907</a:t>
              </a:r>
              <a:endParaRPr lang="en-US" sz="1200" b="1" dirty="0">
                <a:latin typeface="Georgia" panose="02040502050405020303" pitchFamily="18" charset="0"/>
              </a:endParaRPr>
            </a:p>
          </p:txBody>
        </p:sp>
        <p:sp>
          <p:nvSpPr>
            <p:cNvPr id="173" name="Text 69">
              <a:extLst>
                <a:ext uri="{FF2B5EF4-FFF2-40B4-BE49-F238E27FC236}">
                  <a16:creationId xmlns:a16="http://schemas.microsoft.com/office/drawing/2014/main" id="{94D8B3DF-BBE9-6537-337E-6A355A8318D7}"/>
                </a:ext>
              </a:extLst>
            </p:cNvPr>
            <p:cNvSpPr/>
            <p:nvPr/>
          </p:nvSpPr>
          <p:spPr>
            <a:xfrm>
              <a:off x="9185473" y="4095949"/>
              <a:ext cx="2269927"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46%</a:t>
              </a:r>
              <a:endParaRPr lang="en-US" sz="1200" b="1" dirty="0">
                <a:latin typeface="Georgia" panose="02040502050405020303" pitchFamily="18" charset="0"/>
              </a:endParaRPr>
            </a:p>
          </p:txBody>
        </p:sp>
        <p:sp>
          <p:nvSpPr>
            <p:cNvPr id="174" name="Shape 70">
              <a:extLst>
                <a:ext uri="{FF2B5EF4-FFF2-40B4-BE49-F238E27FC236}">
                  <a16:creationId xmlns:a16="http://schemas.microsoft.com/office/drawing/2014/main" id="{5CD2FE58-A415-84DE-875C-6E4C1FA00CEA}"/>
                </a:ext>
              </a:extLst>
            </p:cNvPr>
            <p:cNvSpPr/>
            <p:nvPr/>
          </p:nvSpPr>
          <p:spPr>
            <a:xfrm>
              <a:off x="644526" y="4384179"/>
              <a:ext cx="10912475" cy="364431"/>
            </a:xfrm>
            <a:prstGeom prst="rect">
              <a:avLst/>
            </a:prstGeom>
            <a:solidFill>
              <a:srgbClr val="EFE8D8"/>
            </a:solidFill>
            <a:ln/>
          </p:spPr>
          <p:txBody>
            <a:bodyPr/>
            <a:lstStyle/>
            <a:p>
              <a:pPr algn="ctr"/>
              <a:endParaRPr lang="en-IN" sz="1200" b="1">
                <a:latin typeface="Georgia" panose="02040502050405020303" pitchFamily="18" charset="0"/>
              </a:endParaRPr>
            </a:p>
          </p:txBody>
        </p:sp>
        <p:sp>
          <p:nvSpPr>
            <p:cNvPr id="175" name="Shape 71">
              <a:extLst>
                <a:ext uri="{FF2B5EF4-FFF2-40B4-BE49-F238E27FC236}">
                  <a16:creationId xmlns:a16="http://schemas.microsoft.com/office/drawing/2014/main" id="{53E3A682-33FC-2B61-6194-5D3228C8C06F}"/>
                </a:ext>
              </a:extLst>
            </p:cNvPr>
            <p:cNvSpPr/>
            <p:nvPr/>
          </p:nvSpPr>
          <p:spPr>
            <a:xfrm>
              <a:off x="644526" y="4742260"/>
              <a:ext cx="10912475" cy="6350"/>
            </a:xfrm>
            <a:prstGeom prst="rect">
              <a:avLst/>
            </a:prstGeom>
            <a:solidFill>
              <a:srgbClr val="D9D3C3"/>
            </a:solidFill>
            <a:ln/>
          </p:spPr>
          <p:txBody>
            <a:bodyPr/>
            <a:lstStyle/>
            <a:p>
              <a:pPr algn="ctr"/>
              <a:endParaRPr lang="en-IN" sz="1200" b="1">
                <a:latin typeface="Georgia" panose="02040502050405020303" pitchFamily="18" charset="0"/>
              </a:endParaRPr>
            </a:p>
          </p:txBody>
        </p:sp>
        <p:sp>
          <p:nvSpPr>
            <p:cNvPr id="176" name="Shape 72">
              <a:extLst>
                <a:ext uri="{FF2B5EF4-FFF2-40B4-BE49-F238E27FC236}">
                  <a16:creationId xmlns:a16="http://schemas.microsoft.com/office/drawing/2014/main" id="{96E0D987-979F-CD25-230C-94C03271B740}"/>
                </a:ext>
              </a:extLst>
            </p:cNvPr>
            <p:cNvSpPr/>
            <p:nvPr/>
          </p:nvSpPr>
          <p:spPr>
            <a:xfrm>
              <a:off x="644526" y="4384179"/>
              <a:ext cx="19050" cy="364431"/>
            </a:xfrm>
            <a:prstGeom prst="rect">
              <a:avLst/>
            </a:prstGeom>
            <a:solidFill>
              <a:srgbClr val="0E8B96"/>
            </a:solidFill>
            <a:ln/>
          </p:spPr>
          <p:txBody>
            <a:bodyPr/>
            <a:lstStyle/>
            <a:p>
              <a:pPr algn="ctr"/>
              <a:endParaRPr lang="en-IN" sz="1200" b="1">
                <a:latin typeface="Georgia" panose="02040502050405020303" pitchFamily="18" charset="0"/>
              </a:endParaRPr>
            </a:p>
          </p:txBody>
        </p:sp>
        <p:sp>
          <p:nvSpPr>
            <p:cNvPr id="177" name="Text 73">
              <a:extLst>
                <a:ext uri="{FF2B5EF4-FFF2-40B4-BE49-F238E27FC236}">
                  <a16:creationId xmlns:a16="http://schemas.microsoft.com/office/drawing/2014/main" id="{6567FE3C-ABB1-CBC5-7B20-BDF381C285DF}"/>
                </a:ext>
              </a:extLst>
            </p:cNvPr>
            <p:cNvSpPr/>
            <p:nvPr/>
          </p:nvSpPr>
          <p:spPr>
            <a:xfrm>
              <a:off x="833110" y="4460379"/>
              <a:ext cx="2250468"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Tumakur</a:t>
              </a:r>
              <a:endParaRPr lang="en-US" sz="1200" b="1" dirty="0">
                <a:latin typeface="Georgia" panose="02040502050405020303" pitchFamily="18" charset="0"/>
              </a:endParaRPr>
            </a:p>
          </p:txBody>
        </p:sp>
        <p:sp>
          <p:nvSpPr>
            <p:cNvPr id="178" name="Text 74">
              <a:extLst>
                <a:ext uri="{FF2B5EF4-FFF2-40B4-BE49-F238E27FC236}">
                  <a16:creationId xmlns:a16="http://schemas.microsoft.com/office/drawing/2014/main" id="{9523CD25-0CC7-2F7F-F76E-DF6543498FEE}"/>
                </a:ext>
              </a:extLst>
            </p:cNvPr>
            <p:cNvSpPr/>
            <p:nvPr/>
          </p:nvSpPr>
          <p:spPr>
            <a:xfrm>
              <a:off x="3096023" y="4460379"/>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2,982</a:t>
              </a:r>
              <a:endParaRPr lang="en-US" sz="1200" b="1" dirty="0">
                <a:latin typeface="Georgia" panose="02040502050405020303" pitchFamily="18" charset="0"/>
              </a:endParaRPr>
            </a:p>
          </p:txBody>
        </p:sp>
        <p:sp>
          <p:nvSpPr>
            <p:cNvPr id="179" name="Text 75">
              <a:extLst>
                <a:ext uri="{FF2B5EF4-FFF2-40B4-BE49-F238E27FC236}">
                  <a16:creationId xmlns:a16="http://schemas.microsoft.com/office/drawing/2014/main" id="{DA7D9731-A0B6-B3E8-344E-9FF510C1C258}"/>
                </a:ext>
              </a:extLst>
            </p:cNvPr>
            <p:cNvSpPr/>
            <p:nvPr/>
          </p:nvSpPr>
          <p:spPr>
            <a:xfrm>
              <a:off x="4623693" y="4460379"/>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1,906</a:t>
              </a:r>
              <a:endParaRPr lang="en-US" sz="1200" b="1" dirty="0">
                <a:latin typeface="Georgia" panose="02040502050405020303" pitchFamily="18" charset="0"/>
              </a:endParaRPr>
            </a:p>
          </p:txBody>
        </p:sp>
        <p:sp>
          <p:nvSpPr>
            <p:cNvPr id="180" name="Text 76">
              <a:extLst>
                <a:ext uri="{FF2B5EF4-FFF2-40B4-BE49-F238E27FC236}">
                  <a16:creationId xmlns:a16="http://schemas.microsoft.com/office/drawing/2014/main" id="{E8D123F4-9C01-92A4-1538-9E10AD213E9B}"/>
                </a:ext>
              </a:extLst>
            </p:cNvPr>
            <p:cNvSpPr/>
            <p:nvPr/>
          </p:nvSpPr>
          <p:spPr>
            <a:xfrm>
              <a:off x="6151365" y="4460379"/>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1,827</a:t>
              </a:r>
              <a:endParaRPr lang="en-US" sz="1200" b="1" dirty="0">
                <a:latin typeface="Georgia" panose="02040502050405020303" pitchFamily="18" charset="0"/>
              </a:endParaRPr>
            </a:p>
          </p:txBody>
        </p:sp>
        <p:sp>
          <p:nvSpPr>
            <p:cNvPr id="181" name="Text 77">
              <a:extLst>
                <a:ext uri="{FF2B5EF4-FFF2-40B4-BE49-F238E27FC236}">
                  <a16:creationId xmlns:a16="http://schemas.microsoft.com/office/drawing/2014/main" id="{D9CF8FF5-6BE5-721A-FF81-61FB5A6D9A18}"/>
                </a:ext>
              </a:extLst>
            </p:cNvPr>
            <p:cNvSpPr/>
            <p:nvPr/>
          </p:nvSpPr>
          <p:spPr>
            <a:xfrm>
              <a:off x="7679036" y="4460379"/>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1,165</a:t>
              </a:r>
              <a:endParaRPr lang="en-US" sz="1200" b="1" dirty="0">
                <a:latin typeface="Georgia" panose="02040502050405020303" pitchFamily="18" charset="0"/>
              </a:endParaRPr>
            </a:p>
          </p:txBody>
        </p:sp>
        <p:sp>
          <p:nvSpPr>
            <p:cNvPr id="182" name="Text 78">
              <a:extLst>
                <a:ext uri="{FF2B5EF4-FFF2-40B4-BE49-F238E27FC236}">
                  <a16:creationId xmlns:a16="http://schemas.microsoft.com/office/drawing/2014/main" id="{021C57EE-DE64-80BD-DFE7-908C9CC1B1C6}"/>
                </a:ext>
              </a:extLst>
            </p:cNvPr>
            <p:cNvSpPr/>
            <p:nvPr/>
          </p:nvSpPr>
          <p:spPr>
            <a:xfrm>
              <a:off x="9185473" y="4460379"/>
              <a:ext cx="2269927"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64%</a:t>
              </a:r>
              <a:endParaRPr lang="en-US" sz="1200" b="1" dirty="0">
                <a:latin typeface="Georgia" panose="02040502050405020303" pitchFamily="18" charset="0"/>
              </a:endParaRPr>
            </a:p>
          </p:txBody>
        </p:sp>
        <p:sp>
          <p:nvSpPr>
            <p:cNvPr id="183" name="Shape 79">
              <a:extLst>
                <a:ext uri="{FF2B5EF4-FFF2-40B4-BE49-F238E27FC236}">
                  <a16:creationId xmlns:a16="http://schemas.microsoft.com/office/drawing/2014/main" id="{FC8FD368-0F76-BECB-5B95-AA85C3868BD5}"/>
                </a:ext>
              </a:extLst>
            </p:cNvPr>
            <p:cNvSpPr/>
            <p:nvPr/>
          </p:nvSpPr>
          <p:spPr>
            <a:xfrm>
              <a:off x="644526" y="5106690"/>
              <a:ext cx="10912475" cy="6350"/>
            </a:xfrm>
            <a:prstGeom prst="rect">
              <a:avLst/>
            </a:prstGeom>
            <a:solidFill>
              <a:srgbClr val="D9D3C3"/>
            </a:solidFill>
            <a:ln/>
          </p:spPr>
          <p:txBody>
            <a:bodyPr/>
            <a:lstStyle/>
            <a:p>
              <a:pPr algn="ctr"/>
              <a:endParaRPr lang="en-IN" sz="1200" b="1">
                <a:latin typeface="Georgia" panose="02040502050405020303" pitchFamily="18" charset="0"/>
              </a:endParaRPr>
            </a:p>
          </p:txBody>
        </p:sp>
        <p:sp>
          <p:nvSpPr>
            <p:cNvPr id="184" name="Shape 80">
              <a:extLst>
                <a:ext uri="{FF2B5EF4-FFF2-40B4-BE49-F238E27FC236}">
                  <a16:creationId xmlns:a16="http://schemas.microsoft.com/office/drawing/2014/main" id="{A9DF9712-B02D-AA65-FB7D-DD66F01562D4}"/>
                </a:ext>
              </a:extLst>
            </p:cNvPr>
            <p:cNvSpPr/>
            <p:nvPr/>
          </p:nvSpPr>
          <p:spPr>
            <a:xfrm>
              <a:off x="644526" y="4748609"/>
              <a:ext cx="19050" cy="364431"/>
            </a:xfrm>
            <a:prstGeom prst="rect">
              <a:avLst/>
            </a:prstGeom>
            <a:solidFill>
              <a:srgbClr val="0E8B96"/>
            </a:solidFill>
            <a:ln/>
          </p:spPr>
          <p:txBody>
            <a:bodyPr/>
            <a:lstStyle/>
            <a:p>
              <a:pPr algn="ctr"/>
              <a:endParaRPr lang="en-IN" sz="1200" b="1">
                <a:latin typeface="Georgia" panose="02040502050405020303" pitchFamily="18" charset="0"/>
              </a:endParaRPr>
            </a:p>
          </p:txBody>
        </p:sp>
        <p:sp>
          <p:nvSpPr>
            <p:cNvPr id="185" name="Text 81">
              <a:extLst>
                <a:ext uri="{FF2B5EF4-FFF2-40B4-BE49-F238E27FC236}">
                  <a16:creationId xmlns:a16="http://schemas.microsoft.com/office/drawing/2014/main" id="{601D7BC9-6BE5-D154-9320-A08EC04C60F7}"/>
                </a:ext>
              </a:extLst>
            </p:cNvPr>
            <p:cNvSpPr/>
            <p:nvPr/>
          </p:nvSpPr>
          <p:spPr>
            <a:xfrm>
              <a:off x="833110" y="4824809"/>
              <a:ext cx="2250468"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Shivamogga</a:t>
              </a:r>
              <a:endParaRPr lang="en-US" sz="1200" b="1" dirty="0">
                <a:latin typeface="Georgia" panose="02040502050405020303" pitchFamily="18" charset="0"/>
              </a:endParaRPr>
            </a:p>
          </p:txBody>
        </p:sp>
        <p:sp>
          <p:nvSpPr>
            <p:cNvPr id="186" name="Text 82">
              <a:extLst>
                <a:ext uri="{FF2B5EF4-FFF2-40B4-BE49-F238E27FC236}">
                  <a16:creationId xmlns:a16="http://schemas.microsoft.com/office/drawing/2014/main" id="{41E270ED-1F24-8B46-C359-558CEA4CF408}"/>
                </a:ext>
              </a:extLst>
            </p:cNvPr>
            <p:cNvSpPr/>
            <p:nvPr/>
          </p:nvSpPr>
          <p:spPr>
            <a:xfrm>
              <a:off x="3096023" y="4824809"/>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1,973</a:t>
              </a:r>
              <a:endParaRPr lang="en-US" sz="1200" b="1" dirty="0">
                <a:latin typeface="Georgia" panose="02040502050405020303" pitchFamily="18" charset="0"/>
              </a:endParaRPr>
            </a:p>
          </p:txBody>
        </p:sp>
        <p:sp>
          <p:nvSpPr>
            <p:cNvPr id="187" name="Text 83">
              <a:extLst>
                <a:ext uri="{FF2B5EF4-FFF2-40B4-BE49-F238E27FC236}">
                  <a16:creationId xmlns:a16="http://schemas.microsoft.com/office/drawing/2014/main" id="{A65DABE8-4A3F-8AA8-E84D-0FB0D95B847B}"/>
                </a:ext>
              </a:extLst>
            </p:cNvPr>
            <p:cNvSpPr/>
            <p:nvPr/>
          </p:nvSpPr>
          <p:spPr>
            <a:xfrm>
              <a:off x="4623693" y="4824809"/>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1,191</a:t>
              </a:r>
              <a:endParaRPr lang="en-US" sz="1200" b="1" dirty="0">
                <a:latin typeface="Georgia" panose="02040502050405020303" pitchFamily="18" charset="0"/>
              </a:endParaRPr>
            </a:p>
          </p:txBody>
        </p:sp>
        <p:sp>
          <p:nvSpPr>
            <p:cNvPr id="188" name="Text 84">
              <a:extLst>
                <a:ext uri="{FF2B5EF4-FFF2-40B4-BE49-F238E27FC236}">
                  <a16:creationId xmlns:a16="http://schemas.microsoft.com/office/drawing/2014/main" id="{16C52E98-3637-3F9B-C5E8-B6BDD60192BD}"/>
                </a:ext>
              </a:extLst>
            </p:cNvPr>
            <p:cNvSpPr/>
            <p:nvPr/>
          </p:nvSpPr>
          <p:spPr>
            <a:xfrm>
              <a:off x="6151365" y="4824809"/>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1,493</a:t>
              </a:r>
              <a:endParaRPr lang="en-US" sz="1200" b="1" dirty="0">
                <a:latin typeface="Georgia" panose="02040502050405020303" pitchFamily="18" charset="0"/>
              </a:endParaRPr>
            </a:p>
          </p:txBody>
        </p:sp>
        <p:sp>
          <p:nvSpPr>
            <p:cNvPr id="189" name="Text 85">
              <a:extLst>
                <a:ext uri="{FF2B5EF4-FFF2-40B4-BE49-F238E27FC236}">
                  <a16:creationId xmlns:a16="http://schemas.microsoft.com/office/drawing/2014/main" id="{C15A145C-386E-594D-A619-013547F5600F}"/>
                </a:ext>
              </a:extLst>
            </p:cNvPr>
            <p:cNvSpPr/>
            <p:nvPr/>
          </p:nvSpPr>
          <p:spPr>
            <a:xfrm>
              <a:off x="7679036" y="4824809"/>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978</a:t>
              </a:r>
              <a:endParaRPr lang="en-US" sz="1200" b="1" dirty="0">
                <a:latin typeface="Georgia" panose="02040502050405020303" pitchFamily="18" charset="0"/>
              </a:endParaRPr>
            </a:p>
          </p:txBody>
        </p:sp>
        <p:sp>
          <p:nvSpPr>
            <p:cNvPr id="190" name="Text 86">
              <a:extLst>
                <a:ext uri="{FF2B5EF4-FFF2-40B4-BE49-F238E27FC236}">
                  <a16:creationId xmlns:a16="http://schemas.microsoft.com/office/drawing/2014/main" id="{62BD723F-E512-D056-EFA3-6E3915CFBA23}"/>
                </a:ext>
              </a:extLst>
            </p:cNvPr>
            <p:cNvSpPr/>
            <p:nvPr/>
          </p:nvSpPr>
          <p:spPr>
            <a:xfrm>
              <a:off x="9185473" y="4824809"/>
              <a:ext cx="2269927"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65%</a:t>
              </a:r>
              <a:endParaRPr lang="en-US" sz="1200" b="1" dirty="0">
                <a:latin typeface="Georgia" panose="02040502050405020303" pitchFamily="18" charset="0"/>
              </a:endParaRPr>
            </a:p>
          </p:txBody>
        </p:sp>
        <p:sp>
          <p:nvSpPr>
            <p:cNvPr id="191" name="Shape 87">
              <a:extLst>
                <a:ext uri="{FF2B5EF4-FFF2-40B4-BE49-F238E27FC236}">
                  <a16:creationId xmlns:a16="http://schemas.microsoft.com/office/drawing/2014/main" id="{898F86B6-B1A7-6543-DF8E-59543D405352}"/>
                </a:ext>
              </a:extLst>
            </p:cNvPr>
            <p:cNvSpPr/>
            <p:nvPr/>
          </p:nvSpPr>
          <p:spPr>
            <a:xfrm>
              <a:off x="644526" y="5113040"/>
              <a:ext cx="10912475" cy="364431"/>
            </a:xfrm>
            <a:prstGeom prst="rect">
              <a:avLst/>
            </a:prstGeom>
            <a:solidFill>
              <a:srgbClr val="EFE8D8"/>
            </a:solidFill>
            <a:ln/>
          </p:spPr>
          <p:txBody>
            <a:bodyPr/>
            <a:lstStyle/>
            <a:p>
              <a:pPr algn="ctr"/>
              <a:endParaRPr lang="en-IN" sz="1200" b="1">
                <a:latin typeface="Georgia" panose="02040502050405020303" pitchFamily="18" charset="0"/>
              </a:endParaRPr>
            </a:p>
          </p:txBody>
        </p:sp>
        <p:sp>
          <p:nvSpPr>
            <p:cNvPr id="192" name="Shape 88">
              <a:extLst>
                <a:ext uri="{FF2B5EF4-FFF2-40B4-BE49-F238E27FC236}">
                  <a16:creationId xmlns:a16="http://schemas.microsoft.com/office/drawing/2014/main" id="{20446226-E640-EB23-82E5-7A228744B6F4}"/>
                </a:ext>
              </a:extLst>
            </p:cNvPr>
            <p:cNvSpPr/>
            <p:nvPr/>
          </p:nvSpPr>
          <p:spPr>
            <a:xfrm>
              <a:off x="644526" y="5471120"/>
              <a:ext cx="10912475" cy="6350"/>
            </a:xfrm>
            <a:prstGeom prst="rect">
              <a:avLst/>
            </a:prstGeom>
            <a:solidFill>
              <a:srgbClr val="D9D3C3"/>
            </a:solidFill>
            <a:ln/>
          </p:spPr>
          <p:txBody>
            <a:bodyPr/>
            <a:lstStyle/>
            <a:p>
              <a:pPr algn="ctr"/>
              <a:endParaRPr lang="en-IN" sz="1200" b="1">
                <a:latin typeface="Georgia" panose="02040502050405020303" pitchFamily="18" charset="0"/>
              </a:endParaRPr>
            </a:p>
          </p:txBody>
        </p:sp>
        <p:sp>
          <p:nvSpPr>
            <p:cNvPr id="193" name="Shape 89">
              <a:extLst>
                <a:ext uri="{FF2B5EF4-FFF2-40B4-BE49-F238E27FC236}">
                  <a16:creationId xmlns:a16="http://schemas.microsoft.com/office/drawing/2014/main" id="{6167C136-5094-9F84-2D53-D1277EAC957A}"/>
                </a:ext>
              </a:extLst>
            </p:cNvPr>
            <p:cNvSpPr/>
            <p:nvPr/>
          </p:nvSpPr>
          <p:spPr>
            <a:xfrm>
              <a:off x="644526" y="5113040"/>
              <a:ext cx="19050" cy="364431"/>
            </a:xfrm>
            <a:prstGeom prst="rect">
              <a:avLst/>
            </a:prstGeom>
            <a:solidFill>
              <a:srgbClr val="0E8B96"/>
            </a:solidFill>
            <a:ln/>
          </p:spPr>
          <p:txBody>
            <a:bodyPr/>
            <a:lstStyle/>
            <a:p>
              <a:pPr algn="ctr"/>
              <a:endParaRPr lang="en-IN" sz="1200" b="1">
                <a:latin typeface="Georgia" panose="02040502050405020303" pitchFamily="18" charset="0"/>
              </a:endParaRPr>
            </a:p>
          </p:txBody>
        </p:sp>
        <p:sp>
          <p:nvSpPr>
            <p:cNvPr id="194" name="Text 90">
              <a:extLst>
                <a:ext uri="{FF2B5EF4-FFF2-40B4-BE49-F238E27FC236}">
                  <a16:creationId xmlns:a16="http://schemas.microsoft.com/office/drawing/2014/main" id="{93102ABD-6A21-28B0-B94A-ECAEEC3B26C6}"/>
                </a:ext>
              </a:extLst>
            </p:cNvPr>
            <p:cNvSpPr/>
            <p:nvPr/>
          </p:nvSpPr>
          <p:spPr>
            <a:xfrm>
              <a:off x="833110" y="5189240"/>
              <a:ext cx="2250468"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Dharwad</a:t>
              </a:r>
              <a:endParaRPr lang="en-US" sz="1200" b="1" dirty="0">
                <a:latin typeface="Georgia" panose="02040502050405020303" pitchFamily="18" charset="0"/>
              </a:endParaRPr>
            </a:p>
          </p:txBody>
        </p:sp>
        <p:sp>
          <p:nvSpPr>
            <p:cNvPr id="195" name="Text 91">
              <a:extLst>
                <a:ext uri="{FF2B5EF4-FFF2-40B4-BE49-F238E27FC236}">
                  <a16:creationId xmlns:a16="http://schemas.microsoft.com/office/drawing/2014/main" id="{6D745D73-274A-1B78-5CB7-E8C9EB3753A8}"/>
                </a:ext>
              </a:extLst>
            </p:cNvPr>
            <p:cNvSpPr/>
            <p:nvPr/>
          </p:nvSpPr>
          <p:spPr>
            <a:xfrm>
              <a:off x="3096023" y="5189240"/>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2,767</a:t>
              </a:r>
              <a:endParaRPr lang="en-US" sz="1200" b="1" dirty="0">
                <a:latin typeface="Georgia" panose="02040502050405020303" pitchFamily="18" charset="0"/>
              </a:endParaRPr>
            </a:p>
          </p:txBody>
        </p:sp>
        <p:sp>
          <p:nvSpPr>
            <p:cNvPr id="196" name="Text 92">
              <a:extLst>
                <a:ext uri="{FF2B5EF4-FFF2-40B4-BE49-F238E27FC236}">
                  <a16:creationId xmlns:a16="http://schemas.microsoft.com/office/drawing/2014/main" id="{E7BB0911-564B-002B-096A-9F099C9347F4}"/>
                </a:ext>
              </a:extLst>
            </p:cNvPr>
            <p:cNvSpPr/>
            <p:nvPr/>
          </p:nvSpPr>
          <p:spPr>
            <a:xfrm>
              <a:off x="4623693" y="5189240"/>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729</a:t>
              </a:r>
              <a:endParaRPr lang="en-US" sz="1200" b="1" dirty="0">
                <a:latin typeface="Georgia" panose="02040502050405020303" pitchFamily="18" charset="0"/>
              </a:endParaRPr>
            </a:p>
          </p:txBody>
        </p:sp>
        <p:sp>
          <p:nvSpPr>
            <p:cNvPr id="197" name="Text 93">
              <a:extLst>
                <a:ext uri="{FF2B5EF4-FFF2-40B4-BE49-F238E27FC236}">
                  <a16:creationId xmlns:a16="http://schemas.microsoft.com/office/drawing/2014/main" id="{12A9BBA8-BD61-E635-1067-3920E9F842A3}"/>
                </a:ext>
              </a:extLst>
            </p:cNvPr>
            <p:cNvSpPr/>
            <p:nvPr/>
          </p:nvSpPr>
          <p:spPr>
            <a:xfrm>
              <a:off x="6151365" y="5189240"/>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1,338</a:t>
              </a:r>
              <a:endParaRPr lang="en-US" sz="1200" b="1" dirty="0">
                <a:latin typeface="Georgia" panose="02040502050405020303" pitchFamily="18" charset="0"/>
              </a:endParaRPr>
            </a:p>
          </p:txBody>
        </p:sp>
        <p:sp>
          <p:nvSpPr>
            <p:cNvPr id="198" name="Text 94">
              <a:extLst>
                <a:ext uri="{FF2B5EF4-FFF2-40B4-BE49-F238E27FC236}">
                  <a16:creationId xmlns:a16="http://schemas.microsoft.com/office/drawing/2014/main" id="{6CE0FD2C-6C72-F46F-0BEB-AEABF89559DC}"/>
                </a:ext>
              </a:extLst>
            </p:cNvPr>
            <p:cNvSpPr/>
            <p:nvPr/>
          </p:nvSpPr>
          <p:spPr>
            <a:xfrm>
              <a:off x="7679036" y="5189240"/>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341</a:t>
              </a:r>
              <a:endParaRPr lang="en-US" sz="1200" b="1" dirty="0">
                <a:latin typeface="Georgia" panose="02040502050405020303" pitchFamily="18" charset="0"/>
              </a:endParaRPr>
            </a:p>
          </p:txBody>
        </p:sp>
        <p:sp>
          <p:nvSpPr>
            <p:cNvPr id="199" name="Text 95">
              <a:extLst>
                <a:ext uri="{FF2B5EF4-FFF2-40B4-BE49-F238E27FC236}">
                  <a16:creationId xmlns:a16="http://schemas.microsoft.com/office/drawing/2014/main" id="{13068A9D-88EF-B593-C5F3-589DF17B4259}"/>
                </a:ext>
              </a:extLst>
            </p:cNvPr>
            <p:cNvSpPr/>
            <p:nvPr/>
          </p:nvSpPr>
          <p:spPr>
            <a:xfrm>
              <a:off x="9185473" y="5189240"/>
              <a:ext cx="2269927"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25%</a:t>
              </a:r>
              <a:endParaRPr lang="en-US" sz="1200" b="1" dirty="0">
                <a:latin typeface="Georgia" panose="02040502050405020303" pitchFamily="18" charset="0"/>
              </a:endParaRPr>
            </a:p>
          </p:txBody>
        </p:sp>
        <p:sp>
          <p:nvSpPr>
            <p:cNvPr id="200" name="Shape 96">
              <a:extLst>
                <a:ext uri="{FF2B5EF4-FFF2-40B4-BE49-F238E27FC236}">
                  <a16:creationId xmlns:a16="http://schemas.microsoft.com/office/drawing/2014/main" id="{8BD65347-FB5C-2B42-493F-8AD089F93D9D}"/>
                </a:ext>
              </a:extLst>
            </p:cNvPr>
            <p:cNvSpPr/>
            <p:nvPr/>
          </p:nvSpPr>
          <p:spPr>
            <a:xfrm>
              <a:off x="644526" y="5835551"/>
              <a:ext cx="10912475" cy="6350"/>
            </a:xfrm>
            <a:prstGeom prst="rect">
              <a:avLst/>
            </a:prstGeom>
            <a:solidFill>
              <a:srgbClr val="D9D3C3"/>
            </a:solidFill>
            <a:ln/>
          </p:spPr>
          <p:txBody>
            <a:bodyPr/>
            <a:lstStyle/>
            <a:p>
              <a:pPr algn="ctr"/>
              <a:endParaRPr lang="en-IN" sz="1200" b="1">
                <a:latin typeface="Georgia" panose="02040502050405020303" pitchFamily="18" charset="0"/>
              </a:endParaRPr>
            </a:p>
          </p:txBody>
        </p:sp>
        <p:sp>
          <p:nvSpPr>
            <p:cNvPr id="201" name="Shape 97">
              <a:extLst>
                <a:ext uri="{FF2B5EF4-FFF2-40B4-BE49-F238E27FC236}">
                  <a16:creationId xmlns:a16="http://schemas.microsoft.com/office/drawing/2014/main" id="{AD52EC38-33B5-8B42-9B0A-0551F6FDF671}"/>
                </a:ext>
              </a:extLst>
            </p:cNvPr>
            <p:cNvSpPr/>
            <p:nvPr/>
          </p:nvSpPr>
          <p:spPr>
            <a:xfrm>
              <a:off x="644526" y="5477470"/>
              <a:ext cx="19050" cy="364431"/>
            </a:xfrm>
            <a:prstGeom prst="rect">
              <a:avLst/>
            </a:prstGeom>
            <a:solidFill>
              <a:srgbClr val="0E8B96"/>
            </a:solidFill>
            <a:ln/>
          </p:spPr>
          <p:txBody>
            <a:bodyPr/>
            <a:lstStyle/>
            <a:p>
              <a:pPr algn="ctr"/>
              <a:endParaRPr lang="en-IN" sz="1200" b="1">
                <a:latin typeface="Georgia" panose="02040502050405020303" pitchFamily="18" charset="0"/>
              </a:endParaRPr>
            </a:p>
          </p:txBody>
        </p:sp>
        <p:sp>
          <p:nvSpPr>
            <p:cNvPr id="202" name="Text 98">
              <a:extLst>
                <a:ext uri="{FF2B5EF4-FFF2-40B4-BE49-F238E27FC236}">
                  <a16:creationId xmlns:a16="http://schemas.microsoft.com/office/drawing/2014/main" id="{B1A810B5-2555-20DA-2931-DE56F3CD8486}"/>
                </a:ext>
              </a:extLst>
            </p:cNvPr>
            <p:cNvSpPr/>
            <p:nvPr/>
          </p:nvSpPr>
          <p:spPr>
            <a:xfrm>
              <a:off x="833110" y="5553670"/>
              <a:ext cx="2250468"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ea typeface="Trebuchet MS" pitchFamily="34" charset="-122"/>
                  <a:cs typeface="Trebuchet MS" pitchFamily="34" charset="-120"/>
                </a:rPr>
                <a:t>Dakshina Kannada</a:t>
              </a:r>
              <a:endParaRPr lang="en-US" sz="1200" b="1" dirty="0">
                <a:latin typeface="Georgia" panose="02040502050405020303" pitchFamily="18" charset="0"/>
              </a:endParaRPr>
            </a:p>
          </p:txBody>
        </p:sp>
        <p:sp>
          <p:nvSpPr>
            <p:cNvPr id="203" name="Text 99">
              <a:extLst>
                <a:ext uri="{FF2B5EF4-FFF2-40B4-BE49-F238E27FC236}">
                  <a16:creationId xmlns:a16="http://schemas.microsoft.com/office/drawing/2014/main" id="{590B55AD-4A29-474F-B460-6B16A31FB042}"/>
                </a:ext>
              </a:extLst>
            </p:cNvPr>
            <p:cNvSpPr/>
            <p:nvPr/>
          </p:nvSpPr>
          <p:spPr>
            <a:xfrm>
              <a:off x="3096023" y="5553670"/>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1,034</a:t>
              </a:r>
              <a:endParaRPr lang="en-US" sz="1200" b="1" dirty="0">
                <a:latin typeface="Georgia" panose="02040502050405020303" pitchFamily="18" charset="0"/>
              </a:endParaRPr>
            </a:p>
          </p:txBody>
        </p:sp>
        <p:sp>
          <p:nvSpPr>
            <p:cNvPr id="204" name="Text 100">
              <a:extLst>
                <a:ext uri="{FF2B5EF4-FFF2-40B4-BE49-F238E27FC236}">
                  <a16:creationId xmlns:a16="http://schemas.microsoft.com/office/drawing/2014/main" id="{C83FAB7C-D24D-1B11-73CA-9174405B936C}"/>
                </a:ext>
              </a:extLst>
            </p:cNvPr>
            <p:cNvSpPr/>
            <p:nvPr/>
          </p:nvSpPr>
          <p:spPr>
            <a:xfrm>
              <a:off x="4623693" y="5553670"/>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676</a:t>
              </a:r>
              <a:endParaRPr lang="en-US" sz="1200" b="1" dirty="0">
                <a:latin typeface="Georgia" panose="02040502050405020303" pitchFamily="18" charset="0"/>
              </a:endParaRPr>
            </a:p>
          </p:txBody>
        </p:sp>
        <p:sp>
          <p:nvSpPr>
            <p:cNvPr id="205" name="Text 101">
              <a:extLst>
                <a:ext uri="{FF2B5EF4-FFF2-40B4-BE49-F238E27FC236}">
                  <a16:creationId xmlns:a16="http://schemas.microsoft.com/office/drawing/2014/main" id="{B9B84E9E-ECD3-79BD-1B94-31C80D2E0147}"/>
                </a:ext>
              </a:extLst>
            </p:cNvPr>
            <p:cNvSpPr/>
            <p:nvPr/>
          </p:nvSpPr>
          <p:spPr>
            <a:xfrm>
              <a:off x="6151365" y="5553670"/>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807</a:t>
              </a:r>
              <a:endParaRPr lang="en-US" sz="1200" b="1" dirty="0">
                <a:latin typeface="Georgia" panose="02040502050405020303" pitchFamily="18" charset="0"/>
              </a:endParaRPr>
            </a:p>
          </p:txBody>
        </p:sp>
        <p:sp>
          <p:nvSpPr>
            <p:cNvPr id="206" name="Text 102">
              <a:extLst>
                <a:ext uri="{FF2B5EF4-FFF2-40B4-BE49-F238E27FC236}">
                  <a16:creationId xmlns:a16="http://schemas.microsoft.com/office/drawing/2014/main" id="{EE364E62-FF2F-4D78-B546-4389D759DDE1}"/>
                </a:ext>
              </a:extLst>
            </p:cNvPr>
            <p:cNvSpPr/>
            <p:nvPr/>
          </p:nvSpPr>
          <p:spPr>
            <a:xfrm>
              <a:off x="7679036" y="5553670"/>
              <a:ext cx="137527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536</a:t>
              </a:r>
              <a:endParaRPr lang="en-US" sz="1200" b="1" dirty="0">
                <a:latin typeface="Georgia" panose="02040502050405020303" pitchFamily="18" charset="0"/>
              </a:endParaRPr>
            </a:p>
          </p:txBody>
        </p:sp>
        <p:sp>
          <p:nvSpPr>
            <p:cNvPr id="207" name="Text 103">
              <a:extLst>
                <a:ext uri="{FF2B5EF4-FFF2-40B4-BE49-F238E27FC236}">
                  <a16:creationId xmlns:a16="http://schemas.microsoft.com/office/drawing/2014/main" id="{E6105494-F6A6-A7CC-6EF2-554343FF437F}"/>
                </a:ext>
              </a:extLst>
            </p:cNvPr>
            <p:cNvSpPr/>
            <p:nvPr/>
          </p:nvSpPr>
          <p:spPr>
            <a:xfrm>
              <a:off x="9185473" y="5553670"/>
              <a:ext cx="2269927"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66%</a:t>
              </a:r>
              <a:endParaRPr lang="en-US" sz="1200" b="1" dirty="0">
                <a:latin typeface="Georgia" panose="02040502050405020303" pitchFamily="18" charset="0"/>
              </a:endParaRPr>
            </a:p>
          </p:txBody>
        </p:sp>
        <p:sp>
          <p:nvSpPr>
            <p:cNvPr id="208" name="Shape 104">
              <a:extLst>
                <a:ext uri="{FF2B5EF4-FFF2-40B4-BE49-F238E27FC236}">
                  <a16:creationId xmlns:a16="http://schemas.microsoft.com/office/drawing/2014/main" id="{839DB2E0-E904-1375-DD07-BE11171EA57A}"/>
                </a:ext>
              </a:extLst>
            </p:cNvPr>
            <p:cNvSpPr/>
            <p:nvPr/>
          </p:nvSpPr>
          <p:spPr>
            <a:xfrm>
              <a:off x="654050" y="5841901"/>
              <a:ext cx="10902951" cy="364431"/>
            </a:xfrm>
            <a:prstGeom prst="rect">
              <a:avLst/>
            </a:prstGeom>
            <a:solidFill>
              <a:srgbClr val="EFE8D8"/>
            </a:solidFill>
            <a:ln/>
          </p:spPr>
          <p:txBody>
            <a:bodyPr/>
            <a:lstStyle/>
            <a:p>
              <a:pPr algn="ctr"/>
              <a:endParaRPr lang="en-IN" sz="1200" b="1">
                <a:latin typeface="Georgia" panose="02040502050405020303" pitchFamily="18" charset="0"/>
              </a:endParaRPr>
            </a:p>
          </p:txBody>
        </p:sp>
        <p:sp>
          <p:nvSpPr>
            <p:cNvPr id="209" name="Shape 105">
              <a:extLst>
                <a:ext uri="{FF2B5EF4-FFF2-40B4-BE49-F238E27FC236}">
                  <a16:creationId xmlns:a16="http://schemas.microsoft.com/office/drawing/2014/main" id="{B6EB31BE-0ABB-74E4-9F8D-D2A7FE7A3FA5}"/>
                </a:ext>
              </a:extLst>
            </p:cNvPr>
            <p:cNvSpPr/>
            <p:nvPr/>
          </p:nvSpPr>
          <p:spPr>
            <a:xfrm>
              <a:off x="644526" y="6199982"/>
              <a:ext cx="10912475" cy="6350"/>
            </a:xfrm>
            <a:prstGeom prst="rect">
              <a:avLst/>
            </a:prstGeom>
            <a:solidFill>
              <a:srgbClr val="D9D3C3"/>
            </a:solidFill>
            <a:ln/>
          </p:spPr>
          <p:txBody>
            <a:bodyPr/>
            <a:lstStyle/>
            <a:p>
              <a:pPr algn="ctr"/>
              <a:endParaRPr lang="en-IN" sz="1200" b="1">
                <a:latin typeface="Georgia" panose="02040502050405020303" pitchFamily="18" charset="0"/>
              </a:endParaRPr>
            </a:p>
          </p:txBody>
        </p:sp>
        <p:sp>
          <p:nvSpPr>
            <p:cNvPr id="210" name="Shape 106">
              <a:extLst>
                <a:ext uri="{FF2B5EF4-FFF2-40B4-BE49-F238E27FC236}">
                  <a16:creationId xmlns:a16="http://schemas.microsoft.com/office/drawing/2014/main" id="{83472DF8-A3C2-2CCD-A368-64FEDF28A782}"/>
                </a:ext>
              </a:extLst>
            </p:cNvPr>
            <p:cNvSpPr/>
            <p:nvPr/>
          </p:nvSpPr>
          <p:spPr>
            <a:xfrm>
              <a:off x="644525" y="6189171"/>
              <a:ext cx="2468437" cy="364431"/>
            </a:xfrm>
            <a:prstGeom prst="rect">
              <a:avLst/>
            </a:prstGeom>
            <a:solidFill>
              <a:srgbClr val="0B6E78"/>
            </a:solidFill>
            <a:ln/>
          </p:spPr>
          <p:txBody>
            <a:bodyPr anchor="ctr"/>
            <a:lstStyle/>
            <a:p>
              <a:endParaRPr lang="en-IN" sz="1200" b="1">
                <a:latin typeface="Georgia" panose="02040502050405020303" pitchFamily="18" charset="0"/>
              </a:endParaRPr>
            </a:p>
          </p:txBody>
        </p:sp>
        <p:sp>
          <p:nvSpPr>
            <p:cNvPr id="211" name="Text 107">
              <a:extLst>
                <a:ext uri="{FF2B5EF4-FFF2-40B4-BE49-F238E27FC236}">
                  <a16:creationId xmlns:a16="http://schemas.microsoft.com/office/drawing/2014/main" id="{8245CF48-A3EA-12BF-BBD2-52B0241DAFF6}"/>
                </a:ext>
              </a:extLst>
            </p:cNvPr>
            <p:cNvSpPr/>
            <p:nvPr/>
          </p:nvSpPr>
          <p:spPr>
            <a:xfrm>
              <a:off x="325156" y="6225978"/>
              <a:ext cx="2342561"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FFFFFF"/>
                  </a:solidFill>
                  <a:latin typeface="Georgia" panose="02040502050405020303" pitchFamily="18" charset="0"/>
                  <a:ea typeface="Trebuchet MS" pitchFamily="34" charset="-122"/>
                  <a:cs typeface="Trebuchet MS" pitchFamily="34" charset="-120"/>
                </a:rPr>
                <a:t>Total (all districts)</a:t>
              </a:r>
              <a:endParaRPr lang="en-US" sz="1200" b="1" dirty="0">
                <a:latin typeface="Georgia" panose="02040502050405020303" pitchFamily="18" charset="0"/>
              </a:endParaRPr>
            </a:p>
          </p:txBody>
        </p:sp>
        <p:sp>
          <p:nvSpPr>
            <p:cNvPr id="212" name="Shape 108">
              <a:extLst>
                <a:ext uri="{FF2B5EF4-FFF2-40B4-BE49-F238E27FC236}">
                  <a16:creationId xmlns:a16="http://schemas.microsoft.com/office/drawing/2014/main" id="{0F7B499E-1D6C-1A5E-40CB-9B4C1A10D1DB}"/>
                </a:ext>
              </a:extLst>
            </p:cNvPr>
            <p:cNvSpPr/>
            <p:nvPr/>
          </p:nvSpPr>
          <p:spPr>
            <a:xfrm>
              <a:off x="2995860" y="6189171"/>
              <a:ext cx="1576839" cy="364431"/>
            </a:xfrm>
            <a:prstGeom prst="rect">
              <a:avLst/>
            </a:prstGeom>
            <a:solidFill>
              <a:srgbClr val="0B6E78"/>
            </a:solidFill>
            <a:ln/>
          </p:spPr>
          <p:txBody>
            <a:bodyPr/>
            <a:lstStyle/>
            <a:p>
              <a:pPr algn="ctr"/>
              <a:endParaRPr lang="en-IN" sz="1200" b="1">
                <a:latin typeface="Georgia" panose="02040502050405020303" pitchFamily="18" charset="0"/>
              </a:endParaRPr>
            </a:p>
          </p:txBody>
        </p:sp>
        <p:sp>
          <p:nvSpPr>
            <p:cNvPr id="213" name="Text 109">
              <a:extLst>
                <a:ext uri="{FF2B5EF4-FFF2-40B4-BE49-F238E27FC236}">
                  <a16:creationId xmlns:a16="http://schemas.microsoft.com/office/drawing/2014/main" id="{9215BFDF-E1FD-29C1-FD27-F5B1DABBE3AC}"/>
                </a:ext>
              </a:extLst>
            </p:cNvPr>
            <p:cNvSpPr/>
            <p:nvPr/>
          </p:nvSpPr>
          <p:spPr>
            <a:xfrm>
              <a:off x="3051565" y="6265371"/>
              <a:ext cx="141953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FFFFFF"/>
                  </a:solidFill>
                  <a:latin typeface="Georgia" panose="02040502050405020303" pitchFamily="18" charset="0"/>
                  <a:ea typeface="Trebuchet MS" pitchFamily="34" charset="-122"/>
                  <a:cs typeface="Trebuchet MS" pitchFamily="34" charset="-120"/>
                </a:rPr>
                <a:t>57,818</a:t>
              </a:r>
              <a:endParaRPr lang="en-US" sz="1200" b="1" dirty="0">
                <a:latin typeface="Georgia" panose="02040502050405020303" pitchFamily="18" charset="0"/>
              </a:endParaRPr>
            </a:p>
          </p:txBody>
        </p:sp>
        <p:sp>
          <p:nvSpPr>
            <p:cNvPr id="214" name="Shape 110">
              <a:extLst>
                <a:ext uri="{FF2B5EF4-FFF2-40B4-BE49-F238E27FC236}">
                  <a16:creationId xmlns:a16="http://schemas.microsoft.com/office/drawing/2014/main" id="{A0318521-F979-7D2A-B53C-E41530011B9A}"/>
                </a:ext>
              </a:extLst>
            </p:cNvPr>
            <p:cNvSpPr/>
            <p:nvPr/>
          </p:nvSpPr>
          <p:spPr>
            <a:xfrm>
              <a:off x="4523529" y="6189171"/>
              <a:ext cx="1576839" cy="364431"/>
            </a:xfrm>
            <a:prstGeom prst="rect">
              <a:avLst/>
            </a:prstGeom>
            <a:solidFill>
              <a:srgbClr val="0B6E78"/>
            </a:solidFill>
            <a:ln/>
          </p:spPr>
          <p:txBody>
            <a:bodyPr/>
            <a:lstStyle/>
            <a:p>
              <a:pPr algn="ctr"/>
              <a:endParaRPr lang="en-IN" sz="1200" b="1">
                <a:latin typeface="Georgia" panose="02040502050405020303" pitchFamily="18" charset="0"/>
              </a:endParaRPr>
            </a:p>
          </p:txBody>
        </p:sp>
        <p:sp>
          <p:nvSpPr>
            <p:cNvPr id="215" name="Text 111">
              <a:extLst>
                <a:ext uri="{FF2B5EF4-FFF2-40B4-BE49-F238E27FC236}">
                  <a16:creationId xmlns:a16="http://schemas.microsoft.com/office/drawing/2014/main" id="{C852CB44-7CE2-D2B1-3D99-6BC32895A1B6}"/>
                </a:ext>
              </a:extLst>
            </p:cNvPr>
            <p:cNvSpPr/>
            <p:nvPr/>
          </p:nvSpPr>
          <p:spPr>
            <a:xfrm>
              <a:off x="4579234" y="6265371"/>
              <a:ext cx="141953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FFFFFF"/>
                  </a:solidFill>
                  <a:latin typeface="Georgia" panose="02040502050405020303" pitchFamily="18" charset="0"/>
                  <a:ea typeface="Trebuchet MS" pitchFamily="34" charset="-122"/>
                  <a:cs typeface="Trebuchet MS" pitchFamily="34" charset="-120"/>
                </a:rPr>
                <a:t>29,220</a:t>
              </a:r>
              <a:endParaRPr lang="en-US" sz="1200" b="1" dirty="0">
                <a:latin typeface="Georgia" panose="02040502050405020303" pitchFamily="18" charset="0"/>
              </a:endParaRPr>
            </a:p>
          </p:txBody>
        </p:sp>
        <p:sp>
          <p:nvSpPr>
            <p:cNvPr id="216" name="Shape 112">
              <a:extLst>
                <a:ext uri="{FF2B5EF4-FFF2-40B4-BE49-F238E27FC236}">
                  <a16:creationId xmlns:a16="http://schemas.microsoft.com/office/drawing/2014/main" id="{9B7F696D-2E4E-FB25-CFA8-4640B493C37E}"/>
                </a:ext>
              </a:extLst>
            </p:cNvPr>
            <p:cNvSpPr/>
            <p:nvPr/>
          </p:nvSpPr>
          <p:spPr>
            <a:xfrm>
              <a:off x="6051201" y="6189171"/>
              <a:ext cx="1576839" cy="364431"/>
            </a:xfrm>
            <a:prstGeom prst="rect">
              <a:avLst/>
            </a:prstGeom>
            <a:solidFill>
              <a:srgbClr val="0B6E78"/>
            </a:solidFill>
            <a:ln/>
          </p:spPr>
          <p:txBody>
            <a:bodyPr/>
            <a:lstStyle/>
            <a:p>
              <a:pPr algn="ctr"/>
              <a:endParaRPr lang="en-IN" sz="1200" b="1">
                <a:latin typeface="Georgia" panose="02040502050405020303" pitchFamily="18" charset="0"/>
              </a:endParaRPr>
            </a:p>
          </p:txBody>
        </p:sp>
        <p:sp>
          <p:nvSpPr>
            <p:cNvPr id="217" name="Text 113">
              <a:extLst>
                <a:ext uri="{FF2B5EF4-FFF2-40B4-BE49-F238E27FC236}">
                  <a16:creationId xmlns:a16="http://schemas.microsoft.com/office/drawing/2014/main" id="{5D592C00-644F-8AFE-BDF5-EFC849A1FBF6}"/>
                </a:ext>
              </a:extLst>
            </p:cNvPr>
            <p:cNvSpPr/>
            <p:nvPr/>
          </p:nvSpPr>
          <p:spPr>
            <a:xfrm>
              <a:off x="6106906" y="6265371"/>
              <a:ext cx="141953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FFFFFF"/>
                  </a:solidFill>
                  <a:latin typeface="Georgia" panose="02040502050405020303" pitchFamily="18" charset="0"/>
                  <a:ea typeface="Trebuchet MS" pitchFamily="34" charset="-122"/>
                  <a:cs typeface="Trebuchet MS" pitchFamily="34" charset="-120"/>
                </a:rPr>
                <a:t>32,579</a:t>
              </a:r>
              <a:endParaRPr lang="en-US" sz="1200" b="1" dirty="0">
                <a:latin typeface="Georgia" panose="02040502050405020303" pitchFamily="18" charset="0"/>
              </a:endParaRPr>
            </a:p>
          </p:txBody>
        </p:sp>
        <p:sp>
          <p:nvSpPr>
            <p:cNvPr id="218" name="Shape 114">
              <a:extLst>
                <a:ext uri="{FF2B5EF4-FFF2-40B4-BE49-F238E27FC236}">
                  <a16:creationId xmlns:a16="http://schemas.microsoft.com/office/drawing/2014/main" id="{7D80162E-AB6F-F7F4-6C3D-948FB3EFECBD}"/>
                </a:ext>
              </a:extLst>
            </p:cNvPr>
            <p:cNvSpPr/>
            <p:nvPr/>
          </p:nvSpPr>
          <p:spPr>
            <a:xfrm>
              <a:off x="7578872" y="6189171"/>
              <a:ext cx="1576839" cy="364431"/>
            </a:xfrm>
            <a:prstGeom prst="rect">
              <a:avLst/>
            </a:prstGeom>
            <a:solidFill>
              <a:srgbClr val="0B6E78"/>
            </a:solidFill>
            <a:ln/>
          </p:spPr>
          <p:txBody>
            <a:bodyPr/>
            <a:lstStyle/>
            <a:p>
              <a:pPr algn="ctr"/>
              <a:endParaRPr lang="en-IN" sz="1200" b="1">
                <a:latin typeface="Georgia" panose="02040502050405020303" pitchFamily="18" charset="0"/>
              </a:endParaRPr>
            </a:p>
          </p:txBody>
        </p:sp>
        <p:sp>
          <p:nvSpPr>
            <p:cNvPr id="219" name="Text 115">
              <a:extLst>
                <a:ext uri="{FF2B5EF4-FFF2-40B4-BE49-F238E27FC236}">
                  <a16:creationId xmlns:a16="http://schemas.microsoft.com/office/drawing/2014/main" id="{C3803013-30BE-CCCA-B790-BD35DF0DEDEF}"/>
                </a:ext>
              </a:extLst>
            </p:cNvPr>
            <p:cNvSpPr/>
            <p:nvPr/>
          </p:nvSpPr>
          <p:spPr>
            <a:xfrm>
              <a:off x="7634577" y="6265371"/>
              <a:ext cx="1419534"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FFFFFF"/>
                  </a:solidFill>
                  <a:latin typeface="Georgia" panose="02040502050405020303" pitchFamily="18" charset="0"/>
                  <a:ea typeface="Trebuchet MS" pitchFamily="34" charset="-122"/>
                  <a:cs typeface="Trebuchet MS" pitchFamily="34" charset="-120"/>
                </a:rPr>
                <a:t>17,075</a:t>
              </a:r>
              <a:endParaRPr lang="en-US" sz="1200" b="1" dirty="0">
                <a:latin typeface="Georgia" panose="02040502050405020303" pitchFamily="18" charset="0"/>
              </a:endParaRPr>
            </a:p>
          </p:txBody>
        </p:sp>
        <p:sp>
          <p:nvSpPr>
            <p:cNvPr id="220" name="Shape 116">
              <a:extLst>
                <a:ext uri="{FF2B5EF4-FFF2-40B4-BE49-F238E27FC236}">
                  <a16:creationId xmlns:a16="http://schemas.microsoft.com/office/drawing/2014/main" id="{30078E2B-A124-A4E5-8A80-BFFC1CA34D1C}"/>
                </a:ext>
              </a:extLst>
            </p:cNvPr>
            <p:cNvSpPr/>
            <p:nvPr/>
          </p:nvSpPr>
          <p:spPr>
            <a:xfrm>
              <a:off x="9078432" y="6189171"/>
              <a:ext cx="2478372" cy="364431"/>
            </a:xfrm>
            <a:prstGeom prst="rect">
              <a:avLst/>
            </a:prstGeom>
            <a:solidFill>
              <a:srgbClr val="0B6E78"/>
            </a:solidFill>
            <a:ln/>
          </p:spPr>
          <p:txBody>
            <a:bodyPr/>
            <a:lstStyle/>
            <a:p>
              <a:pPr algn="ctr"/>
              <a:endParaRPr lang="en-IN" sz="1200" b="1">
                <a:latin typeface="Georgia" panose="02040502050405020303" pitchFamily="18" charset="0"/>
              </a:endParaRPr>
            </a:p>
          </p:txBody>
        </p:sp>
        <p:sp>
          <p:nvSpPr>
            <p:cNvPr id="221" name="Text 117">
              <a:extLst>
                <a:ext uri="{FF2B5EF4-FFF2-40B4-BE49-F238E27FC236}">
                  <a16:creationId xmlns:a16="http://schemas.microsoft.com/office/drawing/2014/main" id="{BAF9C377-FC5E-146D-8CF3-49D61C624894}"/>
                </a:ext>
              </a:extLst>
            </p:cNvPr>
            <p:cNvSpPr/>
            <p:nvPr/>
          </p:nvSpPr>
          <p:spPr>
            <a:xfrm>
              <a:off x="10007781" y="6292056"/>
              <a:ext cx="585717"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FFFFFF"/>
                  </a:solidFill>
                  <a:latin typeface="Georgia" panose="02040502050405020303" pitchFamily="18" charset="0"/>
                  <a:ea typeface="Trebuchet MS" pitchFamily="34" charset="-122"/>
                  <a:cs typeface="Trebuchet MS" pitchFamily="34" charset="-120"/>
                </a:rPr>
                <a:t>   52%</a:t>
              </a:r>
              <a:endParaRPr lang="en-US" sz="1200" b="1" dirty="0">
                <a:latin typeface="Georgia" panose="02040502050405020303" pitchFamily="18" charset="0"/>
              </a:endParaRPr>
            </a:p>
          </p:txBody>
        </p:sp>
      </p:grpSp>
      <p:sp>
        <p:nvSpPr>
          <p:cNvPr id="129" name="TextBox 128">
            <a:extLst>
              <a:ext uri="{FF2B5EF4-FFF2-40B4-BE49-F238E27FC236}">
                <a16:creationId xmlns:a16="http://schemas.microsoft.com/office/drawing/2014/main" id="{921E744F-C32E-8404-CFAC-4CCC430604E6}"/>
              </a:ext>
            </a:extLst>
          </p:cNvPr>
          <p:cNvSpPr txBox="1"/>
          <p:nvPr/>
        </p:nvSpPr>
        <p:spPr>
          <a:xfrm>
            <a:off x="497099" y="5715000"/>
            <a:ext cx="6270228" cy="215444"/>
          </a:xfrm>
          <a:prstGeom prst="rect">
            <a:avLst/>
          </a:prstGeom>
          <a:noFill/>
        </p:spPr>
        <p:txBody>
          <a:bodyPr wrap="square" rtlCol="0">
            <a:spAutoFit/>
          </a:bodyPr>
          <a:lstStyle/>
          <a:p>
            <a:r>
              <a:rPr lang="en-IN" sz="800" i="1" dirty="0">
                <a:latin typeface="Georgia" panose="02040502050405020303" pitchFamily="18" charset="0"/>
              </a:rPr>
              <a:t>Sources: </a:t>
            </a:r>
            <a:r>
              <a:rPr lang="en-IN" sz="800" i="1" dirty="0">
                <a:solidFill>
                  <a:schemeClr val="tx1">
                    <a:lumMod val="95000"/>
                    <a:lumOff val="5000"/>
                  </a:schemeClr>
                </a:solidFill>
                <a:latin typeface="Georgia" panose="02040502050405020303" pitchFamily="18" charset="0"/>
              </a:rPr>
              <a:t>KSRLPS, </a:t>
            </a:r>
            <a:r>
              <a:rPr lang="en-IN" sz="800" i="1" dirty="0" err="1">
                <a:solidFill>
                  <a:schemeClr val="tx1">
                    <a:lumMod val="95000"/>
                    <a:lumOff val="5000"/>
                  </a:schemeClr>
                </a:solidFill>
                <a:latin typeface="Georgia" panose="02040502050405020303" pitchFamily="18" charset="0"/>
              </a:rPr>
              <a:t>GoK</a:t>
            </a:r>
            <a:endParaRPr lang="en-IN" sz="800" dirty="0">
              <a:latin typeface="Georgia" panose="02040502050405020303" pitchFamily="18" charset="0"/>
            </a:endParaRPr>
          </a:p>
        </p:txBody>
      </p:sp>
      <p:sp>
        <p:nvSpPr>
          <p:cNvPr id="2" name="Shape 97">
            <a:extLst>
              <a:ext uri="{FF2B5EF4-FFF2-40B4-BE49-F238E27FC236}">
                <a16:creationId xmlns:a16="http://schemas.microsoft.com/office/drawing/2014/main" id="{994210F3-BCDF-69B5-5DAF-D0B977D48A91}"/>
              </a:ext>
            </a:extLst>
          </p:cNvPr>
          <p:cNvSpPr/>
          <p:nvPr/>
        </p:nvSpPr>
        <p:spPr>
          <a:xfrm>
            <a:off x="547484" y="5039018"/>
            <a:ext cx="18740" cy="364431"/>
          </a:xfrm>
          <a:prstGeom prst="rect">
            <a:avLst/>
          </a:prstGeom>
          <a:solidFill>
            <a:srgbClr val="0E8B96"/>
          </a:solidFill>
          <a:ln/>
        </p:spPr>
        <p:txBody>
          <a:bodyPr/>
          <a:lstStyle/>
          <a:p>
            <a:pPr algn="ctr"/>
            <a:endParaRPr lang="en-IN" sz="1200" b="1">
              <a:latin typeface="Georgia" panose="02040502050405020303" pitchFamily="18" charset="0"/>
            </a:endParaRPr>
          </a:p>
        </p:txBody>
      </p:sp>
      <p:sp>
        <p:nvSpPr>
          <p:cNvPr id="3" name="Text 98">
            <a:extLst>
              <a:ext uri="{FF2B5EF4-FFF2-40B4-BE49-F238E27FC236}">
                <a16:creationId xmlns:a16="http://schemas.microsoft.com/office/drawing/2014/main" id="{27882D04-5391-3084-617B-B499D131B9E0}"/>
              </a:ext>
            </a:extLst>
          </p:cNvPr>
          <p:cNvSpPr/>
          <p:nvPr/>
        </p:nvSpPr>
        <p:spPr>
          <a:xfrm>
            <a:off x="762000" y="5017488"/>
            <a:ext cx="2213832" cy="237431"/>
          </a:xfrm>
          <a:prstGeom prst="rect">
            <a:avLst/>
          </a:prstGeom>
          <a:noFill/>
          <a:ln/>
        </p:spPr>
        <p:txBody>
          <a:bodyPr wrap="square" lIns="16933" tIns="16933" rIns="16933" bIns="16933" rtlCol="0" anchor="ctr">
            <a:noAutofit/>
          </a:bodyPr>
          <a:lstStyle/>
          <a:p>
            <a:pPr>
              <a:lnSpc>
                <a:spcPct val="135000"/>
              </a:lnSpc>
            </a:pPr>
            <a:r>
              <a:rPr lang="en-US" sz="1200" b="1" dirty="0">
                <a:solidFill>
                  <a:srgbClr val="0B6E78"/>
                </a:solidFill>
                <a:latin typeface="Georgia" panose="02040502050405020303" pitchFamily="18" charset="0"/>
              </a:rPr>
              <a:t>Gulbarga</a:t>
            </a:r>
            <a:endParaRPr lang="en-US" sz="1200" b="1" dirty="0">
              <a:latin typeface="Georgia" panose="02040502050405020303" pitchFamily="18" charset="0"/>
            </a:endParaRPr>
          </a:p>
        </p:txBody>
      </p:sp>
      <p:sp>
        <p:nvSpPr>
          <p:cNvPr id="4" name="Text 99">
            <a:extLst>
              <a:ext uri="{FF2B5EF4-FFF2-40B4-BE49-F238E27FC236}">
                <a16:creationId xmlns:a16="http://schemas.microsoft.com/office/drawing/2014/main" id="{03E46435-9640-8687-EE1A-853CA7768407}"/>
              </a:ext>
            </a:extLst>
          </p:cNvPr>
          <p:cNvSpPr/>
          <p:nvPr/>
        </p:nvSpPr>
        <p:spPr>
          <a:xfrm>
            <a:off x="2996854" y="5017489"/>
            <a:ext cx="135288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6,121</a:t>
            </a:r>
            <a:endParaRPr lang="en-US" sz="1200" b="1" dirty="0">
              <a:latin typeface="Georgia" panose="02040502050405020303" pitchFamily="18" charset="0"/>
            </a:endParaRPr>
          </a:p>
        </p:txBody>
      </p:sp>
      <p:sp>
        <p:nvSpPr>
          <p:cNvPr id="6" name="Text 100">
            <a:extLst>
              <a:ext uri="{FF2B5EF4-FFF2-40B4-BE49-F238E27FC236}">
                <a16:creationId xmlns:a16="http://schemas.microsoft.com/office/drawing/2014/main" id="{93FA6AC5-F088-670B-013E-BD3A87A46CA8}"/>
              </a:ext>
            </a:extLst>
          </p:cNvPr>
          <p:cNvSpPr/>
          <p:nvPr/>
        </p:nvSpPr>
        <p:spPr>
          <a:xfrm>
            <a:off x="4458343" y="5017489"/>
            <a:ext cx="135288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2,472</a:t>
            </a:r>
            <a:endParaRPr lang="en-US" sz="1200" b="1" dirty="0">
              <a:latin typeface="Georgia" panose="02040502050405020303" pitchFamily="18" charset="0"/>
            </a:endParaRPr>
          </a:p>
        </p:txBody>
      </p:sp>
      <p:sp>
        <p:nvSpPr>
          <p:cNvPr id="7" name="Text 101">
            <a:extLst>
              <a:ext uri="{FF2B5EF4-FFF2-40B4-BE49-F238E27FC236}">
                <a16:creationId xmlns:a16="http://schemas.microsoft.com/office/drawing/2014/main" id="{874E9C17-36F8-2970-1BA8-6522D06F75CE}"/>
              </a:ext>
            </a:extLst>
          </p:cNvPr>
          <p:cNvSpPr/>
          <p:nvPr/>
        </p:nvSpPr>
        <p:spPr>
          <a:xfrm>
            <a:off x="5982343" y="5017489"/>
            <a:ext cx="135288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4,144</a:t>
            </a:r>
            <a:endParaRPr lang="en-US" sz="1200" b="1" dirty="0">
              <a:latin typeface="Georgia" panose="02040502050405020303" pitchFamily="18" charset="0"/>
            </a:endParaRPr>
          </a:p>
        </p:txBody>
      </p:sp>
      <p:sp>
        <p:nvSpPr>
          <p:cNvPr id="8" name="Text 102">
            <a:extLst>
              <a:ext uri="{FF2B5EF4-FFF2-40B4-BE49-F238E27FC236}">
                <a16:creationId xmlns:a16="http://schemas.microsoft.com/office/drawing/2014/main" id="{D0C335B2-83A4-56BB-CC6B-652199C58FB3}"/>
              </a:ext>
            </a:extLst>
          </p:cNvPr>
          <p:cNvSpPr/>
          <p:nvPr/>
        </p:nvSpPr>
        <p:spPr>
          <a:xfrm>
            <a:off x="7506343" y="5017489"/>
            <a:ext cx="135288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rPr>
              <a:t>1649</a:t>
            </a:r>
            <a:endParaRPr lang="en-US" sz="1200" b="1" dirty="0">
              <a:latin typeface="Georgia" panose="02040502050405020303" pitchFamily="18" charset="0"/>
            </a:endParaRPr>
          </a:p>
        </p:txBody>
      </p:sp>
      <p:sp>
        <p:nvSpPr>
          <p:cNvPr id="9" name="Text 103">
            <a:extLst>
              <a:ext uri="{FF2B5EF4-FFF2-40B4-BE49-F238E27FC236}">
                <a16:creationId xmlns:a16="http://schemas.microsoft.com/office/drawing/2014/main" id="{C9E6D330-AB22-4911-47C0-A7E658C845D5}"/>
              </a:ext>
            </a:extLst>
          </p:cNvPr>
          <p:cNvSpPr/>
          <p:nvPr/>
        </p:nvSpPr>
        <p:spPr>
          <a:xfrm>
            <a:off x="9536112" y="5020369"/>
            <a:ext cx="915803" cy="237431"/>
          </a:xfrm>
          <a:prstGeom prst="rect">
            <a:avLst/>
          </a:prstGeom>
          <a:noFill/>
          <a:ln/>
        </p:spPr>
        <p:txBody>
          <a:bodyPr wrap="square" lIns="16933" tIns="16933" rIns="16933" bIns="16933" rtlCol="0" anchor="t">
            <a:noAutofit/>
          </a:bodyPr>
          <a:lstStyle/>
          <a:p>
            <a:pPr algn="ct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40%</a:t>
            </a:r>
            <a:endParaRPr lang="en-US" sz="1200" b="1" dirty="0">
              <a:latin typeface="Georgia" panose="02040502050405020303" pitchFamily="18" charset="0"/>
            </a:endParaRPr>
          </a:p>
        </p:txBody>
      </p:sp>
      <p:sp>
        <p:nvSpPr>
          <p:cNvPr id="10" name="Slide Number Placeholder 2">
            <a:extLst>
              <a:ext uri="{FF2B5EF4-FFF2-40B4-BE49-F238E27FC236}">
                <a16:creationId xmlns:a16="http://schemas.microsoft.com/office/drawing/2014/main" id="{5973ED24-A11D-2B55-F428-E853E56E3F3A}"/>
              </a:ext>
            </a:extLst>
          </p:cNvPr>
          <p:cNvSpPr>
            <a:spLocks noGrp="1"/>
          </p:cNvSpPr>
          <p:nvPr>
            <p:ph type="sldNum" sz="quarter" idx="7"/>
          </p:nvPr>
        </p:nvSpPr>
        <p:spPr>
          <a:xfrm>
            <a:off x="779630" y="6440648"/>
            <a:ext cx="383540" cy="115416"/>
          </a:xfrm>
        </p:spPr>
        <p:txBody>
          <a:bodyPr/>
          <a:lstStyle/>
          <a:p>
            <a:pPr marL="12700">
              <a:spcBef>
                <a:spcPts val="60"/>
              </a:spcBef>
            </a:pPr>
            <a:r>
              <a:rPr lang="en-IN" dirty="0">
                <a:latin typeface="Georgia" panose="02040502050405020303" pitchFamily="18" charset="0"/>
              </a:rPr>
              <a:t>Page</a:t>
            </a:r>
            <a:r>
              <a:rPr lang="en-IN" spc="-55" dirty="0">
                <a:latin typeface="Georgia" panose="02040502050405020303" pitchFamily="18" charset="0"/>
              </a:rPr>
              <a:t> </a:t>
            </a:r>
            <a:fld id="{81D60167-4931-47E6-BA6A-407CBD079E47}" type="slidenum">
              <a:rPr smtClean="0">
                <a:latin typeface="Georgia" panose="02040502050405020303" pitchFamily="18" charset="0"/>
              </a:rPr>
              <a:pPr marL="12700">
                <a:spcBef>
                  <a:spcPts val="60"/>
                </a:spcBef>
              </a:pPr>
              <a:t>50</a:t>
            </a:fld>
            <a:endParaRPr dirty="0">
              <a:latin typeface="Georgia" panose="02040502050405020303" pitchFamily="18" charset="0"/>
            </a:endParaRPr>
          </a:p>
        </p:txBody>
      </p:sp>
      <p:pic>
        <p:nvPicPr>
          <p:cNvPr id="5" name="Picture 4">
            <a:extLst>
              <a:ext uri="{FF2B5EF4-FFF2-40B4-BE49-F238E27FC236}">
                <a16:creationId xmlns:a16="http://schemas.microsoft.com/office/drawing/2014/main" id="{68B9DEB6-D559-8AB4-C86D-9C6645D0C3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828" y="5888603"/>
            <a:ext cx="11963400" cy="969397"/>
          </a:xfrm>
          <a:prstGeom prst="rect">
            <a:avLst/>
          </a:prstGeom>
        </p:spPr>
      </p:pic>
    </p:spTree>
    <p:extLst>
      <p:ext uri="{BB962C8B-B14F-4D97-AF65-F5344CB8AC3E}">
        <p14:creationId xmlns:p14="http://schemas.microsoft.com/office/powerpoint/2010/main" val="35276503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C1358-97FD-8732-34B9-C27752FB0656}"/>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895AE732-87BF-7803-5C1D-3F15ABC2384E}"/>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a:latin typeface="Georgia" panose="02040502050405020303" pitchFamily="18" charset="0"/>
              </a:rPr>
              <a:t>Page</a:t>
            </a:r>
            <a:r>
              <a:rPr lang="en-IN" spc="-55">
                <a:latin typeface="Georgia" panose="02040502050405020303" pitchFamily="18" charset="0"/>
              </a:rPr>
              <a:t> </a:t>
            </a:r>
            <a:fld id="{81D60167-4931-47E6-BA6A-407CBD079E47}" type="slidenum">
              <a:rPr smtClean="0">
                <a:latin typeface="Georgia" panose="02040502050405020303" pitchFamily="18" charset="0"/>
              </a:rPr>
              <a:t>51</a:t>
            </a:fld>
            <a:endParaRPr dirty="0">
              <a:latin typeface="Georgia" panose="02040502050405020303" pitchFamily="18" charset="0"/>
            </a:endParaRPr>
          </a:p>
        </p:txBody>
      </p:sp>
      <p:sp>
        <p:nvSpPr>
          <p:cNvPr id="2" name="Text 3">
            <a:extLst>
              <a:ext uri="{FF2B5EF4-FFF2-40B4-BE49-F238E27FC236}">
                <a16:creationId xmlns:a16="http://schemas.microsoft.com/office/drawing/2014/main" id="{E7149602-7682-1C21-210F-6773D824210F}"/>
              </a:ext>
            </a:extLst>
          </p:cNvPr>
          <p:cNvSpPr/>
          <p:nvPr/>
        </p:nvSpPr>
        <p:spPr>
          <a:xfrm>
            <a:off x="609600" y="492779"/>
            <a:ext cx="11249660" cy="388541"/>
          </a:xfrm>
          <a:prstGeom prst="rect">
            <a:avLst/>
          </a:prstGeom>
          <a:noFill/>
          <a:ln/>
        </p:spPr>
        <p:txBody>
          <a:bodyPr wrap="square" lIns="16933" tIns="16933" rIns="16933" bIns="16933" rtlCol="0" anchor="t">
            <a:normAutofit fontScale="92500" lnSpcReduction="20000"/>
          </a:bodyPr>
          <a:lstStyle/>
          <a:p>
            <a:pPr>
              <a:lnSpc>
                <a:spcPct val="110000"/>
              </a:lnSpc>
            </a:pPr>
            <a:r>
              <a:rPr lang="en-US" sz="2600" b="1" kern="0" spc="-26" dirty="0">
                <a:solidFill>
                  <a:schemeClr val="bg1"/>
                </a:solidFill>
                <a:latin typeface="Georgia" panose="02040502050405020303" pitchFamily="18" charset="0"/>
                <a:ea typeface="Trebuchet MS" pitchFamily="34" charset="-122"/>
                <a:cs typeface="Trebuchet MS" pitchFamily="34" charset="-120"/>
              </a:rPr>
              <a:t>Abbreviations</a:t>
            </a:r>
            <a:endParaRPr lang="en-US" sz="2600" dirty="0">
              <a:solidFill>
                <a:schemeClr val="bg1"/>
              </a:solidFill>
              <a:latin typeface="Georgia" panose="02040502050405020303" pitchFamily="18" charset="0"/>
            </a:endParaRPr>
          </a:p>
        </p:txBody>
      </p:sp>
      <p:grpSp>
        <p:nvGrpSpPr>
          <p:cNvPr id="3" name="Group 2">
            <a:extLst>
              <a:ext uri="{FF2B5EF4-FFF2-40B4-BE49-F238E27FC236}">
                <a16:creationId xmlns:a16="http://schemas.microsoft.com/office/drawing/2014/main" id="{CBA17124-26F3-D046-5151-17B8E03D5CCB}"/>
              </a:ext>
            </a:extLst>
          </p:cNvPr>
          <p:cNvGrpSpPr/>
          <p:nvPr/>
        </p:nvGrpSpPr>
        <p:grpSpPr>
          <a:xfrm>
            <a:off x="638175" y="969077"/>
            <a:ext cx="9414498" cy="4800600"/>
            <a:chOff x="635000" y="1798241"/>
            <a:chExt cx="5395088" cy="4445208"/>
          </a:xfrm>
        </p:grpSpPr>
        <p:sp>
          <p:nvSpPr>
            <p:cNvPr id="4" name="Text 6">
              <a:extLst>
                <a:ext uri="{FF2B5EF4-FFF2-40B4-BE49-F238E27FC236}">
                  <a16:creationId xmlns:a16="http://schemas.microsoft.com/office/drawing/2014/main" id="{A63C224F-773F-80D2-75AC-7083C1F39147}"/>
                </a:ext>
              </a:extLst>
            </p:cNvPr>
            <p:cNvSpPr/>
            <p:nvPr/>
          </p:nvSpPr>
          <p:spPr>
            <a:xfrm>
              <a:off x="635000" y="1828979"/>
              <a:ext cx="1066800" cy="190500"/>
            </a:xfrm>
            <a:prstGeom prst="rect">
              <a:avLst/>
            </a:prstGeom>
            <a:noFill/>
            <a:ln/>
          </p:spPr>
          <p:txBody>
            <a:bodyPr wrap="square" lIns="16933" tIns="16933" rIns="16933" bIns="16933" rtlCol="0" anchor="t">
              <a:noAutofit/>
            </a:bodyPr>
            <a:lstStyle/>
            <a:p>
              <a:r>
                <a:rPr lang="en-US" sz="1200" b="1" dirty="0">
                  <a:solidFill>
                    <a:srgbClr val="E8A33D"/>
                  </a:solidFill>
                  <a:latin typeface="Georgia" panose="02040502050405020303" pitchFamily="18" charset="0"/>
                  <a:ea typeface="Trebuchet MS" pitchFamily="34" charset="-122"/>
                  <a:cs typeface="Trebuchet MS" pitchFamily="34" charset="-120"/>
                </a:rPr>
                <a:t>GoK</a:t>
              </a:r>
              <a:endParaRPr lang="en-US" sz="1200" dirty="0">
                <a:latin typeface="Georgia" panose="02040502050405020303" pitchFamily="18" charset="0"/>
              </a:endParaRPr>
            </a:p>
          </p:txBody>
        </p:sp>
        <p:sp>
          <p:nvSpPr>
            <p:cNvPr id="6" name="Text 9">
              <a:extLst>
                <a:ext uri="{FF2B5EF4-FFF2-40B4-BE49-F238E27FC236}">
                  <a16:creationId xmlns:a16="http://schemas.microsoft.com/office/drawing/2014/main" id="{E8D65CD7-2339-4853-1B2E-0ADF9F2B053C}"/>
                </a:ext>
              </a:extLst>
            </p:cNvPr>
            <p:cNvSpPr/>
            <p:nvPr/>
          </p:nvSpPr>
          <p:spPr>
            <a:xfrm>
              <a:off x="635000" y="2235330"/>
              <a:ext cx="1066800" cy="190500"/>
            </a:xfrm>
            <a:prstGeom prst="rect">
              <a:avLst/>
            </a:prstGeom>
            <a:noFill/>
            <a:ln/>
          </p:spPr>
          <p:txBody>
            <a:bodyPr wrap="square" lIns="16933" tIns="16933" rIns="16933" bIns="16933" rtlCol="0" anchor="t">
              <a:noAutofit/>
            </a:bodyPr>
            <a:lstStyle/>
            <a:p>
              <a:r>
                <a:rPr lang="en-US" sz="1200" b="1" dirty="0">
                  <a:solidFill>
                    <a:srgbClr val="E8A33D"/>
                  </a:solidFill>
                  <a:latin typeface="Georgia" panose="02040502050405020303" pitchFamily="18" charset="0"/>
                  <a:ea typeface="Trebuchet MS" pitchFamily="34" charset="-122"/>
                  <a:cs typeface="Trebuchet MS" pitchFamily="34" charset="-120"/>
                </a:rPr>
                <a:t>KAPPEC</a:t>
              </a:r>
              <a:endParaRPr lang="en-US" sz="1200" dirty="0">
                <a:latin typeface="Georgia" panose="02040502050405020303" pitchFamily="18" charset="0"/>
              </a:endParaRPr>
            </a:p>
          </p:txBody>
        </p:sp>
        <p:sp>
          <p:nvSpPr>
            <p:cNvPr id="7" name="Text 12">
              <a:extLst>
                <a:ext uri="{FF2B5EF4-FFF2-40B4-BE49-F238E27FC236}">
                  <a16:creationId xmlns:a16="http://schemas.microsoft.com/office/drawing/2014/main" id="{258A0ECB-9293-3FD5-04BE-23523B20FCA7}"/>
                </a:ext>
              </a:extLst>
            </p:cNvPr>
            <p:cNvSpPr/>
            <p:nvPr/>
          </p:nvSpPr>
          <p:spPr>
            <a:xfrm>
              <a:off x="635000" y="2654340"/>
              <a:ext cx="1066800" cy="190500"/>
            </a:xfrm>
            <a:prstGeom prst="rect">
              <a:avLst/>
            </a:prstGeom>
            <a:noFill/>
            <a:ln/>
          </p:spPr>
          <p:txBody>
            <a:bodyPr wrap="square" lIns="16933" tIns="16933" rIns="16933" bIns="16933" rtlCol="0" anchor="t">
              <a:noAutofit/>
            </a:bodyPr>
            <a:lstStyle/>
            <a:p>
              <a:r>
                <a:rPr lang="en-US" sz="1200" b="1" dirty="0">
                  <a:solidFill>
                    <a:srgbClr val="E8A33D"/>
                  </a:solidFill>
                  <a:latin typeface="Georgia" panose="02040502050405020303" pitchFamily="18" charset="0"/>
                  <a:ea typeface="Trebuchet MS" pitchFamily="34" charset="-122"/>
                  <a:cs typeface="Trebuchet MS" pitchFamily="34" charset="-120"/>
                </a:rPr>
                <a:t>FPO</a:t>
              </a:r>
              <a:endParaRPr lang="en-US" sz="1200" dirty="0">
                <a:latin typeface="Georgia" panose="02040502050405020303" pitchFamily="18" charset="0"/>
              </a:endParaRPr>
            </a:p>
          </p:txBody>
        </p:sp>
        <p:sp>
          <p:nvSpPr>
            <p:cNvPr id="8" name="Text 15">
              <a:extLst>
                <a:ext uri="{FF2B5EF4-FFF2-40B4-BE49-F238E27FC236}">
                  <a16:creationId xmlns:a16="http://schemas.microsoft.com/office/drawing/2014/main" id="{90A9D4EF-BD58-D8F0-7754-31997AA971A6}"/>
                </a:ext>
              </a:extLst>
            </p:cNvPr>
            <p:cNvSpPr/>
            <p:nvPr/>
          </p:nvSpPr>
          <p:spPr>
            <a:xfrm>
              <a:off x="635000" y="3068935"/>
              <a:ext cx="1066800" cy="190500"/>
            </a:xfrm>
            <a:prstGeom prst="rect">
              <a:avLst/>
            </a:prstGeom>
            <a:noFill/>
            <a:ln/>
          </p:spPr>
          <p:txBody>
            <a:bodyPr wrap="square" lIns="16933" tIns="16933" rIns="16933" bIns="16933" rtlCol="0" anchor="t">
              <a:noAutofit/>
            </a:bodyPr>
            <a:lstStyle/>
            <a:p>
              <a:r>
                <a:rPr lang="en-US" sz="1200" b="1" dirty="0">
                  <a:solidFill>
                    <a:srgbClr val="E8A33D"/>
                  </a:solidFill>
                  <a:latin typeface="Georgia" panose="02040502050405020303" pitchFamily="18" charset="0"/>
                  <a:ea typeface="Trebuchet MS" pitchFamily="34" charset="-122"/>
                  <a:cs typeface="Trebuchet MS" pitchFamily="34" charset="-120"/>
                </a:rPr>
                <a:t>KSRLPS</a:t>
              </a:r>
              <a:endParaRPr lang="en-US" sz="1200" dirty="0">
                <a:latin typeface="Georgia" panose="02040502050405020303" pitchFamily="18" charset="0"/>
              </a:endParaRPr>
            </a:p>
          </p:txBody>
        </p:sp>
        <p:sp>
          <p:nvSpPr>
            <p:cNvPr id="9" name="Text 18">
              <a:extLst>
                <a:ext uri="{FF2B5EF4-FFF2-40B4-BE49-F238E27FC236}">
                  <a16:creationId xmlns:a16="http://schemas.microsoft.com/office/drawing/2014/main" id="{23EB212B-9D01-FFF9-3912-73BFC1B96E25}"/>
                </a:ext>
              </a:extLst>
            </p:cNvPr>
            <p:cNvSpPr/>
            <p:nvPr/>
          </p:nvSpPr>
          <p:spPr>
            <a:xfrm>
              <a:off x="635000" y="3483769"/>
              <a:ext cx="1066800" cy="190500"/>
            </a:xfrm>
            <a:prstGeom prst="rect">
              <a:avLst/>
            </a:prstGeom>
            <a:noFill/>
            <a:ln/>
          </p:spPr>
          <p:txBody>
            <a:bodyPr wrap="square" lIns="16933" tIns="16933" rIns="16933" bIns="16933" rtlCol="0" anchor="t">
              <a:noAutofit/>
            </a:bodyPr>
            <a:lstStyle/>
            <a:p>
              <a:r>
                <a:rPr lang="en-US" sz="1200" b="1" dirty="0">
                  <a:solidFill>
                    <a:srgbClr val="E8A33D"/>
                  </a:solidFill>
                  <a:latin typeface="Georgia" panose="02040502050405020303" pitchFamily="18" charset="0"/>
                  <a:ea typeface="Trebuchet MS" pitchFamily="34" charset="-122"/>
                  <a:cs typeface="Trebuchet MS" pitchFamily="34" charset="-120"/>
                </a:rPr>
                <a:t>SHG</a:t>
              </a:r>
              <a:endParaRPr lang="en-US" sz="1200" dirty="0">
                <a:latin typeface="Georgia" panose="02040502050405020303" pitchFamily="18" charset="0"/>
              </a:endParaRPr>
            </a:p>
          </p:txBody>
        </p:sp>
        <p:sp>
          <p:nvSpPr>
            <p:cNvPr id="10" name="Text 21">
              <a:extLst>
                <a:ext uri="{FF2B5EF4-FFF2-40B4-BE49-F238E27FC236}">
                  <a16:creationId xmlns:a16="http://schemas.microsoft.com/office/drawing/2014/main" id="{036EB411-CF7F-7733-7F9A-FE99B4159664}"/>
                </a:ext>
              </a:extLst>
            </p:cNvPr>
            <p:cNvSpPr/>
            <p:nvPr/>
          </p:nvSpPr>
          <p:spPr>
            <a:xfrm>
              <a:off x="635000" y="3856435"/>
              <a:ext cx="1066800" cy="190500"/>
            </a:xfrm>
            <a:prstGeom prst="rect">
              <a:avLst/>
            </a:prstGeom>
            <a:noFill/>
            <a:ln/>
          </p:spPr>
          <p:txBody>
            <a:bodyPr wrap="square" lIns="16933" tIns="16933" rIns="16933" bIns="16933" rtlCol="0" anchor="t">
              <a:noAutofit/>
            </a:bodyPr>
            <a:lstStyle/>
            <a:p>
              <a:r>
                <a:rPr lang="en-US" sz="1200" b="1" dirty="0">
                  <a:solidFill>
                    <a:srgbClr val="E8A33D"/>
                  </a:solidFill>
                  <a:latin typeface="Georgia" panose="02040502050405020303" pitchFamily="18" charset="0"/>
                  <a:ea typeface="Trebuchet MS" pitchFamily="34" charset="-122"/>
                  <a:cs typeface="Trebuchet MS" pitchFamily="34" charset="-120"/>
                </a:rPr>
                <a:t>KSWC</a:t>
              </a:r>
              <a:endParaRPr lang="en-US" sz="1200" dirty="0">
                <a:latin typeface="Georgia" panose="02040502050405020303" pitchFamily="18" charset="0"/>
              </a:endParaRPr>
            </a:p>
          </p:txBody>
        </p:sp>
        <p:grpSp>
          <p:nvGrpSpPr>
            <p:cNvPr id="11" name="Group 10">
              <a:extLst>
                <a:ext uri="{FF2B5EF4-FFF2-40B4-BE49-F238E27FC236}">
                  <a16:creationId xmlns:a16="http://schemas.microsoft.com/office/drawing/2014/main" id="{39237E86-5FD9-66A8-1E41-9C4A6149D38F}"/>
                </a:ext>
              </a:extLst>
            </p:cNvPr>
            <p:cNvGrpSpPr/>
            <p:nvPr/>
          </p:nvGrpSpPr>
          <p:grpSpPr>
            <a:xfrm>
              <a:off x="1752600" y="1798241"/>
              <a:ext cx="4277488" cy="2265759"/>
              <a:chOff x="1752600" y="1798241"/>
              <a:chExt cx="4277488" cy="2265759"/>
            </a:xfrm>
          </p:grpSpPr>
          <p:sp>
            <p:nvSpPr>
              <p:cNvPr id="26" name="Text 7">
                <a:extLst>
                  <a:ext uri="{FF2B5EF4-FFF2-40B4-BE49-F238E27FC236}">
                    <a16:creationId xmlns:a16="http://schemas.microsoft.com/office/drawing/2014/main" id="{1CE4C530-642D-464B-5C60-3A2B52FF1DE5}"/>
                  </a:ext>
                </a:extLst>
              </p:cNvPr>
              <p:cNvSpPr/>
              <p:nvPr/>
            </p:nvSpPr>
            <p:spPr>
              <a:xfrm>
                <a:off x="1752600" y="1798241"/>
                <a:ext cx="1660624" cy="213915"/>
              </a:xfrm>
              <a:prstGeom prst="rect">
                <a:avLst/>
              </a:prstGeom>
              <a:noFill/>
              <a:ln/>
            </p:spPr>
            <p:txBody>
              <a:bodyPr wrap="square" lIns="16933" tIns="16933" rIns="16933" bIns="16933" rtlCol="0" anchor="t">
                <a:noAutofit/>
              </a:bodyPr>
              <a:lstStyle/>
              <a:p>
                <a:pP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Government of Karnataka</a:t>
                </a:r>
                <a:endParaRPr lang="en-US" sz="1200" b="1" dirty="0">
                  <a:solidFill>
                    <a:srgbClr val="14342B"/>
                  </a:solidFill>
                  <a:latin typeface="Georgia" panose="02040502050405020303" pitchFamily="18" charset="0"/>
                </a:endParaRPr>
              </a:p>
            </p:txBody>
          </p:sp>
          <p:sp>
            <p:nvSpPr>
              <p:cNvPr id="27" name="Text 10">
                <a:extLst>
                  <a:ext uri="{FF2B5EF4-FFF2-40B4-BE49-F238E27FC236}">
                    <a16:creationId xmlns:a16="http://schemas.microsoft.com/office/drawing/2014/main" id="{7D81F07B-0B74-0912-642A-EDD75DD82B5B}"/>
                  </a:ext>
                </a:extLst>
              </p:cNvPr>
              <p:cNvSpPr/>
              <p:nvPr/>
            </p:nvSpPr>
            <p:spPr>
              <a:xfrm>
                <a:off x="1752601" y="2228983"/>
                <a:ext cx="4277487" cy="402431"/>
              </a:xfrm>
              <a:prstGeom prst="rect">
                <a:avLst/>
              </a:prstGeom>
              <a:noFill/>
              <a:ln/>
            </p:spPr>
            <p:txBody>
              <a:bodyPr wrap="square" lIns="16933" tIns="16933" rIns="16933" bIns="16933" rtlCol="0" anchor="t">
                <a:normAutofit/>
              </a:bodyPr>
              <a:lstStyle/>
              <a:p>
                <a:pP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Karnataka State Agricultural Produce Processing and Export Corporation Limited</a:t>
                </a:r>
                <a:endParaRPr lang="en-US" sz="1200" b="1" dirty="0">
                  <a:solidFill>
                    <a:srgbClr val="14342B"/>
                  </a:solidFill>
                  <a:latin typeface="Georgia" panose="02040502050405020303" pitchFamily="18" charset="0"/>
                </a:endParaRPr>
              </a:p>
            </p:txBody>
          </p:sp>
          <p:sp>
            <p:nvSpPr>
              <p:cNvPr id="28" name="Text 13">
                <a:extLst>
                  <a:ext uri="{FF2B5EF4-FFF2-40B4-BE49-F238E27FC236}">
                    <a16:creationId xmlns:a16="http://schemas.microsoft.com/office/drawing/2014/main" id="{250E1B5A-B3F7-7C75-487C-2FCF0B226FBD}"/>
                  </a:ext>
                </a:extLst>
              </p:cNvPr>
              <p:cNvSpPr/>
              <p:nvPr/>
            </p:nvSpPr>
            <p:spPr>
              <a:xfrm>
                <a:off x="1752601" y="2647990"/>
                <a:ext cx="1995159" cy="213915"/>
              </a:xfrm>
              <a:prstGeom prst="rect">
                <a:avLst/>
              </a:prstGeom>
              <a:noFill/>
              <a:ln/>
            </p:spPr>
            <p:txBody>
              <a:bodyPr wrap="square" lIns="16933" tIns="16933" rIns="16933" bIns="16933" rtlCol="0" anchor="t">
                <a:noAutofit/>
              </a:bodyPr>
              <a:lstStyle/>
              <a:p>
                <a:pP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Farmer Producer Organizations</a:t>
                </a:r>
                <a:endParaRPr lang="en-US" sz="1200" b="1" dirty="0">
                  <a:solidFill>
                    <a:srgbClr val="14342B"/>
                  </a:solidFill>
                  <a:latin typeface="Georgia" panose="02040502050405020303" pitchFamily="18" charset="0"/>
                </a:endParaRPr>
              </a:p>
            </p:txBody>
          </p:sp>
          <p:sp>
            <p:nvSpPr>
              <p:cNvPr id="29" name="Text 16">
                <a:extLst>
                  <a:ext uri="{FF2B5EF4-FFF2-40B4-BE49-F238E27FC236}">
                    <a16:creationId xmlns:a16="http://schemas.microsoft.com/office/drawing/2014/main" id="{AF2D4C2B-FA6B-4D86-1B44-C06996CF48EB}"/>
                  </a:ext>
                </a:extLst>
              </p:cNvPr>
              <p:cNvSpPr/>
              <p:nvPr/>
            </p:nvSpPr>
            <p:spPr>
              <a:xfrm>
                <a:off x="1752600" y="3062587"/>
                <a:ext cx="3317669" cy="213915"/>
              </a:xfrm>
              <a:prstGeom prst="rect">
                <a:avLst/>
              </a:prstGeom>
              <a:noFill/>
              <a:ln/>
            </p:spPr>
            <p:txBody>
              <a:bodyPr wrap="square" lIns="16933" tIns="16933" rIns="16933" bIns="16933" rtlCol="0" anchor="t">
                <a:noAutofit/>
              </a:bodyPr>
              <a:lstStyle/>
              <a:p>
                <a:pP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Karnataka State Rural Livelihood Promotion Society</a:t>
                </a:r>
                <a:endParaRPr lang="en-US" sz="1200" b="1" dirty="0">
                  <a:solidFill>
                    <a:srgbClr val="14342B"/>
                  </a:solidFill>
                  <a:latin typeface="Georgia" panose="02040502050405020303" pitchFamily="18" charset="0"/>
                </a:endParaRPr>
              </a:p>
            </p:txBody>
          </p:sp>
          <p:sp>
            <p:nvSpPr>
              <p:cNvPr id="30" name="Text 19">
                <a:extLst>
                  <a:ext uri="{FF2B5EF4-FFF2-40B4-BE49-F238E27FC236}">
                    <a16:creationId xmlns:a16="http://schemas.microsoft.com/office/drawing/2014/main" id="{405F11C7-EB8D-4E3C-7A10-D358F56F55B5}"/>
                  </a:ext>
                </a:extLst>
              </p:cNvPr>
              <p:cNvSpPr/>
              <p:nvPr/>
            </p:nvSpPr>
            <p:spPr>
              <a:xfrm>
                <a:off x="1752600" y="3477419"/>
                <a:ext cx="1101527" cy="213915"/>
              </a:xfrm>
              <a:prstGeom prst="rect">
                <a:avLst/>
              </a:prstGeom>
              <a:noFill/>
              <a:ln/>
            </p:spPr>
            <p:txBody>
              <a:bodyPr wrap="square" lIns="16933" tIns="16933" rIns="16933" bIns="16933" rtlCol="0" anchor="t">
                <a:noAutofit/>
              </a:bodyPr>
              <a:lstStyle/>
              <a:p>
                <a:pP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Self-Help Groups</a:t>
                </a:r>
                <a:endParaRPr lang="en-US" sz="1200" b="1" dirty="0">
                  <a:solidFill>
                    <a:srgbClr val="14342B"/>
                  </a:solidFill>
                  <a:latin typeface="Georgia" panose="02040502050405020303" pitchFamily="18" charset="0"/>
                </a:endParaRPr>
              </a:p>
            </p:txBody>
          </p:sp>
          <p:sp>
            <p:nvSpPr>
              <p:cNvPr id="31" name="Text 22">
                <a:extLst>
                  <a:ext uri="{FF2B5EF4-FFF2-40B4-BE49-F238E27FC236}">
                    <a16:creationId xmlns:a16="http://schemas.microsoft.com/office/drawing/2014/main" id="{7037AA07-BF40-3260-3F63-930E76B34CF3}"/>
                  </a:ext>
                </a:extLst>
              </p:cNvPr>
              <p:cNvSpPr/>
              <p:nvPr/>
            </p:nvSpPr>
            <p:spPr>
              <a:xfrm>
                <a:off x="1752600" y="3850085"/>
                <a:ext cx="2688145" cy="213915"/>
              </a:xfrm>
              <a:prstGeom prst="rect">
                <a:avLst/>
              </a:prstGeom>
              <a:noFill/>
              <a:ln/>
            </p:spPr>
            <p:txBody>
              <a:bodyPr wrap="square" lIns="16933" tIns="16933" rIns="16933" bIns="16933" rtlCol="0" anchor="t">
                <a:noAutofit/>
              </a:bodyPr>
              <a:lstStyle/>
              <a:p>
                <a:pP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Karnataka State Warehousing Corporation</a:t>
                </a:r>
                <a:endParaRPr lang="en-US" sz="1200" b="1" dirty="0">
                  <a:solidFill>
                    <a:srgbClr val="14342B"/>
                  </a:solidFill>
                  <a:latin typeface="Georgia" panose="02040502050405020303" pitchFamily="18" charset="0"/>
                </a:endParaRPr>
              </a:p>
            </p:txBody>
          </p:sp>
        </p:grpSp>
        <p:grpSp>
          <p:nvGrpSpPr>
            <p:cNvPr id="12" name="Group 11">
              <a:extLst>
                <a:ext uri="{FF2B5EF4-FFF2-40B4-BE49-F238E27FC236}">
                  <a16:creationId xmlns:a16="http://schemas.microsoft.com/office/drawing/2014/main" id="{6DCFD639-840A-47E3-4DAB-183901E2CB47}"/>
                </a:ext>
              </a:extLst>
            </p:cNvPr>
            <p:cNvGrpSpPr/>
            <p:nvPr/>
          </p:nvGrpSpPr>
          <p:grpSpPr>
            <a:xfrm>
              <a:off x="635000" y="4270139"/>
              <a:ext cx="5379113" cy="1973310"/>
              <a:chOff x="635000" y="4270139"/>
              <a:chExt cx="5379113" cy="1973310"/>
            </a:xfrm>
          </p:grpSpPr>
          <p:sp>
            <p:nvSpPr>
              <p:cNvPr id="13" name="Text 24">
                <a:extLst>
                  <a:ext uri="{FF2B5EF4-FFF2-40B4-BE49-F238E27FC236}">
                    <a16:creationId xmlns:a16="http://schemas.microsoft.com/office/drawing/2014/main" id="{695675A2-8E19-2956-F6AF-162715CEE80F}"/>
                  </a:ext>
                </a:extLst>
              </p:cNvPr>
              <p:cNvSpPr/>
              <p:nvPr/>
            </p:nvSpPr>
            <p:spPr>
              <a:xfrm>
                <a:off x="635000" y="4293554"/>
                <a:ext cx="1066800" cy="190500"/>
              </a:xfrm>
              <a:prstGeom prst="rect">
                <a:avLst/>
              </a:prstGeom>
              <a:noFill/>
              <a:ln/>
            </p:spPr>
            <p:txBody>
              <a:bodyPr wrap="square" lIns="16933" tIns="16933" rIns="16933" bIns="16933" rtlCol="0" anchor="t">
                <a:noAutofit/>
              </a:bodyPr>
              <a:lstStyle/>
              <a:p>
                <a:r>
                  <a:rPr lang="en-US" sz="1200" b="1" dirty="0">
                    <a:solidFill>
                      <a:srgbClr val="E8A33D"/>
                    </a:solidFill>
                    <a:latin typeface="Georgia" panose="02040502050405020303" pitchFamily="18" charset="0"/>
                    <a:ea typeface="Trebuchet MS" pitchFamily="34" charset="-122"/>
                    <a:cs typeface="Trebuchet MS" pitchFamily="34" charset="-120"/>
                  </a:rPr>
                  <a:t>DDU-GKY</a:t>
                </a:r>
                <a:endParaRPr lang="en-US" sz="1200" dirty="0">
                  <a:latin typeface="Georgia" panose="02040502050405020303" pitchFamily="18" charset="0"/>
                </a:endParaRPr>
              </a:p>
            </p:txBody>
          </p:sp>
          <p:sp>
            <p:nvSpPr>
              <p:cNvPr id="14" name="Text 27">
                <a:extLst>
                  <a:ext uri="{FF2B5EF4-FFF2-40B4-BE49-F238E27FC236}">
                    <a16:creationId xmlns:a16="http://schemas.microsoft.com/office/drawing/2014/main" id="{A9DA03D9-595D-0E12-7DDA-537AA2C3E54E}"/>
                  </a:ext>
                </a:extLst>
              </p:cNvPr>
              <p:cNvSpPr/>
              <p:nvPr/>
            </p:nvSpPr>
            <p:spPr>
              <a:xfrm>
                <a:off x="635000" y="4695031"/>
                <a:ext cx="1066800" cy="190500"/>
              </a:xfrm>
              <a:prstGeom prst="rect">
                <a:avLst/>
              </a:prstGeom>
              <a:noFill/>
              <a:ln/>
            </p:spPr>
            <p:txBody>
              <a:bodyPr wrap="square" lIns="16933" tIns="16933" rIns="16933" bIns="16933" rtlCol="0" anchor="t">
                <a:noAutofit/>
              </a:bodyPr>
              <a:lstStyle/>
              <a:p>
                <a:r>
                  <a:rPr lang="en-US" sz="1200" b="1" dirty="0">
                    <a:solidFill>
                      <a:srgbClr val="E8A33D"/>
                    </a:solidFill>
                    <a:latin typeface="Georgia" panose="02040502050405020303" pitchFamily="18" charset="0"/>
                    <a:ea typeface="Trebuchet MS" pitchFamily="34" charset="-122"/>
                    <a:cs typeface="Trebuchet MS" pitchFamily="34" charset="-120"/>
                  </a:rPr>
                  <a:t>WDD</a:t>
                </a:r>
                <a:endParaRPr lang="en-US" sz="1200" dirty="0">
                  <a:latin typeface="Georgia" panose="02040502050405020303" pitchFamily="18" charset="0"/>
                </a:endParaRPr>
              </a:p>
            </p:txBody>
          </p:sp>
          <p:sp>
            <p:nvSpPr>
              <p:cNvPr id="15" name="Text 30">
                <a:extLst>
                  <a:ext uri="{FF2B5EF4-FFF2-40B4-BE49-F238E27FC236}">
                    <a16:creationId xmlns:a16="http://schemas.microsoft.com/office/drawing/2014/main" id="{2072C43E-1CFB-0255-5415-D4DCF3C6DF5D}"/>
                  </a:ext>
                </a:extLst>
              </p:cNvPr>
              <p:cNvSpPr/>
              <p:nvPr/>
            </p:nvSpPr>
            <p:spPr>
              <a:xfrm>
                <a:off x="658747" y="5041370"/>
                <a:ext cx="1066800" cy="190500"/>
              </a:xfrm>
              <a:prstGeom prst="rect">
                <a:avLst/>
              </a:prstGeom>
              <a:noFill/>
              <a:ln/>
            </p:spPr>
            <p:txBody>
              <a:bodyPr wrap="square" lIns="16933" tIns="16933" rIns="16933" bIns="16933" rtlCol="0" anchor="t">
                <a:noAutofit/>
              </a:bodyPr>
              <a:lstStyle/>
              <a:p>
                <a:r>
                  <a:rPr lang="en-US" sz="1200" b="1" dirty="0">
                    <a:solidFill>
                      <a:srgbClr val="E8A33D"/>
                    </a:solidFill>
                    <a:latin typeface="Georgia" panose="02040502050405020303" pitchFamily="18" charset="0"/>
                    <a:ea typeface="Trebuchet MS" pitchFamily="34" charset="-122"/>
                    <a:cs typeface="Trebuchet MS" pitchFamily="34" charset="-120"/>
                  </a:rPr>
                  <a:t>MT</a:t>
                </a:r>
                <a:endParaRPr lang="en-US" sz="1200" dirty="0">
                  <a:latin typeface="Georgia" panose="02040502050405020303" pitchFamily="18" charset="0"/>
                </a:endParaRPr>
              </a:p>
            </p:txBody>
          </p:sp>
          <p:sp>
            <p:nvSpPr>
              <p:cNvPr id="16" name="Text 33">
                <a:extLst>
                  <a:ext uri="{FF2B5EF4-FFF2-40B4-BE49-F238E27FC236}">
                    <a16:creationId xmlns:a16="http://schemas.microsoft.com/office/drawing/2014/main" id="{BA940C5D-A532-2D62-19F0-D298E41A029D}"/>
                  </a:ext>
                </a:extLst>
              </p:cNvPr>
              <p:cNvSpPr/>
              <p:nvPr/>
            </p:nvSpPr>
            <p:spPr>
              <a:xfrm>
                <a:off x="658747" y="5390543"/>
                <a:ext cx="1066800" cy="190500"/>
              </a:xfrm>
              <a:prstGeom prst="rect">
                <a:avLst/>
              </a:prstGeom>
              <a:noFill/>
              <a:ln/>
            </p:spPr>
            <p:txBody>
              <a:bodyPr wrap="square" lIns="16933" tIns="16933" rIns="16933" bIns="16933" rtlCol="0" anchor="t">
                <a:noAutofit/>
              </a:bodyPr>
              <a:lstStyle/>
              <a:p>
                <a:r>
                  <a:rPr lang="en-US" sz="1200" b="1" dirty="0">
                    <a:solidFill>
                      <a:srgbClr val="E8A33D"/>
                    </a:solidFill>
                    <a:latin typeface="Georgia" panose="02040502050405020303" pitchFamily="18" charset="0"/>
                    <a:ea typeface="Trebuchet MS" pitchFamily="34" charset="-122"/>
                    <a:cs typeface="Trebuchet MS" pitchFamily="34" charset="-120"/>
                  </a:rPr>
                  <a:t>HA</a:t>
                </a:r>
                <a:endParaRPr lang="en-US" sz="1200" dirty="0">
                  <a:latin typeface="Georgia" panose="02040502050405020303" pitchFamily="18" charset="0"/>
                </a:endParaRPr>
              </a:p>
            </p:txBody>
          </p:sp>
          <p:sp>
            <p:nvSpPr>
              <p:cNvPr id="17" name="Text 36">
                <a:extLst>
                  <a:ext uri="{FF2B5EF4-FFF2-40B4-BE49-F238E27FC236}">
                    <a16:creationId xmlns:a16="http://schemas.microsoft.com/office/drawing/2014/main" id="{025BFB86-B721-19C7-EA98-D8AAA9C116DD}"/>
                  </a:ext>
                </a:extLst>
              </p:cNvPr>
              <p:cNvSpPr/>
              <p:nvPr/>
            </p:nvSpPr>
            <p:spPr>
              <a:xfrm>
                <a:off x="658747" y="5704520"/>
                <a:ext cx="1066800" cy="190500"/>
              </a:xfrm>
              <a:prstGeom prst="rect">
                <a:avLst/>
              </a:prstGeom>
              <a:noFill/>
              <a:ln/>
            </p:spPr>
            <p:txBody>
              <a:bodyPr wrap="square" lIns="16933" tIns="16933" rIns="16933" bIns="16933" rtlCol="0" anchor="t">
                <a:noAutofit/>
              </a:bodyPr>
              <a:lstStyle/>
              <a:p>
                <a:r>
                  <a:rPr lang="en-US" sz="1200" b="1" dirty="0">
                    <a:solidFill>
                      <a:srgbClr val="E8A33D"/>
                    </a:solidFill>
                    <a:latin typeface="Georgia" panose="02040502050405020303" pitchFamily="18" charset="0"/>
                    <a:ea typeface="Trebuchet MS" pitchFamily="34" charset="-122"/>
                    <a:cs typeface="Trebuchet MS" pitchFamily="34" charset="-120"/>
                  </a:rPr>
                  <a:t>PM-FME</a:t>
                </a:r>
                <a:endParaRPr lang="en-US" sz="1200" dirty="0">
                  <a:latin typeface="Georgia" panose="02040502050405020303" pitchFamily="18" charset="0"/>
                </a:endParaRPr>
              </a:p>
            </p:txBody>
          </p:sp>
          <p:sp>
            <p:nvSpPr>
              <p:cNvPr id="18" name="Text 39">
                <a:extLst>
                  <a:ext uri="{FF2B5EF4-FFF2-40B4-BE49-F238E27FC236}">
                    <a16:creationId xmlns:a16="http://schemas.microsoft.com/office/drawing/2014/main" id="{B03E26F6-55B6-855F-E502-8F796FF17C2D}"/>
                  </a:ext>
                </a:extLst>
              </p:cNvPr>
              <p:cNvSpPr/>
              <p:nvPr/>
            </p:nvSpPr>
            <p:spPr>
              <a:xfrm>
                <a:off x="658747" y="6052949"/>
                <a:ext cx="1066800" cy="190500"/>
              </a:xfrm>
              <a:prstGeom prst="rect">
                <a:avLst/>
              </a:prstGeom>
              <a:noFill/>
              <a:ln/>
            </p:spPr>
            <p:txBody>
              <a:bodyPr wrap="square" lIns="16933" tIns="16933" rIns="16933" bIns="16933" rtlCol="0" anchor="t">
                <a:noAutofit/>
              </a:bodyPr>
              <a:lstStyle/>
              <a:p>
                <a:r>
                  <a:rPr lang="en-US" sz="1200" b="1" dirty="0">
                    <a:solidFill>
                      <a:srgbClr val="E8A33D"/>
                    </a:solidFill>
                    <a:latin typeface="Georgia" panose="02040502050405020303" pitchFamily="18" charset="0"/>
                    <a:ea typeface="Trebuchet MS" pitchFamily="34" charset="-122"/>
                    <a:cs typeface="Trebuchet MS" pitchFamily="34" charset="-120"/>
                  </a:rPr>
                  <a:t>UAS</a:t>
                </a:r>
                <a:endParaRPr lang="en-US" sz="1200" dirty="0">
                  <a:latin typeface="Georgia" panose="02040502050405020303" pitchFamily="18" charset="0"/>
                </a:endParaRPr>
              </a:p>
            </p:txBody>
          </p:sp>
          <p:grpSp>
            <p:nvGrpSpPr>
              <p:cNvPr id="19" name="Group 18">
                <a:extLst>
                  <a:ext uri="{FF2B5EF4-FFF2-40B4-BE49-F238E27FC236}">
                    <a16:creationId xmlns:a16="http://schemas.microsoft.com/office/drawing/2014/main" id="{2403BB41-DBCA-9114-E579-AC5920A03ADE}"/>
                  </a:ext>
                </a:extLst>
              </p:cNvPr>
              <p:cNvGrpSpPr/>
              <p:nvPr/>
            </p:nvGrpSpPr>
            <p:grpSpPr>
              <a:xfrm>
                <a:off x="1736626" y="4270139"/>
                <a:ext cx="4277487" cy="1943827"/>
                <a:chOff x="1736626" y="4270139"/>
                <a:chExt cx="4277487" cy="1943827"/>
              </a:xfrm>
            </p:grpSpPr>
            <p:sp>
              <p:nvSpPr>
                <p:cNvPr id="20" name="Text 25">
                  <a:extLst>
                    <a:ext uri="{FF2B5EF4-FFF2-40B4-BE49-F238E27FC236}">
                      <a16:creationId xmlns:a16="http://schemas.microsoft.com/office/drawing/2014/main" id="{F49FEAFD-4ED2-9409-40B3-AD3942BA5CEE}"/>
                    </a:ext>
                  </a:extLst>
                </p:cNvPr>
                <p:cNvSpPr/>
                <p:nvPr/>
              </p:nvSpPr>
              <p:spPr>
                <a:xfrm>
                  <a:off x="1752600" y="4270139"/>
                  <a:ext cx="3239591" cy="213915"/>
                </a:xfrm>
                <a:prstGeom prst="rect">
                  <a:avLst/>
                </a:prstGeom>
                <a:noFill/>
                <a:ln/>
              </p:spPr>
              <p:txBody>
                <a:bodyPr wrap="square" lIns="16933" tIns="16933" rIns="16933" bIns="16933" rtlCol="0" anchor="t">
                  <a:noAutofit/>
                </a:bodyPr>
                <a:lstStyle/>
                <a:p>
                  <a:pP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Deen Dayal Upadhyaya Grameen Kaushalya Yojana</a:t>
                  </a:r>
                  <a:endParaRPr lang="en-US" sz="1200" b="1" dirty="0">
                    <a:solidFill>
                      <a:srgbClr val="14342B"/>
                    </a:solidFill>
                    <a:latin typeface="Georgia" panose="02040502050405020303" pitchFamily="18" charset="0"/>
                  </a:endParaRPr>
                </a:p>
              </p:txBody>
            </p:sp>
            <p:sp>
              <p:nvSpPr>
                <p:cNvPr id="21" name="Text 28">
                  <a:extLst>
                    <a:ext uri="{FF2B5EF4-FFF2-40B4-BE49-F238E27FC236}">
                      <a16:creationId xmlns:a16="http://schemas.microsoft.com/office/drawing/2014/main" id="{74B6E893-8B6A-D8BB-493B-541292595E5B}"/>
                    </a:ext>
                  </a:extLst>
                </p:cNvPr>
                <p:cNvSpPr/>
                <p:nvPr/>
              </p:nvSpPr>
              <p:spPr>
                <a:xfrm>
                  <a:off x="1752600" y="4671616"/>
                  <a:ext cx="2382071" cy="213915"/>
                </a:xfrm>
                <a:prstGeom prst="rect">
                  <a:avLst/>
                </a:prstGeom>
                <a:noFill/>
                <a:ln/>
              </p:spPr>
              <p:txBody>
                <a:bodyPr wrap="square" lIns="16933" tIns="16933" rIns="16933" bIns="16933" rtlCol="0" anchor="t">
                  <a:noAutofit/>
                </a:bodyPr>
                <a:lstStyle/>
                <a:p>
                  <a:pP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Watershed Development Department</a:t>
                  </a:r>
                  <a:endParaRPr lang="en-US" sz="1200" b="1" dirty="0">
                    <a:solidFill>
                      <a:srgbClr val="14342B"/>
                    </a:solidFill>
                    <a:latin typeface="Georgia" panose="02040502050405020303" pitchFamily="18" charset="0"/>
                  </a:endParaRPr>
                </a:p>
              </p:txBody>
            </p:sp>
            <p:sp>
              <p:nvSpPr>
                <p:cNvPr id="22" name="Text 31">
                  <a:extLst>
                    <a:ext uri="{FF2B5EF4-FFF2-40B4-BE49-F238E27FC236}">
                      <a16:creationId xmlns:a16="http://schemas.microsoft.com/office/drawing/2014/main" id="{D164975D-DAB0-CD5C-2606-CAB1642518BA}"/>
                    </a:ext>
                  </a:extLst>
                </p:cNvPr>
                <p:cNvSpPr/>
                <p:nvPr/>
              </p:nvSpPr>
              <p:spPr>
                <a:xfrm>
                  <a:off x="1738458" y="5017955"/>
                  <a:ext cx="908447" cy="213915"/>
                </a:xfrm>
                <a:prstGeom prst="rect">
                  <a:avLst/>
                </a:prstGeom>
                <a:noFill/>
                <a:ln/>
              </p:spPr>
              <p:txBody>
                <a:bodyPr wrap="square" lIns="16933" tIns="16933" rIns="16933" bIns="16933" rtlCol="0" anchor="t">
                  <a:noAutofit/>
                </a:bodyPr>
                <a:lstStyle/>
                <a:p>
                  <a:pP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Metric Tonnes</a:t>
                  </a:r>
                  <a:endParaRPr lang="en-US" sz="1200" b="1" dirty="0">
                    <a:solidFill>
                      <a:srgbClr val="14342B"/>
                    </a:solidFill>
                    <a:latin typeface="Georgia" panose="02040502050405020303" pitchFamily="18" charset="0"/>
                  </a:endParaRPr>
                </a:p>
              </p:txBody>
            </p:sp>
            <p:sp>
              <p:nvSpPr>
                <p:cNvPr id="23" name="Text 34">
                  <a:extLst>
                    <a:ext uri="{FF2B5EF4-FFF2-40B4-BE49-F238E27FC236}">
                      <a16:creationId xmlns:a16="http://schemas.microsoft.com/office/drawing/2014/main" id="{CBE65667-ABCF-3A10-F17E-D8F92BCFA41C}"/>
                    </a:ext>
                  </a:extLst>
                </p:cNvPr>
                <p:cNvSpPr/>
                <p:nvPr/>
              </p:nvSpPr>
              <p:spPr>
                <a:xfrm>
                  <a:off x="1738457" y="5367129"/>
                  <a:ext cx="603449" cy="213915"/>
                </a:xfrm>
                <a:prstGeom prst="rect">
                  <a:avLst/>
                </a:prstGeom>
                <a:noFill/>
                <a:ln/>
              </p:spPr>
              <p:txBody>
                <a:bodyPr wrap="square" lIns="16933" tIns="16933" rIns="16933" bIns="16933" rtlCol="0" anchor="t">
                  <a:noAutofit/>
                </a:bodyPr>
                <a:lstStyle/>
                <a:p>
                  <a:pP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Hectares</a:t>
                  </a:r>
                  <a:endParaRPr lang="en-US" sz="1200" b="1" dirty="0">
                    <a:solidFill>
                      <a:srgbClr val="14342B"/>
                    </a:solidFill>
                    <a:latin typeface="Georgia" panose="02040502050405020303" pitchFamily="18" charset="0"/>
                  </a:endParaRPr>
                </a:p>
              </p:txBody>
            </p:sp>
            <p:sp>
              <p:nvSpPr>
                <p:cNvPr id="24" name="Text 37">
                  <a:extLst>
                    <a:ext uri="{FF2B5EF4-FFF2-40B4-BE49-F238E27FC236}">
                      <a16:creationId xmlns:a16="http://schemas.microsoft.com/office/drawing/2014/main" id="{920A6CC7-2EBC-CD72-FC3C-1794C5890106}"/>
                    </a:ext>
                  </a:extLst>
                </p:cNvPr>
                <p:cNvSpPr/>
                <p:nvPr/>
              </p:nvSpPr>
              <p:spPr>
                <a:xfrm>
                  <a:off x="1736626" y="5667455"/>
                  <a:ext cx="4277487" cy="402431"/>
                </a:xfrm>
                <a:prstGeom prst="rect">
                  <a:avLst/>
                </a:prstGeom>
                <a:noFill/>
                <a:ln/>
              </p:spPr>
              <p:txBody>
                <a:bodyPr wrap="square" lIns="16933" tIns="16933" rIns="16933" bIns="16933" rtlCol="0" anchor="t">
                  <a:normAutofit/>
                </a:bodyPr>
                <a:lstStyle/>
                <a:p>
                  <a:pP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Pradhan Mantri Formalisation of Micro Food Processing Enterprises</a:t>
                  </a:r>
                  <a:endParaRPr lang="en-US" sz="1200" b="1" dirty="0">
                    <a:solidFill>
                      <a:srgbClr val="14342B"/>
                    </a:solidFill>
                    <a:latin typeface="Georgia" panose="02040502050405020303" pitchFamily="18" charset="0"/>
                  </a:endParaRPr>
                </a:p>
              </p:txBody>
            </p:sp>
            <p:sp>
              <p:nvSpPr>
                <p:cNvPr id="25" name="Text 40">
                  <a:extLst>
                    <a:ext uri="{FF2B5EF4-FFF2-40B4-BE49-F238E27FC236}">
                      <a16:creationId xmlns:a16="http://schemas.microsoft.com/office/drawing/2014/main" id="{DF7F68D7-8B62-E7F1-CD27-B03D8CB90FE3}"/>
                    </a:ext>
                  </a:extLst>
                </p:cNvPr>
                <p:cNvSpPr/>
                <p:nvPr/>
              </p:nvSpPr>
              <p:spPr>
                <a:xfrm>
                  <a:off x="1738458" y="6000051"/>
                  <a:ext cx="2200265" cy="213915"/>
                </a:xfrm>
                <a:prstGeom prst="rect">
                  <a:avLst/>
                </a:prstGeom>
                <a:noFill/>
                <a:ln/>
              </p:spPr>
              <p:txBody>
                <a:bodyPr wrap="square" lIns="16933" tIns="16933" rIns="16933" bIns="16933" rtlCol="0" anchor="t">
                  <a:noAutofit/>
                </a:bodyPr>
                <a:lstStyle/>
                <a:p>
                  <a:pPr>
                    <a:lnSpc>
                      <a:spcPct val="135000"/>
                    </a:lnSpc>
                  </a:pPr>
                  <a:r>
                    <a:rPr lang="en-US" sz="1200" b="1" dirty="0">
                      <a:solidFill>
                        <a:srgbClr val="14342B"/>
                      </a:solidFill>
                      <a:latin typeface="Georgia" panose="02040502050405020303" pitchFamily="18" charset="0"/>
                      <a:ea typeface="Trebuchet MS" pitchFamily="34" charset="-122"/>
                      <a:cs typeface="Trebuchet MS" pitchFamily="34" charset="-120"/>
                    </a:rPr>
                    <a:t>University of Agricultural Sciences</a:t>
                  </a:r>
                  <a:endParaRPr lang="en-US" sz="1200" b="1" dirty="0">
                    <a:solidFill>
                      <a:srgbClr val="14342B"/>
                    </a:solidFill>
                    <a:latin typeface="Georgia" panose="02040502050405020303" pitchFamily="18" charset="0"/>
                  </a:endParaRPr>
                </a:p>
              </p:txBody>
            </p:sp>
          </p:grpSp>
        </p:grpSp>
      </p:grpSp>
      <p:pic>
        <p:nvPicPr>
          <p:cNvPr id="32" name="Picture 31">
            <a:extLst>
              <a:ext uri="{FF2B5EF4-FFF2-40B4-BE49-F238E27FC236}">
                <a16:creationId xmlns:a16="http://schemas.microsoft.com/office/drawing/2014/main" id="{CE6E3D59-BECA-88D2-E606-18C97B1655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57434"/>
            <a:ext cx="12192000" cy="987920"/>
          </a:xfrm>
          <a:prstGeom prst="rect">
            <a:avLst/>
          </a:prstGeom>
        </p:spPr>
      </p:pic>
    </p:spTree>
    <p:extLst>
      <p:ext uri="{BB962C8B-B14F-4D97-AF65-F5344CB8AC3E}">
        <p14:creationId xmlns:p14="http://schemas.microsoft.com/office/powerpoint/2010/main" val="17951987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EA2A9-566F-4BFF-7652-39C63CAB2987}"/>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6493AF09-C544-57A4-E1DC-E13CE0597AB8}"/>
              </a:ext>
            </a:extLst>
          </p:cNvPr>
          <p:cNvSpPr>
            <a:spLocks noGrp="1"/>
          </p:cNvSpPr>
          <p:nvPr>
            <p:ph type="sldNum" sz="quarter" idx="7"/>
          </p:nvPr>
        </p:nvSpPr>
        <p:spPr>
          <a:xfrm>
            <a:off x="779630" y="6440648"/>
            <a:ext cx="383540" cy="115416"/>
          </a:xfrm>
        </p:spPr>
        <p:txBody>
          <a:bodyPr/>
          <a:lstStyle/>
          <a:p>
            <a:pPr marL="12700">
              <a:lnSpc>
                <a:spcPct val="100000"/>
              </a:lnSpc>
              <a:spcBef>
                <a:spcPts val="60"/>
              </a:spcBef>
            </a:pPr>
            <a:r>
              <a:rPr lang="en-IN" dirty="0">
                <a:latin typeface="Georgia" panose="02040502050405020303" pitchFamily="18" charset="0"/>
              </a:rPr>
              <a:t>Page</a:t>
            </a:r>
            <a:r>
              <a:rPr lang="en-IN" spc="-55" dirty="0">
                <a:latin typeface="Georgia" panose="02040502050405020303" pitchFamily="18" charset="0"/>
              </a:rPr>
              <a:t> </a:t>
            </a:r>
            <a:fld id="{81D60167-4931-47E6-BA6A-407CBD079E47}" type="slidenum">
              <a:rPr smtClean="0">
                <a:latin typeface="Georgia" panose="02040502050405020303" pitchFamily="18" charset="0"/>
              </a:rPr>
              <a:t>52</a:t>
            </a:fld>
            <a:endParaRPr dirty="0">
              <a:latin typeface="Georgia" panose="02040502050405020303" pitchFamily="18" charset="0"/>
            </a:endParaRPr>
          </a:p>
        </p:txBody>
      </p:sp>
      <p:sp>
        <p:nvSpPr>
          <p:cNvPr id="2" name="Text 3">
            <a:extLst>
              <a:ext uri="{FF2B5EF4-FFF2-40B4-BE49-F238E27FC236}">
                <a16:creationId xmlns:a16="http://schemas.microsoft.com/office/drawing/2014/main" id="{615ABCFE-388A-6623-43A5-C30D5C1CB6F8}"/>
              </a:ext>
            </a:extLst>
          </p:cNvPr>
          <p:cNvSpPr/>
          <p:nvPr/>
        </p:nvSpPr>
        <p:spPr>
          <a:xfrm>
            <a:off x="609600" y="492779"/>
            <a:ext cx="11249660" cy="388541"/>
          </a:xfrm>
          <a:prstGeom prst="rect">
            <a:avLst/>
          </a:prstGeom>
          <a:noFill/>
          <a:ln/>
        </p:spPr>
        <p:txBody>
          <a:bodyPr wrap="square" lIns="16933" tIns="16933" rIns="16933" bIns="16933" rtlCol="0" anchor="t">
            <a:normAutofit fontScale="92500" lnSpcReduction="20000"/>
          </a:bodyPr>
          <a:lstStyle/>
          <a:p>
            <a:pPr>
              <a:lnSpc>
                <a:spcPct val="110000"/>
              </a:lnSpc>
            </a:pPr>
            <a:r>
              <a:rPr lang="en-US" sz="2600" b="1" kern="0" spc="-26" dirty="0">
                <a:solidFill>
                  <a:schemeClr val="bg1"/>
                </a:solidFill>
                <a:latin typeface="Georgia" panose="02040502050405020303" pitchFamily="18" charset="0"/>
                <a:ea typeface="Trebuchet MS" pitchFamily="34" charset="-122"/>
                <a:cs typeface="Trebuchet MS" pitchFamily="34" charset="-120"/>
              </a:rPr>
              <a:t>Disclaimers</a:t>
            </a:r>
            <a:endParaRPr lang="en-US" sz="2600" dirty="0">
              <a:solidFill>
                <a:schemeClr val="bg1"/>
              </a:solidFill>
              <a:latin typeface="Georgia" panose="02040502050405020303" pitchFamily="18" charset="0"/>
            </a:endParaRPr>
          </a:p>
        </p:txBody>
      </p:sp>
      <p:graphicFrame>
        <p:nvGraphicFramePr>
          <p:cNvPr id="32" name="Table 31">
            <a:extLst>
              <a:ext uri="{FF2B5EF4-FFF2-40B4-BE49-F238E27FC236}">
                <a16:creationId xmlns:a16="http://schemas.microsoft.com/office/drawing/2014/main" id="{60401DC8-48FF-B977-B234-B2E127B3C377}"/>
              </a:ext>
            </a:extLst>
          </p:cNvPr>
          <p:cNvGraphicFramePr>
            <a:graphicFrameLocks noGrp="1"/>
          </p:cNvGraphicFramePr>
          <p:nvPr>
            <p:extLst>
              <p:ext uri="{D42A27DB-BD31-4B8C-83A1-F6EECF244321}">
                <p14:modId xmlns:p14="http://schemas.microsoft.com/office/powerpoint/2010/main" val="732926478"/>
              </p:ext>
            </p:extLst>
          </p:nvPr>
        </p:nvGraphicFramePr>
        <p:xfrm>
          <a:off x="798680" y="1065923"/>
          <a:ext cx="10616401" cy="4664058"/>
        </p:xfrm>
        <a:graphic>
          <a:graphicData uri="http://schemas.openxmlformats.org/drawingml/2006/table">
            <a:tbl>
              <a:tblPr bandRow="1">
                <a:tableStyleId>{5C22544A-7EE6-4342-B048-85BDC9FD1C3A}</a:tableStyleId>
              </a:tblPr>
              <a:tblGrid>
                <a:gridCol w="3426592">
                  <a:extLst>
                    <a:ext uri="{9D8B030D-6E8A-4147-A177-3AD203B41FA5}">
                      <a16:colId xmlns:a16="http://schemas.microsoft.com/office/drawing/2014/main" val="3443685086"/>
                    </a:ext>
                  </a:extLst>
                </a:gridCol>
                <a:gridCol w="7189809">
                  <a:extLst>
                    <a:ext uri="{9D8B030D-6E8A-4147-A177-3AD203B41FA5}">
                      <a16:colId xmlns:a16="http://schemas.microsoft.com/office/drawing/2014/main" val="3433875289"/>
                    </a:ext>
                  </a:extLst>
                </a:gridCol>
              </a:tblGrid>
              <a:tr h="1364258">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400" b="0" dirty="0">
                          <a:solidFill>
                            <a:schemeClr val="dk1"/>
                          </a:solidFill>
                          <a:effectLst/>
                          <a:latin typeface="Georgia" panose="02040502050405020303" pitchFamily="18" charset="0"/>
                          <a:ea typeface="+mn-ea"/>
                          <a:cs typeface="+mn-cs"/>
                        </a:rPr>
                        <a:t>Data Sources and Usage</a:t>
                      </a:r>
                    </a:p>
                  </a:txBody>
                  <a:tcPr anchor="ctr">
                    <a:solidFill>
                      <a:srgbClr val="E8A33D"/>
                    </a:solidFill>
                  </a:tcPr>
                </a:tc>
                <a:tc>
                  <a:txBody>
                    <a:bodyPr/>
                    <a:lstStyle/>
                    <a:p>
                      <a:pPr marL="285750" lvl="0" indent="-285750" algn="l">
                        <a:buFont typeface="Arial" panose="020B0604020202020204" pitchFamily="34" charset="0"/>
                        <a:buChar char="•"/>
                      </a:pPr>
                      <a:r>
                        <a:rPr lang="en-IN" sz="1400" b="0" dirty="0">
                          <a:solidFill>
                            <a:schemeClr val="bg1"/>
                          </a:solidFill>
                          <a:effectLst/>
                          <a:latin typeface="Georgia" panose="02040502050405020303" pitchFamily="18" charset="0"/>
                          <a:ea typeface="+mn-ea"/>
                          <a:cs typeface="+mn-cs"/>
                        </a:rPr>
                        <a:t>All data presented across this document are based on inputs shared by various departments of the Government of Karnataka (</a:t>
                      </a:r>
                      <a:r>
                        <a:rPr lang="en-IN" sz="1400" b="0" dirty="0" err="1">
                          <a:solidFill>
                            <a:schemeClr val="bg1"/>
                          </a:solidFill>
                          <a:effectLst/>
                          <a:latin typeface="Georgia" panose="02040502050405020303" pitchFamily="18" charset="0"/>
                          <a:ea typeface="+mn-ea"/>
                          <a:cs typeface="+mn-cs"/>
                        </a:rPr>
                        <a:t>GoK</a:t>
                      </a:r>
                      <a:r>
                        <a:rPr lang="en-IN" sz="1400" b="0" dirty="0">
                          <a:solidFill>
                            <a:schemeClr val="bg1"/>
                          </a:solidFill>
                          <a:effectLst/>
                          <a:latin typeface="Georgia" panose="02040502050405020303" pitchFamily="18" charset="0"/>
                          <a:ea typeface="+mn-ea"/>
                          <a:cs typeface="+mn-cs"/>
                        </a:rPr>
                        <a:t>), as of March 2026. </a:t>
                      </a:r>
                    </a:p>
                    <a:p>
                      <a:pPr marL="285750" lvl="0" indent="-285750" algn="l">
                        <a:buFont typeface="Arial" panose="020B0604020202020204" pitchFamily="34" charset="0"/>
                        <a:buChar char="•"/>
                      </a:pPr>
                      <a:r>
                        <a:rPr lang="en-IN" sz="1400" b="0" dirty="0">
                          <a:solidFill>
                            <a:schemeClr val="bg1"/>
                          </a:solidFill>
                          <a:effectLst/>
                          <a:latin typeface="Georgia" panose="02040502050405020303" pitchFamily="18" charset="0"/>
                          <a:ea typeface="+mn-ea"/>
                          <a:cs typeface="+mn-cs"/>
                        </a:rPr>
                        <a:t>The figures are intended to provide directional insights and guidance for understanding Karnataka’s horticulture ecosystem. </a:t>
                      </a:r>
                    </a:p>
                  </a:txBody>
                  <a:tcPr anchor="ctr">
                    <a:solidFill>
                      <a:srgbClr val="0B6E78"/>
                    </a:solidFill>
                  </a:tcPr>
                </a:tc>
                <a:extLst>
                  <a:ext uri="{0D108BD9-81ED-4DB2-BD59-A6C34878D82A}">
                    <a16:rowId xmlns:a16="http://schemas.microsoft.com/office/drawing/2014/main" val="1524193862"/>
                  </a:ext>
                </a:extLst>
              </a:tr>
              <a:tr h="1495458">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400" b="0" dirty="0">
                          <a:solidFill>
                            <a:schemeClr val="dk1"/>
                          </a:solidFill>
                          <a:effectLst/>
                          <a:latin typeface="Georgia" panose="02040502050405020303" pitchFamily="18" charset="0"/>
                          <a:ea typeface="+mn-ea"/>
                          <a:cs typeface="+mn-cs"/>
                        </a:rPr>
                        <a:t>Loss percentages and reasons</a:t>
                      </a:r>
                      <a:endParaRPr lang="en-IN" sz="1400" b="0" dirty="0">
                        <a:latin typeface="Georgia" panose="02040502050405020303" pitchFamily="18" charset="0"/>
                      </a:endParaRPr>
                    </a:p>
                  </a:txBody>
                  <a:tcPr anchor="ctr">
                    <a:solidFill>
                      <a:srgbClr val="E8A33D"/>
                    </a:solidFill>
                  </a:tcPr>
                </a:tc>
                <a:tc>
                  <a:txBody>
                    <a:bodyPr/>
                    <a:lstStyle/>
                    <a:p>
                      <a:pPr marL="285750" lvl="0" indent="-285750">
                        <a:buFont typeface="Arial" panose="020B0604020202020204" pitchFamily="34" charset="0"/>
                        <a:buChar char="•"/>
                      </a:pPr>
                      <a:r>
                        <a:rPr lang="en-IN" sz="1400" b="0" dirty="0">
                          <a:solidFill>
                            <a:schemeClr val="bg1"/>
                          </a:solidFill>
                          <a:effectLst/>
                          <a:latin typeface="Georgia" panose="02040502050405020303" pitchFamily="18" charset="0"/>
                          <a:ea typeface="+mn-ea"/>
                          <a:cs typeface="+mn-cs"/>
                        </a:rPr>
                        <a:t>Post-harvest loss percentages and associated reasons are based on anecdotal estimations and reports shared by district officials (Government of Karnataka), as of March 2026, for select crops and select districts.</a:t>
                      </a:r>
                    </a:p>
                    <a:p>
                      <a:pPr marL="285750" lvl="0" indent="-285750">
                        <a:buFont typeface="Arial" panose="020B0604020202020204" pitchFamily="34" charset="0"/>
                        <a:buChar char="•"/>
                      </a:pPr>
                      <a:r>
                        <a:rPr lang="en-IN" sz="1400" b="0" dirty="0">
                          <a:solidFill>
                            <a:schemeClr val="bg1"/>
                          </a:solidFill>
                          <a:effectLst/>
                          <a:latin typeface="Georgia" panose="02040502050405020303" pitchFamily="18" charset="0"/>
                          <a:ea typeface="+mn-ea"/>
                          <a:cs typeface="+mn-cs"/>
                        </a:rPr>
                        <a:t>The data remains subject to validation and revision by Government of Karnataka, prior to any formal publication or use. </a:t>
                      </a:r>
                    </a:p>
                  </a:txBody>
                  <a:tcPr anchor="ctr">
                    <a:solidFill>
                      <a:srgbClr val="0B6E78"/>
                    </a:solidFill>
                  </a:tcPr>
                </a:tc>
                <a:extLst>
                  <a:ext uri="{0D108BD9-81ED-4DB2-BD59-A6C34878D82A}">
                    <a16:rowId xmlns:a16="http://schemas.microsoft.com/office/drawing/2014/main" val="3696975264"/>
                  </a:ext>
                </a:extLst>
              </a:tr>
              <a:tr h="105620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400" b="0" dirty="0">
                          <a:solidFill>
                            <a:schemeClr val="dk1"/>
                          </a:solidFill>
                          <a:effectLst/>
                          <a:latin typeface="Georgia" panose="02040502050405020303" pitchFamily="18" charset="0"/>
                          <a:ea typeface="+mn-ea"/>
                          <a:cs typeface="+mn-cs"/>
                        </a:rPr>
                        <a:t>Cluster-level interpretation</a:t>
                      </a:r>
                      <a:endParaRPr lang="en-IN" sz="1400" b="0" dirty="0">
                        <a:latin typeface="Georgia" panose="02040502050405020303" pitchFamily="18" charset="0"/>
                      </a:endParaRPr>
                    </a:p>
                  </a:txBody>
                  <a:tcPr anchor="ctr">
                    <a:solidFill>
                      <a:srgbClr val="E8A33D"/>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400" b="0" dirty="0">
                          <a:solidFill>
                            <a:schemeClr val="bg1"/>
                          </a:solidFill>
                          <a:effectLst/>
                          <a:latin typeface="Georgia" panose="02040502050405020303" pitchFamily="18" charset="0"/>
                          <a:ea typeface="+mn-ea"/>
                          <a:cs typeface="+mn-cs"/>
                        </a:rPr>
                        <a:t>In cluster-specific slides, infrastructure-related figures (units and capacities) represent aggregate horticulture coverage and are not limited to only fruits and vegetables. </a:t>
                      </a:r>
                    </a:p>
                  </a:txBody>
                  <a:tcPr anchor="ctr">
                    <a:solidFill>
                      <a:srgbClr val="0B6E78"/>
                    </a:solidFill>
                  </a:tcPr>
                </a:tc>
                <a:extLst>
                  <a:ext uri="{0D108BD9-81ED-4DB2-BD59-A6C34878D82A}">
                    <a16:rowId xmlns:a16="http://schemas.microsoft.com/office/drawing/2014/main" val="3371227254"/>
                  </a:ext>
                </a:extLst>
              </a:tr>
              <a:tr h="748142">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400" b="0" dirty="0">
                          <a:solidFill>
                            <a:schemeClr val="dk1"/>
                          </a:solidFill>
                          <a:effectLst/>
                          <a:latin typeface="Georgia" panose="02040502050405020303" pitchFamily="18" charset="0"/>
                          <a:ea typeface="+mn-ea"/>
                          <a:cs typeface="+mn-cs"/>
                        </a:rPr>
                        <a:t>Limitations</a:t>
                      </a:r>
                    </a:p>
                  </a:txBody>
                  <a:tcPr anchor="ctr">
                    <a:solidFill>
                      <a:srgbClr val="E8A33D"/>
                    </a:solidFill>
                  </a:tcPr>
                </a:tc>
                <a:tc>
                  <a:txBody>
                    <a:bodyPr/>
                    <a:lstStyle/>
                    <a:p>
                      <a:pPr marL="285750" lvl="0" indent="-285750">
                        <a:buFont typeface="Arial" panose="020B0604020202020204" pitchFamily="34" charset="0"/>
                        <a:buChar char="•"/>
                      </a:pPr>
                      <a:r>
                        <a:rPr lang="en-IN" sz="1400" b="0" dirty="0">
                          <a:solidFill>
                            <a:schemeClr val="bg1"/>
                          </a:solidFill>
                          <a:effectLst/>
                          <a:latin typeface="Georgia" panose="02040502050405020303" pitchFamily="18" charset="0"/>
                          <a:ea typeface="+mn-ea"/>
                          <a:cs typeface="+mn-cs"/>
                        </a:rPr>
                        <a:t>Data availability, quality, and granularity may vary across crops and districts. </a:t>
                      </a:r>
                    </a:p>
                    <a:p>
                      <a:pPr marL="285750" lvl="0" indent="-285750">
                        <a:buFont typeface="Arial" panose="020B0604020202020204" pitchFamily="34" charset="0"/>
                        <a:buChar char="•"/>
                      </a:pPr>
                      <a:r>
                        <a:rPr lang="en-IN" sz="1400" b="0" dirty="0">
                          <a:solidFill>
                            <a:schemeClr val="bg1"/>
                          </a:solidFill>
                          <a:effectLst/>
                          <a:latin typeface="Georgia" panose="02040502050405020303" pitchFamily="18" charset="0"/>
                          <a:ea typeface="+mn-ea"/>
                          <a:cs typeface="+mn-cs"/>
                        </a:rPr>
                        <a:t>The analysis should be interpreted as indicative rather than definitive. </a:t>
                      </a:r>
                    </a:p>
                  </a:txBody>
                  <a:tcPr anchor="ctr">
                    <a:solidFill>
                      <a:srgbClr val="0B6E78"/>
                    </a:solidFill>
                  </a:tcPr>
                </a:tc>
                <a:extLst>
                  <a:ext uri="{0D108BD9-81ED-4DB2-BD59-A6C34878D82A}">
                    <a16:rowId xmlns:a16="http://schemas.microsoft.com/office/drawing/2014/main" val="2787935981"/>
                  </a:ext>
                </a:extLst>
              </a:tr>
            </a:tbl>
          </a:graphicData>
        </a:graphic>
      </p:graphicFrame>
      <p:pic>
        <p:nvPicPr>
          <p:cNvPr id="3" name="Picture 2">
            <a:extLst>
              <a:ext uri="{FF2B5EF4-FFF2-40B4-BE49-F238E27FC236}">
                <a16:creationId xmlns:a16="http://schemas.microsoft.com/office/drawing/2014/main" id="{8A4F7174-67C8-9EA4-EF2C-D5F91B4018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57434"/>
            <a:ext cx="12192000" cy="987920"/>
          </a:xfrm>
          <a:prstGeom prst="rect">
            <a:avLst/>
          </a:prstGeom>
        </p:spPr>
      </p:pic>
    </p:spTree>
    <p:extLst>
      <p:ext uri="{BB962C8B-B14F-4D97-AF65-F5344CB8AC3E}">
        <p14:creationId xmlns:p14="http://schemas.microsoft.com/office/powerpoint/2010/main" val="25471771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0" y="26"/>
            <a:ext cx="12188825" cy="105410"/>
            <a:chOff x="0" y="26"/>
            <a:chExt cx="12188825" cy="105410"/>
          </a:xfrm>
        </p:grpSpPr>
        <p:sp>
          <p:nvSpPr>
            <p:cNvPr id="5" name="object 5"/>
            <p:cNvSpPr/>
            <p:nvPr/>
          </p:nvSpPr>
          <p:spPr>
            <a:xfrm>
              <a:off x="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4A4A4D"/>
            </a:solidFill>
          </p:spPr>
          <p:txBody>
            <a:bodyPr wrap="square" lIns="0" tIns="0" rIns="0" bIns="0" rtlCol="0"/>
            <a:lstStyle/>
            <a:p>
              <a:endParaRPr/>
            </a:p>
          </p:txBody>
        </p:sp>
        <p:sp>
          <p:nvSpPr>
            <p:cNvPr id="6" name="object 6"/>
            <p:cNvSpPr/>
            <p:nvPr/>
          </p:nvSpPr>
          <p:spPr>
            <a:xfrm>
              <a:off x="304800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0C460C"/>
            </a:solidFill>
          </p:spPr>
          <p:txBody>
            <a:bodyPr wrap="square" lIns="0" tIns="0" rIns="0" bIns="0" rtlCol="0"/>
            <a:lstStyle/>
            <a:p>
              <a:endParaRPr/>
            </a:p>
          </p:txBody>
        </p:sp>
        <p:sp>
          <p:nvSpPr>
            <p:cNvPr id="7" name="object 7"/>
            <p:cNvSpPr/>
            <p:nvPr/>
          </p:nvSpPr>
          <p:spPr>
            <a:xfrm>
              <a:off x="6096000" y="26"/>
              <a:ext cx="3048000" cy="105410"/>
            </a:xfrm>
            <a:custGeom>
              <a:avLst/>
              <a:gdLst/>
              <a:ahLst/>
              <a:cxnLst/>
              <a:rect l="l" t="t" r="r" b="b"/>
              <a:pathLst>
                <a:path w="3048000" h="105410">
                  <a:moveTo>
                    <a:pt x="3048000" y="0"/>
                  </a:moveTo>
                  <a:lnTo>
                    <a:pt x="0" y="0"/>
                  </a:lnTo>
                  <a:lnTo>
                    <a:pt x="0" y="105002"/>
                  </a:lnTo>
                  <a:lnTo>
                    <a:pt x="3048000" y="105002"/>
                  </a:lnTo>
                  <a:lnTo>
                    <a:pt x="3048000" y="0"/>
                  </a:lnTo>
                  <a:close/>
                </a:path>
              </a:pathLst>
            </a:custGeom>
            <a:solidFill>
              <a:srgbClr val="9C3134"/>
            </a:solidFill>
          </p:spPr>
          <p:txBody>
            <a:bodyPr wrap="square" lIns="0" tIns="0" rIns="0" bIns="0" rtlCol="0"/>
            <a:lstStyle/>
            <a:p>
              <a:endParaRPr/>
            </a:p>
          </p:txBody>
        </p:sp>
        <p:sp>
          <p:nvSpPr>
            <p:cNvPr id="8" name="object 8"/>
            <p:cNvSpPr/>
            <p:nvPr/>
          </p:nvSpPr>
          <p:spPr>
            <a:xfrm>
              <a:off x="9144000" y="26"/>
              <a:ext cx="3044825" cy="105410"/>
            </a:xfrm>
            <a:custGeom>
              <a:avLst/>
              <a:gdLst/>
              <a:ahLst/>
              <a:cxnLst/>
              <a:rect l="l" t="t" r="r" b="b"/>
              <a:pathLst>
                <a:path w="3044825" h="105410">
                  <a:moveTo>
                    <a:pt x="3044444" y="0"/>
                  </a:moveTo>
                  <a:lnTo>
                    <a:pt x="0" y="0"/>
                  </a:lnTo>
                  <a:lnTo>
                    <a:pt x="0" y="105002"/>
                  </a:lnTo>
                  <a:lnTo>
                    <a:pt x="3044444" y="105002"/>
                  </a:lnTo>
                  <a:lnTo>
                    <a:pt x="3044444" y="0"/>
                  </a:lnTo>
                  <a:close/>
                </a:path>
              </a:pathLst>
            </a:custGeom>
            <a:solidFill>
              <a:srgbClr val="F79E1B"/>
            </a:solidFill>
          </p:spPr>
          <p:txBody>
            <a:bodyPr wrap="square" lIns="0" tIns="0" rIns="0" bIns="0" rtlCol="0"/>
            <a:lstStyle/>
            <a:p>
              <a:endParaRPr/>
            </a:p>
          </p:txBody>
        </p:sp>
      </p:grpSp>
      <p:sp>
        <p:nvSpPr>
          <p:cNvPr id="9" name="object 9"/>
          <p:cNvSpPr/>
          <p:nvPr/>
        </p:nvSpPr>
        <p:spPr>
          <a:xfrm>
            <a:off x="812291" y="1586483"/>
            <a:ext cx="60960" cy="2707005"/>
          </a:xfrm>
          <a:custGeom>
            <a:avLst/>
            <a:gdLst/>
            <a:ahLst/>
            <a:cxnLst/>
            <a:rect l="l" t="t" r="r" b="b"/>
            <a:pathLst>
              <a:path w="60959" h="2707004">
                <a:moveTo>
                  <a:pt x="60960" y="0"/>
                </a:moveTo>
                <a:lnTo>
                  <a:pt x="0" y="0"/>
                </a:lnTo>
                <a:lnTo>
                  <a:pt x="0" y="2706624"/>
                </a:lnTo>
                <a:lnTo>
                  <a:pt x="60960" y="2706624"/>
                </a:lnTo>
                <a:lnTo>
                  <a:pt x="60960" y="0"/>
                </a:lnTo>
                <a:close/>
              </a:path>
            </a:pathLst>
          </a:custGeom>
          <a:solidFill>
            <a:srgbClr val="9C3134"/>
          </a:solidFill>
        </p:spPr>
        <p:txBody>
          <a:bodyPr wrap="square" lIns="0" tIns="0" rIns="0" bIns="0" rtlCol="0"/>
          <a:lstStyle/>
          <a:p>
            <a:endParaRPr/>
          </a:p>
        </p:txBody>
      </p:sp>
      <p:sp>
        <p:nvSpPr>
          <p:cNvPr id="11" name="object 11"/>
          <p:cNvSpPr/>
          <p:nvPr/>
        </p:nvSpPr>
        <p:spPr>
          <a:xfrm>
            <a:off x="11318747" y="4076700"/>
            <a:ext cx="60960" cy="2087880"/>
          </a:xfrm>
          <a:custGeom>
            <a:avLst/>
            <a:gdLst/>
            <a:ahLst/>
            <a:cxnLst/>
            <a:rect l="l" t="t" r="r" b="b"/>
            <a:pathLst>
              <a:path w="60959" h="2087879">
                <a:moveTo>
                  <a:pt x="60959" y="0"/>
                </a:moveTo>
                <a:lnTo>
                  <a:pt x="0" y="0"/>
                </a:lnTo>
                <a:lnTo>
                  <a:pt x="0" y="2087880"/>
                </a:lnTo>
                <a:lnTo>
                  <a:pt x="60959" y="2087880"/>
                </a:lnTo>
                <a:lnTo>
                  <a:pt x="60959" y="0"/>
                </a:lnTo>
                <a:close/>
              </a:path>
            </a:pathLst>
          </a:custGeom>
          <a:solidFill>
            <a:srgbClr val="9C3134"/>
          </a:solidFill>
        </p:spPr>
        <p:txBody>
          <a:bodyPr wrap="square" lIns="0" tIns="0" rIns="0" bIns="0" rtlCol="0"/>
          <a:lstStyle/>
          <a:p>
            <a:endParaRPr/>
          </a:p>
        </p:txBody>
      </p:sp>
      <p:sp>
        <p:nvSpPr>
          <p:cNvPr id="12" name="object 12"/>
          <p:cNvSpPr txBox="1"/>
          <p:nvPr/>
        </p:nvSpPr>
        <p:spPr>
          <a:xfrm>
            <a:off x="7613903" y="4034750"/>
            <a:ext cx="3229610" cy="1584325"/>
          </a:xfrm>
          <a:prstGeom prst="rect">
            <a:avLst/>
          </a:prstGeom>
        </p:spPr>
        <p:txBody>
          <a:bodyPr vert="horz" wrap="square" lIns="0" tIns="12700" rIns="0" bIns="0" rtlCol="0">
            <a:spAutoFit/>
          </a:bodyPr>
          <a:lstStyle/>
          <a:p>
            <a:pPr marL="12700">
              <a:lnSpc>
                <a:spcPct val="100000"/>
              </a:lnSpc>
              <a:spcBef>
                <a:spcPts val="100"/>
              </a:spcBef>
            </a:pPr>
            <a:r>
              <a:rPr sz="1800" u="heavy" spc="-10" dirty="0">
                <a:solidFill>
                  <a:srgbClr val="9C3134"/>
                </a:solidFill>
                <a:uFill>
                  <a:solidFill>
                    <a:srgbClr val="9C3134"/>
                  </a:solidFill>
                </a:uFill>
                <a:latin typeface="Trebuchet MS"/>
                <a:cs typeface="Trebuchet MS"/>
                <a:hlinkClick r:id="rId3"/>
              </a:rPr>
              <a:t>www.ttcglocal.com</a:t>
            </a:r>
            <a:endParaRPr sz="1800" dirty="0">
              <a:latin typeface="Trebuchet MS"/>
              <a:cs typeface="Trebuchet MS"/>
            </a:endParaRPr>
          </a:p>
          <a:p>
            <a:pPr marL="12700">
              <a:lnSpc>
                <a:spcPct val="100000"/>
              </a:lnSpc>
              <a:spcBef>
                <a:spcPts val="1470"/>
              </a:spcBef>
            </a:pPr>
            <a:r>
              <a:rPr sz="800" b="1" dirty="0">
                <a:solidFill>
                  <a:srgbClr val="0C0C0C"/>
                </a:solidFill>
                <a:latin typeface="Trebuchet MS"/>
                <a:cs typeface="Trebuchet MS"/>
              </a:rPr>
              <a:t>Co</a:t>
            </a:r>
            <a:r>
              <a:rPr sz="800" b="1" spc="5" dirty="0">
                <a:solidFill>
                  <a:srgbClr val="0C0C0C"/>
                </a:solidFill>
                <a:latin typeface="Trebuchet MS"/>
                <a:cs typeface="Trebuchet MS"/>
              </a:rPr>
              <a:t>n</a:t>
            </a:r>
            <a:r>
              <a:rPr sz="800" b="1" dirty="0">
                <a:solidFill>
                  <a:srgbClr val="0C0C0C"/>
                </a:solidFill>
                <a:latin typeface="Trebuchet MS"/>
                <a:cs typeface="Trebuchet MS"/>
              </a:rPr>
              <a:t>f</a:t>
            </a:r>
            <a:r>
              <a:rPr sz="800" b="1" spc="-5" dirty="0">
                <a:solidFill>
                  <a:srgbClr val="0C0C0C"/>
                </a:solidFill>
                <a:latin typeface="Trebuchet MS"/>
                <a:cs typeface="Trebuchet MS"/>
              </a:rPr>
              <a:t>id</a:t>
            </a:r>
            <a:r>
              <a:rPr sz="800" b="1" spc="5" dirty="0">
                <a:solidFill>
                  <a:srgbClr val="0C0C0C"/>
                </a:solidFill>
                <a:latin typeface="Trebuchet MS"/>
                <a:cs typeface="Trebuchet MS"/>
              </a:rPr>
              <a:t>e</a:t>
            </a:r>
            <a:r>
              <a:rPr sz="800" b="1" dirty="0">
                <a:solidFill>
                  <a:srgbClr val="0C0C0C"/>
                </a:solidFill>
                <a:latin typeface="Trebuchet MS"/>
                <a:cs typeface="Trebuchet MS"/>
              </a:rPr>
              <a:t>n</a:t>
            </a:r>
            <a:r>
              <a:rPr sz="800" b="1" spc="-10" dirty="0">
                <a:solidFill>
                  <a:srgbClr val="0C0C0C"/>
                </a:solidFill>
                <a:latin typeface="Trebuchet MS"/>
                <a:cs typeface="Trebuchet MS"/>
              </a:rPr>
              <a:t>t</a:t>
            </a:r>
            <a:r>
              <a:rPr sz="800" b="1" spc="-5" dirty="0">
                <a:solidFill>
                  <a:srgbClr val="0C0C0C"/>
                </a:solidFill>
                <a:latin typeface="Trebuchet MS"/>
                <a:cs typeface="Trebuchet MS"/>
              </a:rPr>
              <a:t>i</a:t>
            </a:r>
            <a:r>
              <a:rPr sz="800" b="1" spc="-10" dirty="0">
                <a:solidFill>
                  <a:srgbClr val="0C0C0C"/>
                </a:solidFill>
                <a:latin typeface="Trebuchet MS"/>
                <a:cs typeface="Trebuchet MS"/>
              </a:rPr>
              <a:t>a</a:t>
            </a:r>
            <a:r>
              <a:rPr sz="800" b="1" dirty="0">
                <a:solidFill>
                  <a:srgbClr val="0C0C0C"/>
                </a:solidFill>
                <a:latin typeface="Trebuchet MS"/>
                <a:cs typeface="Trebuchet MS"/>
              </a:rPr>
              <a:t>l</a:t>
            </a:r>
            <a:r>
              <a:rPr sz="800" b="1" spc="-5" dirty="0">
                <a:solidFill>
                  <a:srgbClr val="0C0C0C"/>
                </a:solidFill>
                <a:latin typeface="Trebuchet MS"/>
                <a:cs typeface="Trebuchet MS"/>
              </a:rPr>
              <a:t>i</a:t>
            </a:r>
            <a:r>
              <a:rPr sz="800" b="1" spc="-10" dirty="0">
                <a:solidFill>
                  <a:srgbClr val="0C0C0C"/>
                </a:solidFill>
                <a:latin typeface="Trebuchet MS"/>
                <a:cs typeface="Trebuchet MS"/>
              </a:rPr>
              <a:t>t</a:t>
            </a:r>
            <a:r>
              <a:rPr sz="800" b="1" dirty="0">
                <a:solidFill>
                  <a:srgbClr val="0C0C0C"/>
                </a:solidFill>
                <a:latin typeface="Trebuchet MS"/>
                <a:cs typeface="Trebuchet MS"/>
              </a:rPr>
              <a:t>y</a:t>
            </a:r>
            <a:r>
              <a:rPr sz="800" b="1" spc="-50" dirty="0">
                <a:solidFill>
                  <a:srgbClr val="0C0C0C"/>
                </a:solidFill>
                <a:latin typeface="Trebuchet MS"/>
                <a:cs typeface="Trebuchet MS"/>
              </a:rPr>
              <a:t> </a:t>
            </a:r>
            <a:r>
              <a:rPr sz="800" b="1" dirty="0">
                <a:solidFill>
                  <a:srgbClr val="0C0C0C"/>
                </a:solidFill>
                <a:latin typeface="Trebuchet MS"/>
                <a:cs typeface="Trebuchet MS"/>
              </a:rPr>
              <a:t>s</a:t>
            </a:r>
            <a:r>
              <a:rPr sz="800" b="1" spc="5" dirty="0">
                <a:solidFill>
                  <a:srgbClr val="0C0C0C"/>
                </a:solidFill>
                <a:latin typeface="Trebuchet MS"/>
                <a:cs typeface="Trebuchet MS"/>
              </a:rPr>
              <a:t>t</a:t>
            </a:r>
            <a:r>
              <a:rPr sz="800" b="1" dirty="0">
                <a:solidFill>
                  <a:srgbClr val="0C0C0C"/>
                </a:solidFill>
                <a:latin typeface="Trebuchet MS"/>
                <a:cs typeface="Trebuchet MS"/>
              </a:rPr>
              <a:t>at</a:t>
            </a:r>
            <a:r>
              <a:rPr sz="800" b="1" spc="5" dirty="0">
                <a:solidFill>
                  <a:srgbClr val="0C0C0C"/>
                </a:solidFill>
                <a:latin typeface="Trebuchet MS"/>
                <a:cs typeface="Trebuchet MS"/>
              </a:rPr>
              <a:t>e</a:t>
            </a:r>
            <a:r>
              <a:rPr sz="800" b="1" dirty="0">
                <a:solidFill>
                  <a:srgbClr val="0C0C0C"/>
                </a:solidFill>
                <a:latin typeface="Trebuchet MS"/>
                <a:cs typeface="Trebuchet MS"/>
              </a:rPr>
              <a:t>m</a:t>
            </a:r>
            <a:r>
              <a:rPr sz="800" b="1" spc="-10" dirty="0">
                <a:solidFill>
                  <a:srgbClr val="0C0C0C"/>
                </a:solidFill>
                <a:latin typeface="Trebuchet MS"/>
                <a:cs typeface="Trebuchet MS"/>
              </a:rPr>
              <a:t>e</a:t>
            </a:r>
            <a:r>
              <a:rPr sz="800" b="1" dirty="0">
                <a:solidFill>
                  <a:srgbClr val="0C0C0C"/>
                </a:solidFill>
                <a:latin typeface="Trebuchet MS"/>
                <a:cs typeface="Trebuchet MS"/>
              </a:rPr>
              <a:t>nt</a:t>
            </a:r>
            <a:endParaRPr sz="800" dirty="0">
              <a:latin typeface="Trebuchet MS"/>
              <a:cs typeface="Trebuchet MS"/>
            </a:endParaRPr>
          </a:p>
          <a:p>
            <a:pPr marL="12700" marR="5080">
              <a:lnSpc>
                <a:spcPct val="100000"/>
              </a:lnSpc>
            </a:pPr>
            <a:r>
              <a:rPr sz="800" i="1" dirty="0">
                <a:solidFill>
                  <a:srgbClr val="0C0C0C"/>
                </a:solidFill>
                <a:latin typeface="Trebuchet MS"/>
                <a:cs typeface="Trebuchet MS"/>
              </a:rPr>
              <a:t>The information contained in </a:t>
            </a:r>
            <a:r>
              <a:rPr sz="800" i="1" spc="-5" dirty="0">
                <a:solidFill>
                  <a:srgbClr val="0C0C0C"/>
                </a:solidFill>
                <a:latin typeface="Trebuchet MS"/>
                <a:cs typeface="Trebuchet MS"/>
              </a:rPr>
              <a:t>this </a:t>
            </a:r>
            <a:r>
              <a:rPr sz="800" i="1" dirty="0">
                <a:solidFill>
                  <a:srgbClr val="0C0C0C"/>
                </a:solidFill>
                <a:latin typeface="Trebuchet MS"/>
                <a:cs typeface="Trebuchet MS"/>
              </a:rPr>
              <a:t>document </a:t>
            </a:r>
            <a:r>
              <a:rPr sz="800" i="1" spc="-5" dirty="0">
                <a:solidFill>
                  <a:srgbClr val="0C0C0C"/>
                </a:solidFill>
                <a:latin typeface="Trebuchet MS"/>
                <a:cs typeface="Trebuchet MS"/>
              </a:rPr>
              <a:t>includes </a:t>
            </a:r>
            <a:r>
              <a:rPr sz="800" i="1" dirty="0">
                <a:solidFill>
                  <a:srgbClr val="0C0C0C"/>
                </a:solidFill>
                <a:latin typeface="Trebuchet MS"/>
                <a:cs typeface="Trebuchet MS"/>
              </a:rPr>
              <a:t>descriptions of </a:t>
            </a:r>
            <a:r>
              <a:rPr sz="800" i="1" spc="5" dirty="0">
                <a:solidFill>
                  <a:srgbClr val="0C0C0C"/>
                </a:solidFill>
                <a:latin typeface="Trebuchet MS"/>
                <a:cs typeface="Trebuchet MS"/>
              </a:rPr>
              <a:t> </a:t>
            </a:r>
            <a:r>
              <a:rPr sz="800" i="1" spc="-5" dirty="0">
                <a:solidFill>
                  <a:srgbClr val="0C0C0C"/>
                </a:solidFill>
                <a:latin typeface="Trebuchet MS"/>
                <a:cs typeface="Trebuchet MS"/>
              </a:rPr>
              <a:t>methodologies</a:t>
            </a:r>
            <a:r>
              <a:rPr sz="800" i="1" spc="25" dirty="0">
                <a:solidFill>
                  <a:srgbClr val="0C0C0C"/>
                </a:solidFill>
                <a:latin typeface="Trebuchet MS"/>
                <a:cs typeface="Trebuchet MS"/>
              </a:rPr>
              <a:t> </a:t>
            </a:r>
            <a:r>
              <a:rPr sz="800" i="1" dirty="0">
                <a:solidFill>
                  <a:srgbClr val="0C0C0C"/>
                </a:solidFill>
                <a:latin typeface="Trebuchet MS"/>
                <a:cs typeface="Trebuchet MS"/>
              </a:rPr>
              <a:t>and</a:t>
            </a:r>
            <a:r>
              <a:rPr sz="800" i="1" spc="60" dirty="0">
                <a:solidFill>
                  <a:srgbClr val="0C0C0C"/>
                </a:solidFill>
                <a:latin typeface="Trebuchet MS"/>
                <a:cs typeface="Trebuchet MS"/>
              </a:rPr>
              <a:t> </a:t>
            </a:r>
            <a:r>
              <a:rPr sz="800" i="1" dirty="0">
                <a:solidFill>
                  <a:srgbClr val="0C0C0C"/>
                </a:solidFill>
                <a:latin typeface="Trebuchet MS"/>
                <a:cs typeface="Trebuchet MS"/>
              </a:rPr>
              <a:t>concepts</a:t>
            </a:r>
            <a:r>
              <a:rPr sz="800" i="1" spc="40" dirty="0">
                <a:solidFill>
                  <a:srgbClr val="0C0C0C"/>
                </a:solidFill>
                <a:latin typeface="Trebuchet MS"/>
                <a:cs typeface="Trebuchet MS"/>
              </a:rPr>
              <a:t> </a:t>
            </a:r>
            <a:r>
              <a:rPr sz="800" i="1" dirty="0">
                <a:solidFill>
                  <a:srgbClr val="0C0C0C"/>
                </a:solidFill>
                <a:latin typeface="Trebuchet MS"/>
                <a:cs typeface="Trebuchet MS"/>
              </a:rPr>
              <a:t>derived</a:t>
            </a:r>
            <a:r>
              <a:rPr sz="800" i="1" spc="50" dirty="0">
                <a:solidFill>
                  <a:srgbClr val="0C0C0C"/>
                </a:solidFill>
                <a:latin typeface="Trebuchet MS"/>
                <a:cs typeface="Trebuchet MS"/>
              </a:rPr>
              <a:t> </a:t>
            </a:r>
            <a:r>
              <a:rPr sz="800" i="1" spc="-5" dirty="0">
                <a:solidFill>
                  <a:srgbClr val="0C0C0C"/>
                </a:solidFill>
                <a:latin typeface="Trebuchet MS"/>
                <a:cs typeface="Trebuchet MS"/>
              </a:rPr>
              <a:t>through</a:t>
            </a:r>
            <a:r>
              <a:rPr sz="800" i="1" spc="60" dirty="0">
                <a:solidFill>
                  <a:srgbClr val="0C0C0C"/>
                </a:solidFill>
                <a:latin typeface="Trebuchet MS"/>
                <a:cs typeface="Trebuchet MS"/>
              </a:rPr>
              <a:t> </a:t>
            </a:r>
            <a:r>
              <a:rPr sz="800" i="1" spc="-5" dirty="0">
                <a:solidFill>
                  <a:srgbClr val="0C0C0C"/>
                </a:solidFill>
                <a:latin typeface="Trebuchet MS"/>
                <a:cs typeface="Trebuchet MS"/>
              </a:rPr>
              <a:t>substantial</a:t>
            </a:r>
            <a:r>
              <a:rPr sz="800" i="1" spc="80" dirty="0">
                <a:solidFill>
                  <a:srgbClr val="0C0C0C"/>
                </a:solidFill>
                <a:latin typeface="Trebuchet MS"/>
                <a:cs typeface="Trebuchet MS"/>
              </a:rPr>
              <a:t> </a:t>
            </a:r>
            <a:r>
              <a:rPr sz="800" i="1" dirty="0">
                <a:solidFill>
                  <a:srgbClr val="0C0C0C"/>
                </a:solidFill>
                <a:latin typeface="Trebuchet MS"/>
                <a:cs typeface="Trebuchet MS"/>
              </a:rPr>
              <a:t>research </a:t>
            </a:r>
            <a:r>
              <a:rPr sz="800" i="1" spc="5" dirty="0">
                <a:solidFill>
                  <a:srgbClr val="0C0C0C"/>
                </a:solidFill>
                <a:latin typeface="Trebuchet MS"/>
                <a:cs typeface="Trebuchet MS"/>
              </a:rPr>
              <a:t> </a:t>
            </a:r>
            <a:r>
              <a:rPr sz="800" i="1" dirty="0">
                <a:solidFill>
                  <a:srgbClr val="0C0C0C"/>
                </a:solidFill>
                <a:latin typeface="Trebuchet MS"/>
                <a:cs typeface="Trebuchet MS"/>
              </a:rPr>
              <a:t>and </a:t>
            </a:r>
            <a:r>
              <a:rPr sz="800" i="1" spc="-5" dirty="0">
                <a:solidFill>
                  <a:srgbClr val="0C0C0C"/>
                </a:solidFill>
                <a:latin typeface="Trebuchet MS"/>
                <a:cs typeface="Trebuchet MS"/>
              </a:rPr>
              <a:t>development </a:t>
            </a:r>
            <a:r>
              <a:rPr sz="800" i="1" dirty="0">
                <a:solidFill>
                  <a:srgbClr val="0C0C0C"/>
                </a:solidFill>
                <a:latin typeface="Trebuchet MS"/>
                <a:cs typeface="Trebuchet MS"/>
              </a:rPr>
              <a:t>efforts and contains trade secrets and </a:t>
            </a:r>
            <a:r>
              <a:rPr sz="800" i="1" spc="-5" dirty="0">
                <a:solidFill>
                  <a:srgbClr val="0C0C0C"/>
                </a:solidFill>
                <a:latin typeface="Trebuchet MS"/>
                <a:cs typeface="Trebuchet MS"/>
              </a:rPr>
              <a:t>other </a:t>
            </a:r>
            <a:r>
              <a:rPr sz="800" i="1" dirty="0">
                <a:solidFill>
                  <a:srgbClr val="0C0C0C"/>
                </a:solidFill>
                <a:latin typeface="Trebuchet MS"/>
                <a:cs typeface="Trebuchet MS"/>
              </a:rPr>
              <a:t> confidential or proprietary information of TTC, </a:t>
            </a:r>
            <a:r>
              <a:rPr sz="800" i="1" spc="-5" dirty="0">
                <a:solidFill>
                  <a:srgbClr val="0C0C0C"/>
                </a:solidFill>
                <a:latin typeface="Trebuchet MS"/>
                <a:cs typeface="Trebuchet MS"/>
              </a:rPr>
              <a:t>the disclosure </a:t>
            </a:r>
            <a:r>
              <a:rPr sz="800" i="1" dirty="0">
                <a:solidFill>
                  <a:srgbClr val="0C0C0C"/>
                </a:solidFill>
                <a:latin typeface="Trebuchet MS"/>
                <a:cs typeface="Trebuchet MS"/>
              </a:rPr>
              <a:t>of </a:t>
            </a:r>
            <a:r>
              <a:rPr sz="800" i="1" spc="5" dirty="0">
                <a:solidFill>
                  <a:srgbClr val="0C0C0C"/>
                </a:solidFill>
                <a:latin typeface="Trebuchet MS"/>
                <a:cs typeface="Trebuchet MS"/>
              </a:rPr>
              <a:t> </a:t>
            </a:r>
            <a:r>
              <a:rPr sz="800" i="1" dirty="0">
                <a:solidFill>
                  <a:srgbClr val="0C0C0C"/>
                </a:solidFill>
                <a:latin typeface="Trebuchet MS"/>
                <a:cs typeface="Trebuchet MS"/>
              </a:rPr>
              <a:t>which </a:t>
            </a:r>
            <a:r>
              <a:rPr sz="800" i="1" spc="-5" dirty="0">
                <a:solidFill>
                  <a:srgbClr val="0C0C0C"/>
                </a:solidFill>
                <a:latin typeface="Trebuchet MS"/>
                <a:cs typeface="Trebuchet MS"/>
              </a:rPr>
              <a:t>would </a:t>
            </a:r>
            <a:r>
              <a:rPr sz="800" i="1" dirty="0">
                <a:solidFill>
                  <a:srgbClr val="0C0C0C"/>
                </a:solidFill>
                <a:latin typeface="Trebuchet MS"/>
                <a:cs typeface="Trebuchet MS"/>
              </a:rPr>
              <a:t>offer </a:t>
            </a:r>
            <a:r>
              <a:rPr sz="800" i="1" spc="-5" dirty="0">
                <a:solidFill>
                  <a:srgbClr val="0C0C0C"/>
                </a:solidFill>
                <a:latin typeface="Trebuchet MS"/>
                <a:cs typeface="Trebuchet MS"/>
              </a:rPr>
              <a:t>substantial benefit </a:t>
            </a:r>
            <a:r>
              <a:rPr sz="800" i="1" dirty="0">
                <a:solidFill>
                  <a:srgbClr val="0C0C0C"/>
                </a:solidFill>
                <a:latin typeface="Trebuchet MS"/>
                <a:cs typeface="Trebuchet MS"/>
              </a:rPr>
              <a:t>to competitors offering </a:t>
            </a:r>
            <a:r>
              <a:rPr sz="800" i="1" spc="-5" dirty="0">
                <a:solidFill>
                  <a:srgbClr val="0C0C0C"/>
                </a:solidFill>
                <a:latin typeface="Trebuchet MS"/>
                <a:cs typeface="Trebuchet MS"/>
              </a:rPr>
              <a:t>similar </a:t>
            </a:r>
            <a:r>
              <a:rPr sz="800" i="1" spc="-229" dirty="0">
                <a:solidFill>
                  <a:srgbClr val="0C0C0C"/>
                </a:solidFill>
                <a:latin typeface="Trebuchet MS"/>
                <a:cs typeface="Trebuchet MS"/>
              </a:rPr>
              <a:t> </a:t>
            </a:r>
            <a:r>
              <a:rPr sz="800" i="1" dirty="0">
                <a:solidFill>
                  <a:srgbClr val="0C0C0C"/>
                </a:solidFill>
                <a:latin typeface="Trebuchet MS"/>
                <a:cs typeface="Trebuchet MS"/>
              </a:rPr>
              <a:t>services. As a </a:t>
            </a:r>
            <a:r>
              <a:rPr sz="800" i="1" spc="-5" dirty="0">
                <a:solidFill>
                  <a:srgbClr val="0C0C0C"/>
                </a:solidFill>
                <a:latin typeface="Trebuchet MS"/>
                <a:cs typeface="Trebuchet MS"/>
              </a:rPr>
              <a:t>result, this </a:t>
            </a:r>
            <a:r>
              <a:rPr sz="800" i="1" dirty="0">
                <a:solidFill>
                  <a:srgbClr val="0C0C0C"/>
                </a:solidFill>
                <a:latin typeface="Trebuchet MS"/>
                <a:cs typeface="Trebuchet MS"/>
              </a:rPr>
              <a:t>proposal document may not </a:t>
            </a:r>
            <a:r>
              <a:rPr sz="800" i="1" spc="-5" dirty="0">
                <a:solidFill>
                  <a:srgbClr val="0C0C0C"/>
                </a:solidFill>
                <a:latin typeface="Trebuchet MS"/>
                <a:cs typeface="Trebuchet MS"/>
              </a:rPr>
              <a:t>be </a:t>
            </a:r>
            <a:r>
              <a:rPr sz="800" i="1" dirty="0">
                <a:solidFill>
                  <a:srgbClr val="0C0C0C"/>
                </a:solidFill>
                <a:latin typeface="Trebuchet MS"/>
                <a:cs typeface="Trebuchet MS"/>
              </a:rPr>
              <a:t>disclosed, </a:t>
            </a:r>
            <a:r>
              <a:rPr sz="800" i="1" spc="5" dirty="0">
                <a:solidFill>
                  <a:srgbClr val="0C0C0C"/>
                </a:solidFill>
                <a:latin typeface="Trebuchet MS"/>
                <a:cs typeface="Trebuchet MS"/>
              </a:rPr>
              <a:t> </a:t>
            </a:r>
            <a:r>
              <a:rPr sz="800" i="1" dirty="0">
                <a:solidFill>
                  <a:srgbClr val="0C0C0C"/>
                </a:solidFill>
                <a:latin typeface="Trebuchet MS"/>
                <a:cs typeface="Trebuchet MS"/>
              </a:rPr>
              <a:t>used</a:t>
            </a:r>
            <a:r>
              <a:rPr sz="800" i="1" spc="-5" dirty="0">
                <a:solidFill>
                  <a:srgbClr val="0C0C0C"/>
                </a:solidFill>
                <a:latin typeface="Trebuchet MS"/>
                <a:cs typeface="Trebuchet MS"/>
              </a:rPr>
              <a:t> </a:t>
            </a:r>
            <a:r>
              <a:rPr sz="800" i="1" dirty="0">
                <a:solidFill>
                  <a:srgbClr val="0C0C0C"/>
                </a:solidFill>
                <a:latin typeface="Trebuchet MS"/>
                <a:cs typeface="Trebuchet MS"/>
              </a:rPr>
              <a:t>or </a:t>
            </a:r>
            <a:r>
              <a:rPr sz="800" i="1" spc="-5" dirty="0">
                <a:solidFill>
                  <a:srgbClr val="0C0C0C"/>
                </a:solidFill>
                <a:latin typeface="Trebuchet MS"/>
                <a:cs typeface="Trebuchet MS"/>
              </a:rPr>
              <a:t>duplicated</a:t>
            </a:r>
            <a:r>
              <a:rPr sz="800" i="1" spc="5" dirty="0">
                <a:solidFill>
                  <a:srgbClr val="0C0C0C"/>
                </a:solidFill>
                <a:latin typeface="Trebuchet MS"/>
                <a:cs typeface="Trebuchet MS"/>
              </a:rPr>
              <a:t> </a:t>
            </a:r>
            <a:r>
              <a:rPr sz="800" i="1" dirty="0">
                <a:solidFill>
                  <a:srgbClr val="0C0C0C"/>
                </a:solidFill>
                <a:latin typeface="Trebuchet MS"/>
                <a:cs typeface="Trebuchet MS"/>
              </a:rPr>
              <a:t>— in</a:t>
            </a:r>
            <a:r>
              <a:rPr sz="800" i="1" spc="-5" dirty="0">
                <a:solidFill>
                  <a:srgbClr val="0C0C0C"/>
                </a:solidFill>
                <a:latin typeface="Trebuchet MS"/>
                <a:cs typeface="Trebuchet MS"/>
              </a:rPr>
              <a:t> whole</a:t>
            </a:r>
            <a:r>
              <a:rPr sz="800" i="1" dirty="0">
                <a:solidFill>
                  <a:srgbClr val="0C0C0C"/>
                </a:solidFill>
                <a:latin typeface="Trebuchet MS"/>
                <a:cs typeface="Trebuchet MS"/>
              </a:rPr>
              <a:t> or</a:t>
            </a:r>
            <a:r>
              <a:rPr sz="800" i="1" spc="-10" dirty="0">
                <a:solidFill>
                  <a:srgbClr val="0C0C0C"/>
                </a:solidFill>
                <a:latin typeface="Trebuchet MS"/>
                <a:cs typeface="Trebuchet MS"/>
              </a:rPr>
              <a:t> </a:t>
            </a:r>
            <a:r>
              <a:rPr sz="800" i="1" dirty="0">
                <a:solidFill>
                  <a:srgbClr val="0C0C0C"/>
                </a:solidFill>
                <a:latin typeface="Trebuchet MS"/>
                <a:cs typeface="Trebuchet MS"/>
              </a:rPr>
              <a:t>in</a:t>
            </a:r>
            <a:r>
              <a:rPr sz="800" i="1" spc="5" dirty="0">
                <a:solidFill>
                  <a:srgbClr val="0C0C0C"/>
                </a:solidFill>
                <a:latin typeface="Trebuchet MS"/>
                <a:cs typeface="Trebuchet MS"/>
              </a:rPr>
              <a:t> </a:t>
            </a:r>
            <a:r>
              <a:rPr sz="800" i="1" spc="-5" dirty="0">
                <a:solidFill>
                  <a:srgbClr val="0C0C0C"/>
                </a:solidFill>
                <a:latin typeface="Trebuchet MS"/>
                <a:cs typeface="Trebuchet MS"/>
              </a:rPr>
              <a:t>part</a:t>
            </a:r>
            <a:r>
              <a:rPr sz="800" i="1" spc="10" dirty="0">
                <a:solidFill>
                  <a:srgbClr val="0C0C0C"/>
                </a:solidFill>
                <a:latin typeface="Trebuchet MS"/>
                <a:cs typeface="Trebuchet MS"/>
              </a:rPr>
              <a:t> </a:t>
            </a:r>
            <a:r>
              <a:rPr sz="800" i="1" spc="-5" dirty="0">
                <a:solidFill>
                  <a:srgbClr val="0C0C0C"/>
                </a:solidFill>
                <a:latin typeface="Trebuchet MS"/>
                <a:cs typeface="Trebuchet MS"/>
              </a:rPr>
              <a:t>for</a:t>
            </a:r>
            <a:r>
              <a:rPr sz="800" i="1" spc="-10" dirty="0">
                <a:solidFill>
                  <a:srgbClr val="0C0C0C"/>
                </a:solidFill>
                <a:latin typeface="Trebuchet MS"/>
                <a:cs typeface="Trebuchet MS"/>
              </a:rPr>
              <a:t> </a:t>
            </a:r>
            <a:r>
              <a:rPr sz="800" i="1" dirty="0">
                <a:solidFill>
                  <a:srgbClr val="0C0C0C"/>
                </a:solidFill>
                <a:latin typeface="Trebuchet MS"/>
                <a:cs typeface="Trebuchet MS"/>
              </a:rPr>
              <a:t>any</a:t>
            </a:r>
            <a:r>
              <a:rPr sz="800" i="1" spc="5" dirty="0">
                <a:solidFill>
                  <a:srgbClr val="0C0C0C"/>
                </a:solidFill>
                <a:latin typeface="Trebuchet MS"/>
                <a:cs typeface="Trebuchet MS"/>
              </a:rPr>
              <a:t> </a:t>
            </a:r>
            <a:r>
              <a:rPr sz="800" i="1" spc="-5" dirty="0">
                <a:solidFill>
                  <a:srgbClr val="0C0C0C"/>
                </a:solidFill>
                <a:latin typeface="Trebuchet MS"/>
                <a:cs typeface="Trebuchet MS"/>
              </a:rPr>
              <a:t>purpose other</a:t>
            </a:r>
            <a:r>
              <a:rPr sz="800" i="1" spc="5" dirty="0">
                <a:solidFill>
                  <a:srgbClr val="0C0C0C"/>
                </a:solidFill>
                <a:latin typeface="Trebuchet MS"/>
                <a:cs typeface="Trebuchet MS"/>
              </a:rPr>
              <a:t> </a:t>
            </a:r>
            <a:r>
              <a:rPr sz="800" i="1" spc="-5" dirty="0">
                <a:solidFill>
                  <a:srgbClr val="0C0C0C"/>
                </a:solidFill>
                <a:latin typeface="Trebuchet MS"/>
                <a:cs typeface="Trebuchet MS"/>
              </a:rPr>
              <a:t>than </a:t>
            </a:r>
            <a:r>
              <a:rPr sz="800" i="1" dirty="0">
                <a:solidFill>
                  <a:srgbClr val="0C0C0C"/>
                </a:solidFill>
                <a:latin typeface="Trebuchet MS"/>
                <a:cs typeface="Trebuchet MS"/>
              </a:rPr>
              <a:t> assessment</a:t>
            </a:r>
            <a:r>
              <a:rPr sz="800" i="1" spc="-35" dirty="0">
                <a:solidFill>
                  <a:srgbClr val="0C0C0C"/>
                </a:solidFill>
                <a:latin typeface="Trebuchet MS"/>
                <a:cs typeface="Trebuchet MS"/>
              </a:rPr>
              <a:t> </a:t>
            </a:r>
            <a:r>
              <a:rPr sz="800" i="1" dirty="0">
                <a:solidFill>
                  <a:srgbClr val="0C0C0C"/>
                </a:solidFill>
                <a:latin typeface="Trebuchet MS"/>
                <a:cs typeface="Trebuchet MS"/>
              </a:rPr>
              <a:t>of</a:t>
            </a:r>
            <a:r>
              <a:rPr sz="800" i="1" spc="-15" dirty="0">
                <a:solidFill>
                  <a:srgbClr val="0C0C0C"/>
                </a:solidFill>
                <a:latin typeface="Trebuchet MS"/>
                <a:cs typeface="Trebuchet MS"/>
              </a:rPr>
              <a:t> </a:t>
            </a:r>
            <a:r>
              <a:rPr sz="800" i="1" dirty="0">
                <a:solidFill>
                  <a:srgbClr val="0C0C0C"/>
                </a:solidFill>
                <a:latin typeface="Trebuchet MS"/>
                <a:cs typeface="Trebuchet MS"/>
              </a:rPr>
              <a:t>TTC’s</a:t>
            </a:r>
            <a:r>
              <a:rPr sz="800" i="1" spc="-15" dirty="0">
                <a:solidFill>
                  <a:srgbClr val="0C0C0C"/>
                </a:solidFill>
                <a:latin typeface="Trebuchet MS"/>
                <a:cs typeface="Trebuchet MS"/>
              </a:rPr>
              <a:t> </a:t>
            </a:r>
            <a:r>
              <a:rPr sz="800" i="1" spc="-5" dirty="0">
                <a:solidFill>
                  <a:srgbClr val="0C0C0C"/>
                </a:solidFill>
                <a:latin typeface="Trebuchet MS"/>
                <a:cs typeface="Trebuchet MS"/>
              </a:rPr>
              <a:t>capability.</a:t>
            </a:r>
            <a:endParaRPr sz="800" dirty="0">
              <a:latin typeface="Trebuchet MS"/>
              <a:cs typeface="Trebuchet MS"/>
            </a:endParaRPr>
          </a:p>
        </p:txBody>
      </p:sp>
      <p:grpSp>
        <p:nvGrpSpPr>
          <p:cNvPr id="3" name="Group 2">
            <a:extLst>
              <a:ext uri="{FF2B5EF4-FFF2-40B4-BE49-F238E27FC236}">
                <a16:creationId xmlns:a16="http://schemas.microsoft.com/office/drawing/2014/main" id="{A2079DF9-C76A-F716-B8C9-A0B4D22BB8C8}"/>
              </a:ext>
            </a:extLst>
          </p:cNvPr>
          <p:cNvGrpSpPr/>
          <p:nvPr/>
        </p:nvGrpSpPr>
        <p:grpSpPr>
          <a:xfrm>
            <a:off x="7613903" y="3581400"/>
            <a:ext cx="1770162" cy="380273"/>
            <a:chOff x="6494489" y="4018788"/>
            <a:chExt cx="1770162" cy="380273"/>
          </a:xfrm>
        </p:grpSpPr>
        <p:pic>
          <p:nvPicPr>
            <p:cNvPr id="13" name="object 13"/>
            <p:cNvPicPr/>
            <p:nvPr/>
          </p:nvPicPr>
          <p:blipFill>
            <a:blip r:embed="rId4" cstate="print"/>
            <a:stretch>
              <a:fillRect/>
            </a:stretch>
          </p:blipFill>
          <p:spPr>
            <a:xfrm>
              <a:off x="6960107" y="4029455"/>
              <a:ext cx="365759" cy="365760"/>
            </a:xfrm>
            <a:prstGeom prst="rect">
              <a:avLst/>
            </a:prstGeom>
          </p:spPr>
        </p:pic>
        <p:pic>
          <p:nvPicPr>
            <p:cNvPr id="14" name="object 14"/>
            <p:cNvPicPr/>
            <p:nvPr/>
          </p:nvPicPr>
          <p:blipFill>
            <a:blip r:embed="rId5" cstate="print"/>
            <a:stretch>
              <a:fillRect/>
            </a:stretch>
          </p:blipFill>
          <p:spPr>
            <a:xfrm>
              <a:off x="6494489" y="4037801"/>
              <a:ext cx="361260" cy="361260"/>
            </a:xfrm>
            <a:prstGeom prst="rect">
              <a:avLst/>
            </a:prstGeom>
          </p:spPr>
        </p:pic>
        <p:pic>
          <p:nvPicPr>
            <p:cNvPr id="15" name="object 15"/>
            <p:cNvPicPr/>
            <p:nvPr/>
          </p:nvPicPr>
          <p:blipFill>
            <a:blip r:embed="rId6" cstate="print"/>
            <a:stretch>
              <a:fillRect/>
            </a:stretch>
          </p:blipFill>
          <p:spPr>
            <a:xfrm>
              <a:off x="7427976" y="4018788"/>
              <a:ext cx="371855" cy="370331"/>
            </a:xfrm>
            <a:prstGeom prst="rect">
              <a:avLst/>
            </a:prstGeom>
          </p:spPr>
        </p:pic>
        <p:pic>
          <p:nvPicPr>
            <p:cNvPr id="16" name="object 16"/>
            <p:cNvPicPr/>
            <p:nvPr/>
          </p:nvPicPr>
          <p:blipFill>
            <a:blip r:embed="rId7" cstate="print"/>
            <a:stretch>
              <a:fillRect/>
            </a:stretch>
          </p:blipFill>
          <p:spPr>
            <a:xfrm>
              <a:off x="7901940" y="4027932"/>
              <a:ext cx="362711" cy="362712"/>
            </a:xfrm>
            <a:prstGeom prst="rect">
              <a:avLst/>
            </a:prstGeom>
          </p:spPr>
        </p:pic>
      </p:grpSp>
      <p:sp>
        <p:nvSpPr>
          <p:cNvPr id="18" name="object 18"/>
          <p:cNvSpPr txBox="1">
            <a:spLocks noGrp="1"/>
          </p:cNvSpPr>
          <p:nvPr>
            <p:ph type="title"/>
          </p:nvPr>
        </p:nvSpPr>
        <p:spPr>
          <a:xfrm>
            <a:off x="3505200" y="2040985"/>
            <a:ext cx="4683251" cy="782265"/>
          </a:xfrm>
          <a:prstGeom prst="rect">
            <a:avLst/>
          </a:prstGeom>
        </p:spPr>
        <p:txBody>
          <a:bodyPr vert="horz" wrap="square" lIns="0" tIns="12700" rIns="0" bIns="0" rtlCol="0">
            <a:spAutoFit/>
          </a:bodyPr>
          <a:lstStyle/>
          <a:p>
            <a:pPr marL="12700" algn="ctr">
              <a:lnSpc>
                <a:spcPct val="100000"/>
              </a:lnSpc>
              <a:spcBef>
                <a:spcPts val="100"/>
              </a:spcBef>
            </a:pPr>
            <a:r>
              <a:rPr sz="5000" spc="-5" dirty="0">
                <a:latin typeface="Trebuchet MS"/>
                <a:cs typeface="Trebuchet MS"/>
              </a:rPr>
              <a:t>Thank</a:t>
            </a:r>
            <a:r>
              <a:rPr sz="5000" spc="-75" dirty="0">
                <a:latin typeface="Trebuchet MS"/>
                <a:cs typeface="Trebuchet MS"/>
              </a:rPr>
              <a:t> </a:t>
            </a:r>
            <a:r>
              <a:rPr sz="5000" dirty="0">
                <a:latin typeface="Trebuchet MS"/>
                <a:cs typeface="Trebuchet MS"/>
              </a:rPr>
              <a:t>you</a:t>
            </a:r>
          </a:p>
        </p:txBody>
      </p:sp>
      <p:sp>
        <p:nvSpPr>
          <p:cNvPr id="21" name="object 21"/>
          <p:cNvSpPr txBox="1"/>
          <p:nvPr/>
        </p:nvSpPr>
        <p:spPr>
          <a:xfrm>
            <a:off x="968755" y="5960770"/>
            <a:ext cx="2700655" cy="162560"/>
          </a:xfrm>
          <a:prstGeom prst="rect">
            <a:avLst/>
          </a:prstGeom>
        </p:spPr>
        <p:txBody>
          <a:bodyPr vert="horz" wrap="square" lIns="0" tIns="12700" rIns="0" bIns="0" rtlCol="0">
            <a:spAutoFit/>
          </a:bodyPr>
          <a:lstStyle/>
          <a:p>
            <a:pPr marL="12700">
              <a:lnSpc>
                <a:spcPct val="100000"/>
              </a:lnSpc>
              <a:spcBef>
                <a:spcPts val="100"/>
              </a:spcBef>
            </a:pPr>
            <a:r>
              <a:rPr sz="900" b="1" dirty="0">
                <a:solidFill>
                  <a:srgbClr val="221F1F"/>
                </a:solidFill>
                <a:latin typeface="Trebuchet MS"/>
                <a:cs typeface="Trebuchet MS"/>
              </a:rPr>
              <a:t>TTC</a:t>
            </a:r>
            <a:r>
              <a:rPr sz="900" b="1" spc="-20" dirty="0">
                <a:solidFill>
                  <a:srgbClr val="221F1F"/>
                </a:solidFill>
                <a:latin typeface="Trebuchet MS"/>
                <a:cs typeface="Trebuchet MS"/>
              </a:rPr>
              <a:t> </a:t>
            </a:r>
            <a:r>
              <a:rPr sz="900" b="1" spc="-5" dirty="0">
                <a:solidFill>
                  <a:srgbClr val="221F1F"/>
                </a:solidFill>
                <a:latin typeface="Trebuchet MS"/>
                <a:cs typeface="Trebuchet MS"/>
              </a:rPr>
              <a:t>is AccountAbility</a:t>
            </a:r>
            <a:r>
              <a:rPr sz="900" b="1" spc="45" dirty="0">
                <a:solidFill>
                  <a:srgbClr val="221F1F"/>
                </a:solidFill>
                <a:latin typeface="Trebuchet MS"/>
                <a:cs typeface="Trebuchet MS"/>
              </a:rPr>
              <a:t> </a:t>
            </a:r>
            <a:r>
              <a:rPr sz="900" b="1" spc="-5" dirty="0">
                <a:solidFill>
                  <a:srgbClr val="221F1F"/>
                </a:solidFill>
                <a:latin typeface="Trebuchet MS"/>
                <a:cs typeface="Trebuchet MS"/>
              </a:rPr>
              <a:t>licensed</a:t>
            </a:r>
            <a:r>
              <a:rPr sz="900" b="1" dirty="0">
                <a:solidFill>
                  <a:srgbClr val="221F1F"/>
                </a:solidFill>
                <a:latin typeface="Trebuchet MS"/>
                <a:cs typeface="Trebuchet MS"/>
              </a:rPr>
              <a:t> </a:t>
            </a:r>
            <a:r>
              <a:rPr sz="900" b="1" spc="-5" dirty="0">
                <a:solidFill>
                  <a:srgbClr val="221F1F"/>
                </a:solidFill>
                <a:latin typeface="Trebuchet MS"/>
                <a:cs typeface="Trebuchet MS"/>
              </a:rPr>
              <a:t>assurance</a:t>
            </a:r>
            <a:r>
              <a:rPr sz="900" b="1" spc="15" dirty="0">
                <a:solidFill>
                  <a:srgbClr val="221F1F"/>
                </a:solidFill>
                <a:latin typeface="Trebuchet MS"/>
                <a:cs typeface="Trebuchet MS"/>
              </a:rPr>
              <a:t> </a:t>
            </a:r>
            <a:r>
              <a:rPr sz="900" b="1" spc="-5" dirty="0">
                <a:solidFill>
                  <a:srgbClr val="221F1F"/>
                </a:solidFill>
                <a:latin typeface="Trebuchet MS"/>
                <a:cs typeface="Trebuchet MS"/>
              </a:rPr>
              <a:t>provider</a:t>
            </a:r>
            <a:endParaRPr sz="900">
              <a:latin typeface="Trebuchet MS"/>
              <a:cs typeface="Trebuchet MS"/>
            </a:endParaRPr>
          </a:p>
        </p:txBody>
      </p:sp>
      <p:pic>
        <p:nvPicPr>
          <p:cNvPr id="22" name="object 22"/>
          <p:cNvPicPr/>
          <p:nvPr/>
        </p:nvPicPr>
        <p:blipFill>
          <a:blip r:embed="rId8" cstate="print"/>
          <a:stretch>
            <a:fillRect/>
          </a:stretch>
        </p:blipFill>
        <p:spPr>
          <a:xfrm>
            <a:off x="984503" y="5050184"/>
            <a:ext cx="2051304" cy="469391"/>
          </a:xfrm>
          <a:prstGeom prst="rect">
            <a:avLst/>
          </a:prstGeom>
        </p:spPr>
      </p:pic>
      <p:grpSp>
        <p:nvGrpSpPr>
          <p:cNvPr id="19" name="Group 18">
            <a:extLst>
              <a:ext uri="{FF2B5EF4-FFF2-40B4-BE49-F238E27FC236}">
                <a16:creationId xmlns:a16="http://schemas.microsoft.com/office/drawing/2014/main" id="{A2F87BB7-A6BD-97A9-57B4-B5381D794972}"/>
              </a:ext>
            </a:extLst>
          </p:cNvPr>
          <p:cNvGrpSpPr/>
          <p:nvPr/>
        </p:nvGrpSpPr>
        <p:grpSpPr>
          <a:xfrm>
            <a:off x="5922273" y="6305778"/>
            <a:ext cx="5528197" cy="518542"/>
            <a:chOff x="5922273" y="6305778"/>
            <a:chExt cx="5528197" cy="518542"/>
          </a:xfrm>
        </p:grpSpPr>
        <p:pic>
          <p:nvPicPr>
            <p:cNvPr id="20" name="image1.png">
              <a:extLst>
                <a:ext uri="{FF2B5EF4-FFF2-40B4-BE49-F238E27FC236}">
                  <a16:creationId xmlns:a16="http://schemas.microsoft.com/office/drawing/2014/main" id="{A0F5A3EC-FA77-FAC9-AD0E-D26E3BF0C6DF}"/>
                </a:ext>
              </a:extLst>
            </p:cNvPr>
            <p:cNvPicPr/>
            <p:nvPr userDrawn="1"/>
          </p:nvPicPr>
          <p:blipFill>
            <a:blip r:embed="rId9"/>
            <a:srcRect t="66642" r="30621"/>
            <a:stretch>
              <a:fillRect/>
            </a:stretch>
          </p:blipFill>
          <p:spPr>
            <a:xfrm>
              <a:off x="5922273" y="6305778"/>
              <a:ext cx="4145661" cy="518542"/>
            </a:xfrm>
            <a:prstGeom prst="rect">
              <a:avLst/>
            </a:prstGeom>
            <a:ln/>
          </p:spPr>
        </p:pic>
        <p:pic>
          <p:nvPicPr>
            <p:cNvPr id="25" name="bg object 16">
              <a:extLst>
                <a:ext uri="{FF2B5EF4-FFF2-40B4-BE49-F238E27FC236}">
                  <a16:creationId xmlns:a16="http://schemas.microsoft.com/office/drawing/2014/main" id="{73184EF1-E8EF-50ED-8CD6-BF4010022BA5}"/>
                </a:ext>
              </a:extLst>
            </p:cNvPr>
            <p:cNvPicPr/>
            <p:nvPr userDrawn="1"/>
          </p:nvPicPr>
          <p:blipFill>
            <a:blip r:embed="rId10" cstate="print"/>
            <a:stretch>
              <a:fillRect/>
            </a:stretch>
          </p:blipFill>
          <p:spPr>
            <a:xfrm>
              <a:off x="10058400" y="6353077"/>
              <a:ext cx="1392070" cy="422148"/>
            </a:xfrm>
            <a:prstGeom prst="rect">
              <a:avLst/>
            </a:prstGeom>
          </p:spPr>
        </p:pic>
      </p:grpSp>
      <p:pic>
        <p:nvPicPr>
          <p:cNvPr id="2" name="Picture 1">
            <a:extLst>
              <a:ext uri="{FF2B5EF4-FFF2-40B4-BE49-F238E27FC236}">
                <a16:creationId xmlns:a16="http://schemas.microsoft.com/office/drawing/2014/main" id="{F4249C8B-EAF8-BB32-E33D-91A6537FB5C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0" y="5870080"/>
            <a:ext cx="12192000" cy="987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38652</TotalTime>
  <Words>13530</Words>
  <Application>Microsoft Office PowerPoint</Application>
  <PresentationFormat>Widescreen</PresentationFormat>
  <Paragraphs>1668</Paragraphs>
  <Slides>53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Georgia</vt:lpstr>
      <vt:lpstr>Trebuchet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Central Karnataka Onion-Pomegranate cluster (Chitradurga, Davanagere, Koppal, Ballari, Vijayanagara)</vt:lpstr>
      <vt:lpstr>PowerPoint Presentation</vt:lpstr>
      <vt:lpstr>South Karnataka Banana-Tomato-Mango cluster (Mysuru, Mandya, Chamarajanagara, Hassan, Ramanagara)</vt:lpstr>
      <vt:lpstr>PowerPoint Presentation</vt:lpstr>
      <vt:lpstr>Northwest Karnataka multi-crop cluster (Dharwad, Haveri, Uttara Kannada)</vt:lpstr>
      <vt:lpstr>Western Ghats Banana-Pineapple cluster (Shivamogga, Chikkamagaluru, Kodagu, Dakshina Kannada, Udupi)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North Karnataka Onion-Grape-Raisin-Pomegranate cluster (Vijayapura, Belagavi, Bagalkot, Gadag)</vt:lpstr>
      <vt:lpstr>Central Karnataka Onion-Pomegranate cluster (Chitradurga, Davanagere, Koppal, Ballari, Vijayanagara)</vt:lpstr>
      <vt:lpstr>Kalyana Karnataka Onion-Tomato cluster (Raichur, Yadgiri, Kalaburagi, Bidar) </vt:lpstr>
      <vt:lpstr>South Karnataka Banana-Tomato-Mango cluster (Mysuru, Mandya, Chamarajanagara, Hassan, Ramanagara)</vt:lpstr>
      <vt:lpstr>East Karnataka Tomato-Mango cluster (Kolar, Chikkaballapura, Bengaluru (urban), Bengaluru (rural), Tumakuru)</vt:lpstr>
      <vt:lpstr>Northwest Karnataka multi-crop cluster (Dharwad, Haveri, Uttara Kannada)</vt:lpstr>
      <vt:lpstr>Western Ghats Banana-Pineapple cluster (Shivamogga, Chikkamagaluru, Kodagu, Dakshina Kannada, Udupi)</vt:lpstr>
      <vt:lpstr>Cluster Methodology Note</vt:lpstr>
      <vt:lpstr>Cluster Formation: Step-by-Step</vt:lpstr>
      <vt:lpstr>Border District Rationale</vt:lpstr>
      <vt:lpstr>Cluster-Level LQ, Validation and 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Baseline Study of CINI project</dc:title>
  <dc:creator>TTC -5</dc:creator>
  <cp:lastModifiedBy>TTC -9</cp:lastModifiedBy>
  <cp:revision>612</cp:revision>
  <cp:lastPrinted>2026-05-29T12:03:16Z</cp:lastPrinted>
  <dcterms:created xsi:type="dcterms:W3CDTF">2024-08-05T09:06:37Z</dcterms:created>
  <dcterms:modified xsi:type="dcterms:W3CDTF">2026-05-29T12:18:46Z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2024-07-24T00:00:00Z</vt:filetime>
  </property>
  <property fmtid="{D5CDD505-2E9C-101B-9397-08002B2CF9AE}" pid="3" name="Creator">
    <vt:lpwstr>Microsoft® PowerPoint® for Microsoft 365</vt:lpwstr>
  </property>
  <property fmtid="{D5CDD505-2E9C-101B-9397-08002B2CF9AE}" pid="4" name="LastSaved">
    <vt:filetime>2024-08-05T00:00:00Z</vt:filetime>
  </property>
</Properties>
</file>